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5.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6.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charts/chart1.xml" ContentType="application/vnd.openxmlformats-officedocument.drawingml.chart+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5" r:id="rId3"/>
    <p:sldMasterId id="2147483687" r:id="rId4"/>
    <p:sldMasterId id="2147483699" r:id="rId5"/>
    <p:sldMasterId id="2147483711" r:id="rId6"/>
    <p:sldMasterId id="2147483723" r:id="rId7"/>
  </p:sldMasterIdLst>
  <p:notesMasterIdLst>
    <p:notesMasterId r:id="rId189"/>
  </p:notesMasterIdLst>
  <p:sldIdLst>
    <p:sldId id="257" r:id="rId8"/>
    <p:sldId id="1027" r:id="rId9"/>
    <p:sldId id="1119" r:id="rId10"/>
    <p:sldId id="1120" r:id="rId11"/>
    <p:sldId id="1121" r:id="rId12"/>
    <p:sldId id="1123" r:id="rId13"/>
    <p:sldId id="1124" r:id="rId14"/>
    <p:sldId id="1125" r:id="rId15"/>
    <p:sldId id="1126" r:id="rId16"/>
    <p:sldId id="1127" r:id="rId17"/>
    <p:sldId id="1128" r:id="rId18"/>
    <p:sldId id="1129" r:id="rId19"/>
    <p:sldId id="1131" r:id="rId20"/>
    <p:sldId id="1132" r:id="rId21"/>
    <p:sldId id="1133" r:id="rId22"/>
    <p:sldId id="1134" r:id="rId23"/>
    <p:sldId id="1135" r:id="rId24"/>
    <p:sldId id="1136" r:id="rId25"/>
    <p:sldId id="1137" r:id="rId26"/>
    <p:sldId id="1138" r:id="rId27"/>
    <p:sldId id="1139" r:id="rId28"/>
    <p:sldId id="1140" r:id="rId29"/>
    <p:sldId id="1141" r:id="rId30"/>
    <p:sldId id="1143" r:id="rId31"/>
    <p:sldId id="1144" r:id="rId32"/>
    <p:sldId id="1146" r:id="rId33"/>
    <p:sldId id="1147" r:id="rId34"/>
    <p:sldId id="1148" r:id="rId35"/>
    <p:sldId id="1149" r:id="rId36"/>
    <p:sldId id="1151" r:id="rId37"/>
    <p:sldId id="1152" r:id="rId38"/>
    <p:sldId id="1153" r:id="rId39"/>
    <p:sldId id="1154" r:id="rId40"/>
    <p:sldId id="1155" r:id="rId41"/>
    <p:sldId id="1156" r:id="rId42"/>
    <p:sldId id="1158" r:id="rId43"/>
    <p:sldId id="1159" r:id="rId44"/>
    <p:sldId id="1160" r:id="rId45"/>
    <p:sldId id="1161" r:id="rId46"/>
    <p:sldId id="1162" r:id="rId47"/>
    <p:sldId id="1163" r:id="rId48"/>
    <p:sldId id="1164" r:id="rId49"/>
    <p:sldId id="1165" r:id="rId50"/>
    <p:sldId id="1166" r:id="rId51"/>
    <p:sldId id="1167" r:id="rId52"/>
    <p:sldId id="1168" r:id="rId53"/>
    <p:sldId id="1169" r:id="rId54"/>
    <p:sldId id="1170" r:id="rId55"/>
    <p:sldId id="1172" r:id="rId56"/>
    <p:sldId id="1173" r:id="rId57"/>
    <p:sldId id="1174" r:id="rId58"/>
    <p:sldId id="1175" r:id="rId59"/>
    <p:sldId id="1176" r:id="rId60"/>
    <p:sldId id="1177" r:id="rId61"/>
    <p:sldId id="1178" r:id="rId62"/>
    <p:sldId id="1179" r:id="rId63"/>
    <p:sldId id="1180" r:id="rId64"/>
    <p:sldId id="1181" r:id="rId65"/>
    <p:sldId id="1183" r:id="rId66"/>
    <p:sldId id="1184" r:id="rId67"/>
    <p:sldId id="1185" r:id="rId68"/>
    <p:sldId id="1186" r:id="rId69"/>
    <p:sldId id="1187" r:id="rId70"/>
    <p:sldId id="1188" r:id="rId71"/>
    <p:sldId id="1189" r:id="rId72"/>
    <p:sldId id="1190" r:id="rId73"/>
    <p:sldId id="1191" r:id="rId74"/>
    <p:sldId id="1192" r:id="rId75"/>
    <p:sldId id="1193" r:id="rId76"/>
    <p:sldId id="1194" r:id="rId77"/>
    <p:sldId id="1195" r:id="rId78"/>
    <p:sldId id="1196" r:id="rId79"/>
    <p:sldId id="1197" r:id="rId80"/>
    <p:sldId id="1199" r:id="rId81"/>
    <p:sldId id="1200" r:id="rId82"/>
    <p:sldId id="1201" r:id="rId83"/>
    <p:sldId id="1202" r:id="rId84"/>
    <p:sldId id="1203" r:id="rId85"/>
    <p:sldId id="1204" r:id="rId86"/>
    <p:sldId id="1206" r:id="rId87"/>
    <p:sldId id="1207" r:id="rId88"/>
    <p:sldId id="1208" r:id="rId89"/>
    <p:sldId id="1209" r:id="rId90"/>
    <p:sldId id="1210" r:id="rId91"/>
    <p:sldId id="1211" r:id="rId92"/>
    <p:sldId id="1212" r:id="rId93"/>
    <p:sldId id="1213" r:id="rId94"/>
    <p:sldId id="1215" r:id="rId95"/>
    <p:sldId id="1216" r:id="rId96"/>
    <p:sldId id="1217" r:id="rId97"/>
    <p:sldId id="1218" r:id="rId98"/>
    <p:sldId id="1219" r:id="rId99"/>
    <p:sldId id="1220" r:id="rId100"/>
    <p:sldId id="1221" r:id="rId101"/>
    <p:sldId id="1223" r:id="rId102"/>
    <p:sldId id="1224" r:id="rId103"/>
    <p:sldId id="1225" r:id="rId104"/>
    <p:sldId id="1226" r:id="rId105"/>
    <p:sldId id="1227" r:id="rId106"/>
    <p:sldId id="1228" r:id="rId107"/>
    <p:sldId id="1229" r:id="rId108"/>
    <p:sldId id="1231" r:id="rId109"/>
    <p:sldId id="1028" r:id="rId110"/>
    <p:sldId id="1029" r:id="rId111"/>
    <p:sldId id="1030" r:id="rId112"/>
    <p:sldId id="1031" r:id="rId113"/>
    <p:sldId id="1032" r:id="rId114"/>
    <p:sldId id="1033" r:id="rId115"/>
    <p:sldId id="1034" r:id="rId116"/>
    <p:sldId id="1035" r:id="rId117"/>
    <p:sldId id="1036" r:id="rId118"/>
    <p:sldId id="1037" r:id="rId119"/>
    <p:sldId id="1038" r:id="rId120"/>
    <p:sldId id="1039" r:id="rId121"/>
    <p:sldId id="1042" r:id="rId122"/>
    <p:sldId id="1043" r:id="rId123"/>
    <p:sldId id="1044" r:id="rId124"/>
    <p:sldId id="1040" r:id="rId125"/>
    <p:sldId id="1041" r:id="rId126"/>
    <p:sldId id="1045" r:id="rId127"/>
    <p:sldId id="1046" r:id="rId128"/>
    <p:sldId id="1047" r:id="rId129"/>
    <p:sldId id="1048" r:id="rId130"/>
    <p:sldId id="1073" r:id="rId131"/>
    <p:sldId id="1049" r:id="rId132"/>
    <p:sldId id="1050" r:id="rId133"/>
    <p:sldId id="1074" r:id="rId134"/>
    <p:sldId id="1051" r:id="rId135"/>
    <p:sldId id="1052" r:id="rId136"/>
    <p:sldId id="1053" r:id="rId137"/>
    <p:sldId id="1054" r:id="rId138"/>
    <p:sldId id="1057" r:id="rId139"/>
    <p:sldId id="1055" r:id="rId140"/>
    <p:sldId id="1059" r:id="rId141"/>
    <p:sldId id="1060" r:id="rId142"/>
    <p:sldId id="1061" r:id="rId143"/>
    <p:sldId id="1062" r:id="rId144"/>
    <p:sldId id="1063" r:id="rId145"/>
    <p:sldId id="1064" r:id="rId146"/>
    <p:sldId id="1065" r:id="rId147"/>
    <p:sldId id="1075" r:id="rId148"/>
    <p:sldId id="1076" r:id="rId149"/>
    <p:sldId id="1077" r:id="rId150"/>
    <p:sldId id="1078" r:id="rId151"/>
    <p:sldId id="1079" r:id="rId152"/>
    <p:sldId id="1080" r:id="rId153"/>
    <p:sldId id="1081" r:id="rId154"/>
    <p:sldId id="1082" r:id="rId155"/>
    <p:sldId id="1083" r:id="rId156"/>
    <p:sldId id="1084" r:id="rId157"/>
    <p:sldId id="1085" r:id="rId158"/>
    <p:sldId id="1086" r:id="rId159"/>
    <p:sldId id="1087" r:id="rId160"/>
    <p:sldId id="1088" r:id="rId161"/>
    <p:sldId id="1089" r:id="rId162"/>
    <p:sldId id="1090" r:id="rId163"/>
    <p:sldId id="1091" r:id="rId164"/>
    <p:sldId id="1092" r:id="rId165"/>
    <p:sldId id="1093" r:id="rId166"/>
    <p:sldId id="1094" r:id="rId167"/>
    <p:sldId id="1095" r:id="rId168"/>
    <p:sldId id="1096" r:id="rId169"/>
    <p:sldId id="1097" r:id="rId170"/>
    <p:sldId id="1098" r:id="rId171"/>
    <p:sldId id="1099" r:id="rId172"/>
    <p:sldId id="1100" r:id="rId173"/>
    <p:sldId id="1101" r:id="rId174"/>
    <p:sldId id="1102" r:id="rId175"/>
    <p:sldId id="1103" r:id="rId176"/>
    <p:sldId id="1104" r:id="rId177"/>
    <p:sldId id="1105" r:id="rId178"/>
    <p:sldId id="1106" r:id="rId179"/>
    <p:sldId id="1107" r:id="rId180"/>
    <p:sldId id="1108" r:id="rId181"/>
    <p:sldId id="1109" r:id="rId182"/>
    <p:sldId id="1110" r:id="rId183"/>
    <p:sldId id="1111" r:id="rId184"/>
    <p:sldId id="1112" r:id="rId185"/>
    <p:sldId id="1116" r:id="rId186"/>
    <p:sldId id="1115" r:id="rId187"/>
    <p:sldId id="380" r:id="rId18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9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78" d="100"/>
          <a:sy n="78" d="100"/>
        </p:scale>
        <p:origin x="1594" y="62"/>
      </p:cViewPr>
      <p:guideLst>
        <p:guide orient="horz" pos="2160"/>
        <p:guide pos="2903"/>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0.xml"/><Relationship Id="rId21" Type="http://schemas.openxmlformats.org/officeDocument/2006/relationships/slide" Target="slides/slide14.xml"/><Relationship Id="rId42" Type="http://schemas.openxmlformats.org/officeDocument/2006/relationships/slide" Target="slides/slide35.xml"/><Relationship Id="rId63" Type="http://schemas.openxmlformats.org/officeDocument/2006/relationships/slide" Target="slides/slide56.xml"/><Relationship Id="rId84" Type="http://schemas.openxmlformats.org/officeDocument/2006/relationships/slide" Target="slides/slide77.xml"/><Relationship Id="rId138" Type="http://schemas.openxmlformats.org/officeDocument/2006/relationships/slide" Target="slides/slide131.xml"/><Relationship Id="rId159" Type="http://schemas.openxmlformats.org/officeDocument/2006/relationships/slide" Target="slides/slide152.xml"/><Relationship Id="rId170" Type="http://schemas.openxmlformats.org/officeDocument/2006/relationships/slide" Target="slides/slide163.xml"/><Relationship Id="rId191" Type="http://schemas.openxmlformats.org/officeDocument/2006/relationships/viewProps" Target="viewProps.xml"/><Relationship Id="rId107" Type="http://schemas.openxmlformats.org/officeDocument/2006/relationships/slide" Target="slides/slide100.xml"/><Relationship Id="rId11" Type="http://schemas.openxmlformats.org/officeDocument/2006/relationships/slide" Target="slides/slide4.xml"/><Relationship Id="rId32" Type="http://schemas.openxmlformats.org/officeDocument/2006/relationships/slide" Target="slides/slide25.xml"/><Relationship Id="rId53" Type="http://schemas.openxmlformats.org/officeDocument/2006/relationships/slide" Target="slides/slide46.xml"/><Relationship Id="rId74" Type="http://schemas.openxmlformats.org/officeDocument/2006/relationships/slide" Target="slides/slide67.xml"/><Relationship Id="rId128" Type="http://schemas.openxmlformats.org/officeDocument/2006/relationships/slide" Target="slides/slide121.xml"/><Relationship Id="rId149" Type="http://schemas.openxmlformats.org/officeDocument/2006/relationships/slide" Target="slides/slide142.xml"/><Relationship Id="rId5" Type="http://schemas.openxmlformats.org/officeDocument/2006/relationships/slideMaster" Target="slideMasters/slideMaster5.xml"/><Relationship Id="rId95" Type="http://schemas.openxmlformats.org/officeDocument/2006/relationships/slide" Target="slides/slide88.xml"/><Relationship Id="rId160" Type="http://schemas.openxmlformats.org/officeDocument/2006/relationships/slide" Target="slides/slide153.xml"/><Relationship Id="rId181" Type="http://schemas.openxmlformats.org/officeDocument/2006/relationships/slide" Target="slides/slide174.xml"/><Relationship Id="rId22" Type="http://schemas.openxmlformats.org/officeDocument/2006/relationships/slide" Target="slides/slide15.xml"/><Relationship Id="rId43" Type="http://schemas.openxmlformats.org/officeDocument/2006/relationships/slide" Target="slides/slide36.xml"/><Relationship Id="rId64" Type="http://schemas.openxmlformats.org/officeDocument/2006/relationships/slide" Target="slides/slide57.xml"/><Relationship Id="rId118" Type="http://schemas.openxmlformats.org/officeDocument/2006/relationships/slide" Target="slides/slide111.xml"/><Relationship Id="rId139" Type="http://schemas.openxmlformats.org/officeDocument/2006/relationships/slide" Target="slides/slide132.xml"/><Relationship Id="rId85" Type="http://schemas.openxmlformats.org/officeDocument/2006/relationships/slide" Target="slides/slide78.xml"/><Relationship Id="rId150" Type="http://schemas.openxmlformats.org/officeDocument/2006/relationships/slide" Target="slides/slide143.xml"/><Relationship Id="rId171" Type="http://schemas.openxmlformats.org/officeDocument/2006/relationships/slide" Target="slides/slide164.xml"/><Relationship Id="rId192" Type="http://schemas.openxmlformats.org/officeDocument/2006/relationships/theme" Target="theme/theme1.xml"/><Relationship Id="rId12" Type="http://schemas.openxmlformats.org/officeDocument/2006/relationships/slide" Target="slides/slide5.xml"/><Relationship Id="rId33" Type="http://schemas.openxmlformats.org/officeDocument/2006/relationships/slide" Target="slides/slide26.xml"/><Relationship Id="rId108" Type="http://schemas.openxmlformats.org/officeDocument/2006/relationships/slide" Target="slides/slide101.xml"/><Relationship Id="rId129" Type="http://schemas.openxmlformats.org/officeDocument/2006/relationships/slide" Target="slides/slide122.xml"/><Relationship Id="rId54" Type="http://schemas.openxmlformats.org/officeDocument/2006/relationships/slide" Target="slides/slide47.xml"/><Relationship Id="rId75" Type="http://schemas.openxmlformats.org/officeDocument/2006/relationships/slide" Target="slides/slide68.xml"/><Relationship Id="rId96" Type="http://schemas.openxmlformats.org/officeDocument/2006/relationships/slide" Target="slides/slide89.xml"/><Relationship Id="rId140" Type="http://schemas.openxmlformats.org/officeDocument/2006/relationships/slide" Target="slides/slide133.xml"/><Relationship Id="rId161" Type="http://schemas.openxmlformats.org/officeDocument/2006/relationships/slide" Target="slides/slide154.xml"/><Relationship Id="rId182" Type="http://schemas.openxmlformats.org/officeDocument/2006/relationships/slide" Target="slides/slide175.xml"/><Relationship Id="rId6" Type="http://schemas.openxmlformats.org/officeDocument/2006/relationships/slideMaster" Target="slideMasters/slideMaster6.xml"/><Relationship Id="rId23" Type="http://schemas.openxmlformats.org/officeDocument/2006/relationships/slide" Target="slides/slide16.xml"/><Relationship Id="rId119" Type="http://schemas.openxmlformats.org/officeDocument/2006/relationships/slide" Target="slides/slide112.xml"/><Relationship Id="rId44" Type="http://schemas.openxmlformats.org/officeDocument/2006/relationships/slide" Target="slides/slide37.xml"/><Relationship Id="rId65" Type="http://schemas.openxmlformats.org/officeDocument/2006/relationships/slide" Target="slides/slide58.xml"/><Relationship Id="rId86" Type="http://schemas.openxmlformats.org/officeDocument/2006/relationships/slide" Target="slides/slide79.xml"/><Relationship Id="rId130" Type="http://schemas.openxmlformats.org/officeDocument/2006/relationships/slide" Target="slides/slide123.xml"/><Relationship Id="rId151" Type="http://schemas.openxmlformats.org/officeDocument/2006/relationships/slide" Target="slides/slide144.xml"/><Relationship Id="rId172" Type="http://schemas.openxmlformats.org/officeDocument/2006/relationships/slide" Target="slides/slide165.xml"/><Relationship Id="rId193" Type="http://schemas.openxmlformats.org/officeDocument/2006/relationships/tableStyles" Target="tableStyles.xml"/><Relationship Id="rId13" Type="http://schemas.openxmlformats.org/officeDocument/2006/relationships/slide" Target="slides/slide6.xml"/><Relationship Id="rId109" Type="http://schemas.openxmlformats.org/officeDocument/2006/relationships/slide" Target="slides/slide10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97" Type="http://schemas.openxmlformats.org/officeDocument/2006/relationships/slide" Target="slides/slide90.xml"/><Relationship Id="rId104" Type="http://schemas.openxmlformats.org/officeDocument/2006/relationships/slide" Target="slides/slide97.xml"/><Relationship Id="rId120" Type="http://schemas.openxmlformats.org/officeDocument/2006/relationships/slide" Target="slides/slide113.xml"/><Relationship Id="rId125" Type="http://schemas.openxmlformats.org/officeDocument/2006/relationships/slide" Target="slides/slide118.xml"/><Relationship Id="rId141" Type="http://schemas.openxmlformats.org/officeDocument/2006/relationships/slide" Target="slides/slide134.xml"/><Relationship Id="rId146" Type="http://schemas.openxmlformats.org/officeDocument/2006/relationships/slide" Target="slides/slide139.xml"/><Relationship Id="rId167" Type="http://schemas.openxmlformats.org/officeDocument/2006/relationships/slide" Target="slides/slide160.xml"/><Relationship Id="rId188" Type="http://schemas.openxmlformats.org/officeDocument/2006/relationships/slide" Target="slides/slide181.xml"/><Relationship Id="rId7" Type="http://schemas.openxmlformats.org/officeDocument/2006/relationships/slideMaster" Target="slideMasters/slideMaster7.xml"/><Relationship Id="rId71" Type="http://schemas.openxmlformats.org/officeDocument/2006/relationships/slide" Target="slides/slide64.xml"/><Relationship Id="rId92" Type="http://schemas.openxmlformats.org/officeDocument/2006/relationships/slide" Target="slides/slide85.xml"/><Relationship Id="rId162" Type="http://schemas.openxmlformats.org/officeDocument/2006/relationships/slide" Target="slides/slide155.xml"/><Relationship Id="rId183" Type="http://schemas.openxmlformats.org/officeDocument/2006/relationships/slide" Target="slides/slide176.xml"/><Relationship Id="rId2" Type="http://schemas.openxmlformats.org/officeDocument/2006/relationships/slideMaster" Target="slideMasters/slideMaster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110" Type="http://schemas.openxmlformats.org/officeDocument/2006/relationships/slide" Target="slides/slide103.xml"/><Relationship Id="rId115" Type="http://schemas.openxmlformats.org/officeDocument/2006/relationships/slide" Target="slides/slide108.xml"/><Relationship Id="rId131" Type="http://schemas.openxmlformats.org/officeDocument/2006/relationships/slide" Target="slides/slide124.xml"/><Relationship Id="rId136" Type="http://schemas.openxmlformats.org/officeDocument/2006/relationships/slide" Target="slides/slide129.xml"/><Relationship Id="rId157" Type="http://schemas.openxmlformats.org/officeDocument/2006/relationships/slide" Target="slides/slide150.xml"/><Relationship Id="rId178" Type="http://schemas.openxmlformats.org/officeDocument/2006/relationships/slide" Target="slides/slide171.xml"/><Relationship Id="rId61" Type="http://schemas.openxmlformats.org/officeDocument/2006/relationships/slide" Target="slides/slide54.xml"/><Relationship Id="rId82" Type="http://schemas.openxmlformats.org/officeDocument/2006/relationships/slide" Target="slides/slide75.xml"/><Relationship Id="rId152" Type="http://schemas.openxmlformats.org/officeDocument/2006/relationships/slide" Target="slides/slide145.xml"/><Relationship Id="rId173" Type="http://schemas.openxmlformats.org/officeDocument/2006/relationships/slide" Target="slides/slide166.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 Id="rId100" Type="http://schemas.openxmlformats.org/officeDocument/2006/relationships/slide" Target="slides/slide93.xml"/><Relationship Id="rId105" Type="http://schemas.openxmlformats.org/officeDocument/2006/relationships/slide" Target="slides/slide98.xml"/><Relationship Id="rId126" Type="http://schemas.openxmlformats.org/officeDocument/2006/relationships/slide" Target="slides/slide119.xml"/><Relationship Id="rId147" Type="http://schemas.openxmlformats.org/officeDocument/2006/relationships/slide" Target="slides/slide140.xml"/><Relationship Id="rId168" Type="http://schemas.openxmlformats.org/officeDocument/2006/relationships/slide" Target="slides/slide161.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slide" Target="slides/slide86.xml"/><Relationship Id="rId98" Type="http://schemas.openxmlformats.org/officeDocument/2006/relationships/slide" Target="slides/slide91.xml"/><Relationship Id="rId121" Type="http://schemas.openxmlformats.org/officeDocument/2006/relationships/slide" Target="slides/slide114.xml"/><Relationship Id="rId142" Type="http://schemas.openxmlformats.org/officeDocument/2006/relationships/slide" Target="slides/slide135.xml"/><Relationship Id="rId163" Type="http://schemas.openxmlformats.org/officeDocument/2006/relationships/slide" Target="slides/slide156.xml"/><Relationship Id="rId184" Type="http://schemas.openxmlformats.org/officeDocument/2006/relationships/slide" Target="slides/slide177.xml"/><Relationship Id="rId189" Type="http://schemas.openxmlformats.org/officeDocument/2006/relationships/notesMaster" Target="notesMasters/notesMaster1.xml"/><Relationship Id="rId3" Type="http://schemas.openxmlformats.org/officeDocument/2006/relationships/slideMaster" Target="slideMasters/slideMaster3.xml"/><Relationship Id="rId25" Type="http://schemas.openxmlformats.org/officeDocument/2006/relationships/slide" Target="slides/slide18.xml"/><Relationship Id="rId46" Type="http://schemas.openxmlformats.org/officeDocument/2006/relationships/slide" Target="slides/slide39.xml"/><Relationship Id="rId67" Type="http://schemas.openxmlformats.org/officeDocument/2006/relationships/slide" Target="slides/slide60.xml"/><Relationship Id="rId116" Type="http://schemas.openxmlformats.org/officeDocument/2006/relationships/slide" Target="slides/slide109.xml"/><Relationship Id="rId137" Type="http://schemas.openxmlformats.org/officeDocument/2006/relationships/slide" Target="slides/slide130.xml"/><Relationship Id="rId158" Type="http://schemas.openxmlformats.org/officeDocument/2006/relationships/slide" Target="slides/slide151.xml"/><Relationship Id="rId20" Type="http://schemas.openxmlformats.org/officeDocument/2006/relationships/slide" Target="slides/slide13.xml"/><Relationship Id="rId41" Type="http://schemas.openxmlformats.org/officeDocument/2006/relationships/slide" Target="slides/slide34.xml"/><Relationship Id="rId62" Type="http://schemas.openxmlformats.org/officeDocument/2006/relationships/slide" Target="slides/slide55.xml"/><Relationship Id="rId83" Type="http://schemas.openxmlformats.org/officeDocument/2006/relationships/slide" Target="slides/slide76.xml"/><Relationship Id="rId88" Type="http://schemas.openxmlformats.org/officeDocument/2006/relationships/slide" Target="slides/slide81.xml"/><Relationship Id="rId111" Type="http://schemas.openxmlformats.org/officeDocument/2006/relationships/slide" Target="slides/slide104.xml"/><Relationship Id="rId132" Type="http://schemas.openxmlformats.org/officeDocument/2006/relationships/slide" Target="slides/slide125.xml"/><Relationship Id="rId153" Type="http://schemas.openxmlformats.org/officeDocument/2006/relationships/slide" Target="slides/slide146.xml"/><Relationship Id="rId174" Type="http://schemas.openxmlformats.org/officeDocument/2006/relationships/slide" Target="slides/slide167.xml"/><Relationship Id="rId179" Type="http://schemas.openxmlformats.org/officeDocument/2006/relationships/slide" Target="slides/slide172.xml"/><Relationship Id="rId190" Type="http://schemas.openxmlformats.org/officeDocument/2006/relationships/presProps" Target="presProps.xml"/><Relationship Id="rId15" Type="http://schemas.openxmlformats.org/officeDocument/2006/relationships/slide" Target="slides/slide8.xml"/><Relationship Id="rId36" Type="http://schemas.openxmlformats.org/officeDocument/2006/relationships/slide" Target="slides/slide29.xml"/><Relationship Id="rId57" Type="http://schemas.openxmlformats.org/officeDocument/2006/relationships/slide" Target="slides/slide50.xml"/><Relationship Id="rId106" Type="http://schemas.openxmlformats.org/officeDocument/2006/relationships/slide" Target="slides/slide99.xml"/><Relationship Id="rId127" Type="http://schemas.openxmlformats.org/officeDocument/2006/relationships/slide" Target="slides/slide120.xml"/><Relationship Id="rId10" Type="http://schemas.openxmlformats.org/officeDocument/2006/relationships/slide" Target="slides/slide3.xml"/><Relationship Id="rId31" Type="http://schemas.openxmlformats.org/officeDocument/2006/relationships/slide" Target="slides/slide24.xml"/><Relationship Id="rId52" Type="http://schemas.openxmlformats.org/officeDocument/2006/relationships/slide" Target="slides/slide45.xml"/><Relationship Id="rId73" Type="http://schemas.openxmlformats.org/officeDocument/2006/relationships/slide" Target="slides/slide66.xml"/><Relationship Id="rId78" Type="http://schemas.openxmlformats.org/officeDocument/2006/relationships/slide" Target="slides/slide71.xml"/><Relationship Id="rId94" Type="http://schemas.openxmlformats.org/officeDocument/2006/relationships/slide" Target="slides/slide87.xml"/><Relationship Id="rId99" Type="http://schemas.openxmlformats.org/officeDocument/2006/relationships/slide" Target="slides/slide92.xml"/><Relationship Id="rId101" Type="http://schemas.openxmlformats.org/officeDocument/2006/relationships/slide" Target="slides/slide94.xml"/><Relationship Id="rId122" Type="http://schemas.openxmlformats.org/officeDocument/2006/relationships/slide" Target="slides/slide115.xml"/><Relationship Id="rId143" Type="http://schemas.openxmlformats.org/officeDocument/2006/relationships/slide" Target="slides/slide136.xml"/><Relationship Id="rId148" Type="http://schemas.openxmlformats.org/officeDocument/2006/relationships/slide" Target="slides/slide141.xml"/><Relationship Id="rId164" Type="http://schemas.openxmlformats.org/officeDocument/2006/relationships/slide" Target="slides/slide157.xml"/><Relationship Id="rId169" Type="http://schemas.openxmlformats.org/officeDocument/2006/relationships/slide" Target="slides/slide162.xml"/><Relationship Id="rId185" Type="http://schemas.openxmlformats.org/officeDocument/2006/relationships/slide" Target="slides/slide178.xml"/><Relationship Id="rId4" Type="http://schemas.openxmlformats.org/officeDocument/2006/relationships/slideMaster" Target="slideMasters/slideMaster4.xml"/><Relationship Id="rId9" Type="http://schemas.openxmlformats.org/officeDocument/2006/relationships/slide" Target="slides/slide2.xml"/><Relationship Id="rId180" Type="http://schemas.openxmlformats.org/officeDocument/2006/relationships/slide" Target="slides/slide173.xml"/><Relationship Id="rId26" Type="http://schemas.openxmlformats.org/officeDocument/2006/relationships/slide" Target="slides/slide19.xml"/><Relationship Id="rId47" Type="http://schemas.openxmlformats.org/officeDocument/2006/relationships/slide" Target="slides/slide40.xml"/><Relationship Id="rId68" Type="http://schemas.openxmlformats.org/officeDocument/2006/relationships/slide" Target="slides/slide61.xml"/><Relationship Id="rId89" Type="http://schemas.openxmlformats.org/officeDocument/2006/relationships/slide" Target="slides/slide82.xml"/><Relationship Id="rId112" Type="http://schemas.openxmlformats.org/officeDocument/2006/relationships/slide" Target="slides/slide105.xml"/><Relationship Id="rId133" Type="http://schemas.openxmlformats.org/officeDocument/2006/relationships/slide" Target="slides/slide126.xml"/><Relationship Id="rId154" Type="http://schemas.openxmlformats.org/officeDocument/2006/relationships/slide" Target="slides/slide147.xml"/><Relationship Id="rId175" Type="http://schemas.openxmlformats.org/officeDocument/2006/relationships/slide" Target="slides/slide168.xml"/><Relationship Id="rId16" Type="http://schemas.openxmlformats.org/officeDocument/2006/relationships/slide" Target="slides/slide9.xml"/><Relationship Id="rId37" Type="http://schemas.openxmlformats.org/officeDocument/2006/relationships/slide" Target="slides/slide30.xml"/><Relationship Id="rId58" Type="http://schemas.openxmlformats.org/officeDocument/2006/relationships/slide" Target="slides/slide51.xml"/><Relationship Id="rId79" Type="http://schemas.openxmlformats.org/officeDocument/2006/relationships/slide" Target="slides/slide72.xml"/><Relationship Id="rId102" Type="http://schemas.openxmlformats.org/officeDocument/2006/relationships/slide" Target="slides/slide95.xml"/><Relationship Id="rId123" Type="http://schemas.openxmlformats.org/officeDocument/2006/relationships/slide" Target="slides/slide116.xml"/><Relationship Id="rId144" Type="http://schemas.openxmlformats.org/officeDocument/2006/relationships/slide" Target="slides/slide137.xml"/><Relationship Id="rId90" Type="http://schemas.openxmlformats.org/officeDocument/2006/relationships/slide" Target="slides/slide83.xml"/><Relationship Id="rId165" Type="http://schemas.openxmlformats.org/officeDocument/2006/relationships/slide" Target="slides/slide158.xml"/><Relationship Id="rId186" Type="http://schemas.openxmlformats.org/officeDocument/2006/relationships/slide" Target="slides/slide179.xml"/><Relationship Id="rId27" Type="http://schemas.openxmlformats.org/officeDocument/2006/relationships/slide" Target="slides/slide20.xml"/><Relationship Id="rId48" Type="http://schemas.openxmlformats.org/officeDocument/2006/relationships/slide" Target="slides/slide41.xml"/><Relationship Id="rId69" Type="http://schemas.openxmlformats.org/officeDocument/2006/relationships/slide" Target="slides/slide62.xml"/><Relationship Id="rId113" Type="http://schemas.openxmlformats.org/officeDocument/2006/relationships/slide" Target="slides/slide106.xml"/><Relationship Id="rId134" Type="http://schemas.openxmlformats.org/officeDocument/2006/relationships/slide" Target="slides/slide127.xml"/><Relationship Id="rId80" Type="http://schemas.openxmlformats.org/officeDocument/2006/relationships/slide" Target="slides/slide73.xml"/><Relationship Id="rId155" Type="http://schemas.openxmlformats.org/officeDocument/2006/relationships/slide" Target="slides/slide148.xml"/><Relationship Id="rId176" Type="http://schemas.openxmlformats.org/officeDocument/2006/relationships/slide" Target="slides/slide169.xml"/><Relationship Id="rId17" Type="http://schemas.openxmlformats.org/officeDocument/2006/relationships/slide" Target="slides/slide10.xml"/><Relationship Id="rId38" Type="http://schemas.openxmlformats.org/officeDocument/2006/relationships/slide" Target="slides/slide31.xml"/><Relationship Id="rId59" Type="http://schemas.openxmlformats.org/officeDocument/2006/relationships/slide" Target="slides/slide52.xml"/><Relationship Id="rId103" Type="http://schemas.openxmlformats.org/officeDocument/2006/relationships/slide" Target="slides/slide96.xml"/><Relationship Id="rId124" Type="http://schemas.openxmlformats.org/officeDocument/2006/relationships/slide" Target="slides/slide117.xml"/><Relationship Id="rId70" Type="http://schemas.openxmlformats.org/officeDocument/2006/relationships/slide" Target="slides/slide63.xml"/><Relationship Id="rId91" Type="http://schemas.openxmlformats.org/officeDocument/2006/relationships/slide" Target="slides/slide84.xml"/><Relationship Id="rId145" Type="http://schemas.openxmlformats.org/officeDocument/2006/relationships/slide" Target="slides/slide138.xml"/><Relationship Id="rId166" Type="http://schemas.openxmlformats.org/officeDocument/2006/relationships/slide" Target="slides/slide159.xml"/><Relationship Id="rId187" Type="http://schemas.openxmlformats.org/officeDocument/2006/relationships/slide" Target="slides/slide180.xml"/><Relationship Id="rId1" Type="http://schemas.openxmlformats.org/officeDocument/2006/relationships/slideMaster" Target="slideMasters/slideMaster1.xml"/><Relationship Id="rId28" Type="http://schemas.openxmlformats.org/officeDocument/2006/relationships/slide" Target="slides/slide21.xml"/><Relationship Id="rId49" Type="http://schemas.openxmlformats.org/officeDocument/2006/relationships/slide" Target="slides/slide42.xml"/><Relationship Id="rId114" Type="http://schemas.openxmlformats.org/officeDocument/2006/relationships/slide" Target="slides/slide107.xml"/><Relationship Id="rId60" Type="http://schemas.openxmlformats.org/officeDocument/2006/relationships/slide" Target="slides/slide53.xml"/><Relationship Id="rId81" Type="http://schemas.openxmlformats.org/officeDocument/2006/relationships/slide" Target="slides/slide74.xml"/><Relationship Id="rId135" Type="http://schemas.openxmlformats.org/officeDocument/2006/relationships/slide" Target="slides/slide128.xml"/><Relationship Id="rId156" Type="http://schemas.openxmlformats.org/officeDocument/2006/relationships/slide" Target="slides/slide149.xml"/><Relationship Id="rId177" Type="http://schemas.openxmlformats.org/officeDocument/2006/relationships/slide" Target="slides/slide170.xml"/><Relationship Id="rId18" Type="http://schemas.openxmlformats.org/officeDocument/2006/relationships/slide" Target="slides/slide11.xml"/><Relationship Id="rId39" Type="http://schemas.openxmlformats.org/officeDocument/2006/relationships/slide" Target="slides/slide32.xml"/></Relationships>
</file>

<file path=ppt/charts/_rels/chart1.xml.rels><?xml version="1.0" encoding="UTF-8" standalone="yes"?>
<Relationships xmlns="http://schemas.openxmlformats.org/package/2006/relationships"><Relationship Id="rId1" Type="http://schemas.openxmlformats.org/officeDocument/2006/relationships/oleObject" Target="Chart%20in%20Microsoft%20Office%20PowerPoint"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5446194225721996E-2"/>
          <c:y val="5.12317489117785E-2"/>
          <c:w val="0.60077263779527701"/>
          <c:h val="0.566424648190895"/>
        </c:manualLayout>
      </c:layout>
      <c:pieChart>
        <c:varyColors val="1"/>
        <c:ser>
          <c:idx val="0"/>
          <c:order val="0"/>
          <c:spPr>
            <a:solidFill>
              <a:srgbClr val="00B0F0"/>
            </a:solidFill>
          </c:spPr>
          <c:dPt>
            <c:idx val="0"/>
            <c:bubble3D val="0"/>
            <c:extLst>
              <c:ext xmlns:c16="http://schemas.microsoft.com/office/drawing/2014/chart" uri="{C3380CC4-5D6E-409C-BE32-E72D297353CC}">
                <c16:uniqueId val="{00000001-BE61-409B-9B84-E06969E6BF94}"/>
              </c:ext>
            </c:extLst>
          </c:dPt>
          <c:dPt>
            <c:idx val="1"/>
            <c:bubble3D val="0"/>
            <c:spPr>
              <a:solidFill>
                <a:schemeClr val="accent3"/>
              </a:solidFill>
            </c:spPr>
            <c:extLst>
              <c:ext xmlns:c16="http://schemas.microsoft.com/office/drawing/2014/chart" uri="{C3380CC4-5D6E-409C-BE32-E72D297353CC}">
                <c16:uniqueId val="{00000003-BE61-409B-9B84-E06969E6BF94}"/>
              </c:ext>
            </c:extLst>
          </c:dPt>
          <c:dPt>
            <c:idx val="2"/>
            <c:bubble3D val="0"/>
            <c:spPr>
              <a:solidFill>
                <a:srgbClr val="002060"/>
              </a:solidFill>
            </c:spPr>
            <c:extLst>
              <c:ext xmlns:c16="http://schemas.microsoft.com/office/drawing/2014/chart" uri="{C3380CC4-5D6E-409C-BE32-E72D297353CC}">
                <c16:uniqueId val="{00000005-BE61-409B-9B84-E06969E6BF94}"/>
              </c:ext>
            </c:extLst>
          </c:dPt>
          <c:dLbls>
            <c:dLbl>
              <c:idx val="0"/>
              <c:spPr>
                <a:solidFill>
                  <a:srgbClr val="00B0F0"/>
                </a:solidFill>
                <a:ln>
                  <a:noFill/>
                </a:ln>
                <a:effectLst/>
              </c:spPr>
              <c:txPr>
                <a:bodyPr rot="0" spcFirstLastPara="0" vertOverflow="ellipsis" vert="horz" wrap="square" lIns="38100" tIns="19050" rIns="38100" bIns="19050" anchor="ctr" anchorCtr="1"/>
                <a:lstStyle/>
                <a:p>
                  <a:pPr>
                    <a:defRPr lang="en-US" sz="2000" b="1" i="0" u="none" strike="noStrike" kern="1200" baseline="0">
                      <a:solidFill>
                        <a:schemeClr val="bg1"/>
                      </a:solidFill>
                      <a:latin typeface="Calibri" panose="020F0502020204030204" charset="0"/>
                      <a:ea typeface="+mn-ea"/>
                      <a:cs typeface="+mn-cs"/>
                    </a:defRPr>
                  </a:pPr>
                  <a:endParaRPr lang="en-US"/>
                </a:p>
              </c:txPr>
              <c:dLblPos val="bestFit"/>
              <c:showLegendKey val="0"/>
              <c:showVal val="1"/>
              <c:showCatName val="0"/>
              <c:showSerName val="0"/>
              <c:showPercent val="0"/>
              <c:showBubbleSize val="0"/>
              <c:extLst>
                <c:ext xmlns:c16="http://schemas.microsoft.com/office/drawing/2014/chart" uri="{C3380CC4-5D6E-409C-BE32-E72D297353CC}">
                  <c16:uniqueId val="{00000001-BE61-409B-9B84-E06969E6BF94}"/>
                </c:ext>
              </c:extLst>
            </c:dLbl>
            <c:spPr>
              <a:noFill/>
              <a:ln>
                <a:noFill/>
              </a:ln>
              <a:effectLst/>
            </c:spPr>
            <c:txPr>
              <a:bodyPr rot="0" spcFirstLastPara="0" vertOverflow="ellipsis" vert="horz" wrap="square" lIns="38100" tIns="19050" rIns="38100" bIns="19050" anchor="ctr" anchorCtr="1"/>
              <a:lstStyle/>
              <a:p>
                <a:pPr>
                  <a:defRPr lang="en-US" sz="2000" b="1" i="0" u="none" strike="noStrike" kern="1200" baseline="0">
                    <a:solidFill>
                      <a:schemeClr val="bg1"/>
                    </a:solidFill>
                    <a:latin typeface="Calibri" panose="020F0502020204030204" charset="0"/>
                    <a:ea typeface="+mn-ea"/>
                    <a:cs typeface="+mn-cs"/>
                  </a:defRPr>
                </a:pPr>
                <a:endParaRPr lang="en-US"/>
              </a:p>
            </c:txPr>
            <c:dLblPos val="bestFit"/>
            <c:showLegendKey val="0"/>
            <c:showVal val="1"/>
            <c:showCatName val="0"/>
            <c:showSerName val="0"/>
            <c:showPercent val="0"/>
            <c:showBubbleSize val="0"/>
            <c:showLeaderLines val="1"/>
            <c:extLst>
              <c:ext xmlns:c15="http://schemas.microsoft.com/office/drawing/2012/chart" uri="{CE6537A1-D6FC-4f65-9D91-7224C49458BB}"/>
            </c:extLst>
          </c:dLbls>
          <c:cat>
            <c:strRef>
              <c:f>Sheet1!$A$2:$A$4</c:f>
              <c:strCache>
                <c:ptCount val="3"/>
                <c:pt idx="0">
                  <c:v>TONES</c:v>
                </c:pt>
                <c:pt idx="1">
                  <c:v>VISUAL</c:v>
                </c:pt>
                <c:pt idx="2">
                  <c:v>WORD</c:v>
                </c:pt>
              </c:strCache>
            </c:strRef>
          </c:cat>
          <c:val>
            <c:numRef>
              <c:f>Sheet1!$B$2:$B$4</c:f>
              <c:numCache>
                <c:formatCode>0%</c:formatCode>
                <c:ptCount val="3"/>
                <c:pt idx="0">
                  <c:v>0.55000000000000004</c:v>
                </c:pt>
                <c:pt idx="1">
                  <c:v>0.380000000000001</c:v>
                </c:pt>
                <c:pt idx="2">
                  <c:v>7.0000000000000007E-2</c:v>
                </c:pt>
              </c:numCache>
            </c:numRef>
          </c:val>
          <c:extLst>
            <c:ext xmlns:c16="http://schemas.microsoft.com/office/drawing/2014/chart" uri="{C3380CC4-5D6E-409C-BE32-E72D297353CC}">
              <c16:uniqueId val="{00000006-BE61-409B-9B84-E06969E6BF94}"/>
            </c:ext>
          </c:extLst>
        </c:ser>
        <c:dLbls>
          <c:showLegendKey val="0"/>
          <c:showVal val="0"/>
          <c:showCatName val="0"/>
          <c:showSerName val="0"/>
          <c:showPercent val="0"/>
          <c:showBubbleSize val="0"/>
          <c:showLeaderLines val="1"/>
        </c:dLbls>
        <c:firstSliceAng val="0"/>
      </c:pieChart>
    </c:plotArea>
    <c:legend>
      <c:legendPos val="r"/>
      <c:layout>
        <c:manualLayout>
          <c:xMode val="edge"/>
          <c:yMode val="edge"/>
          <c:x val="0.72382897450318995"/>
          <c:y val="5.0685787753899002E-2"/>
          <c:w val="0.27617102549681299"/>
          <c:h val="0.39634857819209002"/>
        </c:manualLayout>
      </c:layout>
      <c:overlay val="0"/>
      <c:txPr>
        <a:bodyPr rot="0" spcFirstLastPara="0" vertOverflow="ellipsis" vert="horz" wrap="square" anchor="ctr" anchorCtr="1"/>
        <a:lstStyle/>
        <a:p>
          <a:pPr>
            <a:defRPr lang="en-US" sz="2000" b="0" i="0" u="none" strike="noStrike" kern="1200" baseline="0">
              <a:solidFill>
                <a:schemeClr val="tx1"/>
              </a:solidFill>
              <a:latin typeface="Calibri" panose="020F0502020204030204" charset="0"/>
              <a:ea typeface="+mn-ea"/>
              <a:cs typeface="+mn-cs"/>
            </a:defRPr>
          </a:pPr>
          <a:endParaRPr lang="en-US"/>
        </a:p>
      </c:txPr>
    </c:legend>
    <c:plotVisOnly val="1"/>
    <c:dispBlanksAs val="zero"/>
    <c:showDLblsOverMax val="0"/>
  </c:chart>
  <c:txPr>
    <a:bodyPr/>
    <a:lstStyle/>
    <a:p>
      <a:pPr>
        <a:defRPr lang="en-US" sz="2000">
          <a:latin typeface="Calibri" panose="020F0502020204030204" charset="0"/>
        </a:defRPr>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colorful3#1">
  <dgm:title val=""/>
  <dgm:desc val=""/>
  <dgm:catLst>
    <dgm:cat type="colorful" pri="10300"/>
  </dgm:catLst>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DF3EB5D-5E26-DE4B-A256-18A04463BD31}" type="doc">
      <dgm:prSet loTypeId="urn:microsoft.com/office/officeart/2005/8/layout/pyramid1#1" loCatId="" qsTypeId="urn:microsoft.com/office/officeart/2005/8/quickstyle/simple4#1" qsCatId="simple" csTypeId="urn:microsoft.com/office/officeart/2005/8/colors/colorful3#1" csCatId="colorful" phldr="1"/>
      <dgm:spPr/>
      <dgm:t>
        <a:bodyPr/>
        <a:lstStyle/>
        <a:p>
          <a:endParaRPr lang="en-US"/>
        </a:p>
      </dgm:t>
    </dgm:pt>
    <dgm:pt modelId="{E78962C4-64F3-F141-BED7-D3045521146B}">
      <dgm:prSet/>
      <dgm:spPr/>
      <dgm:t>
        <a:bodyPr/>
        <a:lstStyle/>
        <a:p>
          <a:pPr rtl="0"/>
          <a:r>
            <a:rPr lang="en-US" b="1" dirty="0"/>
            <a:t>Physiological needs </a:t>
          </a:r>
          <a:r>
            <a:rPr lang="en-US" dirty="0"/>
            <a:t>: food, shelter, warmth, sex</a:t>
          </a:r>
        </a:p>
      </dgm:t>
    </dgm:pt>
    <dgm:pt modelId="{7FDE5ED5-1361-014D-A5A3-C667C38CE58E}" type="parTrans" cxnId="{67494713-51B1-194F-82BE-7B20CAE2140B}">
      <dgm:prSet/>
      <dgm:spPr/>
      <dgm:t>
        <a:bodyPr/>
        <a:lstStyle/>
        <a:p>
          <a:endParaRPr lang="en-US"/>
        </a:p>
      </dgm:t>
    </dgm:pt>
    <dgm:pt modelId="{E6168D63-8390-6B46-AF61-19080730528E}" type="sibTrans" cxnId="{67494713-51B1-194F-82BE-7B20CAE2140B}">
      <dgm:prSet/>
      <dgm:spPr/>
      <dgm:t>
        <a:bodyPr/>
        <a:lstStyle/>
        <a:p>
          <a:endParaRPr lang="en-US"/>
        </a:p>
      </dgm:t>
    </dgm:pt>
    <dgm:pt modelId="{2BB246B9-06F9-DB42-9880-F3A5E14D1966}">
      <dgm:prSet/>
      <dgm:spPr/>
      <dgm:t>
        <a:bodyPr/>
        <a:lstStyle/>
        <a:p>
          <a:pPr rtl="0"/>
          <a:r>
            <a:rPr lang="en-US" b="1" dirty="0"/>
            <a:t>Safety needs</a:t>
          </a:r>
          <a:r>
            <a:rPr lang="en-US" dirty="0"/>
            <a:t>: security, absence of fear</a:t>
          </a:r>
        </a:p>
      </dgm:t>
    </dgm:pt>
    <dgm:pt modelId="{0B2F56C9-98CE-694D-AC05-6AF5A816FC4A}" type="parTrans" cxnId="{53705EE4-F3B5-7F49-83A5-FCC4F5A8D3BA}">
      <dgm:prSet/>
      <dgm:spPr/>
      <dgm:t>
        <a:bodyPr/>
        <a:lstStyle/>
        <a:p>
          <a:endParaRPr lang="en-US"/>
        </a:p>
      </dgm:t>
    </dgm:pt>
    <dgm:pt modelId="{F6CDE2BF-34C4-844A-885D-F00CF06CBD21}" type="sibTrans" cxnId="{53705EE4-F3B5-7F49-83A5-FCC4F5A8D3BA}">
      <dgm:prSet/>
      <dgm:spPr/>
      <dgm:t>
        <a:bodyPr/>
        <a:lstStyle/>
        <a:p>
          <a:endParaRPr lang="en-US"/>
        </a:p>
      </dgm:t>
    </dgm:pt>
    <dgm:pt modelId="{5C00E210-ED28-7840-AF51-10EE3EACBDA2}">
      <dgm:prSet/>
      <dgm:spPr/>
      <dgm:t>
        <a:bodyPr/>
        <a:lstStyle/>
        <a:p>
          <a:pPr rtl="0"/>
          <a:r>
            <a:rPr lang="en-US" b="1" dirty="0"/>
            <a:t>Social needs</a:t>
          </a:r>
          <a:r>
            <a:rPr lang="en-US" dirty="0"/>
            <a:t>: interaction, friends</a:t>
          </a:r>
        </a:p>
      </dgm:t>
    </dgm:pt>
    <dgm:pt modelId="{8F1AB3F5-BAA4-9E45-A414-8883C43DC4B1}" type="parTrans" cxnId="{C2A0DA04-0920-3940-8413-33706FED3F06}">
      <dgm:prSet/>
      <dgm:spPr/>
      <dgm:t>
        <a:bodyPr/>
        <a:lstStyle/>
        <a:p>
          <a:endParaRPr lang="en-US"/>
        </a:p>
      </dgm:t>
    </dgm:pt>
    <dgm:pt modelId="{9C051531-4E01-DE4D-9CBD-2A7587A2E209}" type="sibTrans" cxnId="{C2A0DA04-0920-3940-8413-33706FED3F06}">
      <dgm:prSet/>
      <dgm:spPr/>
      <dgm:t>
        <a:bodyPr/>
        <a:lstStyle/>
        <a:p>
          <a:endParaRPr lang="en-US"/>
        </a:p>
      </dgm:t>
    </dgm:pt>
    <dgm:pt modelId="{7B8D8839-15D8-9342-86EC-5FB1EA7A2300}">
      <dgm:prSet/>
      <dgm:spPr/>
      <dgm:t>
        <a:bodyPr/>
        <a:lstStyle/>
        <a:p>
          <a:pPr rtl="0"/>
          <a:r>
            <a:rPr lang="en-US" b="1" dirty="0"/>
            <a:t>Esteem needs</a:t>
          </a:r>
          <a:r>
            <a:rPr lang="en-US" dirty="0"/>
            <a:t>: appreciation</a:t>
          </a:r>
        </a:p>
      </dgm:t>
    </dgm:pt>
    <dgm:pt modelId="{118A36C4-1024-6C42-BF9E-DC1E3076ED95}" type="parTrans" cxnId="{A1D02083-9093-8949-BECA-F0AF9E327A2B}">
      <dgm:prSet/>
      <dgm:spPr/>
      <dgm:t>
        <a:bodyPr/>
        <a:lstStyle/>
        <a:p>
          <a:endParaRPr lang="en-US"/>
        </a:p>
      </dgm:t>
    </dgm:pt>
    <dgm:pt modelId="{B8F8332D-D861-D34F-922C-25115FC89957}" type="sibTrans" cxnId="{A1D02083-9093-8949-BECA-F0AF9E327A2B}">
      <dgm:prSet/>
      <dgm:spPr/>
      <dgm:t>
        <a:bodyPr/>
        <a:lstStyle/>
        <a:p>
          <a:endParaRPr lang="en-US"/>
        </a:p>
      </dgm:t>
    </dgm:pt>
    <dgm:pt modelId="{5A15E763-1561-0141-82FC-B4CE719C6EA0}">
      <dgm:prSet/>
      <dgm:spPr/>
      <dgm:t>
        <a:bodyPr/>
        <a:lstStyle/>
        <a:p>
          <a:pPr rtl="0"/>
          <a:r>
            <a:rPr lang="en-US" b="1" dirty="0"/>
            <a:t>Self-Actualization</a:t>
          </a:r>
          <a:r>
            <a:rPr lang="en-US" dirty="0"/>
            <a:t>: Achieving</a:t>
          </a:r>
        </a:p>
      </dgm:t>
    </dgm:pt>
    <dgm:pt modelId="{86EF53DE-2134-A344-958C-388DB64EF909}" type="parTrans" cxnId="{5A6DD0BA-F94F-B441-85CB-7B135602D1BB}">
      <dgm:prSet/>
      <dgm:spPr/>
      <dgm:t>
        <a:bodyPr/>
        <a:lstStyle/>
        <a:p>
          <a:endParaRPr lang="en-US"/>
        </a:p>
      </dgm:t>
    </dgm:pt>
    <dgm:pt modelId="{5D935F0D-DB13-D245-BAE5-A37FD76B6172}" type="sibTrans" cxnId="{5A6DD0BA-F94F-B441-85CB-7B135602D1BB}">
      <dgm:prSet/>
      <dgm:spPr/>
      <dgm:t>
        <a:bodyPr/>
        <a:lstStyle/>
        <a:p>
          <a:endParaRPr lang="en-US"/>
        </a:p>
      </dgm:t>
    </dgm:pt>
    <dgm:pt modelId="{169A0D19-57BA-244C-8E35-A31F61DBFD14}" type="pres">
      <dgm:prSet presAssocID="{ADF3EB5D-5E26-DE4B-A256-18A04463BD31}" presName="Name0" presStyleCnt="0">
        <dgm:presLayoutVars>
          <dgm:dir/>
          <dgm:animLvl val="lvl"/>
          <dgm:resizeHandles val="exact"/>
        </dgm:presLayoutVars>
      </dgm:prSet>
      <dgm:spPr/>
    </dgm:pt>
    <dgm:pt modelId="{D96CB528-82F6-894D-BA38-BB2A82439399}" type="pres">
      <dgm:prSet presAssocID="{5A15E763-1561-0141-82FC-B4CE719C6EA0}" presName="Name8" presStyleCnt="0"/>
      <dgm:spPr/>
    </dgm:pt>
    <dgm:pt modelId="{4F0D3CAD-209B-064A-A7C2-E65C41D9E700}" type="pres">
      <dgm:prSet presAssocID="{5A15E763-1561-0141-82FC-B4CE719C6EA0}" presName="level" presStyleLbl="node1" presStyleIdx="0" presStyleCnt="5">
        <dgm:presLayoutVars>
          <dgm:chMax val="1"/>
          <dgm:bulletEnabled val="1"/>
        </dgm:presLayoutVars>
      </dgm:prSet>
      <dgm:spPr/>
    </dgm:pt>
    <dgm:pt modelId="{2F90D9F2-6BA6-BC4A-A0E4-9AB0F077C7B2}" type="pres">
      <dgm:prSet presAssocID="{5A15E763-1561-0141-82FC-B4CE719C6EA0}" presName="levelTx" presStyleLbl="revTx" presStyleIdx="0" presStyleCnt="0">
        <dgm:presLayoutVars>
          <dgm:chMax val="1"/>
          <dgm:bulletEnabled val="1"/>
        </dgm:presLayoutVars>
      </dgm:prSet>
      <dgm:spPr/>
    </dgm:pt>
    <dgm:pt modelId="{62DA5FAF-5326-3E48-99C4-650EF4073DF7}" type="pres">
      <dgm:prSet presAssocID="{7B8D8839-15D8-9342-86EC-5FB1EA7A2300}" presName="Name8" presStyleCnt="0"/>
      <dgm:spPr/>
    </dgm:pt>
    <dgm:pt modelId="{8AE6A6F0-C4D5-1B49-855F-494615D06A03}" type="pres">
      <dgm:prSet presAssocID="{7B8D8839-15D8-9342-86EC-5FB1EA7A2300}" presName="level" presStyleLbl="node1" presStyleIdx="1" presStyleCnt="5">
        <dgm:presLayoutVars>
          <dgm:chMax val="1"/>
          <dgm:bulletEnabled val="1"/>
        </dgm:presLayoutVars>
      </dgm:prSet>
      <dgm:spPr/>
    </dgm:pt>
    <dgm:pt modelId="{020D6AE7-DE44-6340-867A-D06A4AD56030}" type="pres">
      <dgm:prSet presAssocID="{7B8D8839-15D8-9342-86EC-5FB1EA7A2300}" presName="levelTx" presStyleLbl="revTx" presStyleIdx="0" presStyleCnt="0">
        <dgm:presLayoutVars>
          <dgm:chMax val="1"/>
          <dgm:bulletEnabled val="1"/>
        </dgm:presLayoutVars>
      </dgm:prSet>
      <dgm:spPr/>
    </dgm:pt>
    <dgm:pt modelId="{7AAEA9A0-443E-0E4A-8E74-9CD0533153B9}" type="pres">
      <dgm:prSet presAssocID="{5C00E210-ED28-7840-AF51-10EE3EACBDA2}" presName="Name8" presStyleCnt="0"/>
      <dgm:spPr/>
    </dgm:pt>
    <dgm:pt modelId="{45F61AA0-83A2-2546-A1EE-ACC4A5DA209B}" type="pres">
      <dgm:prSet presAssocID="{5C00E210-ED28-7840-AF51-10EE3EACBDA2}" presName="level" presStyleLbl="node1" presStyleIdx="2" presStyleCnt="5">
        <dgm:presLayoutVars>
          <dgm:chMax val="1"/>
          <dgm:bulletEnabled val="1"/>
        </dgm:presLayoutVars>
      </dgm:prSet>
      <dgm:spPr/>
    </dgm:pt>
    <dgm:pt modelId="{4A035D81-270D-1940-9C6C-9E9E85041DE8}" type="pres">
      <dgm:prSet presAssocID="{5C00E210-ED28-7840-AF51-10EE3EACBDA2}" presName="levelTx" presStyleLbl="revTx" presStyleIdx="0" presStyleCnt="0">
        <dgm:presLayoutVars>
          <dgm:chMax val="1"/>
          <dgm:bulletEnabled val="1"/>
        </dgm:presLayoutVars>
      </dgm:prSet>
      <dgm:spPr/>
    </dgm:pt>
    <dgm:pt modelId="{38933C20-160C-1549-B725-EBC1A39D491A}" type="pres">
      <dgm:prSet presAssocID="{2BB246B9-06F9-DB42-9880-F3A5E14D1966}" presName="Name8" presStyleCnt="0"/>
      <dgm:spPr/>
    </dgm:pt>
    <dgm:pt modelId="{5345F3EB-597F-7544-8696-8C73CCCDFFC3}" type="pres">
      <dgm:prSet presAssocID="{2BB246B9-06F9-DB42-9880-F3A5E14D1966}" presName="level" presStyleLbl="node1" presStyleIdx="3" presStyleCnt="5">
        <dgm:presLayoutVars>
          <dgm:chMax val="1"/>
          <dgm:bulletEnabled val="1"/>
        </dgm:presLayoutVars>
      </dgm:prSet>
      <dgm:spPr/>
    </dgm:pt>
    <dgm:pt modelId="{99576E0A-78C4-3E4B-8C30-B9C08699FC98}" type="pres">
      <dgm:prSet presAssocID="{2BB246B9-06F9-DB42-9880-F3A5E14D1966}" presName="levelTx" presStyleLbl="revTx" presStyleIdx="0" presStyleCnt="0">
        <dgm:presLayoutVars>
          <dgm:chMax val="1"/>
          <dgm:bulletEnabled val="1"/>
        </dgm:presLayoutVars>
      </dgm:prSet>
      <dgm:spPr/>
    </dgm:pt>
    <dgm:pt modelId="{8CC372AD-37D8-C846-9DFE-A549C04550D2}" type="pres">
      <dgm:prSet presAssocID="{E78962C4-64F3-F141-BED7-D3045521146B}" presName="Name8" presStyleCnt="0"/>
      <dgm:spPr/>
    </dgm:pt>
    <dgm:pt modelId="{C73D5822-8626-F54C-9593-5B2B9930CBD9}" type="pres">
      <dgm:prSet presAssocID="{E78962C4-64F3-F141-BED7-D3045521146B}" presName="level" presStyleLbl="node1" presStyleIdx="4" presStyleCnt="5">
        <dgm:presLayoutVars>
          <dgm:chMax val="1"/>
          <dgm:bulletEnabled val="1"/>
        </dgm:presLayoutVars>
      </dgm:prSet>
      <dgm:spPr/>
    </dgm:pt>
    <dgm:pt modelId="{CDE49F8D-A6CF-1143-8ECD-D4FB4AC174BE}" type="pres">
      <dgm:prSet presAssocID="{E78962C4-64F3-F141-BED7-D3045521146B}" presName="levelTx" presStyleLbl="revTx" presStyleIdx="0" presStyleCnt="0">
        <dgm:presLayoutVars>
          <dgm:chMax val="1"/>
          <dgm:bulletEnabled val="1"/>
        </dgm:presLayoutVars>
      </dgm:prSet>
      <dgm:spPr/>
    </dgm:pt>
  </dgm:ptLst>
  <dgm:cxnLst>
    <dgm:cxn modelId="{39B60400-982D-4FA7-80B9-2110C0B02E30}" type="presOf" srcId="{5C00E210-ED28-7840-AF51-10EE3EACBDA2}" destId="{45F61AA0-83A2-2546-A1EE-ACC4A5DA209B}" srcOrd="0" destOrd="0" presId="urn:microsoft.com/office/officeart/2005/8/layout/pyramid1#1"/>
    <dgm:cxn modelId="{65B03F01-7167-4FA0-B4C1-8CEF4B7482F0}" type="presOf" srcId="{5C00E210-ED28-7840-AF51-10EE3EACBDA2}" destId="{4A035D81-270D-1940-9C6C-9E9E85041DE8}" srcOrd="1" destOrd="0" presId="urn:microsoft.com/office/officeart/2005/8/layout/pyramid1#1"/>
    <dgm:cxn modelId="{C2A0DA04-0920-3940-8413-33706FED3F06}" srcId="{ADF3EB5D-5E26-DE4B-A256-18A04463BD31}" destId="{5C00E210-ED28-7840-AF51-10EE3EACBDA2}" srcOrd="2" destOrd="0" parTransId="{8F1AB3F5-BAA4-9E45-A414-8883C43DC4B1}" sibTransId="{9C051531-4E01-DE4D-9CBD-2A7587A2E209}"/>
    <dgm:cxn modelId="{67494713-51B1-194F-82BE-7B20CAE2140B}" srcId="{ADF3EB5D-5E26-DE4B-A256-18A04463BD31}" destId="{E78962C4-64F3-F141-BED7-D3045521146B}" srcOrd="4" destOrd="0" parTransId="{7FDE5ED5-1361-014D-A5A3-C667C38CE58E}" sibTransId="{E6168D63-8390-6B46-AF61-19080730528E}"/>
    <dgm:cxn modelId="{92704E1A-9CD4-4737-960E-61B0F1B63815}" type="presOf" srcId="{7B8D8839-15D8-9342-86EC-5FB1EA7A2300}" destId="{8AE6A6F0-C4D5-1B49-855F-494615D06A03}" srcOrd="0" destOrd="0" presId="urn:microsoft.com/office/officeart/2005/8/layout/pyramid1#1"/>
    <dgm:cxn modelId="{B4D8581E-23E0-409F-91A9-BBDF4E0CFD00}" type="presOf" srcId="{ADF3EB5D-5E26-DE4B-A256-18A04463BD31}" destId="{169A0D19-57BA-244C-8E35-A31F61DBFD14}" srcOrd="0" destOrd="0" presId="urn:microsoft.com/office/officeart/2005/8/layout/pyramid1#1"/>
    <dgm:cxn modelId="{7D513134-DD92-47B4-8686-BC19D591D366}" type="presOf" srcId="{2BB246B9-06F9-DB42-9880-F3A5E14D1966}" destId="{5345F3EB-597F-7544-8696-8C73CCCDFFC3}" srcOrd="0" destOrd="0" presId="urn:microsoft.com/office/officeart/2005/8/layout/pyramid1#1"/>
    <dgm:cxn modelId="{0B3DB671-D4CA-4B37-80DD-358037B47563}" type="presOf" srcId="{5A15E763-1561-0141-82FC-B4CE719C6EA0}" destId="{4F0D3CAD-209B-064A-A7C2-E65C41D9E700}" srcOrd="0" destOrd="0" presId="urn:microsoft.com/office/officeart/2005/8/layout/pyramid1#1"/>
    <dgm:cxn modelId="{3076D65A-E3BA-4B15-BFDA-2D36EE64EFAD}" type="presOf" srcId="{E78962C4-64F3-F141-BED7-D3045521146B}" destId="{C73D5822-8626-F54C-9593-5B2B9930CBD9}" srcOrd="0" destOrd="0" presId="urn:microsoft.com/office/officeart/2005/8/layout/pyramid1#1"/>
    <dgm:cxn modelId="{E77EEA7B-C1FC-4ADF-BACA-C512A7C4A323}" type="presOf" srcId="{7B8D8839-15D8-9342-86EC-5FB1EA7A2300}" destId="{020D6AE7-DE44-6340-867A-D06A4AD56030}" srcOrd="1" destOrd="0" presId="urn:microsoft.com/office/officeart/2005/8/layout/pyramid1#1"/>
    <dgm:cxn modelId="{7547C37F-0214-4DA5-9F58-2C5B0F9436AD}" type="presOf" srcId="{2BB246B9-06F9-DB42-9880-F3A5E14D1966}" destId="{99576E0A-78C4-3E4B-8C30-B9C08699FC98}" srcOrd="1" destOrd="0" presId="urn:microsoft.com/office/officeart/2005/8/layout/pyramid1#1"/>
    <dgm:cxn modelId="{A1D02083-9093-8949-BECA-F0AF9E327A2B}" srcId="{ADF3EB5D-5E26-DE4B-A256-18A04463BD31}" destId="{7B8D8839-15D8-9342-86EC-5FB1EA7A2300}" srcOrd="1" destOrd="0" parTransId="{118A36C4-1024-6C42-BF9E-DC1E3076ED95}" sibTransId="{B8F8332D-D861-D34F-922C-25115FC89957}"/>
    <dgm:cxn modelId="{AF0B1F85-22D9-4CDD-90C0-ED44F8878361}" type="presOf" srcId="{E78962C4-64F3-F141-BED7-D3045521146B}" destId="{CDE49F8D-A6CF-1143-8ECD-D4FB4AC174BE}" srcOrd="1" destOrd="0" presId="urn:microsoft.com/office/officeart/2005/8/layout/pyramid1#1"/>
    <dgm:cxn modelId="{5A6DD0BA-F94F-B441-85CB-7B135602D1BB}" srcId="{ADF3EB5D-5E26-DE4B-A256-18A04463BD31}" destId="{5A15E763-1561-0141-82FC-B4CE719C6EA0}" srcOrd="0" destOrd="0" parTransId="{86EF53DE-2134-A344-958C-388DB64EF909}" sibTransId="{5D935F0D-DB13-D245-BAE5-A37FD76B6172}"/>
    <dgm:cxn modelId="{53705EE4-F3B5-7F49-83A5-FCC4F5A8D3BA}" srcId="{ADF3EB5D-5E26-DE4B-A256-18A04463BD31}" destId="{2BB246B9-06F9-DB42-9880-F3A5E14D1966}" srcOrd="3" destOrd="0" parTransId="{0B2F56C9-98CE-694D-AC05-6AF5A816FC4A}" sibTransId="{F6CDE2BF-34C4-844A-885D-F00CF06CBD21}"/>
    <dgm:cxn modelId="{0D3B54E5-B6A8-4359-B2A5-AB75317230C3}" type="presOf" srcId="{5A15E763-1561-0141-82FC-B4CE719C6EA0}" destId="{2F90D9F2-6BA6-BC4A-A0E4-9AB0F077C7B2}" srcOrd="1" destOrd="0" presId="urn:microsoft.com/office/officeart/2005/8/layout/pyramid1#1"/>
    <dgm:cxn modelId="{1B175493-EB84-4311-9ECC-E60CD14550CD}" type="presParOf" srcId="{169A0D19-57BA-244C-8E35-A31F61DBFD14}" destId="{D96CB528-82F6-894D-BA38-BB2A82439399}" srcOrd="0" destOrd="0" presId="urn:microsoft.com/office/officeart/2005/8/layout/pyramid1#1"/>
    <dgm:cxn modelId="{C4F22D1B-5104-4A2C-A1B2-B2406AAAF758}" type="presParOf" srcId="{D96CB528-82F6-894D-BA38-BB2A82439399}" destId="{4F0D3CAD-209B-064A-A7C2-E65C41D9E700}" srcOrd="0" destOrd="0" presId="urn:microsoft.com/office/officeart/2005/8/layout/pyramid1#1"/>
    <dgm:cxn modelId="{FB2267E6-FA69-46A8-B18A-4C4F46556DB6}" type="presParOf" srcId="{D96CB528-82F6-894D-BA38-BB2A82439399}" destId="{2F90D9F2-6BA6-BC4A-A0E4-9AB0F077C7B2}" srcOrd="1" destOrd="0" presId="urn:microsoft.com/office/officeart/2005/8/layout/pyramid1#1"/>
    <dgm:cxn modelId="{DD70420F-C05C-4EB3-AAF9-D1A46A6E0437}" type="presParOf" srcId="{169A0D19-57BA-244C-8E35-A31F61DBFD14}" destId="{62DA5FAF-5326-3E48-99C4-650EF4073DF7}" srcOrd="1" destOrd="0" presId="urn:microsoft.com/office/officeart/2005/8/layout/pyramid1#1"/>
    <dgm:cxn modelId="{3AD96FD3-FEAF-4546-80FF-D5A17898DDF7}" type="presParOf" srcId="{62DA5FAF-5326-3E48-99C4-650EF4073DF7}" destId="{8AE6A6F0-C4D5-1B49-855F-494615D06A03}" srcOrd="0" destOrd="0" presId="urn:microsoft.com/office/officeart/2005/8/layout/pyramid1#1"/>
    <dgm:cxn modelId="{69B4D492-D389-4765-A104-3A53F32BE687}" type="presParOf" srcId="{62DA5FAF-5326-3E48-99C4-650EF4073DF7}" destId="{020D6AE7-DE44-6340-867A-D06A4AD56030}" srcOrd="1" destOrd="0" presId="urn:microsoft.com/office/officeart/2005/8/layout/pyramid1#1"/>
    <dgm:cxn modelId="{F7AC2FE2-0E38-42C1-AFFE-294AB411E503}" type="presParOf" srcId="{169A0D19-57BA-244C-8E35-A31F61DBFD14}" destId="{7AAEA9A0-443E-0E4A-8E74-9CD0533153B9}" srcOrd="2" destOrd="0" presId="urn:microsoft.com/office/officeart/2005/8/layout/pyramid1#1"/>
    <dgm:cxn modelId="{B66E60DC-4CCC-43A7-A371-A33185C12B70}" type="presParOf" srcId="{7AAEA9A0-443E-0E4A-8E74-9CD0533153B9}" destId="{45F61AA0-83A2-2546-A1EE-ACC4A5DA209B}" srcOrd="0" destOrd="0" presId="urn:microsoft.com/office/officeart/2005/8/layout/pyramid1#1"/>
    <dgm:cxn modelId="{57B7DAA6-7869-4729-8838-0206372B51FF}" type="presParOf" srcId="{7AAEA9A0-443E-0E4A-8E74-9CD0533153B9}" destId="{4A035D81-270D-1940-9C6C-9E9E85041DE8}" srcOrd="1" destOrd="0" presId="urn:microsoft.com/office/officeart/2005/8/layout/pyramid1#1"/>
    <dgm:cxn modelId="{39FF4AA1-6B7F-4884-BDF2-99757410A352}" type="presParOf" srcId="{169A0D19-57BA-244C-8E35-A31F61DBFD14}" destId="{38933C20-160C-1549-B725-EBC1A39D491A}" srcOrd="3" destOrd="0" presId="urn:microsoft.com/office/officeart/2005/8/layout/pyramid1#1"/>
    <dgm:cxn modelId="{A2BCAA50-23E6-4C69-8550-D2A35716AE2F}" type="presParOf" srcId="{38933C20-160C-1549-B725-EBC1A39D491A}" destId="{5345F3EB-597F-7544-8696-8C73CCCDFFC3}" srcOrd="0" destOrd="0" presId="urn:microsoft.com/office/officeart/2005/8/layout/pyramid1#1"/>
    <dgm:cxn modelId="{FD8B9784-0F52-4C59-89E0-662F7D79237B}" type="presParOf" srcId="{38933C20-160C-1549-B725-EBC1A39D491A}" destId="{99576E0A-78C4-3E4B-8C30-B9C08699FC98}" srcOrd="1" destOrd="0" presId="urn:microsoft.com/office/officeart/2005/8/layout/pyramid1#1"/>
    <dgm:cxn modelId="{B155CCEC-D814-4E9B-99F0-50FF9FE7639C}" type="presParOf" srcId="{169A0D19-57BA-244C-8E35-A31F61DBFD14}" destId="{8CC372AD-37D8-C846-9DFE-A549C04550D2}" srcOrd="4" destOrd="0" presId="urn:microsoft.com/office/officeart/2005/8/layout/pyramid1#1"/>
    <dgm:cxn modelId="{2E556420-1A01-42D8-830B-E3418B2C30CA}" type="presParOf" srcId="{8CC372AD-37D8-C846-9DFE-A549C04550D2}" destId="{C73D5822-8626-F54C-9593-5B2B9930CBD9}" srcOrd="0" destOrd="0" presId="urn:microsoft.com/office/officeart/2005/8/layout/pyramid1#1"/>
    <dgm:cxn modelId="{63B67CED-6EDF-4DAF-9C4E-17E966699850}" type="presParOf" srcId="{8CC372AD-37D8-C846-9DFE-A549C04550D2}" destId="{CDE49F8D-A6CF-1143-8ECD-D4FB4AC174BE}" srcOrd="1" destOrd="0" presId="urn:microsoft.com/office/officeart/2005/8/layout/pyramid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34465D7-91E7-4D4C-A393-015B059FA9E8}" type="doc">
      <dgm:prSet loTypeId="urn:microsoft.com/office/officeart/2005/8/layout/hierarchy2#1" loCatId="hierarchy" qsTypeId="urn:microsoft.com/office/officeart/2005/8/quickstyle/simple1#1" qsCatId="simple" csTypeId="urn:microsoft.com/office/officeart/2005/8/colors/accent1_2#1" csCatId="accent1" phldr="1"/>
      <dgm:spPr/>
      <dgm:t>
        <a:bodyPr/>
        <a:lstStyle/>
        <a:p>
          <a:endParaRPr lang="en-US"/>
        </a:p>
      </dgm:t>
    </dgm:pt>
    <dgm:pt modelId="{0A60565A-62BD-47BE-BB6E-1FD5E7939CD6}">
      <dgm:prSet phldrT="[Text]"/>
      <dgm:spPr/>
      <dgm:t>
        <a:bodyPr/>
        <a:lstStyle/>
        <a:p>
          <a:r>
            <a:rPr lang="en-US" dirty="0"/>
            <a:t>Total number of patients</a:t>
          </a:r>
        </a:p>
      </dgm:t>
    </dgm:pt>
    <dgm:pt modelId="{93FA924B-91BC-4FC8-AC6F-72AB8E60C581}" type="parTrans" cxnId="{FE86681F-8520-4E02-BDDD-7274C1B7B823}">
      <dgm:prSet/>
      <dgm:spPr/>
      <dgm:t>
        <a:bodyPr/>
        <a:lstStyle/>
        <a:p>
          <a:endParaRPr lang="en-US"/>
        </a:p>
      </dgm:t>
    </dgm:pt>
    <dgm:pt modelId="{FE142968-15B7-40F3-9329-8B4A020D5105}" type="sibTrans" cxnId="{FE86681F-8520-4E02-BDDD-7274C1B7B823}">
      <dgm:prSet/>
      <dgm:spPr/>
      <dgm:t>
        <a:bodyPr/>
        <a:lstStyle/>
        <a:p>
          <a:endParaRPr lang="en-US"/>
        </a:p>
      </dgm:t>
    </dgm:pt>
    <dgm:pt modelId="{2A73FE03-EA62-4C7E-A607-4A5BA706553A}">
      <dgm:prSet phldrT="[Text]"/>
      <dgm:spPr/>
      <dgm:t>
        <a:bodyPr/>
        <a:lstStyle/>
        <a:p>
          <a:r>
            <a:rPr lang="en-US" dirty="0"/>
            <a:t>Children (</a:t>
          </a:r>
          <a:r>
            <a:rPr lang="en-US" dirty="0">
              <a:solidFill>
                <a:srgbClr val="FF0000"/>
              </a:solidFill>
            </a:rPr>
            <a:t>%</a:t>
          </a:r>
          <a:r>
            <a:rPr lang="en-US" dirty="0"/>
            <a:t>)</a:t>
          </a:r>
        </a:p>
      </dgm:t>
    </dgm:pt>
    <dgm:pt modelId="{969E290E-97C3-4BF9-930F-DFD557936E08}" type="parTrans" cxnId="{78E2D611-1F19-4271-865B-A718ACA192B3}">
      <dgm:prSet/>
      <dgm:spPr/>
      <dgm:t>
        <a:bodyPr/>
        <a:lstStyle/>
        <a:p>
          <a:endParaRPr lang="en-US"/>
        </a:p>
      </dgm:t>
    </dgm:pt>
    <dgm:pt modelId="{C0FF4C6A-4276-4B11-A085-083AF31D34DB}" type="sibTrans" cxnId="{78E2D611-1F19-4271-865B-A718ACA192B3}">
      <dgm:prSet/>
      <dgm:spPr/>
      <dgm:t>
        <a:bodyPr/>
        <a:lstStyle/>
        <a:p>
          <a:endParaRPr lang="en-US"/>
        </a:p>
      </dgm:t>
    </dgm:pt>
    <dgm:pt modelId="{3A0E84CE-458B-4315-A5C2-152BC341BA36}">
      <dgm:prSet phldrT="[Text]"/>
      <dgm:spPr/>
      <dgm:t>
        <a:bodyPr/>
        <a:lstStyle/>
        <a:p>
          <a:r>
            <a:rPr lang="en-US" dirty="0"/>
            <a:t>First line regimen (</a:t>
          </a:r>
          <a:r>
            <a:rPr lang="en-US" dirty="0">
              <a:solidFill>
                <a:srgbClr val="FF0000"/>
              </a:solidFill>
            </a:rPr>
            <a:t>%</a:t>
          </a:r>
          <a:r>
            <a:rPr lang="en-US" dirty="0"/>
            <a:t>)</a:t>
          </a:r>
        </a:p>
      </dgm:t>
    </dgm:pt>
    <dgm:pt modelId="{D87609BD-FB5F-4F85-BC26-11A140817E4A}" type="parTrans" cxnId="{62FDF495-BD48-445A-8BDF-C4E461525FBE}">
      <dgm:prSet/>
      <dgm:spPr/>
      <dgm:t>
        <a:bodyPr/>
        <a:lstStyle/>
        <a:p>
          <a:endParaRPr lang="en-US"/>
        </a:p>
      </dgm:t>
    </dgm:pt>
    <dgm:pt modelId="{359671D1-CF74-4629-83E8-24262BBD751F}" type="sibTrans" cxnId="{62FDF495-BD48-445A-8BDF-C4E461525FBE}">
      <dgm:prSet/>
      <dgm:spPr/>
      <dgm:t>
        <a:bodyPr/>
        <a:lstStyle/>
        <a:p>
          <a:endParaRPr lang="en-US"/>
        </a:p>
      </dgm:t>
    </dgm:pt>
    <dgm:pt modelId="{2DBA151B-ADED-4A0B-B3BD-49F7E59F086A}">
      <dgm:prSet phldrT="[Text]"/>
      <dgm:spPr/>
      <dgm:t>
        <a:bodyPr/>
        <a:lstStyle/>
        <a:p>
          <a:r>
            <a:rPr lang="en-US" dirty="0"/>
            <a:t>Alternative Regimen (</a:t>
          </a:r>
          <a:r>
            <a:rPr lang="en-US" dirty="0">
              <a:solidFill>
                <a:srgbClr val="FF0000"/>
              </a:solidFill>
            </a:rPr>
            <a:t>%</a:t>
          </a:r>
          <a:r>
            <a:rPr lang="en-US" dirty="0"/>
            <a:t>)</a:t>
          </a:r>
        </a:p>
      </dgm:t>
    </dgm:pt>
    <dgm:pt modelId="{80C6180A-BDE6-4FE9-8C0F-6B48C9CD2DBD}" type="parTrans" cxnId="{FDE039A7-82B1-4095-8F5C-C501D99555B6}">
      <dgm:prSet/>
      <dgm:spPr/>
      <dgm:t>
        <a:bodyPr/>
        <a:lstStyle/>
        <a:p>
          <a:endParaRPr lang="en-US"/>
        </a:p>
      </dgm:t>
    </dgm:pt>
    <dgm:pt modelId="{BC5BEF0B-74E4-494A-B78C-98C11CA063D1}" type="sibTrans" cxnId="{FDE039A7-82B1-4095-8F5C-C501D99555B6}">
      <dgm:prSet/>
      <dgm:spPr/>
      <dgm:t>
        <a:bodyPr/>
        <a:lstStyle/>
        <a:p>
          <a:endParaRPr lang="en-US"/>
        </a:p>
      </dgm:t>
    </dgm:pt>
    <dgm:pt modelId="{37F7F854-FB62-44B7-AA9F-E91E3754CE66}">
      <dgm:prSet phldrT="[Text]"/>
      <dgm:spPr/>
      <dgm:t>
        <a:bodyPr/>
        <a:lstStyle/>
        <a:p>
          <a:r>
            <a:rPr lang="en-US" dirty="0"/>
            <a:t>Adult (</a:t>
          </a:r>
          <a:r>
            <a:rPr lang="en-US" dirty="0">
              <a:solidFill>
                <a:srgbClr val="FF0000"/>
              </a:solidFill>
            </a:rPr>
            <a:t>%</a:t>
          </a:r>
          <a:r>
            <a:rPr lang="en-US" dirty="0"/>
            <a:t>)</a:t>
          </a:r>
        </a:p>
      </dgm:t>
    </dgm:pt>
    <dgm:pt modelId="{EF6C8F64-FA3D-4183-9E7C-C4064AE4FD12}" type="parTrans" cxnId="{025724CE-6806-408B-8D98-F009B350D4FA}">
      <dgm:prSet/>
      <dgm:spPr/>
      <dgm:t>
        <a:bodyPr/>
        <a:lstStyle/>
        <a:p>
          <a:endParaRPr lang="en-US"/>
        </a:p>
      </dgm:t>
    </dgm:pt>
    <dgm:pt modelId="{9129DAAE-CBCE-4FFB-9C0E-2ADBFD2FE684}" type="sibTrans" cxnId="{025724CE-6806-408B-8D98-F009B350D4FA}">
      <dgm:prSet/>
      <dgm:spPr/>
      <dgm:t>
        <a:bodyPr/>
        <a:lstStyle/>
        <a:p>
          <a:endParaRPr lang="en-US"/>
        </a:p>
      </dgm:t>
    </dgm:pt>
    <dgm:pt modelId="{9D15A482-08AD-4AFE-AC00-DB7D44628553}">
      <dgm:prSet phldrT="[Text]"/>
      <dgm:spPr/>
      <dgm:t>
        <a:bodyPr/>
        <a:lstStyle/>
        <a:p>
          <a:r>
            <a:rPr lang="en-US" dirty="0"/>
            <a:t>First line regimen (</a:t>
          </a:r>
          <a:r>
            <a:rPr lang="en-US" dirty="0">
              <a:solidFill>
                <a:srgbClr val="FF0000"/>
              </a:solidFill>
            </a:rPr>
            <a:t>%</a:t>
          </a:r>
          <a:r>
            <a:rPr lang="en-US" dirty="0"/>
            <a:t>)</a:t>
          </a:r>
        </a:p>
      </dgm:t>
    </dgm:pt>
    <dgm:pt modelId="{B905D9A4-7BCF-4C50-B624-F8C1FDE265E1}" type="parTrans" cxnId="{21D76121-2B6E-4E70-A227-9D4D05352FE9}">
      <dgm:prSet/>
      <dgm:spPr/>
      <dgm:t>
        <a:bodyPr/>
        <a:lstStyle/>
        <a:p>
          <a:endParaRPr lang="en-US"/>
        </a:p>
      </dgm:t>
    </dgm:pt>
    <dgm:pt modelId="{F5104A6A-1547-48FB-BDC1-F674B8E36BF5}" type="sibTrans" cxnId="{21D76121-2B6E-4E70-A227-9D4D05352FE9}">
      <dgm:prSet/>
      <dgm:spPr/>
      <dgm:t>
        <a:bodyPr/>
        <a:lstStyle/>
        <a:p>
          <a:endParaRPr lang="en-US"/>
        </a:p>
      </dgm:t>
    </dgm:pt>
    <dgm:pt modelId="{231D1241-FC5F-443A-BB90-7F564958E378}">
      <dgm:prSet/>
      <dgm:spPr/>
      <dgm:t>
        <a:bodyPr/>
        <a:lstStyle/>
        <a:p>
          <a:r>
            <a:rPr lang="en-US" dirty="0"/>
            <a:t>Alternative regimen (</a:t>
          </a:r>
          <a:r>
            <a:rPr lang="en-US" dirty="0">
              <a:solidFill>
                <a:srgbClr val="FF0000"/>
              </a:solidFill>
            </a:rPr>
            <a:t>%</a:t>
          </a:r>
          <a:r>
            <a:rPr lang="en-US" dirty="0"/>
            <a:t>)</a:t>
          </a:r>
        </a:p>
      </dgm:t>
    </dgm:pt>
    <dgm:pt modelId="{10171099-6111-43B7-BFB8-4EE13F72311D}" type="parTrans" cxnId="{C12C4D71-EE77-4B92-A9BE-9881C0C5CF9D}">
      <dgm:prSet/>
      <dgm:spPr/>
      <dgm:t>
        <a:bodyPr/>
        <a:lstStyle/>
        <a:p>
          <a:endParaRPr lang="en-US"/>
        </a:p>
      </dgm:t>
    </dgm:pt>
    <dgm:pt modelId="{58FDEDDF-A9B0-4BE4-AA9E-AFAD5C3D78D6}" type="sibTrans" cxnId="{C12C4D71-EE77-4B92-A9BE-9881C0C5CF9D}">
      <dgm:prSet/>
      <dgm:spPr/>
      <dgm:t>
        <a:bodyPr/>
        <a:lstStyle/>
        <a:p>
          <a:endParaRPr lang="en-US"/>
        </a:p>
      </dgm:t>
    </dgm:pt>
    <dgm:pt modelId="{2BBE2E24-EDDA-4A34-85DA-B767A413431D}" type="pres">
      <dgm:prSet presAssocID="{534465D7-91E7-4D4C-A393-015B059FA9E8}" presName="diagram" presStyleCnt="0">
        <dgm:presLayoutVars>
          <dgm:chPref val="1"/>
          <dgm:dir/>
          <dgm:animOne val="branch"/>
          <dgm:animLvl val="lvl"/>
          <dgm:resizeHandles val="exact"/>
        </dgm:presLayoutVars>
      </dgm:prSet>
      <dgm:spPr/>
    </dgm:pt>
    <dgm:pt modelId="{FDD5247D-9290-4060-8379-96EF6978902D}" type="pres">
      <dgm:prSet presAssocID="{0A60565A-62BD-47BE-BB6E-1FD5E7939CD6}" presName="root1" presStyleCnt="0"/>
      <dgm:spPr/>
    </dgm:pt>
    <dgm:pt modelId="{3B18D5FC-7225-4235-806F-9D0F01757005}" type="pres">
      <dgm:prSet presAssocID="{0A60565A-62BD-47BE-BB6E-1FD5E7939CD6}" presName="LevelOneTextNode" presStyleLbl="node0" presStyleIdx="0" presStyleCnt="1">
        <dgm:presLayoutVars>
          <dgm:chPref val="3"/>
        </dgm:presLayoutVars>
      </dgm:prSet>
      <dgm:spPr/>
    </dgm:pt>
    <dgm:pt modelId="{10740D06-8CED-4A88-AC6F-C4E8551CEBBF}" type="pres">
      <dgm:prSet presAssocID="{0A60565A-62BD-47BE-BB6E-1FD5E7939CD6}" presName="level2hierChild" presStyleCnt="0"/>
      <dgm:spPr/>
    </dgm:pt>
    <dgm:pt modelId="{595E7DDE-EC96-457E-BB0F-BC8253DE346D}" type="pres">
      <dgm:prSet presAssocID="{969E290E-97C3-4BF9-930F-DFD557936E08}" presName="conn2-1" presStyleLbl="parChTrans1D2" presStyleIdx="0" presStyleCnt="2"/>
      <dgm:spPr/>
    </dgm:pt>
    <dgm:pt modelId="{0D5D674A-81DC-4CB0-AB3C-FFC86145B9CD}" type="pres">
      <dgm:prSet presAssocID="{969E290E-97C3-4BF9-930F-DFD557936E08}" presName="connTx" presStyleLbl="parChTrans1D2" presStyleIdx="0" presStyleCnt="2"/>
      <dgm:spPr/>
    </dgm:pt>
    <dgm:pt modelId="{E783C1E9-6C05-4391-8B18-86ACB740A9EE}" type="pres">
      <dgm:prSet presAssocID="{2A73FE03-EA62-4C7E-A607-4A5BA706553A}" presName="root2" presStyleCnt="0"/>
      <dgm:spPr/>
    </dgm:pt>
    <dgm:pt modelId="{99069088-0102-410C-8C59-D95F9653CB8C}" type="pres">
      <dgm:prSet presAssocID="{2A73FE03-EA62-4C7E-A607-4A5BA706553A}" presName="LevelTwoTextNode" presStyleLbl="node2" presStyleIdx="0" presStyleCnt="2">
        <dgm:presLayoutVars>
          <dgm:chPref val="3"/>
        </dgm:presLayoutVars>
      </dgm:prSet>
      <dgm:spPr/>
    </dgm:pt>
    <dgm:pt modelId="{BE9CD60E-F632-491D-81A9-52E242295554}" type="pres">
      <dgm:prSet presAssocID="{2A73FE03-EA62-4C7E-A607-4A5BA706553A}" presName="level3hierChild" presStyleCnt="0"/>
      <dgm:spPr/>
    </dgm:pt>
    <dgm:pt modelId="{E7FFEA67-8026-4AAD-9D8E-BB6ABDC1AD80}" type="pres">
      <dgm:prSet presAssocID="{D87609BD-FB5F-4F85-BC26-11A140817E4A}" presName="conn2-1" presStyleLbl="parChTrans1D3" presStyleIdx="0" presStyleCnt="4"/>
      <dgm:spPr/>
    </dgm:pt>
    <dgm:pt modelId="{8DB048E5-DBB2-4763-AAE4-4686BF96DC6D}" type="pres">
      <dgm:prSet presAssocID="{D87609BD-FB5F-4F85-BC26-11A140817E4A}" presName="connTx" presStyleLbl="parChTrans1D3" presStyleIdx="0" presStyleCnt="4"/>
      <dgm:spPr/>
    </dgm:pt>
    <dgm:pt modelId="{547AAECE-93D0-42E9-80FB-8FBE99BBC15D}" type="pres">
      <dgm:prSet presAssocID="{3A0E84CE-458B-4315-A5C2-152BC341BA36}" presName="root2" presStyleCnt="0"/>
      <dgm:spPr/>
    </dgm:pt>
    <dgm:pt modelId="{48BB8D47-3579-4317-8800-53EBCAEBF4F4}" type="pres">
      <dgm:prSet presAssocID="{3A0E84CE-458B-4315-A5C2-152BC341BA36}" presName="LevelTwoTextNode" presStyleLbl="node3" presStyleIdx="0" presStyleCnt="4">
        <dgm:presLayoutVars>
          <dgm:chPref val="3"/>
        </dgm:presLayoutVars>
      </dgm:prSet>
      <dgm:spPr/>
    </dgm:pt>
    <dgm:pt modelId="{43063B47-7AA7-4A12-BF68-E5461E8E16A6}" type="pres">
      <dgm:prSet presAssocID="{3A0E84CE-458B-4315-A5C2-152BC341BA36}" presName="level3hierChild" presStyleCnt="0"/>
      <dgm:spPr/>
    </dgm:pt>
    <dgm:pt modelId="{EE9E8AB3-6778-44ED-AE20-0445D0A6F284}" type="pres">
      <dgm:prSet presAssocID="{80C6180A-BDE6-4FE9-8C0F-6B48C9CD2DBD}" presName="conn2-1" presStyleLbl="parChTrans1D3" presStyleIdx="1" presStyleCnt="4"/>
      <dgm:spPr/>
    </dgm:pt>
    <dgm:pt modelId="{D652F017-B40F-43F4-8B27-33378B158AA0}" type="pres">
      <dgm:prSet presAssocID="{80C6180A-BDE6-4FE9-8C0F-6B48C9CD2DBD}" presName="connTx" presStyleLbl="parChTrans1D3" presStyleIdx="1" presStyleCnt="4"/>
      <dgm:spPr/>
    </dgm:pt>
    <dgm:pt modelId="{7AB03A6D-8729-4308-9C16-C4E23A80494B}" type="pres">
      <dgm:prSet presAssocID="{2DBA151B-ADED-4A0B-B3BD-49F7E59F086A}" presName="root2" presStyleCnt="0"/>
      <dgm:spPr/>
    </dgm:pt>
    <dgm:pt modelId="{3EC71C63-9CD3-482A-AB4C-8B52086B6FFB}" type="pres">
      <dgm:prSet presAssocID="{2DBA151B-ADED-4A0B-B3BD-49F7E59F086A}" presName="LevelTwoTextNode" presStyleLbl="node3" presStyleIdx="1" presStyleCnt="4">
        <dgm:presLayoutVars>
          <dgm:chPref val="3"/>
        </dgm:presLayoutVars>
      </dgm:prSet>
      <dgm:spPr/>
    </dgm:pt>
    <dgm:pt modelId="{29627053-D0E7-40A0-B804-3C003C7B510E}" type="pres">
      <dgm:prSet presAssocID="{2DBA151B-ADED-4A0B-B3BD-49F7E59F086A}" presName="level3hierChild" presStyleCnt="0"/>
      <dgm:spPr/>
    </dgm:pt>
    <dgm:pt modelId="{883A39D2-CF3B-4852-AF7F-ED2FFD6B6A30}" type="pres">
      <dgm:prSet presAssocID="{EF6C8F64-FA3D-4183-9E7C-C4064AE4FD12}" presName="conn2-1" presStyleLbl="parChTrans1D2" presStyleIdx="1" presStyleCnt="2"/>
      <dgm:spPr/>
    </dgm:pt>
    <dgm:pt modelId="{69D19F86-588D-4844-9779-C23AAAA1956D}" type="pres">
      <dgm:prSet presAssocID="{EF6C8F64-FA3D-4183-9E7C-C4064AE4FD12}" presName="connTx" presStyleLbl="parChTrans1D2" presStyleIdx="1" presStyleCnt="2"/>
      <dgm:spPr/>
    </dgm:pt>
    <dgm:pt modelId="{FB703DCF-AF1E-40A3-8DB1-B5478D26E186}" type="pres">
      <dgm:prSet presAssocID="{37F7F854-FB62-44B7-AA9F-E91E3754CE66}" presName="root2" presStyleCnt="0"/>
      <dgm:spPr/>
    </dgm:pt>
    <dgm:pt modelId="{9190CD4B-4FE0-4533-B8A0-DE51B77E5D1E}" type="pres">
      <dgm:prSet presAssocID="{37F7F854-FB62-44B7-AA9F-E91E3754CE66}" presName="LevelTwoTextNode" presStyleLbl="node2" presStyleIdx="1" presStyleCnt="2">
        <dgm:presLayoutVars>
          <dgm:chPref val="3"/>
        </dgm:presLayoutVars>
      </dgm:prSet>
      <dgm:spPr/>
    </dgm:pt>
    <dgm:pt modelId="{A6667F82-D663-4285-B52B-199AB8C8A5FD}" type="pres">
      <dgm:prSet presAssocID="{37F7F854-FB62-44B7-AA9F-E91E3754CE66}" presName="level3hierChild" presStyleCnt="0"/>
      <dgm:spPr/>
    </dgm:pt>
    <dgm:pt modelId="{21CD1CD7-DBAB-4CBA-B455-0FEBB2AC0077}" type="pres">
      <dgm:prSet presAssocID="{B905D9A4-7BCF-4C50-B624-F8C1FDE265E1}" presName="conn2-1" presStyleLbl="parChTrans1D3" presStyleIdx="2" presStyleCnt="4"/>
      <dgm:spPr/>
    </dgm:pt>
    <dgm:pt modelId="{C7609322-E741-4C13-BD2B-417B678AF452}" type="pres">
      <dgm:prSet presAssocID="{B905D9A4-7BCF-4C50-B624-F8C1FDE265E1}" presName="connTx" presStyleLbl="parChTrans1D3" presStyleIdx="2" presStyleCnt="4"/>
      <dgm:spPr/>
    </dgm:pt>
    <dgm:pt modelId="{287D7B0C-39BD-4519-B5A4-3DFC413384BC}" type="pres">
      <dgm:prSet presAssocID="{9D15A482-08AD-4AFE-AC00-DB7D44628553}" presName="root2" presStyleCnt="0"/>
      <dgm:spPr/>
    </dgm:pt>
    <dgm:pt modelId="{120FBACE-32D0-4CA5-BD6A-FA823D7968F4}" type="pres">
      <dgm:prSet presAssocID="{9D15A482-08AD-4AFE-AC00-DB7D44628553}" presName="LevelTwoTextNode" presStyleLbl="node3" presStyleIdx="2" presStyleCnt="4">
        <dgm:presLayoutVars>
          <dgm:chPref val="3"/>
        </dgm:presLayoutVars>
      </dgm:prSet>
      <dgm:spPr/>
    </dgm:pt>
    <dgm:pt modelId="{B674284C-E061-4253-BBBF-3ECCA852B225}" type="pres">
      <dgm:prSet presAssocID="{9D15A482-08AD-4AFE-AC00-DB7D44628553}" presName="level3hierChild" presStyleCnt="0"/>
      <dgm:spPr/>
    </dgm:pt>
    <dgm:pt modelId="{EAE2558A-152F-44E8-9BEB-EF2D44794672}" type="pres">
      <dgm:prSet presAssocID="{10171099-6111-43B7-BFB8-4EE13F72311D}" presName="conn2-1" presStyleLbl="parChTrans1D3" presStyleIdx="3" presStyleCnt="4"/>
      <dgm:spPr/>
    </dgm:pt>
    <dgm:pt modelId="{F71C5F9E-31CD-4646-AD0D-229B940DA9D2}" type="pres">
      <dgm:prSet presAssocID="{10171099-6111-43B7-BFB8-4EE13F72311D}" presName="connTx" presStyleLbl="parChTrans1D3" presStyleIdx="3" presStyleCnt="4"/>
      <dgm:spPr/>
    </dgm:pt>
    <dgm:pt modelId="{427F1A08-9166-4E6B-A5EF-C6AEBBF6C361}" type="pres">
      <dgm:prSet presAssocID="{231D1241-FC5F-443A-BB90-7F564958E378}" presName="root2" presStyleCnt="0"/>
      <dgm:spPr/>
    </dgm:pt>
    <dgm:pt modelId="{0F8C8F34-BD8C-4887-9B6B-BA94890B5C12}" type="pres">
      <dgm:prSet presAssocID="{231D1241-FC5F-443A-BB90-7F564958E378}" presName="LevelTwoTextNode" presStyleLbl="node3" presStyleIdx="3" presStyleCnt="4">
        <dgm:presLayoutVars>
          <dgm:chPref val="3"/>
        </dgm:presLayoutVars>
      </dgm:prSet>
      <dgm:spPr/>
    </dgm:pt>
    <dgm:pt modelId="{D1AC792F-8507-4F55-9F68-0863927D1556}" type="pres">
      <dgm:prSet presAssocID="{231D1241-FC5F-443A-BB90-7F564958E378}" presName="level3hierChild" presStyleCnt="0"/>
      <dgm:spPr/>
    </dgm:pt>
  </dgm:ptLst>
  <dgm:cxnLst>
    <dgm:cxn modelId="{60DE4501-45BD-46D2-87C2-DAA6EC303EAA}" type="presOf" srcId="{9D15A482-08AD-4AFE-AC00-DB7D44628553}" destId="{120FBACE-32D0-4CA5-BD6A-FA823D7968F4}" srcOrd="0" destOrd="0" presId="urn:microsoft.com/office/officeart/2005/8/layout/hierarchy2#1"/>
    <dgm:cxn modelId="{55F42302-B9C2-44E7-BFB9-C5B428A7599D}" type="presOf" srcId="{B905D9A4-7BCF-4C50-B624-F8C1FDE265E1}" destId="{21CD1CD7-DBAB-4CBA-B455-0FEBB2AC0077}" srcOrd="0" destOrd="0" presId="urn:microsoft.com/office/officeart/2005/8/layout/hierarchy2#1"/>
    <dgm:cxn modelId="{28C21D07-C7CE-4888-9720-7F4F16524A70}" type="presOf" srcId="{2A73FE03-EA62-4C7E-A607-4A5BA706553A}" destId="{99069088-0102-410C-8C59-D95F9653CB8C}" srcOrd="0" destOrd="0" presId="urn:microsoft.com/office/officeart/2005/8/layout/hierarchy2#1"/>
    <dgm:cxn modelId="{78E2D611-1F19-4271-865B-A718ACA192B3}" srcId="{0A60565A-62BD-47BE-BB6E-1FD5E7939CD6}" destId="{2A73FE03-EA62-4C7E-A607-4A5BA706553A}" srcOrd="0" destOrd="0" parTransId="{969E290E-97C3-4BF9-930F-DFD557936E08}" sibTransId="{C0FF4C6A-4276-4B11-A085-083AF31D34DB}"/>
    <dgm:cxn modelId="{FE86681F-8520-4E02-BDDD-7274C1B7B823}" srcId="{534465D7-91E7-4D4C-A393-015B059FA9E8}" destId="{0A60565A-62BD-47BE-BB6E-1FD5E7939CD6}" srcOrd="0" destOrd="0" parTransId="{93FA924B-91BC-4FC8-AC6F-72AB8E60C581}" sibTransId="{FE142968-15B7-40F3-9329-8B4A020D5105}"/>
    <dgm:cxn modelId="{21D76121-2B6E-4E70-A227-9D4D05352FE9}" srcId="{37F7F854-FB62-44B7-AA9F-E91E3754CE66}" destId="{9D15A482-08AD-4AFE-AC00-DB7D44628553}" srcOrd="0" destOrd="0" parTransId="{B905D9A4-7BCF-4C50-B624-F8C1FDE265E1}" sibTransId="{F5104A6A-1547-48FB-BDC1-F674B8E36BF5}"/>
    <dgm:cxn modelId="{9B518821-7803-4352-8D2F-E2E58C18DA99}" type="presOf" srcId="{534465D7-91E7-4D4C-A393-015B059FA9E8}" destId="{2BBE2E24-EDDA-4A34-85DA-B767A413431D}" srcOrd="0" destOrd="0" presId="urn:microsoft.com/office/officeart/2005/8/layout/hierarchy2#1"/>
    <dgm:cxn modelId="{4A81C238-DAA4-4EC5-AA0B-649814A4DD1F}" type="presOf" srcId="{3A0E84CE-458B-4315-A5C2-152BC341BA36}" destId="{48BB8D47-3579-4317-8800-53EBCAEBF4F4}" srcOrd="0" destOrd="0" presId="urn:microsoft.com/office/officeart/2005/8/layout/hierarchy2#1"/>
    <dgm:cxn modelId="{BDB12A5C-4A38-46F1-9DF9-A6F8F03C89F2}" type="presOf" srcId="{80C6180A-BDE6-4FE9-8C0F-6B48C9CD2DBD}" destId="{EE9E8AB3-6778-44ED-AE20-0445D0A6F284}" srcOrd="0" destOrd="0" presId="urn:microsoft.com/office/officeart/2005/8/layout/hierarchy2#1"/>
    <dgm:cxn modelId="{81267C45-6D90-4B63-A3C5-C75E4BED88FF}" type="presOf" srcId="{D87609BD-FB5F-4F85-BC26-11A140817E4A}" destId="{E7FFEA67-8026-4AAD-9D8E-BB6ABDC1AD80}" srcOrd="0" destOrd="0" presId="urn:microsoft.com/office/officeart/2005/8/layout/hierarchy2#1"/>
    <dgm:cxn modelId="{5821B066-7397-4CCF-8F95-D2C00D60AD03}" type="presOf" srcId="{0A60565A-62BD-47BE-BB6E-1FD5E7939CD6}" destId="{3B18D5FC-7225-4235-806F-9D0F01757005}" srcOrd="0" destOrd="0" presId="urn:microsoft.com/office/officeart/2005/8/layout/hierarchy2#1"/>
    <dgm:cxn modelId="{C12C4D71-EE77-4B92-A9BE-9881C0C5CF9D}" srcId="{37F7F854-FB62-44B7-AA9F-E91E3754CE66}" destId="{231D1241-FC5F-443A-BB90-7F564958E378}" srcOrd="1" destOrd="0" parTransId="{10171099-6111-43B7-BFB8-4EE13F72311D}" sibTransId="{58FDEDDF-A9B0-4BE4-AA9E-AFAD5C3D78D6}"/>
    <dgm:cxn modelId="{77046788-B3FC-490C-909B-E444DA286993}" type="presOf" srcId="{10171099-6111-43B7-BFB8-4EE13F72311D}" destId="{F71C5F9E-31CD-4646-AD0D-229B940DA9D2}" srcOrd="1" destOrd="0" presId="urn:microsoft.com/office/officeart/2005/8/layout/hierarchy2#1"/>
    <dgm:cxn modelId="{0272E68C-C563-47DB-A1D7-671B179FE5DD}" type="presOf" srcId="{10171099-6111-43B7-BFB8-4EE13F72311D}" destId="{EAE2558A-152F-44E8-9BEB-EF2D44794672}" srcOrd="0" destOrd="0" presId="urn:microsoft.com/office/officeart/2005/8/layout/hierarchy2#1"/>
    <dgm:cxn modelId="{B1ADD28D-6C73-490D-B759-3A88D68993B7}" type="presOf" srcId="{969E290E-97C3-4BF9-930F-DFD557936E08}" destId="{0D5D674A-81DC-4CB0-AB3C-FFC86145B9CD}" srcOrd="1" destOrd="0" presId="urn:microsoft.com/office/officeart/2005/8/layout/hierarchy2#1"/>
    <dgm:cxn modelId="{62FDF495-BD48-445A-8BDF-C4E461525FBE}" srcId="{2A73FE03-EA62-4C7E-A607-4A5BA706553A}" destId="{3A0E84CE-458B-4315-A5C2-152BC341BA36}" srcOrd="0" destOrd="0" parTransId="{D87609BD-FB5F-4F85-BC26-11A140817E4A}" sibTransId="{359671D1-CF74-4629-83E8-24262BBD751F}"/>
    <dgm:cxn modelId="{A5050E9A-462E-42CC-B240-9CE546D1A233}" type="presOf" srcId="{D87609BD-FB5F-4F85-BC26-11A140817E4A}" destId="{8DB048E5-DBB2-4763-AAE4-4686BF96DC6D}" srcOrd="1" destOrd="0" presId="urn:microsoft.com/office/officeart/2005/8/layout/hierarchy2#1"/>
    <dgm:cxn modelId="{FDE039A7-82B1-4095-8F5C-C501D99555B6}" srcId="{2A73FE03-EA62-4C7E-A607-4A5BA706553A}" destId="{2DBA151B-ADED-4A0B-B3BD-49F7E59F086A}" srcOrd="1" destOrd="0" parTransId="{80C6180A-BDE6-4FE9-8C0F-6B48C9CD2DBD}" sibTransId="{BC5BEF0B-74E4-494A-B78C-98C11CA063D1}"/>
    <dgm:cxn modelId="{38D186BA-1490-4FA6-A1C0-DABD4CE28ECD}" type="presOf" srcId="{EF6C8F64-FA3D-4183-9E7C-C4064AE4FD12}" destId="{883A39D2-CF3B-4852-AF7F-ED2FFD6B6A30}" srcOrd="0" destOrd="0" presId="urn:microsoft.com/office/officeart/2005/8/layout/hierarchy2#1"/>
    <dgm:cxn modelId="{DEA554BD-EFD6-4A88-AC89-2F68F644F44F}" type="presOf" srcId="{B905D9A4-7BCF-4C50-B624-F8C1FDE265E1}" destId="{C7609322-E741-4C13-BD2B-417B678AF452}" srcOrd="1" destOrd="0" presId="urn:microsoft.com/office/officeart/2005/8/layout/hierarchy2#1"/>
    <dgm:cxn modelId="{025724CE-6806-408B-8D98-F009B350D4FA}" srcId="{0A60565A-62BD-47BE-BB6E-1FD5E7939CD6}" destId="{37F7F854-FB62-44B7-AA9F-E91E3754CE66}" srcOrd="1" destOrd="0" parTransId="{EF6C8F64-FA3D-4183-9E7C-C4064AE4FD12}" sibTransId="{9129DAAE-CBCE-4FFB-9C0E-2ADBFD2FE684}"/>
    <dgm:cxn modelId="{577C97D0-D0FD-4C01-AB5E-1A32FDC6DC1A}" type="presOf" srcId="{37F7F854-FB62-44B7-AA9F-E91E3754CE66}" destId="{9190CD4B-4FE0-4533-B8A0-DE51B77E5D1E}" srcOrd="0" destOrd="0" presId="urn:microsoft.com/office/officeart/2005/8/layout/hierarchy2#1"/>
    <dgm:cxn modelId="{9D1244D8-60CC-4276-A377-A310AD870D6C}" type="presOf" srcId="{EF6C8F64-FA3D-4183-9E7C-C4064AE4FD12}" destId="{69D19F86-588D-4844-9779-C23AAAA1956D}" srcOrd="1" destOrd="0" presId="urn:microsoft.com/office/officeart/2005/8/layout/hierarchy2#1"/>
    <dgm:cxn modelId="{AC186AEB-DE45-45A8-A53C-526C1A9B972F}" type="presOf" srcId="{80C6180A-BDE6-4FE9-8C0F-6B48C9CD2DBD}" destId="{D652F017-B40F-43F4-8B27-33378B158AA0}" srcOrd="1" destOrd="0" presId="urn:microsoft.com/office/officeart/2005/8/layout/hierarchy2#1"/>
    <dgm:cxn modelId="{10281EF7-45D4-4AE1-885F-16199E160580}" type="presOf" srcId="{969E290E-97C3-4BF9-930F-DFD557936E08}" destId="{595E7DDE-EC96-457E-BB0F-BC8253DE346D}" srcOrd="0" destOrd="0" presId="urn:microsoft.com/office/officeart/2005/8/layout/hierarchy2#1"/>
    <dgm:cxn modelId="{2C248CF8-C390-4CC7-9315-12A7A22C60C3}" type="presOf" srcId="{2DBA151B-ADED-4A0B-B3BD-49F7E59F086A}" destId="{3EC71C63-9CD3-482A-AB4C-8B52086B6FFB}" srcOrd="0" destOrd="0" presId="urn:microsoft.com/office/officeart/2005/8/layout/hierarchy2#1"/>
    <dgm:cxn modelId="{91335FFF-E9AD-483E-B45F-53DC2D833BDE}" type="presOf" srcId="{231D1241-FC5F-443A-BB90-7F564958E378}" destId="{0F8C8F34-BD8C-4887-9B6B-BA94890B5C12}" srcOrd="0" destOrd="0" presId="urn:microsoft.com/office/officeart/2005/8/layout/hierarchy2#1"/>
    <dgm:cxn modelId="{594E03A6-628B-40BA-97FF-9BC3CBACE9E2}" type="presParOf" srcId="{2BBE2E24-EDDA-4A34-85DA-B767A413431D}" destId="{FDD5247D-9290-4060-8379-96EF6978902D}" srcOrd="0" destOrd="0" presId="urn:microsoft.com/office/officeart/2005/8/layout/hierarchy2#1"/>
    <dgm:cxn modelId="{7DC4A276-4509-4854-91FE-A2555C3A67F8}" type="presParOf" srcId="{FDD5247D-9290-4060-8379-96EF6978902D}" destId="{3B18D5FC-7225-4235-806F-9D0F01757005}" srcOrd="0" destOrd="0" presId="urn:microsoft.com/office/officeart/2005/8/layout/hierarchy2#1"/>
    <dgm:cxn modelId="{E9846119-BFCD-4494-B0BD-B9317C6665D6}" type="presParOf" srcId="{FDD5247D-9290-4060-8379-96EF6978902D}" destId="{10740D06-8CED-4A88-AC6F-C4E8551CEBBF}" srcOrd="1" destOrd="0" presId="urn:microsoft.com/office/officeart/2005/8/layout/hierarchy2#1"/>
    <dgm:cxn modelId="{C78A3EFE-C4D1-4EA8-BCD2-7BB3C303E608}" type="presParOf" srcId="{10740D06-8CED-4A88-AC6F-C4E8551CEBBF}" destId="{595E7DDE-EC96-457E-BB0F-BC8253DE346D}" srcOrd="0" destOrd="0" presId="urn:microsoft.com/office/officeart/2005/8/layout/hierarchy2#1"/>
    <dgm:cxn modelId="{0FB975E5-42DE-4901-BF62-2747200F390B}" type="presParOf" srcId="{595E7DDE-EC96-457E-BB0F-BC8253DE346D}" destId="{0D5D674A-81DC-4CB0-AB3C-FFC86145B9CD}" srcOrd="0" destOrd="0" presId="urn:microsoft.com/office/officeart/2005/8/layout/hierarchy2#1"/>
    <dgm:cxn modelId="{19BCD765-3047-48E2-A96F-23608B159604}" type="presParOf" srcId="{10740D06-8CED-4A88-AC6F-C4E8551CEBBF}" destId="{E783C1E9-6C05-4391-8B18-86ACB740A9EE}" srcOrd="1" destOrd="0" presId="urn:microsoft.com/office/officeart/2005/8/layout/hierarchy2#1"/>
    <dgm:cxn modelId="{84BD657C-520C-4542-BD65-6BB5D051957C}" type="presParOf" srcId="{E783C1E9-6C05-4391-8B18-86ACB740A9EE}" destId="{99069088-0102-410C-8C59-D95F9653CB8C}" srcOrd="0" destOrd="0" presId="urn:microsoft.com/office/officeart/2005/8/layout/hierarchy2#1"/>
    <dgm:cxn modelId="{4ECDFAE8-1B5D-487F-B8DD-BFBEAB72B9D1}" type="presParOf" srcId="{E783C1E9-6C05-4391-8B18-86ACB740A9EE}" destId="{BE9CD60E-F632-491D-81A9-52E242295554}" srcOrd="1" destOrd="0" presId="urn:microsoft.com/office/officeart/2005/8/layout/hierarchy2#1"/>
    <dgm:cxn modelId="{8DCC549B-F506-4894-B8A5-EF229B3D6FDC}" type="presParOf" srcId="{BE9CD60E-F632-491D-81A9-52E242295554}" destId="{E7FFEA67-8026-4AAD-9D8E-BB6ABDC1AD80}" srcOrd="0" destOrd="0" presId="urn:microsoft.com/office/officeart/2005/8/layout/hierarchy2#1"/>
    <dgm:cxn modelId="{8CFDCA7C-1792-4CD8-8875-FD8569727B86}" type="presParOf" srcId="{E7FFEA67-8026-4AAD-9D8E-BB6ABDC1AD80}" destId="{8DB048E5-DBB2-4763-AAE4-4686BF96DC6D}" srcOrd="0" destOrd="0" presId="urn:microsoft.com/office/officeart/2005/8/layout/hierarchy2#1"/>
    <dgm:cxn modelId="{0D1C7A84-6383-4A21-927B-D3943CAC14D1}" type="presParOf" srcId="{BE9CD60E-F632-491D-81A9-52E242295554}" destId="{547AAECE-93D0-42E9-80FB-8FBE99BBC15D}" srcOrd="1" destOrd="0" presId="urn:microsoft.com/office/officeart/2005/8/layout/hierarchy2#1"/>
    <dgm:cxn modelId="{63D46D0D-10D6-42D2-A847-7F357BE4FD4D}" type="presParOf" srcId="{547AAECE-93D0-42E9-80FB-8FBE99BBC15D}" destId="{48BB8D47-3579-4317-8800-53EBCAEBF4F4}" srcOrd="0" destOrd="0" presId="urn:microsoft.com/office/officeart/2005/8/layout/hierarchy2#1"/>
    <dgm:cxn modelId="{750709A7-3B48-4B4C-9761-0DCACE50B627}" type="presParOf" srcId="{547AAECE-93D0-42E9-80FB-8FBE99BBC15D}" destId="{43063B47-7AA7-4A12-BF68-E5461E8E16A6}" srcOrd="1" destOrd="0" presId="urn:microsoft.com/office/officeart/2005/8/layout/hierarchy2#1"/>
    <dgm:cxn modelId="{5A9769F1-A7DF-499B-B01E-BBAFB79560CB}" type="presParOf" srcId="{BE9CD60E-F632-491D-81A9-52E242295554}" destId="{EE9E8AB3-6778-44ED-AE20-0445D0A6F284}" srcOrd="2" destOrd="0" presId="urn:microsoft.com/office/officeart/2005/8/layout/hierarchy2#1"/>
    <dgm:cxn modelId="{9A097138-FF3F-44EA-BC11-BFE5D498A61D}" type="presParOf" srcId="{EE9E8AB3-6778-44ED-AE20-0445D0A6F284}" destId="{D652F017-B40F-43F4-8B27-33378B158AA0}" srcOrd="0" destOrd="0" presId="urn:microsoft.com/office/officeart/2005/8/layout/hierarchy2#1"/>
    <dgm:cxn modelId="{5E84039B-1168-4975-A064-D52261857203}" type="presParOf" srcId="{BE9CD60E-F632-491D-81A9-52E242295554}" destId="{7AB03A6D-8729-4308-9C16-C4E23A80494B}" srcOrd="3" destOrd="0" presId="urn:microsoft.com/office/officeart/2005/8/layout/hierarchy2#1"/>
    <dgm:cxn modelId="{2ADED291-FC55-494A-BBA2-D4DAF9337CA2}" type="presParOf" srcId="{7AB03A6D-8729-4308-9C16-C4E23A80494B}" destId="{3EC71C63-9CD3-482A-AB4C-8B52086B6FFB}" srcOrd="0" destOrd="0" presId="urn:microsoft.com/office/officeart/2005/8/layout/hierarchy2#1"/>
    <dgm:cxn modelId="{CF4538DC-4036-4EC7-8430-22DC1B45471E}" type="presParOf" srcId="{7AB03A6D-8729-4308-9C16-C4E23A80494B}" destId="{29627053-D0E7-40A0-B804-3C003C7B510E}" srcOrd="1" destOrd="0" presId="urn:microsoft.com/office/officeart/2005/8/layout/hierarchy2#1"/>
    <dgm:cxn modelId="{80C4121F-579F-48E2-B870-6791D36369EF}" type="presParOf" srcId="{10740D06-8CED-4A88-AC6F-C4E8551CEBBF}" destId="{883A39D2-CF3B-4852-AF7F-ED2FFD6B6A30}" srcOrd="2" destOrd="0" presId="urn:microsoft.com/office/officeart/2005/8/layout/hierarchy2#1"/>
    <dgm:cxn modelId="{2B946B47-0F06-4C89-9DA3-DC35BB8CEF94}" type="presParOf" srcId="{883A39D2-CF3B-4852-AF7F-ED2FFD6B6A30}" destId="{69D19F86-588D-4844-9779-C23AAAA1956D}" srcOrd="0" destOrd="0" presId="urn:microsoft.com/office/officeart/2005/8/layout/hierarchy2#1"/>
    <dgm:cxn modelId="{5E5BAA5B-0BAD-40BF-8338-C4A0DC44051D}" type="presParOf" srcId="{10740D06-8CED-4A88-AC6F-C4E8551CEBBF}" destId="{FB703DCF-AF1E-40A3-8DB1-B5478D26E186}" srcOrd="3" destOrd="0" presId="urn:microsoft.com/office/officeart/2005/8/layout/hierarchy2#1"/>
    <dgm:cxn modelId="{55775E81-A245-4CF0-8B8F-5E1119643AB0}" type="presParOf" srcId="{FB703DCF-AF1E-40A3-8DB1-B5478D26E186}" destId="{9190CD4B-4FE0-4533-B8A0-DE51B77E5D1E}" srcOrd="0" destOrd="0" presId="urn:microsoft.com/office/officeart/2005/8/layout/hierarchy2#1"/>
    <dgm:cxn modelId="{5FA2A749-7974-49BE-99E8-AC014BCF743C}" type="presParOf" srcId="{FB703DCF-AF1E-40A3-8DB1-B5478D26E186}" destId="{A6667F82-D663-4285-B52B-199AB8C8A5FD}" srcOrd="1" destOrd="0" presId="urn:microsoft.com/office/officeart/2005/8/layout/hierarchy2#1"/>
    <dgm:cxn modelId="{1AE8D411-BAA9-4EEF-ABBD-AA4C2ED6C655}" type="presParOf" srcId="{A6667F82-D663-4285-B52B-199AB8C8A5FD}" destId="{21CD1CD7-DBAB-4CBA-B455-0FEBB2AC0077}" srcOrd="0" destOrd="0" presId="urn:microsoft.com/office/officeart/2005/8/layout/hierarchy2#1"/>
    <dgm:cxn modelId="{34C84BC8-C4E2-4A66-875A-6F60E7CD1E3C}" type="presParOf" srcId="{21CD1CD7-DBAB-4CBA-B455-0FEBB2AC0077}" destId="{C7609322-E741-4C13-BD2B-417B678AF452}" srcOrd="0" destOrd="0" presId="urn:microsoft.com/office/officeart/2005/8/layout/hierarchy2#1"/>
    <dgm:cxn modelId="{2754E99E-9E73-4BD5-B664-338174278697}" type="presParOf" srcId="{A6667F82-D663-4285-B52B-199AB8C8A5FD}" destId="{287D7B0C-39BD-4519-B5A4-3DFC413384BC}" srcOrd="1" destOrd="0" presId="urn:microsoft.com/office/officeart/2005/8/layout/hierarchy2#1"/>
    <dgm:cxn modelId="{BEE1DB75-6C88-4526-BA2A-FABA8CD148F8}" type="presParOf" srcId="{287D7B0C-39BD-4519-B5A4-3DFC413384BC}" destId="{120FBACE-32D0-4CA5-BD6A-FA823D7968F4}" srcOrd="0" destOrd="0" presId="urn:microsoft.com/office/officeart/2005/8/layout/hierarchy2#1"/>
    <dgm:cxn modelId="{7531A8BF-8AE7-4996-A2A5-B321FD3CBE7F}" type="presParOf" srcId="{287D7B0C-39BD-4519-B5A4-3DFC413384BC}" destId="{B674284C-E061-4253-BBBF-3ECCA852B225}" srcOrd="1" destOrd="0" presId="urn:microsoft.com/office/officeart/2005/8/layout/hierarchy2#1"/>
    <dgm:cxn modelId="{0BD0A965-619D-43E8-B6B8-2E995F80DA24}" type="presParOf" srcId="{A6667F82-D663-4285-B52B-199AB8C8A5FD}" destId="{EAE2558A-152F-44E8-9BEB-EF2D44794672}" srcOrd="2" destOrd="0" presId="urn:microsoft.com/office/officeart/2005/8/layout/hierarchy2#1"/>
    <dgm:cxn modelId="{05B98ABD-D391-4F75-B082-683F4F6720FF}" type="presParOf" srcId="{EAE2558A-152F-44E8-9BEB-EF2D44794672}" destId="{F71C5F9E-31CD-4646-AD0D-229B940DA9D2}" srcOrd="0" destOrd="0" presId="urn:microsoft.com/office/officeart/2005/8/layout/hierarchy2#1"/>
    <dgm:cxn modelId="{136C4C88-361F-4190-ABC5-49D701E36F38}" type="presParOf" srcId="{A6667F82-D663-4285-B52B-199AB8C8A5FD}" destId="{427F1A08-9166-4E6B-A5EF-C6AEBBF6C361}" srcOrd="3" destOrd="0" presId="urn:microsoft.com/office/officeart/2005/8/layout/hierarchy2#1"/>
    <dgm:cxn modelId="{6D717105-7FBD-40E9-BFA8-8006568403C0}" type="presParOf" srcId="{427F1A08-9166-4E6B-A5EF-C6AEBBF6C361}" destId="{0F8C8F34-BD8C-4887-9B6B-BA94890B5C12}" srcOrd="0" destOrd="0" presId="urn:microsoft.com/office/officeart/2005/8/layout/hierarchy2#1"/>
    <dgm:cxn modelId="{DD95FB07-B533-439C-8F94-6C08692E9F10}" type="presParOf" srcId="{427F1A08-9166-4E6B-A5EF-C6AEBBF6C361}" destId="{D1AC792F-8507-4F55-9F68-0863927D1556}" srcOrd="1" destOrd="0" presId="urn:microsoft.com/office/officeart/2005/8/layout/hierarchy2#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0D3CAD-209B-064A-A7C2-E65C41D9E700}">
      <dsp:nvSpPr>
        <dsp:cNvPr id="0" name=""/>
        <dsp:cNvSpPr/>
      </dsp:nvSpPr>
      <dsp:spPr bwMode="white">
        <a:xfrm>
          <a:off x="3413760" y="0"/>
          <a:ext cx="1706880" cy="905192"/>
        </a:xfrm>
        <a:prstGeom prst="trapezoid">
          <a:avLst>
            <a:gd name="adj" fmla="val 94283"/>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rtl="0">
            <a:lnSpc>
              <a:spcPct val="90000"/>
            </a:lnSpc>
            <a:spcBef>
              <a:spcPct val="0"/>
            </a:spcBef>
            <a:spcAft>
              <a:spcPct val="35000"/>
            </a:spcAft>
            <a:buNone/>
          </a:pPr>
          <a:r>
            <a:rPr lang="en-US" sz="2000" b="1" kern="1200" dirty="0"/>
            <a:t>Self-Actualization</a:t>
          </a:r>
          <a:r>
            <a:rPr lang="en-US" sz="2000" kern="1200" dirty="0"/>
            <a:t>: Achieving</a:t>
          </a:r>
        </a:p>
      </dsp:txBody>
      <dsp:txXfrm>
        <a:off x="3413760" y="0"/>
        <a:ext cx="1706880" cy="905192"/>
      </dsp:txXfrm>
    </dsp:sp>
    <dsp:sp modelId="{8AE6A6F0-C4D5-1B49-855F-494615D06A03}">
      <dsp:nvSpPr>
        <dsp:cNvPr id="0" name=""/>
        <dsp:cNvSpPr/>
      </dsp:nvSpPr>
      <dsp:spPr bwMode="white">
        <a:xfrm>
          <a:off x="2560320" y="905192"/>
          <a:ext cx="3413760" cy="905192"/>
        </a:xfrm>
        <a:prstGeom prst="trapezoid">
          <a:avLst>
            <a:gd name="adj" fmla="val 94283"/>
          </a:avLst>
        </a:prstGeom>
        <a:gradFill rotWithShape="0">
          <a:gsLst>
            <a:gs pos="0">
              <a:schemeClr val="accent3">
                <a:hueOff val="2812566"/>
                <a:satOff val="-4220"/>
                <a:lumOff val="-686"/>
                <a:alphaOff val="0"/>
                <a:tint val="100000"/>
                <a:shade val="100000"/>
                <a:satMod val="130000"/>
              </a:schemeClr>
            </a:gs>
            <a:gs pos="100000">
              <a:schemeClr val="accent3">
                <a:hueOff val="2812566"/>
                <a:satOff val="-4220"/>
                <a:lumOff val="-686"/>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rtl="0">
            <a:lnSpc>
              <a:spcPct val="90000"/>
            </a:lnSpc>
            <a:spcBef>
              <a:spcPct val="0"/>
            </a:spcBef>
            <a:spcAft>
              <a:spcPct val="35000"/>
            </a:spcAft>
            <a:buNone/>
          </a:pPr>
          <a:r>
            <a:rPr lang="en-US" sz="2000" b="1" kern="1200" dirty="0"/>
            <a:t>Esteem needs</a:t>
          </a:r>
          <a:r>
            <a:rPr lang="en-US" sz="2000" kern="1200" dirty="0"/>
            <a:t>: appreciation</a:t>
          </a:r>
        </a:p>
      </dsp:txBody>
      <dsp:txXfrm>
        <a:off x="3157727" y="905192"/>
        <a:ext cx="2218944" cy="905192"/>
      </dsp:txXfrm>
    </dsp:sp>
    <dsp:sp modelId="{45F61AA0-83A2-2546-A1EE-ACC4A5DA209B}">
      <dsp:nvSpPr>
        <dsp:cNvPr id="0" name=""/>
        <dsp:cNvSpPr/>
      </dsp:nvSpPr>
      <dsp:spPr bwMode="white">
        <a:xfrm>
          <a:off x="1706880" y="1810385"/>
          <a:ext cx="5120639" cy="905192"/>
        </a:xfrm>
        <a:prstGeom prst="trapezoid">
          <a:avLst>
            <a:gd name="adj" fmla="val 94283"/>
          </a:avLst>
        </a:prstGeom>
        <a:gradFill rotWithShape="0">
          <a:gsLst>
            <a:gs pos="0">
              <a:schemeClr val="accent3">
                <a:hueOff val="5625132"/>
                <a:satOff val="-8440"/>
                <a:lumOff val="-1373"/>
                <a:alphaOff val="0"/>
                <a:tint val="100000"/>
                <a:shade val="100000"/>
                <a:satMod val="130000"/>
              </a:schemeClr>
            </a:gs>
            <a:gs pos="100000">
              <a:schemeClr val="accent3">
                <a:hueOff val="5625132"/>
                <a:satOff val="-8440"/>
                <a:lumOff val="-1373"/>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rtl="0">
            <a:lnSpc>
              <a:spcPct val="90000"/>
            </a:lnSpc>
            <a:spcBef>
              <a:spcPct val="0"/>
            </a:spcBef>
            <a:spcAft>
              <a:spcPct val="35000"/>
            </a:spcAft>
            <a:buNone/>
          </a:pPr>
          <a:r>
            <a:rPr lang="en-US" sz="2000" b="1" kern="1200" dirty="0"/>
            <a:t>Social needs</a:t>
          </a:r>
          <a:r>
            <a:rPr lang="en-US" sz="2000" kern="1200" dirty="0"/>
            <a:t>: interaction, friends</a:t>
          </a:r>
        </a:p>
      </dsp:txBody>
      <dsp:txXfrm>
        <a:off x="2602991" y="1810385"/>
        <a:ext cx="3328416" cy="905192"/>
      </dsp:txXfrm>
    </dsp:sp>
    <dsp:sp modelId="{5345F3EB-597F-7544-8696-8C73CCCDFFC3}">
      <dsp:nvSpPr>
        <dsp:cNvPr id="0" name=""/>
        <dsp:cNvSpPr/>
      </dsp:nvSpPr>
      <dsp:spPr bwMode="white">
        <a:xfrm>
          <a:off x="853439" y="2715577"/>
          <a:ext cx="6827520" cy="905192"/>
        </a:xfrm>
        <a:prstGeom prst="trapezoid">
          <a:avLst>
            <a:gd name="adj" fmla="val 94283"/>
          </a:avLst>
        </a:prstGeom>
        <a:gradFill rotWithShape="0">
          <a:gsLst>
            <a:gs pos="0">
              <a:schemeClr val="accent3">
                <a:hueOff val="8437698"/>
                <a:satOff val="-12660"/>
                <a:lumOff val="-2059"/>
                <a:alphaOff val="0"/>
                <a:tint val="100000"/>
                <a:shade val="100000"/>
                <a:satMod val="130000"/>
              </a:schemeClr>
            </a:gs>
            <a:gs pos="100000">
              <a:schemeClr val="accent3">
                <a:hueOff val="8437698"/>
                <a:satOff val="-12660"/>
                <a:lumOff val="-2059"/>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rtl="0">
            <a:lnSpc>
              <a:spcPct val="90000"/>
            </a:lnSpc>
            <a:spcBef>
              <a:spcPct val="0"/>
            </a:spcBef>
            <a:spcAft>
              <a:spcPct val="35000"/>
            </a:spcAft>
            <a:buNone/>
          </a:pPr>
          <a:r>
            <a:rPr lang="en-US" sz="2000" b="1" kern="1200" dirty="0"/>
            <a:t>Safety needs</a:t>
          </a:r>
          <a:r>
            <a:rPr lang="en-US" sz="2000" kern="1200" dirty="0"/>
            <a:t>: security, absence of fear</a:t>
          </a:r>
        </a:p>
      </dsp:txBody>
      <dsp:txXfrm>
        <a:off x="2048255" y="2715577"/>
        <a:ext cx="4437888" cy="905192"/>
      </dsp:txXfrm>
    </dsp:sp>
    <dsp:sp modelId="{C73D5822-8626-F54C-9593-5B2B9930CBD9}">
      <dsp:nvSpPr>
        <dsp:cNvPr id="0" name=""/>
        <dsp:cNvSpPr/>
      </dsp:nvSpPr>
      <dsp:spPr bwMode="white">
        <a:xfrm>
          <a:off x="0" y="3620770"/>
          <a:ext cx="8534400" cy="905192"/>
        </a:xfrm>
        <a:prstGeom prst="trapezoid">
          <a:avLst>
            <a:gd name="adj" fmla="val 94283"/>
          </a:avLst>
        </a:prstGeom>
        <a:gradFill rotWithShape="0">
          <a:gsLst>
            <a:gs pos="0">
              <a:schemeClr val="accent3">
                <a:hueOff val="11250264"/>
                <a:satOff val="-16880"/>
                <a:lumOff val="-2745"/>
                <a:alphaOff val="0"/>
                <a:tint val="100000"/>
                <a:shade val="100000"/>
                <a:satMod val="130000"/>
              </a:schemeClr>
            </a:gs>
            <a:gs pos="100000">
              <a:schemeClr val="accent3">
                <a:hueOff val="11250264"/>
                <a:satOff val="-16880"/>
                <a:lumOff val="-2745"/>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rtl="0">
            <a:lnSpc>
              <a:spcPct val="90000"/>
            </a:lnSpc>
            <a:spcBef>
              <a:spcPct val="0"/>
            </a:spcBef>
            <a:spcAft>
              <a:spcPct val="35000"/>
            </a:spcAft>
            <a:buNone/>
          </a:pPr>
          <a:r>
            <a:rPr lang="en-US" sz="2000" b="1" kern="1200" dirty="0"/>
            <a:t>Physiological needs </a:t>
          </a:r>
          <a:r>
            <a:rPr lang="en-US" sz="2000" kern="1200" dirty="0"/>
            <a:t>: food, shelter, warmth, sex</a:t>
          </a:r>
        </a:p>
      </dsp:txBody>
      <dsp:txXfrm>
        <a:off x="1493519" y="3620770"/>
        <a:ext cx="5547360" cy="9051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18D5FC-7225-4235-806F-9D0F01757005}">
      <dsp:nvSpPr>
        <dsp:cNvPr id="0" name=""/>
        <dsp:cNvSpPr/>
      </dsp:nvSpPr>
      <dsp:spPr>
        <a:xfrm>
          <a:off x="251819" y="1754694"/>
          <a:ext cx="2033147" cy="101657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t>Total number of patients</a:t>
          </a:r>
        </a:p>
      </dsp:txBody>
      <dsp:txXfrm>
        <a:off x="281593" y="1784468"/>
        <a:ext cx="1973599" cy="957025"/>
      </dsp:txXfrm>
    </dsp:sp>
    <dsp:sp modelId="{595E7DDE-EC96-457E-BB0F-BC8253DE346D}">
      <dsp:nvSpPr>
        <dsp:cNvPr id="0" name=""/>
        <dsp:cNvSpPr/>
      </dsp:nvSpPr>
      <dsp:spPr>
        <a:xfrm rot="18289469">
          <a:off x="1979541" y="1658236"/>
          <a:ext cx="1424110" cy="40429"/>
        </a:xfrm>
        <a:custGeom>
          <a:avLst/>
          <a:gdLst/>
          <a:ahLst/>
          <a:cxnLst/>
          <a:rect l="0" t="0" r="0" b="0"/>
          <a:pathLst>
            <a:path>
              <a:moveTo>
                <a:pt x="0" y="20214"/>
              </a:moveTo>
              <a:lnTo>
                <a:pt x="1424110" y="2021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55994" y="1642848"/>
        <a:ext cx="71205" cy="71205"/>
      </dsp:txXfrm>
    </dsp:sp>
    <dsp:sp modelId="{99069088-0102-410C-8C59-D95F9653CB8C}">
      <dsp:nvSpPr>
        <dsp:cNvPr id="0" name=""/>
        <dsp:cNvSpPr/>
      </dsp:nvSpPr>
      <dsp:spPr>
        <a:xfrm>
          <a:off x="3098226" y="585634"/>
          <a:ext cx="2033147" cy="101657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t>Children (</a:t>
          </a:r>
          <a:r>
            <a:rPr lang="en-US" sz="2800" kern="1200" dirty="0">
              <a:solidFill>
                <a:srgbClr val="FF0000"/>
              </a:solidFill>
            </a:rPr>
            <a:t>%</a:t>
          </a:r>
          <a:r>
            <a:rPr lang="en-US" sz="2800" kern="1200" dirty="0"/>
            <a:t>)</a:t>
          </a:r>
        </a:p>
      </dsp:txBody>
      <dsp:txXfrm>
        <a:off x="3128000" y="615408"/>
        <a:ext cx="1973599" cy="957025"/>
      </dsp:txXfrm>
    </dsp:sp>
    <dsp:sp modelId="{E7FFEA67-8026-4AAD-9D8E-BB6ABDC1AD80}">
      <dsp:nvSpPr>
        <dsp:cNvPr id="0" name=""/>
        <dsp:cNvSpPr/>
      </dsp:nvSpPr>
      <dsp:spPr>
        <a:xfrm rot="19457599">
          <a:off x="5037237" y="781441"/>
          <a:ext cx="1001531" cy="40429"/>
        </a:xfrm>
        <a:custGeom>
          <a:avLst/>
          <a:gdLst/>
          <a:ahLst/>
          <a:cxnLst/>
          <a:rect l="0" t="0" r="0" b="0"/>
          <a:pathLst>
            <a:path>
              <a:moveTo>
                <a:pt x="0" y="20214"/>
              </a:moveTo>
              <a:lnTo>
                <a:pt x="1001531" y="2021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512964" y="776618"/>
        <a:ext cx="50076" cy="50076"/>
      </dsp:txXfrm>
    </dsp:sp>
    <dsp:sp modelId="{48BB8D47-3579-4317-8800-53EBCAEBF4F4}">
      <dsp:nvSpPr>
        <dsp:cNvPr id="0" name=""/>
        <dsp:cNvSpPr/>
      </dsp:nvSpPr>
      <dsp:spPr>
        <a:xfrm>
          <a:off x="5944632" y="1104"/>
          <a:ext cx="2033147" cy="101657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t>First line regimen (</a:t>
          </a:r>
          <a:r>
            <a:rPr lang="en-US" sz="2800" kern="1200" dirty="0">
              <a:solidFill>
                <a:srgbClr val="FF0000"/>
              </a:solidFill>
            </a:rPr>
            <a:t>%</a:t>
          </a:r>
          <a:r>
            <a:rPr lang="en-US" sz="2800" kern="1200" dirty="0"/>
            <a:t>)</a:t>
          </a:r>
        </a:p>
      </dsp:txBody>
      <dsp:txXfrm>
        <a:off x="5974406" y="30878"/>
        <a:ext cx="1973599" cy="957025"/>
      </dsp:txXfrm>
    </dsp:sp>
    <dsp:sp modelId="{EE9E8AB3-6778-44ED-AE20-0445D0A6F284}">
      <dsp:nvSpPr>
        <dsp:cNvPr id="0" name=""/>
        <dsp:cNvSpPr/>
      </dsp:nvSpPr>
      <dsp:spPr>
        <a:xfrm rot="2142401">
          <a:off x="5037237" y="1365971"/>
          <a:ext cx="1001531" cy="40429"/>
        </a:xfrm>
        <a:custGeom>
          <a:avLst/>
          <a:gdLst/>
          <a:ahLst/>
          <a:cxnLst/>
          <a:rect l="0" t="0" r="0" b="0"/>
          <a:pathLst>
            <a:path>
              <a:moveTo>
                <a:pt x="0" y="20214"/>
              </a:moveTo>
              <a:lnTo>
                <a:pt x="1001531" y="2021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512964" y="1361148"/>
        <a:ext cx="50076" cy="50076"/>
      </dsp:txXfrm>
    </dsp:sp>
    <dsp:sp modelId="{3EC71C63-9CD3-482A-AB4C-8B52086B6FFB}">
      <dsp:nvSpPr>
        <dsp:cNvPr id="0" name=""/>
        <dsp:cNvSpPr/>
      </dsp:nvSpPr>
      <dsp:spPr>
        <a:xfrm>
          <a:off x="5944632" y="1170164"/>
          <a:ext cx="2033147" cy="101657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t>Alternative Regimen (</a:t>
          </a:r>
          <a:r>
            <a:rPr lang="en-US" sz="2800" kern="1200" dirty="0">
              <a:solidFill>
                <a:srgbClr val="FF0000"/>
              </a:solidFill>
            </a:rPr>
            <a:t>%</a:t>
          </a:r>
          <a:r>
            <a:rPr lang="en-US" sz="2800" kern="1200" dirty="0"/>
            <a:t>)</a:t>
          </a:r>
        </a:p>
      </dsp:txBody>
      <dsp:txXfrm>
        <a:off x="5974406" y="1199938"/>
        <a:ext cx="1973599" cy="957025"/>
      </dsp:txXfrm>
    </dsp:sp>
    <dsp:sp modelId="{883A39D2-CF3B-4852-AF7F-ED2FFD6B6A30}">
      <dsp:nvSpPr>
        <dsp:cNvPr id="0" name=""/>
        <dsp:cNvSpPr/>
      </dsp:nvSpPr>
      <dsp:spPr>
        <a:xfrm rot="3310531">
          <a:off x="1979541" y="2827296"/>
          <a:ext cx="1424110" cy="40429"/>
        </a:xfrm>
        <a:custGeom>
          <a:avLst/>
          <a:gdLst/>
          <a:ahLst/>
          <a:cxnLst/>
          <a:rect l="0" t="0" r="0" b="0"/>
          <a:pathLst>
            <a:path>
              <a:moveTo>
                <a:pt x="0" y="20214"/>
              </a:moveTo>
              <a:lnTo>
                <a:pt x="1424110" y="2021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55994" y="2811908"/>
        <a:ext cx="71205" cy="71205"/>
      </dsp:txXfrm>
    </dsp:sp>
    <dsp:sp modelId="{9190CD4B-4FE0-4533-B8A0-DE51B77E5D1E}">
      <dsp:nvSpPr>
        <dsp:cNvPr id="0" name=""/>
        <dsp:cNvSpPr/>
      </dsp:nvSpPr>
      <dsp:spPr>
        <a:xfrm>
          <a:off x="3098226" y="2923754"/>
          <a:ext cx="2033147" cy="101657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t>Adult (</a:t>
          </a:r>
          <a:r>
            <a:rPr lang="en-US" sz="2800" kern="1200" dirty="0">
              <a:solidFill>
                <a:srgbClr val="FF0000"/>
              </a:solidFill>
            </a:rPr>
            <a:t>%</a:t>
          </a:r>
          <a:r>
            <a:rPr lang="en-US" sz="2800" kern="1200" dirty="0"/>
            <a:t>)</a:t>
          </a:r>
        </a:p>
      </dsp:txBody>
      <dsp:txXfrm>
        <a:off x="3128000" y="2953528"/>
        <a:ext cx="1973599" cy="957025"/>
      </dsp:txXfrm>
    </dsp:sp>
    <dsp:sp modelId="{21CD1CD7-DBAB-4CBA-B455-0FEBB2AC0077}">
      <dsp:nvSpPr>
        <dsp:cNvPr id="0" name=""/>
        <dsp:cNvSpPr/>
      </dsp:nvSpPr>
      <dsp:spPr>
        <a:xfrm rot="19457599">
          <a:off x="5037237" y="3119561"/>
          <a:ext cx="1001531" cy="40429"/>
        </a:xfrm>
        <a:custGeom>
          <a:avLst/>
          <a:gdLst/>
          <a:ahLst/>
          <a:cxnLst/>
          <a:rect l="0" t="0" r="0" b="0"/>
          <a:pathLst>
            <a:path>
              <a:moveTo>
                <a:pt x="0" y="20214"/>
              </a:moveTo>
              <a:lnTo>
                <a:pt x="1001531" y="2021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512964" y="3114738"/>
        <a:ext cx="50076" cy="50076"/>
      </dsp:txXfrm>
    </dsp:sp>
    <dsp:sp modelId="{120FBACE-32D0-4CA5-BD6A-FA823D7968F4}">
      <dsp:nvSpPr>
        <dsp:cNvPr id="0" name=""/>
        <dsp:cNvSpPr/>
      </dsp:nvSpPr>
      <dsp:spPr>
        <a:xfrm>
          <a:off x="5944632" y="2339224"/>
          <a:ext cx="2033147" cy="101657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t>First line regimen (</a:t>
          </a:r>
          <a:r>
            <a:rPr lang="en-US" sz="2800" kern="1200" dirty="0">
              <a:solidFill>
                <a:srgbClr val="FF0000"/>
              </a:solidFill>
            </a:rPr>
            <a:t>%</a:t>
          </a:r>
          <a:r>
            <a:rPr lang="en-US" sz="2800" kern="1200" dirty="0"/>
            <a:t>)</a:t>
          </a:r>
        </a:p>
      </dsp:txBody>
      <dsp:txXfrm>
        <a:off x="5974406" y="2368998"/>
        <a:ext cx="1973599" cy="957025"/>
      </dsp:txXfrm>
    </dsp:sp>
    <dsp:sp modelId="{EAE2558A-152F-44E8-9BEB-EF2D44794672}">
      <dsp:nvSpPr>
        <dsp:cNvPr id="0" name=""/>
        <dsp:cNvSpPr/>
      </dsp:nvSpPr>
      <dsp:spPr>
        <a:xfrm rot="2142401">
          <a:off x="5037237" y="3704091"/>
          <a:ext cx="1001531" cy="40429"/>
        </a:xfrm>
        <a:custGeom>
          <a:avLst/>
          <a:gdLst/>
          <a:ahLst/>
          <a:cxnLst/>
          <a:rect l="0" t="0" r="0" b="0"/>
          <a:pathLst>
            <a:path>
              <a:moveTo>
                <a:pt x="0" y="20214"/>
              </a:moveTo>
              <a:lnTo>
                <a:pt x="1001531" y="2021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512964" y="3699267"/>
        <a:ext cx="50076" cy="50076"/>
      </dsp:txXfrm>
    </dsp:sp>
    <dsp:sp modelId="{0F8C8F34-BD8C-4887-9B6B-BA94890B5C12}">
      <dsp:nvSpPr>
        <dsp:cNvPr id="0" name=""/>
        <dsp:cNvSpPr/>
      </dsp:nvSpPr>
      <dsp:spPr>
        <a:xfrm>
          <a:off x="5944632" y="3508284"/>
          <a:ext cx="2033147" cy="101657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t>Alternative regimen (</a:t>
          </a:r>
          <a:r>
            <a:rPr lang="en-US" sz="2800" kern="1200" dirty="0">
              <a:solidFill>
                <a:srgbClr val="FF0000"/>
              </a:solidFill>
            </a:rPr>
            <a:t>%</a:t>
          </a:r>
          <a:r>
            <a:rPr lang="en-US" sz="2800" kern="1200" dirty="0"/>
            <a:t>)</a:t>
          </a:r>
        </a:p>
      </dsp:txBody>
      <dsp:txXfrm>
        <a:off x="5974406" y="3538058"/>
        <a:ext cx="1973599" cy="957025"/>
      </dsp:txXfrm>
    </dsp:sp>
  </dsp:spTree>
</dsp:drawing>
</file>

<file path=ppt/diagrams/layout1.xml><?xml version="1.0" encoding="utf-8"?>
<dgm:layoutDef xmlns:dgm="http://schemas.openxmlformats.org/drawingml/2006/diagram" xmlns:a="http://schemas.openxmlformats.org/drawingml/2006/main" uniqueId="urn:microsoft.com/office/officeart/2005/8/layout/pyramid1#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pyraLvlNode" val="level"/>
          <dgm:param type="pyraAcctTxNode" val="acctTx"/>
          <dgm:param type="pyraAcctBkgdNode" val="acctBkgd"/>
          <dgm:param type="linDir" val="fromB"/>
          <dgm:param type="txDir" val="fromT"/>
          <dgm:param type="pyraAcctPos" val="aft"/>
          <dgm:param type="pyraAcctTxMar" val="step"/>
        </dgm:alg>
      </dgm:if>
      <dgm:else name="Name3">
        <dgm:alg type="pyra">
          <dgm:param type="pyraLvlNode" val="level"/>
          <dgm:param type="pyraAcctTxNode" val="acctTx"/>
          <dgm:param type="pyraAcctBkgdNode" val="acctBkgd"/>
          <dgm:param type="linDir" val="fromB"/>
          <dgm:param type="txDir" val="fromT"/>
          <dgm:param type="pyraAcctPos" val="bef"/>
          <dgm:param type="pyraAcctTxMar" val="step"/>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1">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endSty" val="noArr"/>
                        <dgm:param type="begPts" val="midR"/>
                        <dgm:param type="endPts" val="midL"/>
                      </dgm:alg>
                    </dgm:if>
                    <dgm:else name="Name14">
                      <dgm:alg type="conn">
                        <dgm:param type="dim" val="1D"/>
                        <dgm:param type="endSty" val="noArr"/>
                        <dgm:param type="begPts" val="midL"/>
                        <dgm:param type="endPts" val="mid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C89413-7D52-459A-8E12-CC7816BEC3D2}" type="datetimeFigureOut">
              <a:rPr lang="en-US" smtClean="0"/>
              <a:t>1/31/2026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3EE2B8-6E7D-4917-9EAC-1E0B9E62817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www.businessdictionary.com/definition/recruitment.html"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www.businessdictionary.com/definition/recruitment.html"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dirty="0"/>
              <a:t>2 minutes</a:t>
            </a:r>
          </a:p>
          <a:p>
            <a:pPr marL="0" marR="0" indent="0" algn="l" defTabSz="457200" rtl="0" eaLnBrk="1" fontAlgn="auto" latinLnBrk="0" hangingPunct="1">
              <a:lnSpc>
                <a:spcPct val="100000"/>
              </a:lnSpc>
              <a:spcBef>
                <a:spcPts val="0"/>
              </a:spcBef>
              <a:spcAft>
                <a:spcPts val="0"/>
              </a:spcAft>
              <a:buClrTx/>
              <a:buSzTx/>
              <a:buFontTx/>
              <a:buNone/>
              <a:defRPr/>
            </a:pPr>
            <a:r>
              <a:rPr lang="en-US" dirty="0"/>
              <a:t>***Test</a:t>
            </a:r>
            <a:r>
              <a:rPr lang="en-US" baseline="0" dirty="0"/>
              <a:t> Question***</a:t>
            </a:r>
            <a:endParaRPr lang="en-US" dirty="0"/>
          </a:p>
          <a:p>
            <a:r>
              <a:rPr lang="en-US" dirty="0"/>
              <a:t>Definition source: HRM Rapid Assessment Tool for Health</a:t>
            </a:r>
            <a:r>
              <a:rPr lang="en-US" baseline="0" dirty="0"/>
              <a:t> O</a:t>
            </a:r>
            <a:r>
              <a:rPr lang="en-US" dirty="0"/>
              <a:t>rganizations</a:t>
            </a:r>
          </a:p>
          <a:p>
            <a:endParaRPr lang="en-US" dirty="0"/>
          </a:p>
          <a:p>
            <a:r>
              <a:rPr lang="en-US" dirty="0"/>
              <a:t>Why</a:t>
            </a:r>
            <a:r>
              <a:rPr lang="en-US" baseline="0" dirty="0"/>
              <a:t> is it important that the work of HRM is integrated?</a:t>
            </a:r>
          </a:p>
          <a:p>
            <a:endParaRPr lang="en-US" baseline="0"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3</a:t>
            </a:fld>
            <a:endParaRPr lang="en-US" dirty="0">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marL="0" indent="0" defTabSz="914400" fontAlgn="base">
              <a:spcAft>
                <a:spcPct val="0"/>
              </a:spcAft>
              <a:buFont typeface="+mj-lt"/>
              <a:buNone/>
              <a:defRPr/>
            </a:pPr>
            <a:r>
              <a:rPr lang="en-US" sz="1200" b="0" dirty="0"/>
              <a:t>2 minutes</a:t>
            </a:r>
          </a:p>
          <a:p>
            <a:pPr marL="0" indent="0" defTabSz="914400" fontAlgn="base">
              <a:spcAft>
                <a:spcPct val="0"/>
              </a:spcAft>
              <a:buFont typeface="+mj-lt"/>
              <a:buNone/>
              <a:defRPr/>
            </a:pPr>
            <a:endParaRPr lang="en-US" sz="1200" b="0" dirty="0"/>
          </a:p>
          <a:p>
            <a:pPr marL="0" marR="0" lvl="0" indent="0" algn="l" defTabSz="914400" rtl="0" eaLnBrk="1" fontAlgn="base" latinLnBrk="0" hangingPunct="1">
              <a:lnSpc>
                <a:spcPct val="100000"/>
              </a:lnSpc>
              <a:spcBef>
                <a:spcPts val="0"/>
              </a:spcBef>
              <a:spcAft>
                <a:spcPct val="0"/>
              </a:spcAft>
              <a:buClrTx/>
              <a:buSzTx/>
              <a:buFont typeface="+mj-lt"/>
              <a:buNone/>
              <a:defRPr/>
            </a:pPr>
            <a:r>
              <a:rPr lang="en-US" sz="1200" dirty="0"/>
              <a:t>Again, HRM is defined as The </a:t>
            </a:r>
            <a:r>
              <a:rPr lang="en-US" sz="1200" b="1" i="1" dirty="0">
                <a:solidFill>
                  <a:schemeClr val="tx2">
                    <a:lumMod val="60000"/>
                    <a:lumOff val="40000"/>
                  </a:schemeClr>
                </a:solidFill>
              </a:rPr>
              <a:t>integrated</a:t>
            </a:r>
            <a:r>
              <a:rPr lang="en-US" sz="1200" dirty="0">
                <a:solidFill>
                  <a:schemeClr val="tx2">
                    <a:lumMod val="60000"/>
                    <a:lumOff val="40000"/>
                  </a:schemeClr>
                </a:solidFill>
              </a:rPr>
              <a:t> </a:t>
            </a:r>
            <a:r>
              <a:rPr lang="en-US" sz="1200" dirty="0"/>
              <a:t>use of policies, procedures and practices to recruit, retain and develop employees in order for the organization to meet its desired goals.</a:t>
            </a:r>
          </a:p>
          <a:p>
            <a:pPr marL="0" indent="0" defTabSz="914400" fontAlgn="base">
              <a:spcAft>
                <a:spcPct val="0"/>
              </a:spcAft>
              <a:buFont typeface="+mj-lt"/>
              <a:buNone/>
              <a:defRPr/>
            </a:pPr>
            <a:endParaRPr lang="en-US" sz="1200" b="0" dirty="0"/>
          </a:p>
          <a:p>
            <a:r>
              <a:rPr lang="en-US" dirty="0"/>
              <a:t>Why</a:t>
            </a:r>
            <a:r>
              <a:rPr lang="en-US" baseline="0" dirty="0"/>
              <a:t> is it important that the work of HRM is integrated?</a:t>
            </a:r>
          </a:p>
          <a:p>
            <a:endParaRPr lang="en-US" baseline="0" dirty="0"/>
          </a:p>
          <a:p>
            <a:r>
              <a:rPr lang="en-US" baseline="0" dirty="0"/>
              <a:t>A procedure has no enforcement without the policy to tell the rule that guides the procedure. You can have a policy in writing but the hospital practice may be different. But to be successful in the desired outcome, policies, procedures and practices must be aligned (matching and in agreement). In order to have them aligned, it requires HR to review them regularly, to be aware of changes in the informal culture, to be aware of changes coming from external </a:t>
            </a:r>
            <a:r>
              <a:rPr lang="en-US" baseline="0" dirty="0" err="1"/>
              <a:t>parites</a:t>
            </a:r>
            <a:r>
              <a:rPr lang="en-US" baseline="0" dirty="0"/>
              <a:t> (groups or agencies like accreditors, suppliers and customers)</a:t>
            </a:r>
            <a:endParaRPr lang="en-US" dirty="0"/>
          </a:p>
          <a:p>
            <a:pPr marL="0" indent="0" defTabSz="914400" fontAlgn="base">
              <a:spcAft>
                <a:spcPct val="0"/>
              </a:spcAft>
              <a:buFont typeface="+mj-lt"/>
              <a:buNone/>
              <a:defRPr/>
            </a:pPr>
            <a:endParaRPr lang="en-US" sz="1200" b="0" dirty="0"/>
          </a:p>
          <a:p>
            <a:pPr marL="0" indent="0" defTabSz="914400" fontAlgn="base">
              <a:spcAft>
                <a:spcPct val="0"/>
              </a:spcAft>
              <a:buFont typeface="+mj-lt"/>
              <a:buNone/>
              <a:defRPr/>
            </a:pPr>
            <a:r>
              <a:rPr lang="en-US" sz="1200" b="0" dirty="0"/>
              <a:t>The </a:t>
            </a:r>
            <a:r>
              <a:rPr lang="en-US" sz="1200" b="1" dirty="0"/>
              <a:t>HRM definition</a:t>
            </a:r>
            <a:r>
              <a:rPr lang="en-US" sz="1200" b="0" dirty="0"/>
              <a:t> tells us the goal is to successfully </a:t>
            </a:r>
            <a:r>
              <a:rPr lang="en-US" sz="1200" b="1" dirty="0"/>
              <a:t>recruit, retain and develop</a:t>
            </a:r>
            <a:r>
              <a:rPr lang="en-US" sz="1200" b="0" dirty="0"/>
              <a:t> employees. The </a:t>
            </a:r>
            <a:r>
              <a:rPr lang="en-US" sz="1200" b="1" dirty="0"/>
              <a:t>Basic functions</a:t>
            </a:r>
            <a:r>
              <a:rPr lang="en-US" sz="1200" b="0" dirty="0"/>
              <a:t> is the way we do this. If each of the basic functions are done well,</a:t>
            </a:r>
            <a:r>
              <a:rPr lang="en-US" sz="1200" b="0" baseline="0" dirty="0"/>
              <a:t> your HRM will be done well.</a:t>
            </a:r>
            <a:r>
              <a:rPr lang="en-US" sz="1200" b="0" dirty="0"/>
              <a:t> </a:t>
            </a:r>
            <a:r>
              <a:rPr lang="en-US" sz="1200" b="1" dirty="0"/>
              <a:t>Records and Documentation</a:t>
            </a:r>
            <a:r>
              <a:rPr lang="en-US" sz="1200" b="0" dirty="0"/>
              <a:t> is your activity in writing. The hard copies that show the HRM</a:t>
            </a:r>
            <a:r>
              <a:rPr lang="en-US" sz="1200" b="0" baseline="0" dirty="0"/>
              <a:t> work you do. </a:t>
            </a:r>
            <a:r>
              <a:rPr lang="en-US" sz="1200" b="1" dirty="0"/>
              <a:t>Policies</a:t>
            </a:r>
            <a:r>
              <a:rPr lang="en-US" sz="1200" b="1" baseline="0" dirty="0"/>
              <a:t> and Procedures</a:t>
            </a:r>
            <a:r>
              <a:rPr lang="en-US" sz="1200" baseline="0" dirty="0"/>
              <a:t> set the foundation from which HRM can function well. Policies &amp; Procedures dictate “how you </a:t>
            </a:r>
            <a:r>
              <a:rPr lang="en-US" sz="1200" u="sng" baseline="0" dirty="0"/>
              <a:t>intend</a:t>
            </a:r>
            <a:r>
              <a:rPr lang="en-US" sz="1200" baseline="0" dirty="0"/>
              <a:t> do” all other functions. Policies give the rules of “what you do” and procedures tell employees “how to do it” to comply with the rules. </a:t>
            </a:r>
          </a:p>
          <a:p>
            <a:pPr marL="0" indent="0" defTabSz="914400" fontAlgn="base">
              <a:spcAft>
                <a:spcPct val="0"/>
              </a:spcAft>
              <a:buFont typeface="+mj-lt"/>
              <a:buNone/>
              <a:defRPr/>
            </a:pPr>
            <a:r>
              <a:rPr lang="en-US" sz="1200" b="1" baseline="0" dirty="0"/>
              <a:t>Record keeping</a:t>
            </a:r>
            <a:r>
              <a:rPr lang="en-US" sz="1200" baseline="0" dirty="0"/>
              <a:t> is an important part of documenting the activity of HRM, as well as other business activity, in HRM it is particularly useful for performance management, employee relations and compensation. Records demonstrate “how you did” the functions.</a:t>
            </a:r>
            <a:endParaRPr lang="en-US" sz="1200"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4</a:t>
            </a:fld>
            <a:endParaRPr lang="en-US" dirty="0">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dirty="0"/>
              <a:t>TIME ALOTTED: 70 minutes</a:t>
            </a:r>
          </a:p>
          <a:p>
            <a:pPr marL="0" marR="0" indent="0" algn="l" defTabSz="457200" rtl="0" eaLnBrk="1" fontAlgn="auto" latinLnBrk="0" hangingPunct="1">
              <a:lnSpc>
                <a:spcPct val="100000"/>
              </a:lnSpc>
              <a:spcBef>
                <a:spcPts val="0"/>
              </a:spcBef>
              <a:spcAft>
                <a:spcPts val="0"/>
              </a:spcAft>
              <a:buClrTx/>
              <a:buSzTx/>
              <a:buFontTx/>
              <a:buNone/>
              <a:defRPr/>
            </a:pPr>
            <a:endParaRPr lang="en-US" dirty="0"/>
          </a:p>
          <a:p>
            <a:r>
              <a:rPr lang="en-US" dirty="0"/>
              <a:t>Add material on how to calculate the number</a:t>
            </a:r>
            <a:r>
              <a:rPr lang="en-US" baseline="0" dirty="0"/>
              <a:t> of staff needed for specific activity. – requested by JP, Cohort 2</a:t>
            </a:r>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5</a:t>
            </a:fld>
            <a:endParaRPr lang="en-US" dirty="0">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a:t>
            </a:r>
          </a:p>
          <a:p>
            <a:endParaRPr lang="en-US" dirty="0"/>
          </a:p>
          <a:p>
            <a:r>
              <a:rPr lang="en-US" dirty="0"/>
              <a:t>If you do not have enough employees or the right types then you</a:t>
            </a:r>
            <a:r>
              <a:rPr lang="en-US" baseline="0" dirty="0"/>
              <a:t> will struggle to take care of patients.</a:t>
            </a:r>
            <a:endParaRPr lang="en-US" dirty="0"/>
          </a:p>
          <a:p>
            <a:endParaRPr lang="en-US" dirty="0"/>
          </a:p>
          <a:p>
            <a:r>
              <a:rPr lang="en-US" dirty="0"/>
              <a:t>Maybe your emergency department just has 1 physician.</a:t>
            </a:r>
          </a:p>
          <a:p>
            <a:endParaRPr lang="en-US" dirty="0"/>
          </a:p>
          <a:p>
            <a:r>
              <a:rPr lang="en-US" dirty="0"/>
              <a:t>Your hospital can have no pharmacy</a:t>
            </a:r>
            <a:r>
              <a:rPr lang="en-US" baseline="0" dirty="0"/>
              <a:t> techs so you use a nurse in the pharmacy tasks</a:t>
            </a:r>
            <a:r>
              <a:rPr lang="en-US" dirty="0"/>
              <a:t> </a:t>
            </a:r>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6</a:t>
            </a:fld>
            <a:endParaRPr lang="en-US" dirty="0">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5 minutes</a:t>
            </a:r>
          </a:p>
          <a:p>
            <a:endParaRPr lang="en-US" baseline="0"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7</a:t>
            </a:fld>
            <a:endParaRPr lang="en-US" dirty="0">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8</a:t>
            </a:fld>
            <a:endParaRPr lang="en-US" dirty="0">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a:t>
            </a:r>
          </a:p>
          <a:p>
            <a:r>
              <a:rPr lang="en-US" dirty="0"/>
              <a:t>Exercise was confusing,</a:t>
            </a:r>
            <a:r>
              <a:rPr lang="en-US" baseline="0" dirty="0"/>
              <a:t> must c</a:t>
            </a:r>
            <a:r>
              <a:rPr lang="en-US" dirty="0"/>
              <a:t>hange the exercise to simplify it.</a:t>
            </a:r>
          </a:p>
          <a:p>
            <a:r>
              <a:rPr lang="en-US" dirty="0"/>
              <a:t>Remove “providing directions …” it</a:t>
            </a:r>
            <a:r>
              <a:rPr lang="en-US" baseline="0" dirty="0"/>
              <a:t> is confusing</a:t>
            </a:r>
            <a:endParaRPr lang="en-US" dirty="0"/>
          </a:p>
          <a:p>
            <a:r>
              <a:rPr lang="en-US" dirty="0"/>
              <a:t>Less tasks</a:t>
            </a:r>
          </a:p>
          <a:p>
            <a:r>
              <a:rPr lang="en-US" dirty="0"/>
              <a:t>More distinct tasks</a:t>
            </a:r>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9</a:t>
            </a:fld>
            <a:endParaRPr lang="en-US" dirty="0">
              <a:solidFill>
                <a:prstClr val="black"/>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dirty="0"/>
              <a:t>5 minutes</a:t>
            </a:r>
          </a:p>
          <a:p>
            <a:pPr marL="0" marR="0" indent="0" algn="l" defTabSz="457200" rtl="0" eaLnBrk="1" fontAlgn="auto" latinLnBrk="0" hangingPunct="1">
              <a:lnSpc>
                <a:spcPct val="100000"/>
              </a:lnSpc>
              <a:spcBef>
                <a:spcPts val="0"/>
              </a:spcBef>
              <a:spcAft>
                <a:spcPts val="0"/>
              </a:spcAft>
              <a:buClrTx/>
              <a:buSzTx/>
              <a:buFontTx/>
              <a:buNone/>
              <a:defRPr/>
            </a:pPr>
            <a:r>
              <a:rPr lang="en-US" dirty="0"/>
              <a:t>***Test</a:t>
            </a:r>
            <a:r>
              <a:rPr lang="en-US" baseline="0" dirty="0"/>
              <a:t> Question***</a:t>
            </a:r>
          </a:p>
          <a:p>
            <a:pPr marL="0" marR="0" indent="0" algn="l" defTabSz="457200" rtl="0" eaLnBrk="1" fontAlgn="auto" latinLnBrk="0" hangingPunct="1">
              <a:lnSpc>
                <a:spcPct val="100000"/>
              </a:lnSpc>
              <a:spcBef>
                <a:spcPts val="0"/>
              </a:spcBef>
              <a:spcAft>
                <a:spcPts val="0"/>
              </a:spcAft>
              <a:buClrTx/>
              <a:buSzTx/>
              <a:buFontTx/>
              <a:buNone/>
              <a:defRPr/>
            </a:pPr>
            <a:endParaRPr lang="en-US" baseline="0" dirty="0"/>
          </a:p>
          <a:p>
            <a:pPr marL="0" marR="0" indent="0" algn="l" defTabSz="457200" rtl="0" eaLnBrk="1" fontAlgn="auto" latinLnBrk="0" hangingPunct="1">
              <a:lnSpc>
                <a:spcPct val="100000"/>
              </a:lnSpc>
              <a:spcBef>
                <a:spcPts val="0"/>
              </a:spcBef>
              <a:spcAft>
                <a:spcPts val="0"/>
              </a:spcAft>
              <a:buClrTx/>
              <a:buSzTx/>
              <a:buFontTx/>
              <a:buNone/>
              <a:defRPr/>
            </a:pPr>
            <a:r>
              <a:rPr lang="en-US" baseline="0" dirty="0"/>
              <a:t>Present a case scenario and ask them to adjust the skill mix.</a:t>
            </a:r>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10</a:t>
            </a:fld>
            <a:endParaRPr lang="en-US" dirty="0">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a:t>
            </a:r>
          </a:p>
          <a:p>
            <a:r>
              <a:rPr lang="en-US" dirty="0"/>
              <a:t>***Test</a:t>
            </a:r>
            <a:r>
              <a:rPr lang="en-US" baseline="0" dirty="0"/>
              <a:t> Question***</a:t>
            </a:r>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11</a:t>
            </a:fld>
            <a:endParaRPr lang="en-US" dirty="0">
              <a:solidFill>
                <a:prstClr val="black"/>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minutes (25 minutes in team / 10 minutes to present out / 5 minute Instructor review of concept)</a:t>
            </a:r>
          </a:p>
          <a:p>
            <a:endParaRPr lang="en-US" dirty="0"/>
          </a:p>
          <a:p>
            <a:r>
              <a:rPr lang="en-US" dirty="0"/>
              <a:t>Have one group present out.</a:t>
            </a:r>
          </a:p>
          <a:p>
            <a:r>
              <a:rPr lang="en-US" dirty="0"/>
              <a:t>Create</a:t>
            </a:r>
            <a:r>
              <a:rPr lang="en-US" baseline="0" dirty="0"/>
              <a:t> a pictorial to show the staffing demand and how staff are currently deployed vs. Potential new staffing pattern. Similar to Rex’s slide for patient flow.</a:t>
            </a:r>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12</a:t>
            </a:fld>
            <a:endParaRPr lang="en-US" dirty="0">
              <a:solidFill>
                <a:prstClr val="black"/>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ALLOTED: 140 MINUTES</a:t>
            </a:r>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13</a:t>
            </a:fld>
            <a:endParaRPr lang="en-US" dirty="0">
              <a:solidFill>
                <a:prstClr val="blac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a:t>
            </a:r>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14</a:t>
            </a:fld>
            <a:endParaRPr lang="en-US" dirty="0">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457200" rtl="0" eaLnBrk="1" fontAlgn="auto" latinLnBrk="0" hangingPunct="1">
              <a:lnSpc>
                <a:spcPct val="100000"/>
              </a:lnSpc>
              <a:spcBef>
                <a:spcPts val="0"/>
              </a:spcBef>
              <a:spcAft>
                <a:spcPts val="0"/>
              </a:spcAft>
              <a:buClrTx/>
              <a:buSzTx/>
              <a:buFontTx/>
              <a:buNone/>
              <a:defRPr/>
            </a:pPr>
            <a:r>
              <a:rPr lang="en-US" sz="2400" dirty="0"/>
              <a:t>2 minutes</a:t>
            </a:r>
          </a:p>
          <a:p>
            <a:pPr marL="0" marR="0" lvl="1" indent="0" algn="l" defTabSz="457200" rtl="0" eaLnBrk="1" fontAlgn="auto" latinLnBrk="0" hangingPunct="1">
              <a:lnSpc>
                <a:spcPct val="100000"/>
              </a:lnSpc>
              <a:spcBef>
                <a:spcPts val="0"/>
              </a:spcBef>
              <a:spcAft>
                <a:spcPts val="0"/>
              </a:spcAft>
              <a:buClrTx/>
              <a:buSzTx/>
              <a:buFontTx/>
              <a:buNone/>
              <a:defRPr/>
            </a:pPr>
            <a:r>
              <a:rPr lang="en-US" sz="2400" dirty="0"/>
              <a:t>Source: </a:t>
            </a:r>
            <a:r>
              <a:rPr lang="en-US" sz="2400" dirty="0">
                <a:hlinkClick r:id="rId3"/>
              </a:rPr>
              <a:t>http://www.businessdictionary.com/definition/recruitment.html#ixzz3akWW0m5g</a:t>
            </a:r>
            <a:endParaRPr lang="en-US" sz="2400" b="1" dirty="0"/>
          </a:p>
          <a:p>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15</a:t>
            </a:fld>
            <a:endParaRPr lang="en-US" dirty="0">
              <a:solidFill>
                <a:prstClr val="black"/>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457200" rtl="0" eaLnBrk="1" fontAlgn="auto" latinLnBrk="0" hangingPunct="1">
              <a:lnSpc>
                <a:spcPct val="100000"/>
              </a:lnSpc>
              <a:spcBef>
                <a:spcPts val="0"/>
              </a:spcBef>
              <a:spcAft>
                <a:spcPts val="0"/>
              </a:spcAft>
              <a:buClrTx/>
              <a:buSzTx/>
              <a:buFontTx/>
              <a:buNone/>
              <a:defRPr/>
            </a:pPr>
            <a:r>
              <a:rPr lang="en-US" sz="2400" dirty="0"/>
              <a:t>2 minutes</a:t>
            </a:r>
          </a:p>
          <a:p>
            <a:pPr marL="0" marR="0" lvl="1" indent="0" algn="l" defTabSz="457200" rtl="0" eaLnBrk="1" fontAlgn="auto" latinLnBrk="0" hangingPunct="1">
              <a:lnSpc>
                <a:spcPct val="100000"/>
              </a:lnSpc>
              <a:spcBef>
                <a:spcPts val="0"/>
              </a:spcBef>
              <a:spcAft>
                <a:spcPts val="0"/>
              </a:spcAft>
              <a:buClrTx/>
              <a:buSzTx/>
              <a:buFontTx/>
              <a:buNone/>
              <a:defRPr/>
            </a:pPr>
            <a:r>
              <a:rPr lang="en-US" sz="2400" dirty="0"/>
              <a:t>Source: </a:t>
            </a:r>
            <a:r>
              <a:rPr lang="en-US" sz="2400" dirty="0">
                <a:hlinkClick r:id="rId3"/>
              </a:rPr>
              <a:t>http://www.businessdictionary.com/definition/recruitment.html#ixzz3akWW0m5g</a:t>
            </a:r>
            <a:endParaRPr lang="en-US" sz="2400" b="1" dirty="0"/>
          </a:p>
          <a:p>
            <a:endParaRPr lang="en-US" dirty="0"/>
          </a:p>
          <a:p>
            <a:r>
              <a:rPr lang="en-US" dirty="0"/>
              <a:t>Your staff provide a</a:t>
            </a:r>
            <a:r>
              <a:rPr lang="en-US" baseline="0" dirty="0"/>
              <a:t> service to patients. Patients come to your hospital to buy health care. The better quality employees you have the better the “product” you are able to sell, the better service you provide.</a:t>
            </a:r>
          </a:p>
          <a:p>
            <a:endParaRPr lang="en-US" baseline="0" dirty="0"/>
          </a:p>
          <a:p>
            <a:r>
              <a:rPr lang="en-US" baseline="0" dirty="0"/>
              <a:t>You can look at the budget an see that the line item for salaries is usually the highest. You invest a lot of money in your people, it is a good way of stewarding resources to make sure you are selecting the best candidate that can help you provide high quality service.</a:t>
            </a:r>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16</a:t>
            </a:fld>
            <a:endParaRPr lang="en-US" dirty="0">
              <a:solidFill>
                <a:prstClr val="black"/>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a:t>
            </a:r>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17</a:t>
            </a:fld>
            <a:endParaRPr lang="en-US" dirty="0">
              <a:solidFill>
                <a:prstClr val="black"/>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dirty="0"/>
              <a:t>3 minutes</a:t>
            </a:r>
          </a:p>
          <a:p>
            <a:endParaRPr lang="en-US" dirty="0"/>
          </a:p>
          <a:p>
            <a:r>
              <a:rPr lang="en-US" dirty="0"/>
              <a:t>The people who work closely to the position will</a:t>
            </a:r>
            <a:r>
              <a:rPr lang="en-US" baseline="0" dirty="0"/>
              <a:t> know how the department works, they will know about previous success or failures in the role. They will be with the person daily so its good they select someone they can work well with. They should feel engaged in the process. If the person is not a good fit for the position, those most impacted were a part of the decision and will understand instead of simply blaming the person who hired. </a:t>
            </a:r>
          </a:p>
          <a:p>
            <a:endParaRPr lang="en-US" baseline="0" dirty="0"/>
          </a:p>
          <a:p>
            <a:r>
              <a:rPr lang="en-US" baseline="0" dirty="0"/>
              <a:t>You will get a better candidate if those close to the position participate. The person the role will report to should ALWAYS be involved. Additionally, interviewing should include peers of the role, subordinates (people that will report to the role). </a:t>
            </a:r>
          </a:p>
          <a:p>
            <a:endParaRPr lang="en-US" baseline="0" dirty="0"/>
          </a:p>
          <a:p>
            <a:r>
              <a:rPr lang="en-US" baseline="0" dirty="0"/>
              <a:t>Multidisciplinary. It is good to have nurses, physicians, an admin person, etc. If the role works with people from different disciplines, the relationships this person will develop with each discipline is different. The needs each discipline will have for this person are different. So, many disciplines should be involved so they can share input on what type of candidate will be good for their needs or will fit in well in their work area.</a:t>
            </a:r>
          </a:p>
          <a:p>
            <a:endParaRPr lang="en-US" baseline="0" dirty="0"/>
          </a:p>
          <a:p>
            <a:r>
              <a:rPr lang="en-US" baseline="0" dirty="0"/>
              <a:t>Conflicts of interest. Why? There is inherent bias and split allegiance between your professional responsibilities and your familiar responsibilities. Professionally you must choose the best candidate. The criteria should be based on the work you need the position to produce and the relationships required for the role to succeed. Many other factors, not related to the work or the organization, will come into consideration when it is a family you are considering. In order for the process to be more objective, you should not participate.</a:t>
            </a:r>
          </a:p>
          <a:p>
            <a:endParaRPr lang="en-US" baseline="0" dirty="0"/>
          </a:p>
          <a:p>
            <a:r>
              <a:rPr lang="en-US" baseline="0" dirty="0"/>
              <a:t>Exercise:</a:t>
            </a:r>
          </a:p>
          <a:p>
            <a:r>
              <a:rPr lang="en-US" baseline="0" dirty="0"/>
              <a:t>HOD Neonatology</a:t>
            </a:r>
          </a:p>
          <a:p>
            <a:r>
              <a:rPr lang="en-US" baseline="0" dirty="0"/>
              <a:t>DON</a:t>
            </a:r>
          </a:p>
          <a:p>
            <a:r>
              <a:rPr lang="en-US" baseline="0" dirty="0"/>
              <a:t>Maternity In charge</a:t>
            </a:r>
          </a:p>
          <a:p>
            <a:r>
              <a:rPr lang="en-US" baseline="0" dirty="0"/>
              <a:t>A Neo staff nurse</a:t>
            </a:r>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18</a:t>
            </a:fld>
            <a:endParaRPr lang="en-US" dirty="0">
              <a:solidFill>
                <a:prstClr val="black"/>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dirty="0"/>
              <a:t>3 minutes</a:t>
            </a:r>
          </a:p>
          <a:p>
            <a:endParaRPr lang="en-US" dirty="0"/>
          </a:p>
          <a:p>
            <a:r>
              <a:rPr lang="en-US" dirty="0"/>
              <a:t>Job Title seems like an easy one, but there</a:t>
            </a:r>
            <a:r>
              <a:rPr lang="en-US" baseline="0" dirty="0"/>
              <a:t> are many cases where a department has an idea of what they want so they hire a position but are not clear on what that position should be called. If the job title is not clear, it is likely the job description will not be clear either. Job title matters, not only for clarity of the role, but also for compensation.</a:t>
            </a:r>
          </a:p>
          <a:p>
            <a:r>
              <a:rPr lang="en-US" baseline="0" dirty="0"/>
              <a:t>This is often missing. Or it is inaccurate. As a manager it is good to update JDs annually. In reality this doesn’t happen, especially if you’ve ad the same person in the role for 13 years. When hiring, it is the perfect opportunity to make sure the JD reflects what you need from this role. You can address gaps that were revealed through the last person’s performance. </a:t>
            </a:r>
            <a:r>
              <a:rPr lang="en-US" i="1" baseline="0" dirty="0"/>
              <a:t>For example. If you had a hard time getting the previous in charge to work on a quality improvement project because she was too busy with other tasks but you know this will benefit the department, you should add it to the job description so it is presented as a part of the  job and not “extra work.”</a:t>
            </a:r>
          </a:p>
          <a:p>
            <a:r>
              <a:rPr lang="en-US" i="0" baseline="0" dirty="0"/>
              <a:t>You must be clear about the requirements or preferences for education. If the position must be A0, make it clear in the job description. It will be a waste of time if you have 6 A1 nurses apply and you then have to say no because only an A0 can take this role. It is different to say A0 preferred. Does anyone know what that means? This will tell those interested that you want an A0 and they will receive preference in the decision to hire, but you will accept an A1.</a:t>
            </a:r>
          </a:p>
          <a:p>
            <a:r>
              <a:rPr lang="en-US" i="0" baseline="0" dirty="0"/>
              <a:t>Would you do your job for free? I don’t think any of us would so compensation (pay and benefits) is a major factor to determine if the candidate is interested. Especially if they have another job opportunity option to compare to. Even if compensation is not the factor that will have the best candidate say yes or no, it is still good to be clear from the beginning of the recruitment process so the candidates know if the job is paid at an acceptable rate. You do not have to know the exact amount but a fair range should be known.</a:t>
            </a:r>
          </a:p>
          <a:p>
            <a:r>
              <a:rPr lang="en-US" i="0" baseline="0" dirty="0"/>
              <a:t>More than compensation, hours and schedule determine if someone is interested in a job. If I am a nurse looking for a new position. I need to know whether it will be day time or night shift, will I work weekends. This is </a:t>
            </a:r>
            <a:r>
              <a:rPr lang="en-US" i="0" baseline="0" dirty="0" err="1"/>
              <a:t>imporersonal</a:t>
            </a:r>
            <a:r>
              <a:rPr lang="en-US" i="0" baseline="0" dirty="0"/>
              <a:t> lives and is usually a very important </a:t>
            </a:r>
            <a:r>
              <a:rPr lang="en-US" i="0" baseline="0" dirty="0" err="1"/>
              <a:t>factor.tant</a:t>
            </a:r>
            <a:r>
              <a:rPr lang="en-US" i="0" baseline="0" dirty="0"/>
              <a:t> for people to balance their </a:t>
            </a:r>
            <a:endParaRPr lang="en-US" i="0"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19</a:t>
            </a:fld>
            <a:endParaRPr lang="en-US" dirty="0">
              <a:solidFill>
                <a:prstClr val="black"/>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b="0" dirty="0"/>
              <a:t>3 minutes</a:t>
            </a:r>
          </a:p>
          <a:p>
            <a:endParaRPr lang="en-US" dirty="0"/>
          </a:p>
          <a:p>
            <a:r>
              <a:rPr lang="en-US" dirty="0"/>
              <a:t>Add</a:t>
            </a:r>
            <a:r>
              <a:rPr lang="en-US" baseline="0" dirty="0"/>
              <a:t> bullet on creating a short list</a:t>
            </a:r>
          </a:p>
          <a:p>
            <a:endParaRPr lang="en-US" dirty="0"/>
          </a:p>
          <a:p>
            <a:r>
              <a:rPr lang="en-US" dirty="0"/>
              <a:t>Clear interview process. It should not be confusing. It should be generic enough that anyone with the qualifications you are requiring can understand the questions. You cannot</a:t>
            </a:r>
            <a:r>
              <a:rPr lang="en-US" baseline="0" dirty="0"/>
              <a:t> ask a specific question about your organization. You wouldn’t ask How many cases did neurosurgery perform last month? It is not fair to expect a candidate to know this.</a:t>
            </a:r>
          </a:p>
          <a:p>
            <a:endParaRPr lang="en-US" baseline="0" dirty="0"/>
          </a:p>
          <a:p>
            <a:r>
              <a:rPr lang="en-US" baseline="0" dirty="0"/>
              <a:t>Standard interview. You should have a set of questions that you use for each candidate. It will allow you to compare the responses of each candidate to each other. This will help you to determine who is better. If I assess 2 cars, but one I look at the tires and brakes but not the engine and the other one I look at the engine. I cannot say which car is better because I did not evaluate the same criteria. The tires can be great on car 1 but the engine is bad. You have to check the engine for both to say which car is in better condition.</a:t>
            </a:r>
          </a:p>
          <a:p>
            <a:endParaRPr lang="en-US" baseline="0" dirty="0"/>
          </a:p>
          <a:p>
            <a:r>
              <a:rPr lang="en-US" baseline="0" dirty="0"/>
              <a:t>When you decide to select the person you will hire you should use the same criteria. Usually you are able to narrow your candidates down to the best 2 people. Then you must look fairly at both candidates. Compare them and when making a decision you should use criteria that has some objectivity. When using a multidisciplinary group, it is also important that they are using the same interview questions.</a:t>
            </a:r>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20</a:t>
            </a:fld>
            <a:endParaRPr lang="en-US" dirty="0">
              <a:solidFill>
                <a:prstClr val="black"/>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dirty="0"/>
              <a:t>1 minute</a:t>
            </a:r>
          </a:p>
          <a:p>
            <a:pPr marL="0" marR="0" indent="0" algn="l" defTabSz="457200" rtl="0" eaLnBrk="1" fontAlgn="auto" latinLnBrk="0" hangingPunct="1">
              <a:lnSpc>
                <a:spcPct val="100000"/>
              </a:lnSpc>
              <a:spcBef>
                <a:spcPts val="0"/>
              </a:spcBef>
              <a:spcAft>
                <a:spcPts val="0"/>
              </a:spcAft>
              <a:buClrTx/>
              <a:buSzTx/>
              <a:buFontTx/>
              <a:buNone/>
              <a:defRPr/>
            </a:pPr>
            <a:r>
              <a:rPr lang="en-US" dirty="0"/>
              <a:t>***Test</a:t>
            </a:r>
            <a:r>
              <a:rPr lang="en-US" baseline="0" dirty="0"/>
              <a:t> Question***</a:t>
            </a:r>
            <a:endParaRPr lang="en-US" dirty="0"/>
          </a:p>
          <a:p>
            <a:endParaRPr lang="en-US" dirty="0"/>
          </a:p>
          <a:p>
            <a:r>
              <a:rPr lang="en-US" dirty="0"/>
              <a:t>We work from our experiences. How you handled a situation in the past job is likely how you will handle it in this new job. When you are able to explain that you understand the</a:t>
            </a:r>
            <a:r>
              <a:rPr lang="en-US" baseline="0" dirty="0"/>
              <a:t> error in past job performance and ways to correct it, it also shows how you will perform in the new job. Behavior interviewing asks questions to see what the candidate did well in the past job and what the candidate learned from failures in the past job. </a:t>
            </a:r>
          </a:p>
          <a:p>
            <a:endParaRPr lang="en-US" baseline="0" dirty="0"/>
          </a:p>
          <a:p>
            <a:r>
              <a:rPr lang="en-US" baseline="0" dirty="0"/>
              <a:t>Everyone is not comfortable discussing failures, but if a candidate cannot recognize failures, then it will be difficult for them to develop and improve.</a:t>
            </a:r>
          </a:p>
          <a:p>
            <a:endParaRPr lang="en-US" baseline="0" dirty="0"/>
          </a:p>
          <a:p>
            <a:r>
              <a:rPr lang="en-US" baseline="0" dirty="0"/>
              <a:t>In addition to finding someone who can perform the job tasks you want to see if they value your mission, if they will fit into your culture and how they can follow organizational practices, formal and informal.</a:t>
            </a:r>
          </a:p>
          <a:p>
            <a:endParaRPr lang="en-US" baseline="0" dirty="0"/>
          </a:p>
          <a:p>
            <a:r>
              <a:rPr lang="en-US" baseline="0" dirty="0"/>
              <a:t>You will be more successful with behavioral interviewing. It reveals to you more specifics about the person and how they work.</a:t>
            </a:r>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21</a:t>
            </a:fld>
            <a:endParaRPr lang="en-US" dirty="0">
              <a:solidFill>
                <a:prstClr val="black"/>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dirty="0"/>
              <a:t>5 minutes</a:t>
            </a:r>
          </a:p>
          <a:p>
            <a:pPr marL="0" marR="0" indent="0" algn="l" defTabSz="457200" rtl="0" eaLnBrk="1" fontAlgn="auto" latinLnBrk="0" hangingPunct="1">
              <a:lnSpc>
                <a:spcPct val="100000"/>
              </a:lnSpc>
              <a:spcBef>
                <a:spcPts val="0"/>
              </a:spcBef>
              <a:spcAft>
                <a:spcPts val="0"/>
              </a:spcAft>
              <a:buClrTx/>
              <a:buSzTx/>
              <a:buFontTx/>
              <a:buNone/>
              <a:defRPr/>
            </a:pPr>
            <a:r>
              <a:rPr lang="en-US" dirty="0"/>
              <a:t>***Test</a:t>
            </a:r>
            <a:r>
              <a:rPr lang="en-US" baseline="0" dirty="0"/>
              <a:t> Question***</a:t>
            </a:r>
            <a:endParaRPr lang="en-US" dirty="0"/>
          </a:p>
          <a:p>
            <a:r>
              <a:rPr lang="en-US" dirty="0"/>
              <a:t>How does this compare to TOR</a:t>
            </a:r>
            <a:r>
              <a:rPr lang="en-US" baseline="0" dirty="0"/>
              <a:t> template used in district hospitals? See sample </a:t>
            </a:r>
            <a:r>
              <a:rPr lang="en-US" baseline="0" dirty="0" err="1"/>
              <a:t>jd</a:t>
            </a:r>
            <a:r>
              <a:rPr lang="en-US" baseline="0" dirty="0"/>
              <a:t> from students.</a:t>
            </a:r>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22</a:t>
            </a:fld>
            <a:endParaRPr lang="en-US" dirty="0">
              <a:solidFill>
                <a:prstClr val="black"/>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a:t>
            </a:r>
          </a:p>
          <a:p>
            <a:endParaRPr lang="en-US" dirty="0"/>
          </a:p>
          <a:p>
            <a:r>
              <a:rPr lang="en-US" dirty="0"/>
              <a:t>Compensation is important as a basic need. There must be agreement on the salary for candidates</a:t>
            </a:r>
            <a:r>
              <a:rPr lang="en-US" baseline="0" dirty="0"/>
              <a:t> to be attracted to the job position you are recruiting for.</a:t>
            </a:r>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23</a:t>
            </a:fld>
            <a:endParaRPr lang="en-US" dirty="0">
              <a:solidFill>
                <a:prstClr val="black"/>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Joe starts</a:t>
            </a:r>
          </a:p>
          <a:p>
            <a:r>
              <a:rPr lang="en-US" dirty="0"/>
              <a:t>TIME ALLOTED = 59 minutes</a:t>
            </a:r>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24</a:t>
            </a:fld>
            <a:endParaRPr lang="en-US" dirty="0">
              <a:solidFill>
                <a:prstClr val="black"/>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a:t>
            </a:r>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25</a:t>
            </a:fld>
            <a:endParaRPr lang="en-US" dirty="0">
              <a:solidFill>
                <a:prstClr val="black"/>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5 minutes</a:t>
            </a:r>
          </a:p>
          <a:p>
            <a:endParaRPr lang="en-US" baseline="0" dirty="0"/>
          </a:p>
          <a:p>
            <a:r>
              <a:rPr lang="en-US" baseline="0" dirty="0"/>
              <a:t>As a follow up to the role play of a non oriented employee, ask students to tell us the information to be included in orientation. What would have helped the employee to be informed upon her start in the clinic. </a:t>
            </a:r>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26</a:t>
            </a:fld>
            <a:endParaRPr lang="en-US" dirty="0">
              <a:solidFill>
                <a:prstClr val="black"/>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a:t>
            </a:r>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27</a:t>
            </a:fld>
            <a:endParaRPr lang="en-US" dirty="0">
              <a:solidFill>
                <a:prstClr val="black"/>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3 minutes</a:t>
            </a:r>
          </a:p>
          <a:p>
            <a:r>
              <a:rPr lang="en-US" dirty="0"/>
              <a:t>Consider</a:t>
            </a:r>
            <a:r>
              <a:rPr lang="en-US" baseline="0" dirty="0"/>
              <a:t> putting org chart under organizational communications</a:t>
            </a:r>
          </a:p>
          <a:p>
            <a:r>
              <a:rPr lang="en-US" baseline="0" dirty="0"/>
              <a:t>Introduce department level org charts as a communication tool for chain </a:t>
            </a:r>
            <a:r>
              <a:rPr lang="en-US" baseline="0"/>
              <a:t>of command.</a:t>
            </a:r>
            <a:endParaRPr lang="en-US" dirty="0"/>
          </a:p>
        </p:txBody>
      </p:sp>
      <p:sp>
        <p:nvSpPr>
          <p:cNvPr id="4" name="Slide Number Placeholder 3"/>
          <p:cNvSpPr>
            <a:spLocks noGrp="1"/>
          </p:cNvSpPr>
          <p:nvPr>
            <p:ph type="sldNum" sz="quarter" idx="10"/>
          </p:nvPr>
        </p:nvSpPr>
        <p:spPr/>
        <p:txBody>
          <a:bodyPr/>
          <a:lstStyle/>
          <a:p>
            <a:fld id="{D62BC6C3-55AD-4B50-9CFD-4451FA625041}" type="slidenum">
              <a:rPr lang="en-US" smtClean="0">
                <a:solidFill>
                  <a:prstClr val="black"/>
                </a:solidFill>
              </a:rPr>
              <a:t>28</a:t>
            </a:fld>
            <a:endParaRPr lang="en-US" dirty="0">
              <a:solidFill>
                <a:prstClr val="black"/>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3 minutes</a:t>
            </a:r>
          </a:p>
        </p:txBody>
      </p:sp>
      <p:sp>
        <p:nvSpPr>
          <p:cNvPr id="4" name="Slide Number Placeholder 3"/>
          <p:cNvSpPr>
            <a:spLocks noGrp="1"/>
          </p:cNvSpPr>
          <p:nvPr>
            <p:ph type="sldNum" sz="quarter" idx="10"/>
          </p:nvPr>
        </p:nvSpPr>
        <p:spPr/>
        <p:txBody>
          <a:bodyPr/>
          <a:lstStyle/>
          <a:p>
            <a:fld id="{D62BC6C3-55AD-4B50-9CFD-4451FA625041}" type="slidenum">
              <a:rPr lang="en-US" smtClean="0">
                <a:solidFill>
                  <a:prstClr val="black"/>
                </a:solidFill>
              </a:rPr>
              <a:t>29</a:t>
            </a:fld>
            <a:endParaRPr lang="en-US" dirty="0">
              <a:solidFill>
                <a:prstClr val="black"/>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tx1"/>
                </a:solidFill>
              </a:rPr>
              <a:t>Joe</a:t>
            </a:r>
          </a:p>
          <a:p>
            <a:r>
              <a:rPr lang="en-US" dirty="0">
                <a:solidFill>
                  <a:schemeClr val="tx1"/>
                </a:solidFill>
              </a:rPr>
              <a:t>TIME ALOTTED</a:t>
            </a:r>
            <a:r>
              <a:rPr lang="en-US" baseline="0" dirty="0">
                <a:solidFill>
                  <a:schemeClr val="tx1"/>
                </a:solidFill>
              </a:rPr>
              <a:t> 55 MINUTES</a:t>
            </a:r>
            <a:endParaRPr lang="en-US" dirty="0">
              <a:solidFill>
                <a:schemeClr val="tx1"/>
              </a:solidFill>
            </a:endParaRPr>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30</a:t>
            </a:fld>
            <a:endParaRPr lang="en-US" dirty="0">
              <a:solidFill>
                <a:prstClr val="black"/>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a:t>
            </a:r>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31</a:t>
            </a:fld>
            <a:endParaRPr lang="en-US" dirty="0">
              <a:solidFill>
                <a:prstClr val="black"/>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a:t>
            </a:r>
          </a:p>
          <a:p>
            <a:r>
              <a:rPr lang="en-US" dirty="0"/>
              <a:t>Define and give example of types of training. Those listed can be changed.</a:t>
            </a:r>
          </a:p>
          <a:p>
            <a:endParaRPr lang="en-US" dirty="0"/>
          </a:p>
          <a:p>
            <a:r>
              <a:rPr lang="en-US" dirty="0"/>
              <a:t>Informal training, Ex. How to complete a requisition form, how to review consumption forms</a:t>
            </a:r>
          </a:p>
          <a:p>
            <a:endParaRPr lang="en-US" dirty="0"/>
          </a:p>
          <a:p>
            <a:r>
              <a:rPr lang="en-US" dirty="0"/>
              <a:t>In-service training</a:t>
            </a:r>
            <a:r>
              <a:rPr lang="en-US" baseline="0" dirty="0"/>
              <a:t>, Ex.</a:t>
            </a:r>
          </a:p>
          <a:p>
            <a:r>
              <a:rPr lang="en-US" sz="1200" b="0" i="0" kern="1200" dirty="0">
                <a:solidFill>
                  <a:schemeClr val="tx1"/>
                </a:solidFill>
                <a:effectLst/>
                <a:latin typeface="+mn-lt"/>
                <a:ea typeface="+mn-ea"/>
                <a:cs typeface="+mn-cs"/>
              </a:rPr>
              <a:t>Training given to employees in connection with their work to help them develop skills</a:t>
            </a:r>
            <a:endParaRPr lang="en-US" baseline="0" dirty="0"/>
          </a:p>
          <a:p>
            <a:endParaRPr lang="en-US" baseline="0" dirty="0"/>
          </a:p>
          <a:p>
            <a:r>
              <a:rPr lang="en-US" baseline="0" dirty="0"/>
              <a:t>Continuing education, Ex.</a:t>
            </a:r>
          </a:p>
          <a:p>
            <a:r>
              <a:rPr lang="en-US" baseline="0" dirty="0"/>
              <a:t>Continuing education keeps you up to date on the knowledge in your profession</a:t>
            </a:r>
          </a:p>
          <a:p>
            <a:endParaRPr lang="en-US" baseline="0" dirty="0"/>
          </a:p>
          <a:p>
            <a:r>
              <a:rPr lang="en-US" baseline="0" dirty="0"/>
              <a:t>Professional development, Ex.</a:t>
            </a:r>
          </a:p>
          <a:p>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32</a:t>
            </a:fld>
            <a:endParaRPr lang="en-US" dirty="0">
              <a:solidFill>
                <a:prstClr val="black"/>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a:t>
            </a:r>
          </a:p>
          <a:p>
            <a:endParaRPr lang="en-US" dirty="0"/>
          </a:p>
          <a:p>
            <a:r>
              <a:rPr lang="en-US" dirty="0"/>
              <a:t>Informal training, Ex. How to complete a requisition form, how to review consumption forms</a:t>
            </a:r>
          </a:p>
          <a:p>
            <a:endParaRPr lang="en-US" dirty="0"/>
          </a:p>
          <a:p>
            <a:r>
              <a:rPr lang="en-US" dirty="0"/>
              <a:t>In-service training</a:t>
            </a:r>
            <a:r>
              <a:rPr lang="en-US" baseline="0" dirty="0"/>
              <a:t>, Ex.</a:t>
            </a:r>
          </a:p>
          <a:p>
            <a:r>
              <a:rPr lang="en-US" sz="1200" b="0" i="0" kern="1200" dirty="0">
                <a:solidFill>
                  <a:schemeClr val="tx1"/>
                </a:solidFill>
                <a:effectLst/>
                <a:latin typeface="+mn-lt"/>
                <a:ea typeface="+mn-ea"/>
                <a:cs typeface="+mn-cs"/>
              </a:rPr>
              <a:t>Training given to employees in connection with their work to help them develop skills</a:t>
            </a:r>
            <a:endParaRPr lang="en-US" baseline="0" dirty="0"/>
          </a:p>
          <a:p>
            <a:endParaRPr lang="en-US" baseline="0" dirty="0"/>
          </a:p>
          <a:p>
            <a:r>
              <a:rPr lang="en-US" baseline="0" dirty="0"/>
              <a:t>Continuing education, Ex.</a:t>
            </a:r>
          </a:p>
          <a:p>
            <a:r>
              <a:rPr lang="en-US" baseline="0" dirty="0"/>
              <a:t>Continuing education keeps you up to date on the knowledge in your profession</a:t>
            </a:r>
          </a:p>
          <a:p>
            <a:endParaRPr lang="en-US" baseline="0" dirty="0"/>
          </a:p>
          <a:p>
            <a:r>
              <a:rPr lang="en-US" baseline="0" dirty="0"/>
              <a:t>Professional development, Ex.</a:t>
            </a:r>
          </a:p>
          <a:p>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33</a:t>
            </a:fld>
            <a:endParaRPr lang="en-US" dirty="0">
              <a:solidFill>
                <a:prstClr val="black"/>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a:t>
            </a:r>
          </a:p>
          <a:p>
            <a:r>
              <a:rPr lang="en-US" dirty="0"/>
              <a:t>Make active. Maybe make it a matching game with update examples that are very clear</a:t>
            </a:r>
            <a:r>
              <a:rPr lang="en-US" baseline="0" dirty="0"/>
              <a:t> and specific.</a:t>
            </a:r>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34</a:t>
            </a:fld>
            <a:endParaRPr lang="en-US" dirty="0">
              <a:solidFill>
                <a:prstClr val="black"/>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anose="020B0604020202020204" pitchFamily="34" charset="0"/>
              <a:buNone/>
            </a:pPr>
            <a:r>
              <a:rPr lang="en-US" sz="1100" dirty="0"/>
              <a:t>5 minutes</a:t>
            </a:r>
          </a:p>
          <a:p>
            <a:pPr>
              <a:buFont typeface="Arial" panose="020B0604020202020204" pitchFamily="34" charset="0"/>
              <a:buNone/>
            </a:pPr>
            <a:endParaRPr lang="en-US" sz="1100" dirty="0"/>
          </a:p>
          <a:p>
            <a:pPr>
              <a:buFont typeface="Arial" panose="020B0604020202020204" pitchFamily="34" charset="0"/>
              <a:buNone/>
            </a:pPr>
            <a:r>
              <a:rPr lang="en-US" sz="1100" dirty="0"/>
              <a:t>Emphasize that organizations can learn as a whole, especially when it comes to identifying best practices.</a:t>
            </a:r>
          </a:p>
          <a:p>
            <a:endParaRPr lang="en-US" sz="1100" dirty="0"/>
          </a:p>
          <a:p>
            <a:r>
              <a:rPr lang="en-US" sz="1100" dirty="0"/>
              <a:t>Insert</a:t>
            </a:r>
            <a:r>
              <a:rPr lang="en-US" sz="1100" baseline="0" dirty="0"/>
              <a:t> s</a:t>
            </a:r>
            <a:r>
              <a:rPr lang="en-US" sz="1100" dirty="0"/>
              <a:t>kit above:</a:t>
            </a:r>
          </a:p>
          <a:p>
            <a:endParaRPr lang="en-US" sz="1100" dirty="0"/>
          </a:p>
          <a:p>
            <a:r>
              <a:rPr lang="en-US" sz="1100" dirty="0"/>
              <a:t>Scenario : During</a:t>
            </a:r>
            <a:r>
              <a:rPr lang="en-US" sz="1100" baseline="0" dirty="0"/>
              <a:t> rounds, an instructor and a few students</a:t>
            </a:r>
          </a:p>
          <a:p>
            <a:endParaRPr lang="en-US" sz="1100" baseline="0" dirty="0"/>
          </a:p>
          <a:p>
            <a:r>
              <a:rPr lang="en-US" sz="1100" baseline="0" dirty="0"/>
              <a:t>Instructor asks a question, One student answers, Instructor says: That’s stupid, it’s not the way we do things</a:t>
            </a:r>
          </a:p>
          <a:p>
            <a:endParaRPr lang="en-US" sz="1100" baseline="0" dirty="0"/>
          </a:p>
          <a:p>
            <a:r>
              <a:rPr lang="en-US" sz="1100" baseline="0" dirty="0"/>
              <a:t>Then ask the class about what were wrong </a:t>
            </a:r>
          </a:p>
          <a:p>
            <a:endParaRPr lang="en-US" sz="1100" dirty="0"/>
          </a:p>
        </p:txBody>
      </p:sp>
      <p:sp>
        <p:nvSpPr>
          <p:cNvPr id="4" name="Slide Number Placeholder 3"/>
          <p:cNvSpPr>
            <a:spLocks noGrp="1"/>
          </p:cNvSpPr>
          <p:nvPr>
            <p:ph type="sldNum" sz="quarter" idx="10"/>
          </p:nvPr>
        </p:nvSpPr>
        <p:spPr/>
        <p:txBody>
          <a:bodyPr/>
          <a:lstStyle/>
          <a:p>
            <a:fld id="{32B52AA0-DAFB-4A21-99A1-5F8EB82ACD77}" type="slidenum">
              <a:rPr lang="en-US" smtClean="0">
                <a:solidFill>
                  <a:prstClr val="black"/>
                </a:solidFill>
              </a:rPr>
              <a:t>35</a:t>
            </a:fld>
            <a:endParaRPr lang="en-US" dirty="0">
              <a:solidFill>
                <a:prstClr val="black"/>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dirty="0"/>
              <a:t>JDA start</a:t>
            </a:r>
          </a:p>
          <a:p>
            <a:pPr marL="0" marR="0" indent="0" algn="l" defTabSz="457200" rtl="0" eaLnBrk="1" fontAlgn="auto" latinLnBrk="0" hangingPunct="1">
              <a:lnSpc>
                <a:spcPct val="100000"/>
              </a:lnSpc>
              <a:spcBef>
                <a:spcPts val="0"/>
              </a:spcBef>
              <a:spcAft>
                <a:spcPts val="0"/>
              </a:spcAft>
              <a:buClrTx/>
              <a:buSzTx/>
              <a:buFontTx/>
              <a:buNone/>
              <a:defRPr/>
            </a:pPr>
            <a:r>
              <a:rPr lang="en-US" dirty="0"/>
              <a:t>TIME ALLOTED</a:t>
            </a:r>
            <a:r>
              <a:rPr lang="en-US" baseline="0" dirty="0"/>
              <a:t> </a:t>
            </a:r>
            <a:r>
              <a:rPr lang="en-US" dirty="0"/>
              <a:t> 75 MINUTES</a:t>
            </a:r>
          </a:p>
          <a:p>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36</a:t>
            </a:fld>
            <a:endParaRPr lang="en-US" dirty="0">
              <a:solidFill>
                <a:prstClr val="black"/>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 has an important role in every organization. It is a place where any employee should be able to go to for guidance and assistance when facing a problem or conflict in the workplace.</a:t>
            </a:r>
            <a:endParaRPr lang="en-US" baseline="0" dirty="0"/>
          </a:p>
          <a:p>
            <a:r>
              <a:rPr lang="en-US" baseline="0" dirty="0"/>
              <a:t>Although there are many roles for the Employee Relations office, we will highlight the role ER plays in helping to resolve conflict within the organization. </a:t>
            </a:r>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37</a:t>
            </a:fld>
            <a:endParaRPr lang="en-US" dirty="0">
              <a:solidFill>
                <a:prstClr val="black"/>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a:t>
            </a:r>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38</a:t>
            </a:fld>
            <a:endParaRPr lang="en-US" dirty="0">
              <a:solidFill>
                <a:prstClr val="black"/>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10 minute (3</a:t>
            </a:r>
            <a:r>
              <a:rPr lang="en-US" sz="1200" kern="1200" baseline="0" dirty="0">
                <a:solidFill>
                  <a:schemeClr val="tx1"/>
                </a:solidFill>
                <a:effectLst/>
                <a:latin typeface="+mn-lt"/>
                <a:ea typeface="+mn-ea"/>
                <a:cs typeface="+mn-cs"/>
              </a:rPr>
              <a:t> minute skit, 5 minutes to finalize notes)</a:t>
            </a:r>
            <a:endParaRPr lang="en-US" sz="1200" kern="1200" dirty="0">
              <a:solidFill>
                <a:schemeClr val="tx1"/>
              </a:solidFill>
              <a:effectLst/>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April, Joe</a:t>
            </a:r>
            <a:r>
              <a:rPr lang="en-US" sz="1200" kern="1200" baseline="0" dirty="0">
                <a:solidFill>
                  <a:schemeClr val="tx1"/>
                </a:solidFill>
                <a:effectLst/>
                <a:latin typeface="+mn-lt"/>
                <a:ea typeface="+mn-ea"/>
                <a:cs typeface="+mn-cs"/>
              </a:rPr>
              <a:t> and Kidest</a:t>
            </a:r>
          </a:p>
          <a:p>
            <a:pPr marL="0" marR="0" indent="0" algn="l" defTabSz="457200" rtl="0" eaLnBrk="1" fontAlgn="auto" latinLnBrk="0" hangingPunct="1">
              <a:lnSpc>
                <a:spcPct val="100000"/>
              </a:lnSpc>
              <a:spcBef>
                <a:spcPts val="0"/>
              </a:spcBef>
              <a:spcAft>
                <a:spcPts val="0"/>
              </a:spcAft>
              <a:buClrTx/>
              <a:buSzTx/>
              <a:buFontTx/>
              <a:buNone/>
              <a:defRPr/>
            </a:pPr>
            <a:endParaRPr lang="en-US" sz="1200" kern="1200" dirty="0">
              <a:solidFill>
                <a:schemeClr val="tx1"/>
              </a:solidFill>
              <a:effectLst/>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a:t>
            </a:r>
            <a:r>
              <a:rPr lang="en-US" sz="1200" b="1" kern="1200" dirty="0">
                <a:solidFill>
                  <a:schemeClr val="tx1"/>
                </a:solidFill>
                <a:effectLst/>
                <a:latin typeface="+mn-lt"/>
                <a:ea typeface="+mn-ea"/>
                <a:cs typeface="+mn-cs"/>
              </a:rPr>
              <a:t>Conflict</a:t>
            </a:r>
            <a:r>
              <a:rPr lang="en-US" sz="1200" kern="1200" dirty="0">
                <a:solidFill>
                  <a:schemeClr val="tx1"/>
                </a:solidFill>
                <a:effectLst/>
                <a:latin typeface="+mn-lt"/>
                <a:ea typeface="+mn-ea"/>
                <a:cs typeface="+mn-cs"/>
              </a:rPr>
              <a:t> is a form of interaction among parties that differ in interest, perceptions and preferences.” </a:t>
            </a:r>
            <a:r>
              <a:rPr lang="en-US" sz="1200" i="1"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Osland</a:t>
            </a:r>
            <a:r>
              <a:rPr lang="en-US" sz="1200" i="1" kern="1200" dirty="0">
                <a:solidFill>
                  <a:schemeClr val="tx1"/>
                </a:solidFill>
                <a:effectLst/>
                <a:latin typeface="+mn-lt"/>
                <a:ea typeface="+mn-ea"/>
                <a:cs typeface="+mn-cs"/>
              </a:rPr>
              <a:t>, J.S., Kolb, D. A.,  &amp; Rubin, I. M., 2001)</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39</a:t>
            </a:fld>
            <a:endParaRPr lang="en-US" dirty="0">
              <a:solidFill>
                <a:prstClr val="black"/>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a:t>
            </a:r>
          </a:p>
          <a:p>
            <a:r>
              <a:rPr lang="en-US" dirty="0"/>
              <a:t>Definition source: http://www.utdallas.edu/hr/er/conflict/</a:t>
            </a:r>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40</a:t>
            </a:fld>
            <a:endParaRPr lang="en-US" dirty="0">
              <a:solidFill>
                <a:prstClr val="black"/>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sz="1200" dirty="0">
                <a:solidFill>
                  <a:srgbClr val="FF0000"/>
                </a:solidFill>
              </a:rPr>
              <a:t>***Test</a:t>
            </a:r>
            <a:r>
              <a:rPr lang="en-US" sz="1200" baseline="0" dirty="0">
                <a:solidFill>
                  <a:srgbClr val="FF0000"/>
                </a:solidFill>
              </a:rPr>
              <a:t> Question***</a:t>
            </a:r>
            <a:endParaRPr lang="en-US" sz="1200" i="1" dirty="0"/>
          </a:p>
          <a:p>
            <a:pPr marL="0" marR="0" indent="0" algn="l" defTabSz="457200" rtl="0" eaLnBrk="1" fontAlgn="auto" latinLnBrk="0" hangingPunct="1">
              <a:lnSpc>
                <a:spcPct val="100000"/>
              </a:lnSpc>
              <a:spcBef>
                <a:spcPts val="0"/>
              </a:spcBef>
              <a:spcAft>
                <a:spcPts val="0"/>
              </a:spcAft>
              <a:buClrTx/>
              <a:buSzTx/>
              <a:buFontTx/>
              <a:buNone/>
              <a:defRPr/>
            </a:pPr>
            <a:r>
              <a:rPr lang="en-US" sz="1200" i="0" dirty="0"/>
              <a:t>10</a:t>
            </a:r>
            <a:r>
              <a:rPr lang="en-US" sz="1200" i="0" baseline="0" dirty="0"/>
              <a:t> minutes</a:t>
            </a:r>
            <a:endParaRPr lang="en-US" sz="1200" i="0" dirty="0"/>
          </a:p>
          <a:p>
            <a:pPr marL="0" marR="0" indent="0" algn="l" defTabSz="457200" rtl="0" eaLnBrk="1" fontAlgn="auto" latinLnBrk="0" hangingPunct="1">
              <a:lnSpc>
                <a:spcPct val="100000"/>
              </a:lnSpc>
              <a:spcBef>
                <a:spcPts val="0"/>
              </a:spcBef>
              <a:spcAft>
                <a:spcPts val="0"/>
              </a:spcAft>
              <a:buClrTx/>
              <a:buSzTx/>
              <a:buFontTx/>
              <a:buNone/>
              <a:defRPr/>
            </a:pPr>
            <a:endParaRPr lang="en-US" sz="1200" i="1" dirty="0"/>
          </a:p>
          <a:p>
            <a:pPr marL="0" marR="0" indent="0" algn="l" defTabSz="457200" rtl="0" eaLnBrk="1" fontAlgn="auto" latinLnBrk="0" hangingPunct="1">
              <a:lnSpc>
                <a:spcPct val="100000"/>
              </a:lnSpc>
              <a:spcBef>
                <a:spcPts val="0"/>
              </a:spcBef>
              <a:spcAft>
                <a:spcPts val="0"/>
              </a:spcAft>
              <a:buClrTx/>
              <a:buSzTx/>
              <a:buFontTx/>
              <a:buNone/>
              <a:defRPr/>
            </a:pPr>
            <a:r>
              <a:rPr lang="en-US" sz="1200" i="1" dirty="0"/>
              <a:t>Source: </a:t>
            </a:r>
            <a:r>
              <a:rPr lang="ja-JP" altLang="en-US" sz="1200" i="1" dirty="0"/>
              <a:t>“</a:t>
            </a:r>
            <a:r>
              <a:rPr lang="en-US" sz="1200" i="1" dirty="0"/>
              <a:t>Conflict Resolution Skills for HR Professionals</a:t>
            </a:r>
            <a:r>
              <a:rPr lang="ja-JP" altLang="en-US" sz="1200" i="1" dirty="0"/>
              <a:t>”</a:t>
            </a:r>
            <a:r>
              <a:rPr lang="en-US" sz="1200" i="1" dirty="0"/>
              <a:t> by Marla Bradley</a:t>
            </a:r>
          </a:p>
          <a:p>
            <a:pPr marL="0" marR="0" indent="0" algn="l" defTabSz="457200" rtl="0" eaLnBrk="1" fontAlgn="auto" latinLnBrk="0" hangingPunct="1">
              <a:lnSpc>
                <a:spcPct val="100000"/>
              </a:lnSpc>
              <a:spcBef>
                <a:spcPts val="0"/>
              </a:spcBef>
              <a:spcAft>
                <a:spcPts val="0"/>
              </a:spcAft>
              <a:buClrTx/>
              <a:buSzTx/>
              <a:buFontTx/>
              <a:buNone/>
              <a:defRPr/>
            </a:pPr>
            <a:r>
              <a:rPr lang="en-US" sz="1200" i="0" dirty="0"/>
              <a:t>Ensure this</a:t>
            </a:r>
            <a:r>
              <a:rPr lang="en-US" sz="1200" i="0" baseline="0" dirty="0"/>
              <a:t> info matches the observation sheet and is included in the handbook</a:t>
            </a:r>
            <a:endParaRPr lang="en-US" sz="1200" i="0"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42</a:t>
            </a:fld>
            <a:endParaRPr lang="en-US" dirty="0">
              <a:solidFill>
                <a:prstClr val="black"/>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48</a:t>
            </a:fld>
            <a:endParaRPr lang="en-US" dirty="0">
              <a:solidFill>
                <a:prstClr val="black"/>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53</a:t>
            </a:fld>
            <a:endParaRPr lang="en-US" dirty="0">
              <a:solidFill>
                <a:prstClr val="black"/>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minutes (Day 2 AM)– Expectation and EE Motivation</a:t>
            </a:r>
          </a:p>
          <a:p>
            <a:r>
              <a:rPr lang="en-US" dirty="0"/>
              <a:t> (Day 2 PM)- Feedback</a:t>
            </a:r>
          </a:p>
          <a:p>
            <a:r>
              <a:rPr lang="en-US" dirty="0"/>
              <a:t> (Day 3 AM)- Org </a:t>
            </a:r>
            <a:r>
              <a:rPr lang="en-US" dirty="0" err="1"/>
              <a:t>Comm</a:t>
            </a:r>
            <a:r>
              <a:rPr lang="en-US" dirty="0"/>
              <a:t> / Evaluation /</a:t>
            </a:r>
            <a:r>
              <a:rPr lang="en-US" baseline="0" dirty="0"/>
              <a:t> PIP</a:t>
            </a:r>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59</a:t>
            </a:fld>
            <a:endParaRPr lang="en-US" dirty="0">
              <a:solidFill>
                <a:prstClr val="black"/>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60</a:t>
            </a:fld>
            <a:endParaRPr lang="en-US" dirty="0">
              <a:solidFill>
                <a:prstClr val="black"/>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a:t>
            </a:r>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61</a:t>
            </a:fld>
            <a:endParaRPr lang="en-US" dirty="0">
              <a:solidFill>
                <a:prstClr val="black"/>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a:t>
            </a:r>
          </a:p>
          <a:p>
            <a:endParaRPr lang="en-US" dirty="0"/>
          </a:p>
          <a:p>
            <a:r>
              <a:rPr lang="en-US" dirty="0"/>
              <a:t>Create a short skit of an</a:t>
            </a:r>
            <a:r>
              <a:rPr lang="en-US" baseline="0" dirty="0"/>
              <a:t> administrative assistant that did not have expectations set.</a:t>
            </a:r>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62</a:t>
            </a:fld>
            <a:endParaRPr lang="en-US" dirty="0">
              <a:solidFill>
                <a:prstClr val="black"/>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a:buNone/>
            </a:pPr>
            <a:r>
              <a:rPr lang="en-US" sz="1200" dirty="0">
                <a:solidFill>
                  <a:srgbClr val="FF0000"/>
                </a:solidFill>
              </a:rPr>
              <a:t>5 minutes</a:t>
            </a:r>
          </a:p>
          <a:p>
            <a:pPr marL="0" indent="0">
              <a:buFont typeface="Arial" panose="020B0604020202020204"/>
              <a:buNone/>
            </a:pPr>
            <a:r>
              <a:rPr lang="en-US" sz="1200" dirty="0">
                <a:solidFill>
                  <a:srgbClr val="FF0000"/>
                </a:solidFill>
              </a:rPr>
              <a:t>***Test</a:t>
            </a:r>
            <a:r>
              <a:rPr lang="en-US" sz="1200" baseline="0" dirty="0">
                <a:solidFill>
                  <a:srgbClr val="FF0000"/>
                </a:solidFill>
              </a:rPr>
              <a:t> Question***</a:t>
            </a:r>
          </a:p>
          <a:p>
            <a:pPr marL="0" indent="0">
              <a:buFont typeface="Arial" panose="020B0604020202020204"/>
              <a:buNone/>
            </a:pPr>
            <a:endParaRPr lang="en-US" sz="1200" b="1" dirty="0"/>
          </a:p>
          <a:p>
            <a:pPr marL="0" indent="0">
              <a:buFont typeface="Arial" panose="020B0604020202020204"/>
              <a:buNone/>
            </a:pPr>
            <a:r>
              <a:rPr lang="en-US" sz="1200" b="1" dirty="0"/>
              <a:t>Provide a job description </a:t>
            </a:r>
            <a:r>
              <a:rPr lang="en-US" sz="1200" b="0" dirty="0"/>
              <a:t>that is includes</a:t>
            </a:r>
            <a:r>
              <a:rPr lang="en-US" sz="1200" b="0" baseline="0" dirty="0"/>
              <a:t> all important components and is detailed. Explain that job description is about 50-75% of duties and other work will be assigned as needed. Therefore, employee must be flexible.</a:t>
            </a:r>
            <a:br>
              <a:rPr lang="en-US" sz="1200" dirty="0"/>
            </a:br>
            <a:endParaRPr lang="en-US" sz="1200" dirty="0"/>
          </a:p>
          <a:p>
            <a:pPr marL="0" indent="0">
              <a:buFont typeface="Arial" panose="020B0604020202020204"/>
              <a:buNone/>
            </a:pPr>
            <a:r>
              <a:rPr lang="en-US" sz="1200" b="1" dirty="0"/>
              <a:t>Give</a:t>
            </a:r>
            <a:r>
              <a:rPr lang="en-US" sz="1200" b="1" baseline="0" dirty="0"/>
              <a:t> a</a:t>
            </a:r>
            <a:r>
              <a:rPr lang="en-US" sz="1200" b="1" dirty="0"/>
              <a:t>ssignments </a:t>
            </a:r>
            <a:r>
              <a:rPr lang="en-US" sz="1200" b="0" dirty="0"/>
              <a:t> will clear direction to</a:t>
            </a:r>
            <a:r>
              <a:rPr lang="en-US" sz="1200" b="0" baseline="0" dirty="0"/>
              <a:t> inform them of the goal</a:t>
            </a:r>
            <a:br>
              <a:rPr lang="en-US" sz="1200" dirty="0"/>
            </a:br>
            <a:endParaRPr lang="en-US" sz="1200" dirty="0"/>
          </a:p>
          <a:p>
            <a:pPr marL="0" indent="0">
              <a:buFont typeface="Arial" panose="020B0604020202020204"/>
              <a:buNone/>
            </a:pPr>
            <a:r>
              <a:rPr lang="en-US" sz="1200" b="1" dirty="0"/>
              <a:t>Set</a:t>
            </a:r>
            <a:r>
              <a:rPr lang="en-US" sz="1200" b="1" baseline="0" dirty="0"/>
              <a:t> d</a:t>
            </a:r>
            <a:r>
              <a:rPr lang="en-US" sz="1200" b="1" dirty="0"/>
              <a:t>eadlines </a:t>
            </a:r>
            <a:r>
              <a:rPr lang="en-US" sz="1200" b="0" dirty="0"/>
              <a:t> to help</a:t>
            </a:r>
            <a:r>
              <a:rPr lang="en-US" sz="1200" b="0" baseline="0" dirty="0"/>
              <a:t> the employee to know</a:t>
            </a:r>
            <a:r>
              <a:rPr lang="en-US" sz="1200" b="0" dirty="0"/>
              <a:t> the priority of the work</a:t>
            </a:r>
            <a:br>
              <a:rPr lang="en-US" sz="1200" dirty="0"/>
            </a:br>
            <a:endParaRPr lang="en-US" sz="1200" dirty="0"/>
          </a:p>
          <a:p>
            <a:pPr marL="0" indent="0">
              <a:buFont typeface="Arial" panose="020B0604020202020204"/>
              <a:buNone/>
            </a:pPr>
            <a:r>
              <a:rPr lang="en-US" sz="1200" b="1" dirty="0"/>
              <a:t>Daily communication/direction.</a:t>
            </a:r>
            <a:r>
              <a:rPr lang="en-US" sz="1200" b="1" baseline="0" dirty="0"/>
              <a:t> </a:t>
            </a:r>
            <a:r>
              <a:rPr lang="en-US" sz="1200" b="0" baseline="0" dirty="0"/>
              <a:t>M</a:t>
            </a:r>
            <a:r>
              <a:rPr lang="en-US" sz="1200" b="0" dirty="0"/>
              <a:t>ake time to help</a:t>
            </a:r>
            <a:r>
              <a:rPr lang="en-US" sz="1200" b="0" baseline="0" dirty="0"/>
              <a:t> the employee understand the outcome your organization desires. You can do this in large group meetings. You should also communicate one on one. Always allow time for the employee to ask questions and give feedback.</a:t>
            </a:r>
            <a:endParaRPr lang="en-US" sz="1200" b="1" i="1" dirty="0"/>
          </a:p>
          <a:p>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64</a:t>
            </a:fld>
            <a:endParaRPr lang="en-US" dirty="0">
              <a:solidFill>
                <a:prstClr val="black"/>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JDA start</a:t>
            </a:r>
          </a:p>
          <a:p>
            <a:pPr marL="228600" indent="-228600">
              <a:buAutoNum type="arabicPlain" startAt="3"/>
            </a:pPr>
            <a:r>
              <a:rPr lang="en-US" dirty="0"/>
              <a:t>Minutes</a:t>
            </a:r>
          </a:p>
          <a:p>
            <a:pPr marL="0" indent="0">
              <a:buNone/>
            </a:pPr>
            <a:endParaRPr lang="en-US" dirty="0"/>
          </a:p>
          <a:p>
            <a:pPr marL="0" indent="0">
              <a:buNone/>
            </a:pPr>
            <a:r>
              <a:rPr lang="en-US" dirty="0"/>
              <a:t>Do we want to present EE as a state of being or an</a:t>
            </a:r>
            <a:r>
              <a:rPr lang="en-US" baseline="0" dirty="0"/>
              <a:t> effort of the employer?</a:t>
            </a:r>
            <a:endParaRPr lang="en-US" dirty="0"/>
          </a:p>
          <a:p>
            <a:pPr marL="0" indent="0">
              <a:buNone/>
            </a:pPr>
            <a:r>
              <a:rPr lang="en-US" dirty="0"/>
              <a:t>Student asked if employee engagement and employee commitment is the same. </a:t>
            </a:r>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65</a:t>
            </a:fld>
            <a:endParaRPr lang="en-US" dirty="0">
              <a:solidFill>
                <a:prstClr val="black"/>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rgbClr val="FF0000"/>
                </a:solidFill>
              </a:rPr>
              <a:t>5 minutes</a:t>
            </a:r>
          </a:p>
          <a:p>
            <a:r>
              <a:rPr lang="en-US" sz="1200" dirty="0">
                <a:solidFill>
                  <a:srgbClr val="FF0000"/>
                </a:solidFill>
              </a:rPr>
              <a:t>***Test</a:t>
            </a:r>
            <a:r>
              <a:rPr lang="en-US" sz="1200" baseline="0" dirty="0">
                <a:solidFill>
                  <a:srgbClr val="FF0000"/>
                </a:solidFill>
              </a:rPr>
              <a:t> Question***</a:t>
            </a:r>
            <a:endParaRPr lang="en-US" sz="1200"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67</a:t>
            </a:fld>
            <a:endParaRPr lang="en-US" dirty="0">
              <a:solidFill>
                <a:prstClr val="black"/>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sz="1200" dirty="0"/>
              <a:t>3 minutes</a:t>
            </a:r>
          </a:p>
          <a:p>
            <a:pPr marL="0" marR="0" indent="0" algn="l" defTabSz="457200" rtl="0" eaLnBrk="1" fontAlgn="auto" latinLnBrk="0" hangingPunct="1">
              <a:lnSpc>
                <a:spcPct val="100000"/>
              </a:lnSpc>
              <a:spcBef>
                <a:spcPts val="0"/>
              </a:spcBef>
              <a:spcAft>
                <a:spcPts val="0"/>
              </a:spcAft>
              <a:buClrTx/>
              <a:buSzTx/>
              <a:buFontTx/>
              <a:buNone/>
              <a:defRPr/>
            </a:pPr>
            <a:endParaRPr lang="en-US" sz="1200" dirty="0"/>
          </a:p>
          <a:p>
            <a:pPr marL="0" marR="0" indent="0" algn="l" defTabSz="457200" rtl="0" eaLnBrk="1" fontAlgn="auto" latinLnBrk="0" hangingPunct="1">
              <a:lnSpc>
                <a:spcPct val="100000"/>
              </a:lnSpc>
              <a:spcBef>
                <a:spcPts val="0"/>
              </a:spcBef>
              <a:spcAft>
                <a:spcPts val="0"/>
              </a:spcAft>
              <a:buClrTx/>
              <a:buSzTx/>
              <a:buFontTx/>
              <a:buNone/>
              <a:defRPr/>
            </a:pPr>
            <a:r>
              <a:rPr lang="en-US" sz="1200" dirty="0"/>
              <a:t>What motivates you to eat?</a:t>
            </a:r>
          </a:p>
          <a:p>
            <a:pPr marL="0" marR="0" indent="0" algn="l" defTabSz="457200" rtl="0" eaLnBrk="1" fontAlgn="auto" latinLnBrk="0" hangingPunct="1">
              <a:lnSpc>
                <a:spcPct val="100000"/>
              </a:lnSpc>
              <a:spcBef>
                <a:spcPts val="0"/>
              </a:spcBef>
              <a:spcAft>
                <a:spcPts val="0"/>
              </a:spcAft>
              <a:buClrTx/>
              <a:buSzTx/>
              <a:buFontTx/>
              <a:buNone/>
              <a:defRPr/>
            </a:pPr>
            <a:r>
              <a:rPr lang="en-US" sz="1200" dirty="0"/>
              <a:t>What motivates you to learn (go to study)?</a:t>
            </a:r>
          </a:p>
          <a:p>
            <a:pPr marL="0" marR="0" indent="0" algn="l" defTabSz="457200" rtl="0" eaLnBrk="1" fontAlgn="auto" latinLnBrk="0" hangingPunct="1">
              <a:lnSpc>
                <a:spcPct val="100000"/>
              </a:lnSpc>
              <a:spcBef>
                <a:spcPts val="0"/>
              </a:spcBef>
              <a:spcAft>
                <a:spcPts val="0"/>
              </a:spcAft>
              <a:buClrTx/>
              <a:buSzTx/>
              <a:buFontTx/>
              <a:buNone/>
              <a:defRPr/>
            </a:pPr>
            <a:r>
              <a:rPr lang="en-US" sz="1200" dirty="0"/>
              <a:t>What motivates you work?</a:t>
            </a:r>
          </a:p>
          <a:p>
            <a:pPr marL="0" marR="0" indent="0" algn="l" defTabSz="457200" rtl="0" eaLnBrk="1" fontAlgn="auto" latinLnBrk="0" hangingPunct="1">
              <a:lnSpc>
                <a:spcPct val="100000"/>
              </a:lnSpc>
              <a:spcBef>
                <a:spcPts val="0"/>
              </a:spcBef>
              <a:spcAft>
                <a:spcPts val="0"/>
              </a:spcAft>
              <a:buClrTx/>
              <a:buSzTx/>
              <a:buFontTx/>
              <a:buNone/>
              <a:defRPr/>
            </a:pPr>
            <a:endParaRPr lang="en-US" sz="1200" dirty="0"/>
          </a:p>
          <a:p>
            <a:pPr marL="0" marR="0" indent="0" algn="l" defTabSz="457200" rtl="0" eaLnBrk="1" fontAlgn="auto" latinLnBrk="0" hangingPunct="1">
              <a:lnSpc>
                <a:spcPct val="100000"/>
              </a:lnSpc>
              <a:spcBef>
                <a:spcPts val="0"/>
              </a:spcBef>
              <a:spcAft>
                <a:spcPts val="0"/>
              </a:spcAft>
              <a:buClrTx/>
              <a:buSzTx/>
              <a:buFontTx/>
              <a:buNone/>
              <a:defRPr/>
            </a:pPr>
            <a:r>
              <a:rPr lang="en-US" sz="1200" dirty="0"/>
              <a:t>“command and control” versus “advise and consent”</a:t>
            </a:r>
          </a:p>
          <a:p>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68</a:t>
            </a:fld>
            <a:endParaRPr lang="en-US" dirty="0">
              <a:solidFill>
                <a:prstClr val="black"/>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sz="1200" dirty="0"/>
              <a:t>3 minutes</a:t>
            </a:r>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69</a:t>
            </a:fld>
            <a:endParaRPr lang="en-US" dirty="0">
              <a:solidFill>
                <a:prstClr val="black"/>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sz="1200" dirty="0"/>
              <a:t>5 minutes</a:t>
            </a:r>
          </a:p>
          <a:p>
            <a:pPr marL="0" marR="0" indent="0" algn="l" defTabSz="457200" rtl="0" eaLnBrk="1" fontAlgn="auto" latinLnBrk="0" hangingPunct="1">
              <a:lnSpc>
                <a:spcPct val="100000"/>
              </a:lnSpc>
              <a:spcBef>
                <a:spcPts val="0"/>
              </a:spcBef>
              <a:spcAft>
                <a:spcPts val="0"/>
              </a:spcAft>
              <a:buClrTx/>
              <a:buSzTx/>
              <a:buFontTx/>
              <a:buNone/>
              <a:defRPr/>
            </a:pPr>
            <a:r>
              <a:rPr lang="en-US" sz="1200" dirty="0">
                <a:solidFill>
                  <a:srgbClr val="FF0000"/>
                </a:solidFill>
              </a:rPr>
              <a:t>***Test</a:t>
            </a:r>
            <a:r>
              <a:rPr lang="en-US" sz="1200" baseline="0" dirty="0">
                <a:solidFill>
                  <a:srgbClr val="FF0000"/>
                </a:solidFill>
              </a:rPr>
              <a:t> Question***</a:t>
            </a:r>
            <a:endParaRPr lang="en-US" dirty="0"/>
          </a:p>
          <a:p>
            <a:pPr marL="0" marR="0" indent="0" algn="l" defTabSz="457200" rtl="0" eaLnBrk="1" fontAlgn="auto" latinLnBrk="0" hangingPunct="1">
              <a:lnSpc>
                <a:spcPct val="100000"/>
              </a:lnSpc>
              <a:spcBef>
                <a:spcPts val="0"/>
              </a:spcBef>
              <a:spcAft>
                <a:spcPts val="0"/>
              </a:spcAft>
              <a:buClrTx/>
              <a:buSzTx/>
              <a:buFontTx/>
              <a:buNone/>
              <a:defRPr/>
            </a:pPr>
            <a:endParaRPr lang="en-US" sz="1200" dirty="0"/>
          </a:p>
          <a:p>
            <a:pPr marL="0" marR="0" indent="0" algn="l" defTabSz="457200" rtl="0" eaLnBrk="1" fontAlgn="auto" latinLnBrk="0" hangingPunct="1">
              <a:lnSpc>
                <a:spcPct val="100000"/>
              </a:lnSpc>
              <a:spcBef>
                <a:spcPts val="0"/>
              </a:spcBef>
              <a:spcAft>
                <a:spcPts val="0"/>
              </a:spcAft>
              <a:buClrTx/>
              <a:buSzTx/>
              <a:buFontTx/>
              <a:buNone/>
              <a:defRPr/>
            </a:pPr>
            <a:r>
              <a:rPr lang="en-US" sz="1200" dirty="0"/>
              <a:t>Source: </a:t>
            </a:r>
            <a:r>
              <a:rPr lang="en-US" sz="1200" dirty="0" err="1"/>
              <a:t>Deci</a:t>
            </a:r>
            <a:r>
              <a:rPr lang="en-US" sz="1200" dirty="0"/>
              <a:t> &amp; Ryan, “Facilitating Optimal Motivation &amp; Psychological Well-Being Across Life’s Domains” and Dan Pink, </a:t>
            </a:r>
            <a:r>
              <a:rPr lang="en-US" sz="1200" u="sng" dirty="0"/>
              <a:t>Drive</a:t>
            </a:r>
            <a:r>
              <a:rPr lang="en-US" sz="1200" dirty="0"/>
              <a:t> </a:t>
            </a:r>
          </a:p>
          <a:p>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70</a:t>
            </a:fld>
            <a:endParaRPr lang="en-US" dirty="0">
              <a:solidFill>
                <a:prstClr val="black"/>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a:t>
            </a:r>
          </a:p>
          <a:p>
            <a:endParaRPr lang="en-US" dirty="0"/>
          </a:p>
          <a:p>
            <a:r>
              <a:rPr lang="en-US" dirty="0"/>
              <a:t>Slide too busy. Introduce one concept at a time. Be sure to tie them together.</a:t>
            </a:r>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71</a:t>
            </a:fld>
            <a:endParaRPr lang="en-US" dirty="0">
              <a:solidFill>
                <a:prstClr val="black"/>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a:t>
            </a:r>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72</a:t>
            </a:fld>
            <a:endParaRPr lang="en-US" dirty="0">
              <a:solidFill>
                <a:prstClr val="black"/>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sz="1200" dirty="0"/>
              <a:t>5 minutes</a:t>
            </a:r>
          </a:p>
          <a:p>
            <a:pPr marL="0" marR="0" indent="0" algn="l" defTabSz="457200" rtl="0" eaLnBrk="1" fontAlgn="auto" latinLnBrk="0" hangingPunct="1">
              <a:lnSpc>
                <a:spcPct val="100000"/>
              </a:lnSpc>
              <a:spcBef>
                <a:spcPts val="0"/>
              </a:spcBef>
              <a:spcAft>
                <a:spcPts val="0"/>
              </a:spcAft>
              <a:buClrTx/>
              <a:buSzTx/>
              <a:buFontTx/>
              <a:buNone/>
              <a:defRPr/>
            </a:pPr>
            <a:r>
              <a:rPr lang="en-US" sz="1200" dirty="0">
                <a:solidFill>
                  <a:srgbClr val="FF0000"/>
                </a:solidFill>
              </a:rPr>
              <a:t>***Test</a:t>
            </a:r>
            <a:r>
              <a:rPr lang="en-US" sz="1200" baseline="0" dirty="0">
                <a:solidFill>
                  <a:srgbClr val="FF0000"/>
                </a:solidFill>
              </a:rPr>
              <a:t> Question***</a:t>
            </a:r>
            <a:endParaRPr lang="en-US" dirty="0"/>
          </a:p>
          <a:p>
            <a:pPr marL="0" marR="0" indent="0" algn="l" defTabSz="457200" rtl="0" eaLnBrk="1" fontAlgn="auto" latinLnBrk="0" hangingPunct="1">
              <a:lnSpc>
                <a:spcPct val="100000"/>
              </a:lnSpc>
              <a:spcBef>
                <a:spcPts val="0"/>
              </a:spcBef>
              <a:spcAft>
                <a:spcPts val="0"/>
              </a:spcAft>
              <a:buClrTx/>
              <a:buSzTx/>
              <a:buFontTx/>
              <a:buNone/>
              <a:defRPr/>
            </a:pPr>
            <a:endParaRPr lang="en-US" sz="1200" dirty="0"/>
          </a:p>
          <a:p>
            <a:pPr marL="0" marR="0" indent="0" algn="l" defTabSz="457200" rtl="0" eaLnBrk="1" fontAlgn="auto" latinLnBrk="0" hangingPunct="1">
              <a:lnSpc>
                <a:spcPct val="100000"/>
              </a:lnSpc>
              <a:spcBef>
                <a:spcPts val="0"/>
              </a:spcBef>
              <a:spcAft>
                <a:spcPts val="0"/>
              </a:spcAft>
              <a:buClrTx/>
              <a:buSzTx/>
              <a:buFontTx/>
              <a:buNone/>
              <a:defRPr/>
            </a:pPr>
            <a:r>
              <a:rPr lang="en-US" sz="1200" dirty="0"/>
              <a:t>Source: </a:t>
            </a:r>
            <a:r>
              <a:rPr lang="en-US" sz="1200" dirty="0" err="1"/>
              <a:t>Deci</a:t>
            </a:r>
            <a:r>
              <a:rPr lang="en-US" sz="1200" dirty="0"/>
              <a:t> &amp; Ryan, “Facilitating Optimal Motivation &amp; Psychological Well-Being Across Life’s Domains” and Dan Pink, </a:t>
            </a:r>
            <a:r>
              <a:rPr lang="en-US" sz="1200" u="sng" dirty="0"/>
              <a:t>Drive</a:t>
            </a:r>
            <a:r>
              <a:rPr lang="en-US" sz="1200" dirty="0"/>
              <a:t> </a:t>
            </a:r>
          </a:p>
          <a:p>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73</a:t>
            </a:fld>
            <a:endParaRPr lang="en-US" dirty="0">
              <a:solidFill>
                <a:prstClr val="black"/>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74</a:t>
            </a:fld>
            <a:endParaRPr lang="en-US" dirty="0">
              <a:solidFill>
                <a:prstClr val="black"/>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sz="1200" b="1">
                <a:solidFill>
                  <a:schemeClr val="tx1"/>
                </a:solidFill>
                <a:effectLst/>
                <a:latin typeface="Calibri" panose="020F0502020204030204" charset="0"/>
              </a:rPr>
              <a:t>Communication</a:t>
            </a:r>
            <a:r>
              <a:rPr lang="en-US" sz="1200">
                <a:solidFill>
                  <a:schemeClr val="tx1"/>
                </a:solidFill>
                <a:effectLst/>
                <a:latin typeface="Calibri" panose="020F0502020204030204" charset="0"/>
              </a:rPr>
              <a:t> is: the process of sending and receiving information between people</a:t>
            </a:r>
          </a:p>
          <a:p>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75</a:t>
            </a:fld>
            <a:endParaRPr lang="en-US" dirty="0">
              <a:solidFill>
                <a:prstClr val="black"/>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sz="1200" b="1" dirty="0">
                <a:solidFill>
                  <a:schemeClr val="tx1"/>
                </a:solidFill>
                <a:effectLst/>
                <a:latin typeface="Calibri" panose="020F0502020204030204" charset="0"/>
              </a:rPr>
              <a:t>Joe start</a:t>
            </a:r>
          </a:p>
          <a:p>
            <a:pPr marL="0" marR="0" indent="0" algn="l" defTabSz="457200" rtl="0" eaLnBrk="1" fontAlgn="auto" latinLnBrk="0" hangingPunct="1">
              <a:lnSpc>
                <a:spcPct val="100000"/>
              </a:lnSpc>
              <a:spcBef>
                <a:spcPts val="0"/>
              </a:spcBef>
              <a:spcAft>
                <a:spcPts val="0"/>
              </a:spcAft>
              <a:buClrTx/>
              <a:buSzTx/>
              <a:buFontTx/>
              <a:buNone/>
              <a:defRPr/>
            </a:pPr>
            <a:r>
              <a:rPr lang="en-US" sz="1200" b="1" dirty="0">
                <a:solidFill>
                  <a:schemeClr val="tx1"/>
                </a:solidFill>
                <a:effectLst/>
                <a:latin typeface="Calibri" panose="020F0502020204030204" charset="0"/>
              </a:rPr>
              <a:t>Communication</a:t>
            </a:r>
            <a:r>
              <a:rPr lang="en-US" sz="1200" dirty="0">
                <a:solidFill>
                  <a:schemeClr val="tx1"/>
                </a:solidFill>
                <a:effectLst/>
                <a:latin typeface="Calibri" panose="020F0502020204030204" charset="0"/>
              </a:rPr>
              <a:t> is: the process of sending and receiving information between people</a:t>
            </a:r>
          </a:p>
          <a:p>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76</a:t>
            </a:fld>
            <a:endParaRPr lang="en-US" dirty="0">
              <a:solidFill>
                <a:prstClr val="black"/>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sz="1200" dirty="0"/>
              <a:t>Research by </a:t>
            </a:r>
            <a:r>
              <a:rPr lang="en-US" sz="1200" dirty="0" err="1"/>
              <a:t>Heaphy</a:t>
            </a:r>
            <a:r>
              <a:rPr lang="en-US" sz="1200" dirty="0"/>
              <a:t> and </a:t>
            </a:r>
            <a:r>
              <a:rPr lang="en-US" sz="1200" dirty="0" err="1"/>
              <a:t>Losada</a:t>
            </a:r>
            <a:r>
              <a:rPr lang="en-US" sz="1200" dirty="0"/>
              <a:t> showed that highly effective teams provided much more positive feedback to one another (praise) than negative (criticism).</a:t>
            </a:r>
          </a:p>
          <a:p>
            <a:pPr marL="0" marR="0" indent="0" algn="l" defTabSz="457200" rtl="0" eaLnBrk="1" fontAlgn="auto" latinLnBrk="0" hangingPunct="1">
              <a:lnSpc>
                <a:spcPct val="100000"/>
              </a:lnSpc>
              <a:spcBef>
                <a:spcPts val="0"/>
              </a:spcBef>
              <a:spcAft>
                <a:spcPts val="0"/>
              </a:spcAft>
              <a:buClrTx/>
              <a:buSzTx/>
              <a:buFontTx/>
              <a:buNone/>
              <a:defRPr/>
            </a:pPr>
            <a:endParaRPr lang="en-US" sz="1200" dirty="0"/>
          </a:p>
          <a:p>
            <a:pPr marL="0" marR="0" indent="0" algn="l" defTabSz="457200" rtl="0" eaLnBrk="1" fontAlgn="auto" latinLnBrk="0" hangingPunct="1">
              <a:lnSpc>
                <a:spcPct val="100000"/>
              </a:lnSpc>
              <a:spcBef>
                <a:spcPts val="0"/>
              </a:spcBef>
              <a:spcAft>
                <a:spcPts val="0"/>
              </a:spcAft>
              <a:buClrTx/>
              <a:buSzTx/>
              <a:buFontTx/>
              <a:buNone/>
              <a:defRPr/>
            </a:pPr>
            <a:r>
              <a:rPr lang="en-US" sz="1200" dirty="0"/>
              <a:t>This</a:t>
            </a:r>
            <a:r>
              <a:rPr lang="en-US" sz="1200" baseline="0" dirty="0"/>
              <a:t> does not mean do not provide negative feedback. Negative feedback is good. Giving criticism that will help the employee improve is important to success. It means give more positive than negative.</a:t>
            </a:r>
            <a:endParaRPr lang="en-US" dirty="0"/>
          </a:p>
          <a:p>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78</a:t>
            </a:fld>
            <a:endParaRPr lang="en-US" dirty="0">
              <a:solidFill>
                <a:prstClr val="black"/>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sz="1200" dirty="0"/>
              <a:t>Research by </a:t>
            </a:r>
            <a:r>
              <a:rPr lang="en-US" sz="1200" dirty="0" err="1"/>
              <a:t>Heaphy</a:t>
            </a:r>
            <a:r>
              <a:rPr lang="en-US" sz="1200" dirty="0"/>
              <a:t> and </a:t>
            </a:r>
            <a:r>
              <a:rPr lang="en-US" sz="1200" dirty="0" err="1"/>
              <a:t>Losada</a:t>
            </a:r>
            <a:r>
              <a:rPr lang="en-US" sz="1200" dirty="0"/>
              <a:t> showed that highly effective teams provided much more positive feedback to one another (praise) than negative (criticism).</a:t>
            </a:r>
          </a:p>
          <a:p>
            <a:pPr marL="0" marR="0" indent="0" algn="l" defTabSz="457200" rtl="0" eaLnBrk="1" fontAlgn="auto" latinLnBrk="0" hangingPunct="1">
              <a:lnSpc>
                <a:spcPct val="100000"/>
              </a:lnSpc>
              <a:spcBef>
                <a:spcPts val="0"/>
              </a:spcBef>
              <a:spcAft>
                <a:spcPts val="0"/>
              </a:spcAft>
              <a:buClrTx/>
              <a:buSzTx/>
              <a:buFontTx/>
              <a:buNone/>
              <a:defRPr/>
            </a:pPr>
            <a:endParaRPr lang="en-US" sz="1200" dirty="0"/>
          </a:p>
          <a:p>
            <a:pPr marL="0" marR="0" indent="0" algn="l" defTabSz="457200" rtl="0" eaLnBrk="1" fontAlgn="auto" latinLnBrk="0" hangingPunct="1">
              <a:lnSpc>
                <a:spcPct val="100000"/>
              </a:lnSpc>
              <a:spcBef>
                <a:spcPts val="0"/>
              </a:spcBef>
              <a:spcAft>
                <a:spcPts val="0"/>
              </a:spcAft>
              <a:buClrTx/>
              <a:buSzTx/>
              <a:buFontTx/>
              <a:buNone/>
              <a:defRPr/>
            </a:pPr>
            <a:r>
              <a:rPr lang="en-US" sz="1200" dirty="0"/>
              <a:t>This</a:t>
            </a:r>
            <a:r>
              <a:rPr lang="en-US" sz="1200" baseline="0" dirty="0"/>
              <a:t> does not mean do not provide negative feedback. Negative feedback is good. Giving criticism that will help the employee improve is important to success. It means give more positive than negative.</a:t>
            </a:r>
            <a:endParaRPr lang="en-US" dirty="0"/>
          </a:p>
          <a:p>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79</a:t>
            </a:fld>
            <a:endParaRPr lang="en-US" dirty="0">
              <a:solidFill>
                <a:prstClr val="black"/>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rgbClr val="FF0000"/>
                </a:solidFill>
              </a:rPr>
              <a:t>***Test</a:t>
            </a:r>
            <a:r>
              <a:rPr lang="en-US" sz="1200" baseline="0" dirty="0">
                <a:solidFill>
                  <a:srgbClr val="FF0000"/>
                </a:solidFill>
              </a:rPr>
              <a:t> Question***</a:t>
            </a:r>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80</a:t>
            </a:fld>
            <a:endParaRPr lang="en-US" dirty="0">
              <a:solidFill>
                <a:prstClr val="black"/>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81</a:t>
            </a:fld>
            <a:endParaRPr lang="en-US" dirty="0">
              <a:solidFill>
                <a:prstClr val="black"/>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April start</a:t>
            </a:r>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82</a:t>
            </a:fld>
            <a:endParaRPr lang="en-US" dirty="0">
              <a:solidFill>
                <a:prstClr val="black"/>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class to give examples</a:t>
            </a:r>
          </a:p>
          <a:p>
            <a:endParaRPr lang="en-US" dirty="0"/>
          </a:p>
          <a:p>
            <a:r>
              <a:rPr lang="en-US" dirty="0"/>
              <a:t>Have you recently had a policy change? How</a:t>
            </a:r>
            <a:r>
              <a:rPr lang="en-US" baseline="0" dirty="0"/>
              <a:t> was it communicated?</a:t>
            </a:r>
          </a:p>
          <a:p>
            <a:pPr marL="0" marR="0" indent="0" algn="l" defTabSz="457200" rtl="0" eaLnBrk="1" fontAlgn="auto" latinLnBrk="0" hangingPunct="1">
              <a:lnSpc>
                <a:spcPct val="100000"/>
              </a:lnSpc>
              <a:spcBef>
                <a:spcPts val="0"/>
              </a:spcBef>
              <a:spcAft>
                <a:spcPts val="0"/>
              </a:spcAft>
              <a:buClrTx/>
              <a:buSzTx/>
              <a:buFontTx/>
              <a:buNone/>
              <a:defRPr/>
            </a:pPr>
            <a:r>
              <a:rPr lang="en-US" baseline="0" dirty="0"/>
              <a:t>Have you had a big success? E.g. completion of a new center of excellence</a:t>
            </a:r>
            <a:r>
              <a:rPr lang="en-US" dirty="0"/>
              <a:t> How</a:t>
            </a:r>
            <a:r>
              <a:rPr lang="en-US" baseline="0" dirty="0"/>
              <a:t> was it communicated?</a:t>
            </a:r>
          </a:p>
          <a:p>
            <a:r>
              <a:rPr lang="en-US" baseline="0" dirty="0"/>
              <a:t>Have you had a big problem? E.g. very poor accreditation score? </a:t>
            </a:r>
            <a:r>
              <a:rPr lang="en-US" dirty="0"/>
              <a:t>How</a:t>
            </a:r>
            <a:r>
              <a:rPr lang="en-US" baseline="0" dirty="0"/>
              <a:t> was it communicated?</a:t>
            </a:r>
          </a:p>
          <a:p>
            <a:pPr marL="0" marR="0" indent="0" algn="l" defTabSz="457200" rtl="0" eaLnBrk="1" fontAlgn="auto" latinLnBrk="0" hangingPunct="1">
              <a:lnSpc>
                <a:spcPct val="100000"/>
              </a:lnSpc>
              <a:spcBef>
                <a:spcPts val="0"/>
              </a:spcBef>
              <a:spcAft>
                <a:spcPts val="0"/>
              </a:spcAft>
              <a:buClrTx/>
              <a:buSzTx/>
              <a:buFontTx/>
              <a:buNone/>
              <a:defRPr/>
            </a:pPr>
            <a:r>
              <a:rPr lang="en-US" dirty="0"/>
              <a:t>Have you had a service close or open? How</a:t>
            </a:r>
            <a:r>
              <a:rPr lang="en-US" baseline="0" dirty="0"/>
              <a:t> was it communicated?</a:t>
            </a:r>
          </a:p>
          <a:p>
            <a:r>
              <a:rPr lang="en-US" dirty="0"/>
              <a:t> </a:t>
            </a:r>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83</a:t>
            </a:fld>
            <a:endParaRPr lang="en-US" dirty="0">
              <a:solidFill>
                <a:prstClr val="black"/>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for each.</a:t>
            </a:r>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85</a:t>
            </a:fld>
            <a:endParaRPr lang="en-US" dirty="0">
              <a:solidFill>
                <a:prstClr val="black"/>
              </a:solidFil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rgbClr val="FF0000"/>
                </a:solidFill>
              </a:rPr>
              <a:t>***Test</a:t>
            </a:r>
            <a:r>
              <a:rPr lang="en-US" sz="1200" baseline="0" dirty="0">
                <a:solidFill>
                  <a:srgbClr val="FF0000"/>
                </a:solidFill>
              </a:rPr>
              <a:t> Question***</a:t>
            </a:r>
          </a:p>
          <a:p>
            <a:endParaRPr lang="en-US" dirty="0"/>
          </a:p>
          <a:p>
            <a:r>
              <a:rPr lang="en-US" dirty="0"/>
              <a:t>Short vignettes and ask class to mark if it meets</a:t>
            </a:r>
            <a:r>
              <a:rPr lang="en-US" baseline="0" dirty="0"/>
              <a:t> criteria in slide.</a:t>
            </a:r>
          </a:p>
          <a:p>
            <a:r>
              <a:rPr lang="en-US" baseline="0" dirty="0"/>
              <a:t>Mock written communication and ask class if it meets criteria</a:t>
            </a:r>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86</a:t>
            </a:fld>
            <a:endParaRPr lang="en-US" dirty="0">
              <a:solidFill>
                <a:prstClr val="black"/>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exercises for Performance Evaluation. Ideas?</a:t>
            </a:r>
          </a:p>
          <a:p>
            <a:r>
              <a:rPr lang="en-US" dirty="0"/>
              <a:t>Role of PBF – How to properly use PBF</a:t>
            </a:r>
            <a:r>
              <a:rPr lang="en-US" baseline="0" dirty="0"/>
              <a:t> to motivate employees – Joe/JDA</a:t>
            </a:r>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88</a:t>
            </a:fld>
            <a:endParaRPr lang="en-US" dirty="0">
              <a:solidFill>
                <a:prstClr val="black"/>
              </a:solidFil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sz="1200" dirty="0">
                <a:solidFill>
                  <a:srgbClr val="FF0000"/>
                </a:solidFill>
              </a:rPr>
              <a:t>***Test</a:t>
            </a:r>
            <a:r>
              <a:rPr lang="en-US" sz="1200" baseline="0" dirty="0">
                <a:solidFill>
                  <a:srgbClr val="FF0000"/>
                </a:solidFill>
              </a:rPr>
              <a:t> Question***</a:t>
            </a:r>
            <a:endParaRPr lang="en-US" dirty="0"/>
          </a:p>
        </p:txBody>
      </p:sp>
      <p:sp>
        <p:nvSpPr>
          <p:cNvPr id="4" name="Slide Number Placeholder 3"/>
          <p:cNvSpPr>
            <a:spLocks noGrp="1"/>
          </p:cNvSpPr>
          <p:nvPr>
            <p:ph type="sldNum" sz="quarter" idx="10"/>
          </p:nvPr>
        </p:nvSpPr>
        <p:spPr/>
        <p:txBody>
          <a:bodyPr/>
          <a:lstStyle/>
          <a:p>
            <a:fld id="{32B52AA0-DAFB-4A21-99A1-5F8EB82ACD77}" type="slidenum">
              <a:rPr lang="en-US" smtClean="0">
                <a:solidFill>
                  <a:prstClr val="black"/>
                </a:solidFill>
              </a:rPr>
              <a:t>89</a:t>
            </a:fld>
            <a:endParaRPr lang="en-US" dirty="0">
              <a:solidFill>
                <a:prstClr val="black"/>
              </a:solidFil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anose="020B0604020202020204" pitchFamily="34" charset="0"/>
              <a:buNone/>
            </a:pPr>
            <a:r>
              <a:rPr lang="en-US" sz="1100" dirty="0">
                <a:solidFill>
                  <a:srgbClr val="FF0000"/>
                </a:solidFill>
              </a:rPr>
              <a:t>***Test</a:t>
            </a:r>
            <a:r>
              <a:rPr lang="en-US" sz="1100" baseline="0" dirty="0">
                <a:solidFill>
                  <a:srgbClr val="FF0000"/>
                </a:solidFill>
              </a:rPr>
              <a:t> Question***</a:t>
            </a:r>
            <a:endParaRPr lang="en-US" sz="1100" dirty="0">
              <a:solidFill>
                <a:srgbClr val="FF0000"/>
              </a:solidFill>
            </a:endParaRPr>
          </a:p>
          <a:p>
            <a:pPr>
              <a:buFont typeface="Arial" panose="020B0604020202020204" pitchFamily="34" charset="0"/>
              <a:buNone/>
            </a:pPr>
            <a:r>
              <a:rPr lang="en-US" sz="1100" dirty="0"/>
              <a:t>Need examples or write a skit showing the errors in an evaluation - Joe</a:t>
            </a:r>
          </a:p>
          <a:p>
            <a:pPr>
              <a:buFont typeface="Arial" panose="020B0604020202020204" pitchFamily="34" charset="0"/>
              <a:buNone/>
            </a:pPr>
            <a:r>
              <a:rPr lang="en-US" sz="1100" dirty="0"/>
              <a:t> </a:t>
            </a:r>
          </a:p>
          <a:p>
            <a:pPr>
              <a:buFont typeface="Arial" panose="020B0604020202020204" pitchFamily="34" charset="0"/>
              <a:buChar char="•"/>
            </a:pPr>
            <a:r>
              <a:rPr lang="en-US" sz="1100" dirty="0"/>
              <a:t>The isolated incident</a:t>
            </a:r>
          </a:p>
          <a:p>
            <a:pPr lvl="1">
              <a:buFont typeface="Arial" panose="020B0604020202020204" pitchFamily="34" charset="0"/>
              <a:buChar char="•"/>
            </a:pPr>
            <a:r>
              <a:rPr lang="en-US" sz="1100" dirty="0"/>
              <a:t> Only concentrating the appraisal on one isolated event, rather than the entire review period and performance across that period.</a:t>
            </a:r>
          </a:p>
          <a:p>
            <a:pPr>
              <a:buFont typeface="Arial" panose="020B0604020202020204" pitchFamily="34" charset="0"/>
              <a:buChar char="•"/>
            </a:pPr>
            <a:r>
              <a:rPr lang="en-US" sz="1100" dirty="0"/>
              <a:t> The “halo” effect</a:t>
            </a:r>
          </a:p>
          <a:p>
            <a:pPr lvl="1">
              <a:buFont typeface="Arial" panose="020B0604020202020204" pitchFamily="34" charset="0"/>
              <a:buChar char="•"/>
            </a:pPr>
            <a:r>
              <a:rPr lang="en-US" sz="1100" dirty="0"/>
              <a:t> </a:t>
            </a:r>
            <a:r>
              <a:rPr lang="en-US" sz="1100" dirty="0">
                <a:solidFill>
                  <a:srgbClr val="FF0000"/>
                </a:solidFill>
              </a:rPr>
              <a:t>Giving positive feedback but undeserved accolades, regardless of actual job performance. </a:t>
            </a:r>
            <a:r>
              <a:rPr lang="en-US" sz="1100" dirty="0"/>
              <a:t>It is an easy way out for the manager, despite a possible less than acceptable job performance.</a:t>
            </a:r>
          </a:p>
          <a:p>
            <a:pPr>
              <a:buFont typeface="Arial" panose="020B0604020202020204" pitchFamily="34" charset="0"/>
              <a:buChar char="•"/>
            </a:pPr>
            <a:r>
              <a:rPr lang="en-US" sz="1100" dirty="0"/>
              <a:t> The central tendency</a:t>
            </a:r>
          </a:p>
          <a:p>
            <a:pPr lvl="1">
              <a:buFont typeface="Arial" panose="020B0604020202020204" pitchFamily="34" charset="0"/>
              <a:buChar char="•"/>
            </a:pPr>
            <a:r>
              <a:rPr lang="en-US" sz="1100" dirty="0"/>
              <a:t> The tendency to consider everyone in the work group as average. Overall ratings all</a:t>
            </a:r>
            <a:r>
              <a:rPr lang="en-US" sz="1100" baseline="0" dirty="0"/>
              <a:t> being average</a:t>
            </a:r>
            <a:r>
              <a:rPr lang="en-US" sz="1100" dirty="0"/>
              <a:t> usually indicates that the rater has not sufficiently discriminated between high and low levels of performance.</a:t>
            </a:r>
          </a:p>
          <a:p>
            <a:pPr>
              <a:buFont typeface="Arial" panose="020B0604020202020204" pitchFamily="34" charset="0"/>
              <a:buChar char="•"/>
            </a:pPr>
            <a:r>
              <a:rPr lang="en-US" sz="1100" dirty="0"/>
              <a:t> Rating the job and not the individual</a:t>
            </a:r>
          </a:p>
          <a:p>
            <a:pPr lvl="1">
              <a:buFont typeface="Arial" panose="020B0604020202020204" pitchFamily="34" charset="0"/>
              <a:buChar char="•"/>
            </a:pPr>
            <a:r>
              <a:rPr lang="en-US" sz="1100" dirty="0"/>
              <a:t> Individuals in higher-rated jobs are often considered superior performers to those in lower-rated jobs. </a:t>
            </a:r>
          </a:p>
          <a:p>
            <a:pPr>
              <a:buFont typeface="Arial" panose="020B0604020202020204" pitchFamily="34" charset="0"/>
              <a:buChar char="•"/>
            </a:pPr>
            <a:r>
              <a:rPr lang="en-US" sz="1100" dirty="0"/>
              <a:t> Length of service bias</a:t>
            </a:r>
          </a:p>
          <a:p>
            <a:pPr lvl="1">
              <a:buFont typeface="Arial" panose="020B0604020202020204" pitchFamily="34" charset="0"/>
              <a:buChar char="•"/>
            </a:pPr>
            <a:r>
              <a:rPr lang="en-US" sz="1100" dirty="0"/>
              <a:t> There is a tendency to allow the period of an individual’s employment influence the rating. Normally, performance levels should be higher the longer the employee has been in the position and has gained training and experience, but this is not always the case. You don’t want a person that has been there for a long time to get a good rating just because of that.</a:t>
            </a:r>
          </a:p>
          <a:p>
            <a:pPr>
              <a:buFont typeface="Arial" panose="020B0604020202020204" pitchFamily="34" charset="0"/>
              <a:buChar char="•"/>
            </a:pPr>
            <a:r>
              <a:rPr lang="en-US" sz="1100" dirty="0"/>
              <a:t> Personality rather than performance</a:t>
            </a:r>
          </a:p>
          <a:p>
            <a:pPr lvl="1">
              <a:buFont typeface="Arial" panose="020B0604020202020204" pitchFamily="34" charset="0"/>
              <a:buChar char="•"/>
            </a:pPr>
            <a:r>
              <a:rPr lang="en-US" sz="1100" dirty="0"/>
              <a:t> Avoid judging the employee’s performance based on purely personality traits of the employee.  Don’t rate people highly</a:t>
            </a:r>
            <a:r>
              <a:rPr lang="en-US" sz="1100" baseline="0" dirty="0"/>
              <a:t> </a:t>
            </a:r>
            <a:r>
              <a:rPr lang="en-US" sz="1100" dirty="0"/>
              <a:t>just because you like them!</a:t>
            </a:r>
          </a:p>
        </p:txBody>
      </p:sp>
      <p:sp>
        <p:nvSpPr>
          <p:cNvPr id="4" name="Slide Number Placeholder 3"/>
          <p:cNvSpPr>
            <a:spLocks noGrp="1"/>
          </p:cNvSpPr>
          <p:nvPr>
            <p:ph type="sldNum" sz="quarter" idx="10"/>
          </p:nvPr>
        </p:nvSpPr>
        <p:spPr/>
        <p:txBody>
          <a:bodyPr/>
          <a:lstStyle/>
          <a:p>
            <a:fld id="{32B52AA0-DAFB-4A21-99A1-5F8EB82ACD77}" type="slidenum">
              <a:rPr lang="en-US" smtClean="0">
                <a:solidFill>
                  <a:prstClr val="black"/>
                </a:solidFill>
              </a:rPr>
              <a:t>90</a:t>
            </a:fld>
            <a:endParaRPr lang="en-US" dirty="0">
              <a:solidFill>
                <a:prstClr val="black"/>
              </a:solidFil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R="0" lvl="0" algn="l" defTabSz="914400" rtl="0" eaLnBrk="1" fontAlgn="base" latinLnBrk="0" hangingPunct="1">
              <a:lnSpc>
                <a:spcPct val="90000"/>
              </a:lnSpc>
              <a:spcBef>
                <a:spcPct val="20000"/>
              </a:spcBef>
              <a:spcAft>
                <a:spcPct val="0"/>
              </a:spcAft>
              <a:buClrTx/>
              <a:buSzTx/>
              <a:defRPr/>
            </a:pPr>
            <a:r>
              <a:rPr kumimoji="0" lang="en-US" sz="1200" b="1" i="0" u="none" strike="noStrike" kern="1200" cap="none" spc="0" normalizeH="0" baseline="0" noProof="0" dirty="0">
                <a:ln>
                  <a:noFill/>
                </a:ln>
                <a:solidFill>
                  <a:srgbClr val="000000"/>
                </a:solidFill>
                <a:effectLst/>
                <a:uLnTx/>
                <a:uFillTx/>
              </a:rPr>
              <a:t>Tips/Suggestions:</a:t>
            </a:r>
            <a:br>
              <a:rPr kumimoji="0" lang="en-US" sz="1200" b="1" i="0" u="none" strike="noStrike" kern="1200" cap="none" spc="0" normalizeH="0" baseline="0" noProof="0" dirty="0">
                <a:ln>
                  <a:noFill/>
                </a:ln>
                <a:solidFill>
                  <a:srgbClr val="000000"/>
                </a:solidFill>
                <a:effectLst/>
                <a:uLnTx/>
                <a:uFillTx/>
              </a:rPr>
            </a:br>
            <a:r>
              <a:rPr kumimoji="0" lang="en-US" sz="1200" b="1" i="0" u="none" strike="noStrike" kern="1200" cap="none" spc="0" normalizeH="0" noProof="0" dirty="0">
                <a:ln>
                  <a:noFill/>
                </a:ln>
                <a:solidFill>
                  <a:srgbClr val="000000"/>
                </a:solidFill>
                <a:effectLst/>
                <a:uLnTx/>
                <a:uFillTx/>
              </a:rPr>
              <a:t> </a:t>
            </a:r>
            <a:endParaRPr kumimoji="0" lang="en-US" sz="1200" b="1" i="0" u="none" strike="noStrike" kern="1200" cap="none" spc="0" normalizeH="0" baseline="0" noProof="0" dirty="0">
              <a:ln>
                <a:noFill/>
              </a:ln>
              <a:solidFill>
                <a:srgbClr val="000000"/>
              </a:solidFill>
              <a:effectLst/>
              <a:uLnTx/>
              <a:uFillTx/>
            </a:endParaRPr>
          </a:p>
          <a:p>
            <a:pPr marL="342900" marR="0" lvl="0" indent="-342900" algn="l" defTabSz="914400" rtl="0" eaLnBrk="1" fontAlgn="base" latinLnBrk="0" hangingPunct="1">
              <a:lnSpc>
                <a:spcPct val="90000"/>
              </a:lnSpc>
              <a:spcBef>
                <a:spcPct val="20000"/>
              </a:spcBef>
              <a:spcAft>
                <a:spcPct val="0"/>
              </a:spcAft>
              <a:buClrTx/>
              <a:buSzTx/>
              <a:buFont typeface="Arial" panose="020B0604020202020204"/>
              <a:buChar char="•"/>
              <a:defRPr/>
            </a:pPr>
            <a:r>
              <a:rPr kumimoji="0" lang="en-US" sz="1100" b="0" i="0" u="none" strike="noStrike" kern="1200" cap="none" spc="0" normalizeH="0" baseline="0" noProof="0" dirty="0">
                <a:ln>
                  <a:noFill/>
                </a:ln>
                <a:solidFill>
                  <a:srgbClr val="000000"/>
                </a:solidFill>
                <a:effectLst/>
                <a:uLnTx/>
                <a:uFillTx/>
              </a:rPr>
              <a:t>It should</a:t>
            </a:r>
            <a:r>
              <a:rPr kumimoji="0" lang="en-US" sz="1100" b="0" i="0" u="none" strike="noStrike" kern="1200" cap="none" spc="0" normalizeH="0" noProof="0" dirty="0">
                <a:ln>
                  <a:noFill/>
                </a:ln>
                <a:solidFill>
                  <a:srgbClr val="000000"/>
                </a:solidFill>
                <a:effectLst/>
                <a:uLnTx/>
                <a:uFillTx/>
              </a:rPr>
              <a:t> be done as </a:t>
            </a:r>
            <a:r>
              <a:rPr kumimoji="0" lang="en-US" sz="1100" b="1" i="0" u="none" strike="noStrike" kern="1200" cap="none" spc="0" normalizeH="0" baseline="0" noProof="0" dirty="0">
                <a:ln>
                  <a:noFill/>
                </a:ln>
                <a:solidFill>
                  <a:srgbClr val="000000"/>
                </a:solidFill>
                <a:effectLst/>
                <a:uLnTx/>
                <a:uFillTx/>
              </a:rPr>
              <a:t>early </a:t>
            </a:r>
            <a:r>
              <a:rPr kumimoji="0" lang="en-US" sz="1100" i="0" u="none" strike="noStrike" kern="1200" cap="none" spc="0" normalizeH="0" baseline="0" noProof="0" dirty="0">
                <a:ln>
                  <a:noFill/>
                </a:ln>
                <a:solidFill>
                  <a:srgbClr val="000000"/>
                </a:solidFill>
                <a:effectLst/>
                <a:uLnTx/>
                <a:uFillTx/>
              </a:rPr>
              <a:t>as possible</a:t>
            </a:r>
            <a:endParaRPr kumimoji="0" lang="en-US" sz="1100" b="0" i="0" u="none" strike="noStrike" kern="1200" cap="none" spc="0" normalizeH="0" baseline="0" noProof="0" dirty="0">
              <a:ln>
                <a:noFill/>
              </a:ln>
              <a:solidFill>
                <a:srgbClr val="000000"/>
              </a:solidFill>
              <a:effectLst/>
              <a:uLnTx/>
              <a:uFillTx/>
            </a:endParaRPr>
          </a:p>
          <a:p>
            <a:pPr marR="0" lvl="0" algn="l" defTabSz="914400" rtl="0" eaLnBrk="1" fontAlgn="base" latinLnBrk="0" hangingPunct="1">
              <a:lnSpc>
                <a:spcPct val="90000"/>
              </a:lnSpc>
              <a:spcBef>
                <a:spcPct val="20000"/>
              </a:spcBef>
              <a:spcAft>
                <a:spcPct val="0"/>
              </a:spcAft>
              <a:buClrTx/>
              <a:buSzTx/>
              <a:defRPr/>
            </a:pPr>
            <a:endParaRPr lang="en-US" sz="1100" dirty="0">
              <a:solidFill>
                <a:srgbClr val="000000"/>
              </a:solidFill>
            </a:endParaRPr>
          </a:p>
          <a:p>
            <a:pPr marL="342900" marR="0" lvl="0" indent="-342900" algn="l" defTabSz="914400" rtl="0" eaLnBrk="1" fontAlgn="base" latinLnBrk="0" hangingPunct="1">
              <a:lnSpc>
                <a:spcPct val="90000"/>
              </a:lnSpc>
              <a:spcBef>
                <a:spcPct val="20000"/>
              </a:spcBef>
              <a:spcAft>
                <a:spcPct val="0"/>
              </a:spcAft>
              <a:buClrTx/>
              <a:buSzTx/>
              <a:buFont typeface="Arial" panose="020B0604020202020204"/>
              <a:buChar char="•"/>
              <a:defRPr/>
            </a:pPr>
            <a:r>
              <a:rPr kumimoji="0" lang="en-US" sz="1100" b="0" i="0" u="none" strike="noStrike" kern="1200" cap="none" spc="0" normalizeH="0" baseline="0" noProof="0" dirty="0">
                <a:ln>
                  <a:noFill/>
                </a:ln>
                <a:solidFill>
                  <a:srgbClr val="000000"/>
                </a:solidFill>
                <a:effectLst/>
                <a:uLnTx/>
                <a:uFillTx/>
              </a:rPr>
              <a:t>Managers</a:t>
            </a:r>
            <a:r>
              <a:rPr kumimoji="0" lang="en-US" sz="1100" b="0" i="0" u="none" strike="noStrike" kern="1200" cap="none" spc="0" normalizeH="0" noProof="0" dirty="0">
                <a:ln>
                  <a:noFill/>
                </a:ln>
                <a:solidFill>
                  <a:srgbClr val="000000"/>
                </a:solidFill>
                <a:effectLst/>
                <a:uLnTx/>
                <a:uFillTx/>
              </a:rPr>
              <a:t> </a:t>
            </a:r>
            <a:r>
              <a:rPr kumimoji="0" lang="en-US" sz="1100" b="1" i="0" u="sng" strike="noStrike" kern="1200" cap="none" spc="0" normalizeH="0" baseline="0" noProof="0" dirty="0">
                <a:ln>
                  <a:noFill/>
                </a:ln>
                <a:solidFill>
                  <a:srgbClr val="000000"/>
                </a:solidFill>
                <a:effectLst/>
                <a:uLnTx/>
                <a:uFillTx/>
              </a:rPr>
              <a:t>should not wait</a:t>
            </a:r>
            <a:r>
              <a:rPr kumimoji="0" lang="en-US" sz="1100" b="0" i="0" u="none" strike="noStrike" kern="1200" cap="none" spc="0" normalizeH="0" baseline="0" noProof="0" dirty="0">
                <a:ln>
                  <a:noFill/>
                </a:ln>
                <a:solidFill>
                  <a:srgbClr val="000000"/>
                </a:solidFill>
                <a:effectLst/>
                <a:uLnTx/>
                <a:uFillTx/>
              </a:rPr>
              <a:t> until the end of the review period to communicate the need to improve performance</a:t>
            </a:r>
            <a:br>
              <a:rPr kumimoji="0" lang="en-US" sz="1100" b="0" i="0" u="none" strike="noStrike" kern="1200" cap="none" spc="0" normalizeH="0" baseline="0" noProof="0" dirty="0">
                <a:ln>
                  <a:noFill/>
                </a:ln>
                <a:solidFill>
                  <a:srgbClr val="000000"/>
                </a:solidFill>
                <a:effectLst/>
                <a:uLnTx/>
                <a:uFillTx/>
              </a:rPr>
            </a:br>
            <a:endParaRPr kumimoji="0" lang="en-US" sz="1100" b="0" i="0" u="none" strike="noStrike" kern="1200" cap="none" spc="0" normalizeH="0" baseline="0" noProof="0" dirty="0">
              <a:ln>
                <a:noFill/>
              </a:ln>
              <a:solidFill>
                <a:srgbClr val="000000"/>
              </a:solidFill>
              <a:effectLst/>
              <a:uLnTx/>
              <a:uFillTx/>
            </a:endParaRPr>
          </a:p>
          <a:p>
            <a:pPr marL="342900" marR="0" lvl="0" indent="-342900" algn="l" defTabSz="914400" rtl="0" eaLnBrk="1" fontAlgn="base" latinLnBrk="0" hangingPunct="1">
              <a:lnSpc>
                <a:spcPct val="90000"/>
              </a:lnSpc>
              <a:spcBef>
                <a:spcPct val="20000"/>
              </a:spcBef>
              <a:spcAft>
                <a:spcPct val="0"/>
              </a:spcAft>
              <a:buClrTx/>
              <a:buSzTx/>
              <a:buFont typeface="Arial" panose="020B0604020202020204"/>
              <a:buChar char="•"/>
              <a:defRPr/>
            </a:pPr>
            <a:r>
              <a:rPr lang="en-US" sz="1100" dirty="0">
                <a:solidFill>
                  <a:srgbClr val="000000"/>
                </a:solidFill>
              </a:rPr>
              <a:t>Every step should be documented in the employee’s file. </a:t>
            </a:r>
            <a:endParaRPr kumimoji="0" lang="en-US" sz="1100" b="0" i="0" u="none" strike="noStrike" kern="1200" cap="none" spc="0" normalizeH="0" baseline="0" noProof="0" dirty="0">
              <a:ln>
                <a:noFill/>
              </a:ln>
              <a:solidFill>
                <a:srgbClr val="000000"/>
              </a:solidFill>
              <a:effectLst/>
              <a:uLnTx/>
              <a:uFillTx/>
            </a:endParaRPr>
          </a:p>
        </p:txBody>
      </p:sp>
      <p:sp>
        <p:nvSpPr>
          <p:cNvPr id="4" name="Slide Number Placeholder 3"/>
          <p:cNvSpPr>
            <a:spLocks noGrp="1"/>
          </p:cNvSpPr>
          <p:nvPr>
            <p:ph type="sldNum" sz="quarter" idx="10"/>
          </p:nvPr>
        </p:nvSpPr>
        <p:spPr/>
        <p:txBody>
          <a:bodyPr/>
          <a:lstStyle/>
          <a:p>
            <a:fld id="{32B52AA0-DAFB-4A21-99A1-5F8EB82ACD77}" type="slidenum">
              <a:rPr lang="en-US" smtClean="0">
                <a:solidFill>
                  <a:prstClr val="black"/>
                </a:solidFill>
              </a:rPr>
              <a:t>91</a:t>
            </a:fld>
            <a:endParaRPr lang="en-US" dirty="0">
              <a:solidFill>
                <a:prstClr val="black"/>
              </a:solidFil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ts val="0"/>
              </a:spcBef>
              <a:spcAft>
                <a:spcPct val="0"/>
              </a:spcAft>
              <a:buClrTx/>
              <a:buSzTx/>
              <a:buFontTx/>
              <a:buNone/>
              <a:defRPr/>
            </a:pPr>
            <a:r>
              <a:rPr lang="en-US" sz="1200" i="1" dirty="0">
                <a:solidFill>
                  <a:schemeClr val="tx2">
                    <a:lumMod val="75000"/>
                  </a:schemeClr>
                </a:solidFill>
              </a:rPr>
              <a:t>“I noticed you were absent from work yesterday without arranging it in advance or notifying anyone. You must communicate your absences. It is important to the team and the patients.”</a:t>
            </a:r>
            <a:r>
              <a:rPr lang="en-US" sz="1200" dirty="0">
                <a:solidFill>
                  <a:schemeClr val="tx2">
                    <a:lumMod val="75000"/>
                  </a:schemeClr>
                </a:solidFill>
              </a:rPr>
              <a:t> </a:t>
            </a:r>
            <a:endParaRPr lang="en-US" sz="1200" dirty="0"/>
          </a:p>
          <a:p>
            <a:pPr marL="0" indent="0" defTabSz="914400" fontAlgn="base">
              <a:spcAft>
                <a:spcPct val="0"/>
              </a:spcAft>
              <a:buNone/>
              <a:defRPr/>
            </a:pPr>
            <a:endParaRPr lang="en-US" sz="1200" i="1" dirty="0">
              <a:solidFill>
                <a:srgbClr val="17375E"/>
              </a:solidFill>
            </a:endParaRPr>
          </a:p>
          <a:p>
            <a:pPr marL="0" indent="0" defTabSz="914400" fontAlgn="base">
              <a:spcAft>
                <a:spcPct val="0"/>
              </a:spcAft>
              <a:buNone/>
              <a:defRPr/>
            </a:pPr>
            <a:r>
              <a:rPr lang="en-US" sz="1200" i="1" dirty="0">
                <a:solidFill>
                  <a:srgbClr val="17375E"/>
                </a:solidFill>
              </a:rPr>
              <a:t>“You were absent again yesterday and did not notify me. This causes problems for your co-workers and the patients. This is a verbal warning. If you have another unplanned absence, you will be given a written warning.”</a:t>
            </a:r>
            <a:endParaRPr lang="en-US" sz="1200"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92</a:t>
            </a:fld>
            <a:endParaRPr lang="en-US" dirty="0">
              <a:solidFill>
                <a:prstClr val="black"/>
              </a:solidFil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Be sure </a:t>
            </a:r>
            <a:r>
              <a:rPr lang="en-US" sz="1200"/>
              <a:t>to include what </a:t>
            </a:r>
            <a:r>
              <a:rPr lang="en-US" sz="1200" dirty="0"/>
              <a:t>must be done to address it? and by when?</a:t>
            </a:r>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93</a:t>
            </a:fld>
            <a:endParaRPr lang="en-US" dirty="0">
              <a:solidFill>
                <a:prstClr val="black"/>
              </a:solidFil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sz="1200" dirty="0"/>
              <a:t>Source: </a:t>
            </a:r>
            <a:r>
              <a:rPr lang="en-US" sz="1200" dirty="0" err="1"/>
              <a:t>Aimabile</a:t>
            </a:r>
            <a:r>
              <a:rPr lang="en-US" sz="1200" dirty="0"/>
              <a:t> &amp; Kramer, “The Power of Small Wins,” Harvard Business Review, May 2011. </a:t>
            </a:r>
            <a:endParaRPr lang="en-US" dirty="0"/>
          </a:p>
          <a:p>
            <a:r>
              <a:rPr lang="en-US" dirty="0"/>
              <a:t>Game? Or Skit?</a:t>
            </a:r>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94</a:t>
            </a:fld>
            <a:endParaRPr lang="en-US" dirty="0">
              <a:solidFill>
                <a:prstClr val="black"/>
              </a:solidFil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Joe start</a:t>
            </a:r>
          </a:p>
          <a:p>
            <a:r>
              <a:rPr lang="en-US" dirty="0"/>
              <a:t>Consider moving beginning</a:t>
            </a:r>
            <a:r>
              <a:rPr lang="en-US" baseline="0" dirty="0"/>
              <a:t> of presentation and teaching first</a:t>
            </a:r>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95</a:t>
            </a:fld>
            <a:endParaRPr lang="en-US" dirty="0">
              <a:solidFill>
                <a:prstClr val="black"/>
              </a:solidFil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dirty="0"/>
              <a:t>Definition source: HRM Rapid Assessment Tool for Health</a:t>
            </a:r>
            <a:r>
              <a:rPr lang="en-US" baseline="0" dirty="0"/>
              <a:t> O</a:t>
            </a:r>
            <a:r>
              <a:rPr lang="en-US" dirty="0"/>
              <a:t>rganizations</a:t>
            </a:r>
          </a:p>
          <a:p>
            <a:endParaRPr lang="en-US" dirty="0"/>
          </a:p>
          <a:p>
            <a:r>
              <a:rPr lang="en-US" dirty="0"/>
              <a:t>The different parts guiding and providing the foundation for HRM are …</a:t>
            </a:r>
          </a:p>
          <a:p>
            <a:r>
              <a:rPr lang="en-US" dirty="0"/>
              <a:t>Policy = What we do</a:t>
            </a:r>
          </a:p>
          <a:p>
            <a:r>
              <a:rPr lang="en-US" b="1" dirty="0"/>
              <a:t>Policies</a:t>
            </a:r>
            <a:r>
              <a:rPr lang="en-US" dirty="0"/>
              <a:t> are developed to</a:t>
            </a:r>
            <a:r>
              <a:rPr lang="en-US" sz="1200" b="0" i="0" kern="1200" dirty="0">
                <a:solidFill>
                  <a:schemeClr val="tx1"/>
                </a:solidFill>
                <a:effectLst/>
                <a:latin typeface="+mn-lt"/>
                <a:ea typeface="+mn-ea"/>
                <a:cs typeface="+mn-cs"/>
              </a:rPr>
              <a:t> ensure consistency and compliance with the organization’s strategic direction</a:t>
            </a:r>
            <a:r>
              <a:rPr lang="en-US" sz="1200" b="0" i="0" kern="1200" baseline="0" dirty="0">
                <a:solidFill>
                  <a:schemeClr val="tx1"/>
                </a:solidFill>
                <a:effectLst/>
                <a:latin typeface="+mn-lt"/>
                <a:ea typeface="+mn-ea"/>
                <a:cs typeface="+mn-cs"/>
              </a:rPr>
              <a:t> and to achieve long term goals</a:t>
            </a:r>
            <a:endParaRPr lang="en-US" sz="1200" b="0" i="0" kern="1200" dirty="0">
              <a:solidFill>
                <a:schemeClr val="tx1"/>
              </a:solidFill>
              <a:effectLst/>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defRPr/>
            </a:pPr>
            <a:r>
              <a:rPr lang="en-US" sz="1200" b="0" i="0" kern="1200" dirty="0">
                <a:solidFill>
                  <a:schemeClr val="tx1"/>
                </a:solidFill>
                <a:effectLst/>
                <a:latin typeface="+mn-lt"/>
                <a:ea typeface="+mn-ea"/>
                <a:cs typeface="+mn-cs"/>
              </a:rPr>
              <a:t>--must</a:t>
            </a:r>
            <a:r>
              <a:rPr lang="en-US" sz="1200" b="0" i="0" kern="1200" baseline="0" dirty="0">
                <a:solidFill>
                  <a:schemeClr val="tx1"/>
                </a:solidFill>
                <a:effectLst/>
                <a:latin typeface="+mn-lt"/>
                <a:ea typeface="+mn-ea"/>
                <a:cs typeface="+mn-cs"/>
              </a:rPr>
              <a:t> include</a:t>
            </a:r>
            <a:r>
              <a:rPr lang="en-US" sz="1200" b="0" i="0" kern="1200" dirty="0">
                <a:solidFill>
                  <a:schemeClr val="tx1"/>
                </a:solidFill>
                <a:effectLst/>
                <a:latin typeface="+mn-lt"/>
                <a:ea typeface="+mn-ea"/>
                <a:cs typeface="+mn-cs"/>
              </a:rPr>
              <a:t> </a:t>
            </a:r>
            <a:r>
              <a:rPr lang="en-US" sz="1200" b="1" i="1" kern="1200" dirty="0">
                <a:solidFill>
                  <a:schemeClr val="tx1"/>
                </a:solidFill>
                <a:effectLst/>
                <a:latin typeface="+mn-lt"/>
                <a:ea typeface="+mn-ea"/>
                <a:cs typeface="+mn-cs"/>
              </a:rPr>
              <a:t>what</a:t>
            </a:r>
            <a:r>
              <a:rPr lang="en-US" sz="1200" b="0" i="0" kern="1200" dirty="0">
                <a:solidFill>
                  <a:schemeClr val="tx1"/>
                </a:solidFill>
                <a:effectLst/>
                <a:latin typeface="+mn-lt"/>
                <a:ea typeface="+mn-ea"/>
                <a:cs typeface="+mn-cs"/>
              </a:rPr>
              <a:t> the rule is,</a:t>
            </a:r>
            <a:r>
              <a:rPr lang="en-US" sz="1200" b="1" i="1" kern="1200" dirty="0">
                <a:solidFill>
                  <a:schemeClr val="tx1"/>
                </a:solidFill>
                <a:effectLst/>
                <a:latin typeface="+mn-lt"/>
                <a:ea typeface="+mn-ea"/>
                <a:cs typeface="+mn-cs"/>
              </a:rPr>
              <a:t> who</a:t>
            </a:r>
            <a:r>
              <a:rPr lang="en-US" sz="1200" b="0" i="0" kern="1200" dirty="0">
                <a:solidFill>
                  <a:schemeClr val="tx1"/>
                </a:solidFill>
                <a:effectLst/>
                <a:latin typeface="+mn-lt"/>
                <a:ea typeface="+mn-ea"/>
                <a:cs typeface="+mn-cs"/>
              </a:rPr>
              <a:t> is responsible for execution and enforcement, and </a:t>
            </a:r>
            <a:r>
              <a:rPr lang="en-US" sz="1200" b="1" i="1" kern="1200" dirty="0">
                <a:solidFill>
                  <a:schemeClr val="tx1"/>
                </a:solidFill>
                <a:effectLst/>
                <a:latin typeface="+mn-lt"/>
                <a:ea typeface="+mn-ea"/>
                <a:cs typeface="+mn-cs"/>
              </a:rPr>
              <a:t>why</a:t>
            </a:r>
            <a:r>
              <a:rPr lang="en-US" sz="1200" b="0" i="0" kern="1200" dirty="0">
                <a:solidFill>
                  <a:schemeClr val="tx1"/>
                </a:solidFill>
                <a:effectLst/>
                <a:latin typeface="+mn-lt"/>
                <a:ea typeface="+mn-ea"/>
                <a:cs typeface="+mn-cs"/>
              </a:rPr>
              <a:t> the rule is required.</a:t>
            </a:r>
          </a:p>
          <a:p>
            <a:pPr marL="0" marR="0" indent="0" algn="l" defTabSz="457200" rtl="0" eaLnBrk="1" fontAlgn="auto" latinLnBrk="0" hangingPunct="1">
              <a:lnSpc>
                <a:spcPct val="100000"/>
              </a:lnSpc>
              <a:spcBef>
                <a:spcPts val="0"/>
              </a:spcBef>
              <a:spcAft>
                <a:spcPts val="0"/>
              </a:spcAft>
              <a:buClrTx/>
              <a:buSzTx/>
              <a:buFontTx/>
              <a:buNone/>
              <a:defRPr/>
            </a:pPr>
            <a:r>
              <a:rPr lang="en-US" sz="1200" b="0" i="0" kern="1200" dirty="0">
                <a:solidFill>
                  <a:schemeClr val="tx1"/>
                </a:solidFill>
                <a:effectLst/>
                <a:latin typeface="+mn-lt"/>
                <a:ea typeface="+mn-ea"/>
                <a:cs typeface="+mn-cs"/>
              </a:rPr>
              <a:t>--must receive formal approval by leadership</a:t>
            </a:r>
            <a:r>
              <a:rPr lang="en-US" sz="1200" b="0" i="0" kern="1200" baseline="0" dirty="0">
                <a:solidFill>
                  <a:schemeClr val="tx1"/>
                </a:solidFill>
                <a:effectLst/>
                <a:latin typeface="+mn-lt"/>
                <a:ea typeface="+mn-ea"/>
                <a:cs typeface="+mn-cs"/>
              </a:rPr>
              <a:t> – and must be reviewed regularly</a:t>
            </a:r>
            <a:endParaRPr lang="en-US" sz="1200" b="0" i="0" kern="1200" dirty="0">
              <a:solidFill>
                <a:schemeClr val="tx1"/>
              </a:solidFill>
              <a:effectLst/>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defRPr/>
            </a:pPr>
            <a:r>
              <a:rPr lang="en-US" sz="1200" b="0" i="0" kern="1200" dirty="0">
                <a:solidFill>
                  <a:schemeClr val="tx1"/>
                </a:solidFill>
                <a:effectLst/>
                <a:latin typeface="+mn-lt"/>
                <a:ea typeface="+mn-ea"/>
                <a:cs typeface="+mn-cs"/>
              </a:rPr>
              <a:t>--must be easily accessible to all employees</a:t>
            </a:r>
          </a:p>
          <a:p>
            <a:pPr marL="0" marR="0" indent="0" algn="l" defTabSz="457200" rtl="0" eaLnBrk="1" fontAlgn="auto" latinLnBrk="0" hangingPunct="1">
              <a:lnSpc>
                <a:spcPct val="100000"/>
              </a:lnSpc>
              <a:spcBef>
                <a:spcPts val="0"/>
              </a:spcBef>
              <a:spcAft>
                <a:spcPts val="0"/>
              </a:spcAft>
              <a:buClrTx/>
              <a:buSzTx/>
              <a:buFontTx/>
              <a:buNone/>
              <a:defRPr/>
            </a:pPr>
            <a:r>
              <a:rPr lang="en-US" sz="1200" b="0" i="0" kern="1200" dirty="0">
                <a:solidFill>
                  <a:schemeClr val="tx1"/>
                </a:solidFill>
                <a:effectLst/>
                <a:latin typeface="+mn-lt"/>
                <a:ea typeface="+mn-ea"/>
                <a:cs typeface="+mn-cs"/>
              </a:rPr>
              <a:t>--can be department-specific or hospital-wide</a:t>
            </a:r>
          </a:p>
          <a:p>
            <a:pPr marL="0" marR="0" indent="0" algn="l" defTabSz="457200" rtl="0" eaLnBrk="1" fontAlgn="auto" latinLnBrk="0" hangingPunct="1">
              <a:lnSpc>
                <a:spcPct val="100000"/>
              </a:lnSpc>
              <a:spcBef>
                <a:spcPts val="0"/>
              </a:spcBef>
              <a:spcAft>
                <a:spcPts val="0"/>
              </a:spcAft>
              <a:buClrTx/>
              <a:buSzTx/>
              <a:buFontTx/>
              <a:buNone/>
              <a:defRPr/>
            </a:pPr>
            <a:endParaRPr lang="en-US" sz="1200" b="0" i="0" kern="1200" dirty="0">
              <a:solidFill>
                <a:schemeClr val="tx1"/>
              </a:solidFill>
              <a:effectLst/>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defRPr/>
            </a:pPr>
            <a:r>
              <a:rPr lang="en-US" sz="1200" b="0" i="0" kern="1200" dirty="0">
                <a:solidFill>
                  <a:schemeClr val="tx1"/>
                </a:solidFill>
                <a:effectLst/>
                <a:latin typeface="+mn-lt"/>
                <a:ea typeface="+mn-ea"/>
                <a:cs typeface="+mn-cs"/>
              </a:rPr>
              <a:t>Example. ID badge policy (hospital wide)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Policy 10.2 Hospital employees must wear the official hospital ID badge when working</a:t>
            </a:r>
            <a:r>
              <a:rPr lang="en-US" sz="1200" b="0" i="0" kern="1200" baseline="0" dirty="0">
                <a:solidFill>
                  <a:schemeClr val="tx1"/>
                </a:solidFill>
                <a:effectLst/>
                <a:latin typeface="+mn-lt"/>
                <a:ea typeface="+mn-ea"/>
                <a:cs typeface="+mn-cs"/>
              </a:rPr>
              <a:t> on the hospital campus</a:t>
            </a:r>
          </a:p>
          <a:p>
            <a:pPr marL="0" marR="0" indent="0" algn="l" defTabSz="457200" rtl="0" eaLnBrk="1" fontAlgn="auto" latinLnBrk="0" hangingPunct="1">
              <a:lnSpc>
                <a:spcPct val="100000"/>
              </a:lnSpc>
              <a:spcBef>
                <a:spcPts val="0"/>
              </a:spcBef>
              <a:spcAft>
                <a:spcPts val="0"/>
              </a:spcAft>
              <a:buClrTx/>
              <a:buSzTx/>
              <a:buFontTx/>
              <a:buNone/>
              <a:defRPr/>
            </a:pPr>
            <a:endParaRPr lang="en-US" sz="1200" b="0" i="0" kern="1200" dirty="0">
              <a:solidFill>
                <a:schemeClr val="tx1"/>
              </a:solidFill>
              <a:effectLst/>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defRPr/>
            </a:pPr>
            <a:r>
              <a:rPr lang="en-US" sz="1200" b="0" i="0" kern="1200" dirty="0">
                <a:solidFill>
                  <a:schemeClr val="tx1"/>
                </a:solidFill>
                <a:effectLst/>
                <a:latin typeface="+mn-lt"/>
                <a:ea typeface="+mn-ea"/>
                <a:cs typeface="+mn-cs"/>
              </a:rPr>
              <a:t>Procedures =</a:t>
            </a:r>
            <a:r>
              <a:rPr lang="en-US" sz="1200" b="0" i="0" kern="1200" baseline="0" dirty="0">
                <a:solidFill>
                  <a:schemeClr val="tx1"/>
                </a:solidFill>
                <a:effectLst/>
                <a:latin typeface="+mn-lt"/>
                <a:ea typeface="+mn-ea"/>
                <a:cs typeface="+mn-cs"/>
              </a:rPr>
              <a:t> How we do it</a:t>
            </a:r>
            <a:endParaRPr lang="en-US" sz="1200" b="0" i="0" kern="1200" dirty="0">
              <a:solidFill>
                <a:schemeClr val="tx1"/>
              </a:solidFill>
              <a:effectLst/>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defRPr/>
            </a:pPr>
            <a:r>
              <a:rPr lang="en-US" sz="1200" b="1" i="0" kern="1200" dirty="0">
                <a:solidFill>
                  <a:schemeClr val="tx1"/>
                </a:solidFill>
                <a:effectLst/>
                <a:latin typeface="+mn-lt"/>
                <a:ea typeface="+mn-ea"/>
                <a:cs typeface="+mn-cs"/>
              </a:rPr>
              <a:t>Procedures</a:t>
            </a:r>
            <a:r>
              <a:rPr lang="en-US" sz="1200" b="0" i="0" kern="1200" dirty="0">
                <a:solidFill>
                  <a:schemeClr val="tx1"/>
                </a:solidFill>
                <a:effectLst/>
                <a:latin typeface="+mn-lt"/>
                <a:ea typeface="+mn-ea"/>
                <a:cs typeface="+mn-cs"/>
              </a:rPr>
              <a:t> typically support a Policy by instructing employees on how to comply in action through day-to-day work activity</a:t>
            </a:r>
          </a:p>
          <a:p>
            <a:pPr marL="0" marR="0" indent="0" algn="l" defTabSz="457200" rtl="0" eaLnBrk="1" fontAlgn="auto" latinLnBrk="0" hangingPunct="1">
              <a:lnSpc>
                <a:spcPct val="100000"/>
              </a:lnSpc>
              <a:spcBef>
                <a:spcPts val="0"/>
              </a:spcBef>
              <a:spcAft>
                <a:spcPts val="0"/>
              </a:spcAft>
              <a:buClrTx/>
              <a:buSzTx/>
              <a:buFontTx/>
              <a:buNone/>
              <a:defRPr/>
            </a:pPr>
            <a:r>
              <a:rPr lang="en-US" sz="1200" b="0" i="0" kern="1200" dirty="0">
                <a:solidFill>
                  <a:schemeClr val="tx1"/>
                </a:solidFill>
                <a:effectLst/>
                <a:latin typeface="+mn-lt"/>
                <a:ea typeface="+mn-ea"/>
                <a:cs typeface="+mn-cs"/>
              </a:rPr>
              <a:t>-- must include </a:t>
            </a:r>
            <a:r>
              <a:rPr lang="en-US" sz="1200" b="1" i="1" kern="1200" dirty="0">
                <a:solidFill>
                  <a:schemeClr val="tx1"/>
                </a:solidFill>
                <a:effectLst/>
                <a:latin typeface="+mn-lt"/>
                <a:ea typeface="+mn-ea"/>
                <a:cs typeface="+mn-cs"/>
              </a:rPr>
              <a:t>who</a:t>
            </a:r>
            <a:r>
              <a:rPr lang="en-US" sz="1200" b="0" i="0" kern="1200" dirty="0">
                <a:solidFill>
                  <a:schemeClr val="tx1"/>
                </a:solidFill>
                <a:effectLst/>
                <a:latin typeface="+mn-lt"/>
                <a:ea typeface="+mn-ea"/>
                <a:cs typeface="+mn-cs"/>
              </a:rPr>
              <a:t> performs the steps, </a:t>
            </a:r>
            <a:r>
              <a:rPr lang="en-US" sz="1200" b="1" i="1" kern="1200" dirty="0">
                <a:solidFill>
                  <a:schemeClr val="tx1"/>
                </a:solidFill>
                <a:effectLst/>
                <a:latin typeface="+mn-lt"/>
                <a:ea typeface="+mn-ea"/>
                <a:cs typeface="+mn-cs"/>
              </a:rPr>
              <a:t>what</a:t>
            </a:r>
            <a:r>
              <a:rPr lang="en-US" sz="1200" b="0" i="0" kern="1200" dirty="0">
                <a:solidFill>
                  <a:schemeClr val="tx1"/>
                </a:solidFill>
                <a:effectLst/>
                <a:latin typeface="+mn-lt"/>
                <a:ea typeface="+mn-ea"/>
                <a:cs typeface="+mn-cs"/>
              </a:rPr>
              <a:t> steps are performed, </a:t>
            </a:r>
            <a:r>
              <a:rPr lang="en-US" sz="1200" b="1" i="1" kern="1200" dirty="0">
                <a:solidFill>
                  <a:schemeClr val="tx1"/>
                </a:solidFill>
                <a:effectLst/>
                <a:latin typeface="+mn-lt"/>
                <a:ea typeface="+mn-ea"/>
                <a:cs typeface="+mn-cs"/>
              </a:rPr>
              <a:t>when</a:t>
            </a:r>
            <a:r>
              <a:rPr lang="en-US" sz="1200" b="0" i="0" kern="1200" dirty="0">
                <a:solidFill>
                  <a:schemeClr val="tx1"/>
                </a:solidFill>
                <a:effectLst/>
                <a:latin typeface="+mn-lt"/>
                <a:ea typeface="+mn-ea"/>
                <a:cs typeface="+mn-cs"/>
              </a:rPr>
              <a:t> the steps are performed, and </a:t>
            </a:r>
            <a:r>
              <a:rPr lang="en-US" sz="1200" b="1" i="1" kern="1200" dirty="0">
                <a:solidFill>
                  <a:schemeClr val="tx1"/>
                </a:solidFill>
                <a:effectLst/>
                <a:latin typeface="+mn-lt"/>
                <a:ea typeface="+mn-ea"/>
                <a:cs typeface="+mn-cs"/>
              </a:rPr>
              <a:t>how</a:t>
            </a:r>
            <a:r>
              <a:rPr lang="en-US" sz="1200" b="0" i="0" kern="1200" dirty="0">
                <a:solidFill>
                  <a:schemeClr val="tx1"/>
                </a:solidFill>
                <a:effectLst/>
                <a:latin typeface="+mn-lt"/>
                <a:ea typeface="+mn-ea"/>
                <a:cs typeface="+mn-cs"/>
              </a:rPr>
              <a:t> the steps are performed  </a:t>
            </a:r>
          </a:p>
          <a:p>
            <a:endParaRPr lang="en-US" dirty="0"/>
          </a:p>
          <a:p>
            <a:r>
              <a:rPr lang="en-US" dirty="0"/>
              <a:t>Practices are what is done by individual and teams of employees to achieve short and long term objectives</a:t>
            </a:r>
          </a:p>
          <a:p>
            <a:r>
              <a:rPr lang="en-US" dirty="0"/>
              <a:t>--these can be formally outlined in a Policy with a procedure </a:t>
            </a:r>
          </a:p>
          <a:p>
            <a:r>
              <a:rPr lang="en-US" dirty="0"/>
              <a:t>--or informally followed by employees even if not in writing</a:t>
            </a:r>
          </a:p>
          <a:p>
            <a:endParaRPr lang="en-US" dirty="0"/>
          </a:p>
          <a:p>
            <a:r>
              <a:rPr lang="en-US" dirty="0"/>
              <a:t>Example. Policy 11.2 Employees must notify management of lateness to or absence from a</a:t>
            </a:r>
            <a:r>
              <a:rPr lang="en-US" baseline="0" dirty="0"/>
              <a:t> scheduled shift</a:t>
            </a:r>
          </a:p>
          <a:p>
            <a:endParaRPr lang="en-US" baseline="0" dirty="0"/>
          </a:p>
          <a:p>
            <a:r>
              <a:rPr lang="en-US" baseline="0" dirty="0"/>
              <a:t>Procedure for notification of lateness or absence</a:t>
            </a:r>
          </a:p>
          <a:p>
            <a:endParaRPr lang="en-US" baseline="0" dirty="0"/>
          </a:p>
          <a:p>
            <a:pPr marL="228600" indent="-228600">
              <a:buFont typeface="+mj-lt"/>
              <a:buAutoNum type="arabicPeriod"/>
            </a:pPr>
            <a:r>
              <a:rPr lang="en-US" baseline="0" dirty="0"/>
              <a:t>The employee must call his/her immediate supervisor to notify of lateness or absence</a:t>
            </a:r>
          </a:p>
          <a:p>
            <a:pPr marL="228600" indent="-228600">
              <a:buFont typeface="+mj-lt"/>
              <a:buAutoNum type="arabicPeriod"/>
            </a:pPr>
            <a:r>
              <a:rPr lang="en-US" baseline="0" dirty="0"/>
              <a:t>To notify of absence, the employee must call at least 2 hours prior to the start of the shift</a:t>
            </a:r>
          </a:p>
          <a:p>
            <a:pPr marL="228600" indent="-228600">
              <a:buFont typeface="+mj-lt"/>
              <a:buAutoNum type="arabicPeriod"/>
            </a:pPr>
            <a:r>
              <a:rPr lang="en-US" baseline="0" dirty="0"/>
              <a:t>To notify of lateness, the employee must call at least 30 minutes prior to start the shift.</a:t>
            </a:r>
          </a:p>
          <a:p>
            <a:pPr marL="228600" indent="-228600">
              <a:buFont typeface="+mj-lt"/>
              <a:buAutoNum type="arabicPeriod"/>
            </a:pPr>
            <a:r>
              <a:rPr lang="en-US" baseline="0" dirty="0"/>
              <a:t>When possible, the employee must find a person to cover his/her missed shift</a:t>
            </a:r>
          </a:p>
          <a:p>
            <a:pPr marL="228600" indent="-228600">
              <a:buFont typeface="+mj-lt"/>
              <a:buAutoNum type="arabicPeriod"/>
            </a:pPr>
            <a:r>
              <a:rPr lang="en-US" dirty="0"/>
              <a:t>Upon returning to work the employee must sign a form to acknowledge his/her</a:t>
            </a:r>
            <a:r>
              <a:rPr lang="en-US" baseline="0" dirty="0"/>
              <a:t> absence or lateness.</a:t>
            </a:r>
            <a:endParaRPr lang="en-US" dirty="0"/>
          </a:p>
          <a:p>
            <a:endParaRPr lang="en-US" baseline="0" dirty="0"/>
          </a:p>
          <a:p>
            <a:r>
              <a:rPr lang="en-US" baseline="0" dirty="0"/>
              <a:t>Informal: The hospital DG says “It is our practice that every employee helps patients find their way around the hospital campus.” There is no policy requiring employees to do this, but it is a practice.</a:t>
            </a:r>
          </a:p>
          <a:p>
            <a:endParaRPr lang="en-US" baseline="0" dirty="0"/>
          </a:p>
          <a:p>
            <a:r>
              <a:rPr lang="en-US" baseline="0" dirty="0"/>
              <a:t>Formal: “It is our practice that all employees were a ID badge in accordance with the ID badge policy.” This is a practice supported by a formal policy, although there is not a written Procedure for how to wear an ID badge. The method for identifying oneself on this hospital campus is through wearing an ID badge.</a:t>
            </a:r>
          </a:p>
          <a:p>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97</a:t>
            </a:fld>
            <a:endParaRPr lang="en-US" dirty="0">
              <a:solidFill>
                <a:prstClr val="black"/>
              </a:solidFil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98</a:t>
            </a:fld>
            <a:endParaRPr lang="en-US" dirty="0">
              <a:solidFill>
                <a:prstClr val="black"/>
              </a:solidFil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class for examples</a:t>
            </a:r>
          </a:p>
          <a:p>
            <a:r>
              <a:rPr lang="en-US" dirty="0"/>
              <a:t>Write on flip chart</a:t>
            </a:r>
          </a:p>
          <a:p>
            <a:r>
              <a:rPr lang="en-US" dirty="0"/>
              <a:t>Then reveal examples listed here</a:t>
            </a:r>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99</a:t>
            </a:fld>
            <a:endParaRPr lang="en-US" dirty="0">
              <a:solidFill>
                <a:prstClr val="black"/>
              </a:solidFil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class for examples</a:t>
            </a:r>
          </a:p>
          <a:p>
            <a:r>
              <a:rPr lang="en-US" dirty="0"/>
              <a:t>Write on flip chart</a:t>
            </a:r>
          </a:p>
          <a:p>
            <a:r>
              <a:rPr lang="en-US" dirty="0"/>
              <a:t>Then reveal examples listed here</a:t>
            </a:r>
          </a:p>
        </p:txBody>
      </p:sp>
      <p:sp>
        <p:nvSpPr>
          <p:cNvPr id="4" name="Slide Number Placeholder 3"/>
          <p:cNvSpPr>
            <a:spLocks noGrp="1"/>
          </p:cNvSpPr>
          <p:nvPr>
            <p:ph type="sldNum" sz="quarter" idx="10"/>
          </p:nvPr>
        </p:nvSpPr>
        <p:spPr/>
        <p:txBody>
          <a:bodyPr/>
          <a:lstStyle/>
          <a:p>
            <a:fld id="{711F3B99-13BD-8D49-AD0F-B5F34209BF44}" type="slidenum">
              <a:rPr lang="en-US" smtClean="0">
                <a:solidFill>
                  <a:prstClr val="black"/>
                </a:solidFill>
              </a:rPr>
              <a:t>101</a:t>
            </a:fld>
            <a:endParaRPr lang="en-US" dirty="0">
              <a:solidFill>
                <a:prstClr val="black"/>
              </a:solidFill>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B857768-56E3-4AA6-98DB-641F6DA0547F}" type="slidenum">
              <a:rPr lang="en-US" altLang="fr-FR">
                <a:solidFill>
                  <a:srgbClr val="000000"/>
                </a:solidFill>
              </a:rPr>
              <a:t>115</a:t>
            </a:fld>
            <a:endParaRPr lang="en-US" altLang="fr-FR">
              <a:solidFill>
                <a:srgbClr val="000000"/>
              </a:solidFill>
            </a:endParaRPr>
          </a:p>
        </p:txBody>
      </p:sp>
      <p:sp>
        <p:nvSpPr>
          <p:cNvPr id="61443" name="Rectangle 2"/>
          <p:cNvSpPr>
            <a:spLocks noGrp="1" noRot="1" noChangeAspect="1" noChangeArrowheads="1" noTextEdit="1"/>
          </p:cNvSpPr>
          <p:nvPr>
            <p:ph type="sldImg"/>
          </p:nvPr>
        </p:nvSpPr>
        <p:spPr/>
      </p:sp>
      <p:sp>
        <p:nvSpPr>
          <p:cNvPr id="56326" name="Rectangle 4"/>
          <p:cNvSpPr>
            <a:spLocks noGrp="1" noChangeArrowheads="1"/>
          </p:cNvSpPr>
          <p:nvPr>
            <p:ph type="body" idx="1"/>
          </p:nvPr>
        </p:nvSpPr>
        <p:spPr/>
        <p:txBody>
          <a:bodyPr>
            <a:normAutofit fontScale="92500"/>
          </a:bodyPr>
          <a:lstStyle/>
          <a:p>
            <a:pPr>
              <a:defRPr/>
            </a:pPr>
            <a:r>
              <a:rPr lang="en-US" dirty="0"/>
              <a:t>EXPLAIN that an efficient stock management depends upon accurate record keeping. Keeping records will:</a:t>
            </a:r>
          </a:p>
          <a:p>
            <a:pPr marL="231775" indent="-231775">
              <a:buFont typeface="Arial" panose="020B0604020202020204" pitchFamily="34" charset="0"/>
              <a:buChar char="•"/>
              <a:defRPr/>
            </a:pPr>
            <a:r>
              <a:rPr lang="en-US" dirty="0"/>
              <a:t>Save you time – you should know the quantity in stock without counting. Allows easy handover of the “store” to your colleague if you are not at work. </a:t>
            </a:r>
          </a:p>
          <a:p>
            <a:pPr marL="231775" indent="-231775">
              <a:buFont typeface="Arial" panose="020B0604020202020204" pitchFamily="34" charset="0"/>
              <a:buChar char="•"/>
              <a:defRPr/>
            </a:pPr>
            <a:r>
              <a:rPr lang="en-US" dirty="0"/>
              <a:t>Allow you to observe the pattern of consumption</a:t>
            </a:r>
          </a:p>
          <a:p>
            <a:pPr marL="231775" indent="-231775">
              <a:buFont typeface="Arial" panose="020B0604020202020204" pitchFamily="34" charset="0"/>
              <a:buChar char="•"/>
              <a:defRPr/>
            </a:pPr>
            <a:r>
              <a:rPr lang="en-US" dirty="0"/>
              <a:t>Protects you – You are protected against accusations of theft. You can also keep track of deliveries when they arrive, in case of disputes.</a:t>
            </a:r>
          </a:p>
          <a:p>
            <a:pPr marL="231775" indent="-231775">
              <a:buFont typeface="Arial" panose="020B0604020202020204" pitchFamily="34" charset="0"/>
              <a:buChar char="•"/>
              <a:defRPr/>
            </a:pPr>
            <a:r>
              <a:rPr lang="en-US" dirty="0"/>
              <a:t>Prevents over-stocking and under-stocking</a:t>
            </a:r>
          </a:p>
          <a:p>
            <a:pPr marL="231775" indent="-231775">
              <a:buFont typeface="Arial" panose="020B0604020202020204" pitchFamily="34" charset="0"/>
              <a:buChar char="•"/>
              <a:defRPr/>
            </a:pPr>
            <a:r>
              <a:rPr lang="en-US" dirty="0"/>
              <a:t>Allows for estimation of supplies for a year for budgeting purposes</a:t>
            </a:r>
          </a:p>
          <a:p>
            <a:pPr>
              <a:defRPr/>
            </a:pPr>
            <a:r>
              <a:rPr lang="en-US" dirty="0"/>
              <a:t>EXPLAIN all of the above points are accomplished by keeping two types of records for inventory control.</a:t>
            </a:r>
          </a:p>
          <a:p>
            <a:pPr marL="177800" indent="-177800">
              <a:buFont typeface="Arial" panose="020B0604020202020204" pitchFamily="34" charset="0"/>
              <a:buChar char="•"/>
              <a:defRPr/>
            </a:pPr>
            <a:r>
              <a:rPr lang="en-US" dirty="0"/>
              <a:t>Stock card</a:t>
            </a:r>
          </a:p>
          <a:p>
            <a:pPr marL="635000" lvl="1" indent="-177800">
              <a:buFont typeface="Arial" panose="020B0604020202020204" pitchFamily="34" charset="0"/>
              <a:buChar char="•"/>
              <a:defRPr/>
            </a:pPr>
            <a:r>
              <a:rPr lang="en-US" dirty="0"/>
              <a:t>Each item in stock must be recorded on a card.</a:t>
            </a:r>
          </a:p>
          <a:p>
            <a:pPr marL="635000" lvl="1" indent="-177800">
              <a:buFont typeface="Arial" panose="020B0604020202020204" pitchFamily="34" charset="0"/>
              <a:buChar char="•"/>
              <a:defRPr/>
            </a:pPr>
            <a:r>
              <a:rPr lang="en-US" dirty="0"/>
              <a:t>This card can simply be a heavyweight index card.</a:t>
            </a:r>
          </a:p>
          <a:p>
            <a:pPr marL="635000" lvl="1" indent="-177800">
              <a:buFont typeface="Arial" panose="020B0604020202020204" pitchFamily="34" charset="0"/>
              <a:buChar char="•"/>
              <a:defRPr/>
            </a:pPr>
            <a:r>
              <a:rPr lang="en-US" dirty="0"/>
              <a:t>For ease of use and access, the cards should be stored in alphabetical order according to the item name.</a:t>
            </a:r>
          </a:p>
          <a:p>
            <a:pPr marL="177800" indent="-177800">
              <a:buFont typeface="Arial" panose="020B0604020202020204" pitchFamily="34" charset="0"/>
              <a:buChar char="•"/>
              <a:defRPr/>
            </a:pPr>
            <a:r>
              <a:rPr lang="en-US" dirty="0"/>
              <a:t>Stock book</a:t>
            </a:r>
          </a:p>
          <a:p>
            <a:pPr marL="635000" lvl="1" indent="-177800">
              <a:buFont typeface="Arial" panose="020B0604020202020204" pitchFamily="34" charset="0"/>
              <a:buChar char="•"/>
              <a:defRPr/>
            </a:pPr>
            <a:r>
              <a:rPr lang="en-US" dirty="0"/>
              <a:t>The stock book contains a listing of all items in the “store”.</a:t>
            </a:r>
          </a:p>
          <a:p>
            <a:pPr marL="635000" lvl="1" indent="-177800">
              <a:buFont typeface="Arial" panose="020B0604020202020204" pitchFamily="34" charset="0"/>
              <a:buChar char="•"/>
              <a:defRPr/>
            </a:pPr>
            <a:r>
              <a:rPr lang="en-US" dirty="0"/>
              <a:t>It must be routinely updated when orders are placed and received.</a:t>
            </a:r>
          </a:p>
          <a:p>
            <a:pPr marL="635000" lvl="1" indent="-177800">
              <a:buFont typeface="Arial" panose="020B0604020202020204" pitchFamily="34" charset="0"/>
              <a:buChar char="•"/>
              <a:defRPr/>
            </a:pPr>
            <a:r>
              <a:rPr lang="en-US" dirty="0"/>
              <a:t>It also serves as a source of reference to track orders that have been placed and not received.</a:t>
            </a:r>
          </a:p>
          <a:p>
            <a:pPr marL="635000" lvl="1" indent="-177800">
              <a:buFont typeface="Arial" panose="020B0604020202020204" pitchFamily="34" charset="0"/>
              <a:buChar char="•"/>
              <a:defRPr/>
            </a:pPr>
            <a:r>
              <a:rPr lang="en-US" dirty="0"/>
              <a:t>The information recorded in the stock book may help a site adjust the lead times based on history of deliveries. Using an accurate lead time will better ensure that a site has on hand the materials needed to conduct HIV rapid testing.</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AEE0B19-5E25-4619-9635-6873D1809498}" type="slidenum">
              <a:rPr lang="en-US" altLang="fr-FR">
                <a:solidFill>
                  <a:srgbClr val="000000"/>
                </a:solidFill>
              </a:rPr>
              <a:t>116</a:t>
            </a:fld>
            <a:endParaRPr lang="en-US" altLang="fr-FR">
              <a:solidFill>
                <a:srgbClr val="000000"/>
              </a:solidFill>
            </a:endParaRPr>
          </a:p>
        </p:txBody>
      </p:sp>
      <p:sp>
        <p:nvSpPr>
          <p:cNvPr id="62467" name="Rectangle 2"/>
          <p:cNvSpPr>
            <a:spLocks noGrp="1" noRot="1" noChangeAspect="1" noChangeArrowheads="1" noTextEdit="1"/>
          </p:cNvSpPr>
          <p:nvPr>
            <p:ph type="sldImg"/>
          </p:nvPr>
        </p:nvSpPr>
        <p:spPr/>
      </p:sp>
      <p:sp>
        <p:nvSpPr>
          <p:cNvPr id="57350" name="Rectangle 4"/>
          <p:cNvSpPr>
            <a:spLocks noGrp="1" noChangeArrowheads="1"/>
          </p:cNvSpPr>
          <p:nvPr>
            <p:ph type="body" idx="1"/>
          </p:nvPr>
        </p:nvSpPr>
        <p:spPr/>
        <p:txBody>
          <a:bodyPr/>
          <a:lstStyle/>
          <a:p>
            <a:pPr>
              <a:defRPr/>
            </a:pPr>
            <a:r>
              <a:rPr lang="en-US" b="1" dirty="0"/>
              <a:t>Reiterate </a:t>
            </a:r>
            <a:r>
              <a:rPr lang="en-US" dirty="0"/>
              <a:t>that each item used in the laboratory should be recorded on a stock card.</a:t>
            </a:r>
          </a:p>
          <a:p>
            <a:pPr>
              <a:defRPr/>
            </a:pPr>
            <a:endParaRPr lang="en-US" b="1" dirty="0"/>
          </a:p>
          <a:p>
            <a:pPr>
              <a:defRPr/>
            </a:pPr>
            <a:r>
              <a:rPr lang="en-US" b="1" dirty="0"/>
              <a:t>Explain </a:t>
            </a:r>
            <a:r>
              <a:rPr lang="en-US" dirty="0"/>
              <a:t>how to complete a sample stock card using a genotyping reagent as an example:</a:t>
            </a:r>
          </a:p>
          <a:p>
            <a:pPr>
              <a:defRPr/>
            </a:pPr>
            <a:endParaRPr lang="en-US" dirty="0"/>
          </a:p>
          <a:p>
            <a:pPr marL="231775" indent="-231775">
              <a:buFont typeface="Arial" panose="020B0604020202020204" pitchFamily="34" charset="0"/>
              <a:buChar char="•"/>
              <a:defRPr/>
            </a:pPr>
            <a:r>
              <a:rPr lang="en-US" dirty="0"/>
              <a:t>Item Name – “Reagent Name”</a:t>
            </a:r>
          </a:p>
          <a:p>
            <a:pPr marL="231775" indent="-231775">
              <a:buFont typeface="Arial" panose="020B0604020202020204" pitchFamily="34" charset="0"/>
              <a:buChar char="•"/>
              <a:defRPr/>
            </a:pPr>
            <a:r>
              <a:rPr lang="en-US" dirty="0"/>
              <a:t>Unit – The number per box or container, e.g., 100 tests</a:t>
            </a:r>
          </a:p>
          <a:p>
            <a:pPr marL="231775" indent="-231775">
              <a:buFont typeface="Arial" panose="020B0604020202020204" pitchFamily="34" charset="0"/>
              <a:buChar char="•"/>
              <a:defRPr/>
            </a:pPr>
            <a:r>
              <a:rPr lang="en-US" dirty="0"/>
              <a:t>per kit</a:t>
            </a:r>
          </a:p>
          <a:p>
            <a:pPr marL="231775" indent="-231775">
              <a:buFont typeface="Arial" panose="020B0604020202020204" pitchFamily="34" charset="0"/>
              <a:buChar char="•"/>
              <a:defRPr/>
            </a:pPr>
            <a:r>
              <a:rPr lang="en-US" dirty="0"/>
              <a:t>Minimum Stock is calculated based on the usage rates (to be explained later)</a:t>
            </a:r>
          </a:p>
          <a:p>
            <a:pPr marL="231775" indent="-231775">
              <a:buFont typeface="Arial" panose="020B0604020202020204" pitchFamily="34" charset="0"/>
              <a:buChar char="•"/>
              <a:defRPr/>
            </a:pPr>
            <a:r>
              <a:rPr lang="en-US" dirty="0"/>
              <a:t>Received from and issued to –</a:t>
            </a:r>
            <a:r>
              <a:rPr lang="en-US" i="1" dirty="0"/>
              <a:t>This is country specific</a:t>
            </a:r>
            <a:endParaRPr lang="en-US" dirty="0"/>
          </a:p>
          <a:p>
            <a:pPr marL="231775" indent="-231775">
              <a:buFont typeface="Arial" panose="020B0604020202020204" pitchFamily="34" charset="0"/>
              <a:buChar char="•"/>
              <a:defRPr/>
            </a:pPr>
            <a:r>
              <a:rPr lang="en-US" dirty="0"/>
              <a:t>Balance – must be recorded each time a stock item is received of issued.</a:t>
            </a:r>
          </a:p>
          <a:p>
            <a:pPr marL="231775" indent="-231775">
              <a:buFont typeface="Arial" panose="020B0604020202020204" pitchFamily="34" charset="0"/>
              <a:buChar char="•"/>
              <a:defRPr/>
            </a:pPr>
            <a:r>
              <a:rPr lang="en-US" dirty="0"/>
              <a:t>Note: Record regent lot number and testing new lot if the newly received lot number is different from the one you have and placed “ready to use label after lot to lot comparison is done and passed the test.</a:t>
            </a:r>
          </a:p>
          <a:p>
            <a:pPr>
              <a:defRPr/>
            </a:pPr>
            <a:endParaRPr lang="en-US" dirty="0"/>
          </a:p>
          <a:p>
            <a:pPr>
              <a:defRPr/>
            </a:pPr>
            <a:r>
              <a:rPr lang="en-US" b="1" dirty="0"/>
              <a:t>Emphasize </a:t>
            </a:r>
            <a:r>
              <a:rPr lang="en-US" dirty="0"/>
              <a:t>that a physical stock count should be performed monthly, with this total indicated on the form. Any discrepancies should be noted and investigated</a:t>
            </a:r>
          </a:p>
          <a:p>
            <a:pPr>
              <a:defRPr/>
            </a:pPr>
            <a:endParaRPr lang="en-US" dirty="0"/>
          </a:p>
          <a:p>
            <a:pPr>
              <a:defRPr/>
            </a:pPr>
            <a:r>
              <a:rPr lang="en-US" b="1" dirty="0"/>
              <a:t>Refer </a:t>
            </a:r>
            <a:r>
              <a:rPr lang="en-US" dirty="0"/>
              <a:t>participants to their manual for examples of completed stock cards. Answer any questions they may have about the stock card examples.</a:t>
            </a:r>
          </a:p>
          <a:p>
            <a:pPr>
              <a:defRPr/>
            </a:pPr>
            <a:endParaRPr lang="en-US" dirty="0">
              <a:solidFill>
                <a:srgbClr val="FF0000"/>
              </a:solidFill>
            </a:endParaRPr>
          </a:p>
          <a:p>
            <a:pPr>
              <a:defRPr/>
            </a:pPr>
            <a:endParaRPr 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8EB76AC-4568-4700-8279-24DFF2260E26}" type="slidenum">
              <a:rPr lang="en-US" altLang="fr-FR">
                <a:solidFill>
                  <a:srgbClr val="000000"/>
                </a:solidFill>
              </a:rPr>
              <a:t>117</a:t>
            </a:fld>
            <a:endParaRPr lang="en-US" altLang="fr-FR">
              <a:solidFill>
                <a:srgbClr val="000000"/>
              </a:solidFill>
            </a:endParaRPr>
          </a:p>
        </p:txBody>
      </p:sp>
      <p:sp>
        <p:nvSpPr>
          <p:cNvPr id="63491" name="Rectangle 2"/>
          <p:cNvSpPr>
            <a:spLocks noGrp="1" noRot="1" noChangeAspect="1" noChangeArrowheads="1" noTextEdit="1"/>
          </p:cNvSpPr>
          <p:nvPr>
            <p:ph type="sldImg"/>
          </p:nvPr>
        </p:nvSpPr>
        <p:spPr/>
      </p:sp>
      <p:sp>
        <p:nvSpPr>
          <p:cNvPr id="63492" name="Rectangle 4"/>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FR" b="1">
                <a:latin typeface="Arial" panose="020B0604020202020204" pitchFamily="34" charset="0"/>
                <a:cs typeface="Arial" panose="020B0604020202020204" pitchFamily="34" charset="0"/>
              </a:rPr>
              <a:t>Explain </a:t>
            </a:r>
            <a:r>
              <a:rPr lang="en-US" altLang="fr-FR">
                <a:latin typeface="Arial" panose="020B0604020202020204" pitchFamily="34" charset="0"/>
                <a:cs typeface="Arial" panose="020B0604020202020204" pitchFamily="34" charset="0"/>
              </a:rPr>
              <a:t>how to complete a sample stock book.</a:t>
            </a:r>
          </a:p>
          <a:p>
            <a:endParaRPr lang="en-US" altLang="fr-FR">
              <a:latin typeface="Arial" panose="020B0604020202020204" pitchFamily="34" charset="0"/>
              <a:cs typeface="Arial" panose="020B0604020202020204" pitchFamily="34" charset="0"/>
            </a:endParaRPr>
          </a:p>
          <a:p>
            <a:r>
              <a:rPr lang="en-US" altLang="fr-FR" b="1">
                <a:latin typeface="Arial" panose="020B0604020202020204" pitchFamily="34" charset="0"/>
                <a:cs typeface="Arial" panose="020B0604020202020204" pitchFamily="34" charset="0"/>
              </a:rPr>
              <a:t>Refer </a:t>
            </a:r>
            <a:r>
              <a:rPr lang="en-US" altLang="fr-FR">
                <a:latin typeface="Arial" panose="020B0604020202020204" pitchFamily="34" charset="0"/>
                <a:cs typeface="Arial" panose="020B0604020202020204" pitchFamily="34" charset="0"/>
              </a:rPr>
              <a:t>participants to their manual for examples of a completed form in a stock book. Answer any questions they may have about the examples.</a:t>
            </a:r>
          </a:p>
          <a:p>
            <a:endParaRPr lang="en-US" altLang="fr-FR">
              <a:latin typeface="Arial" panose="020B0604020202020204" pitchFamily="34" charset="0"/>
              <a:cs typeface="Arial" panose="020B0604020202020204" pitchFamily="34"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Rot="1" noChangeAspect="1" noChangeArrowheads="1" noTextEdit="1"/>
          </p:cNvSpPr>
          <p:nvPr>
            <p:ph type="sldImg"/>
          </p:nvPr>
        </p:nvSpPr>
        <p:spPr/>
      </p:sp>
      <p:sp>
        <p:nvSpPr>
          <p:cNvPr id="201731" name="Rectangle 3"/>
          <p:cNvSpPr>
            <a:spLocks noGrp="1" noChangeArrowheads="1"/>
          </p:cNvSpPr>
          <p:nvPr>
            <p:ph type="body" idx="1"/>
          </p:nvPr>
        </p:nvSpPr>
        <p:spPr>
          <a:noFill/>
        </p:spPr>
        <p:txBody>
          <a:bodyPr/>
          <a:lstStyle/>
          <a:p>
            <a:pPr>
              <a:lnSpc>
                <a:spcPct val="80000"/>
              </a:lnSpc>
              <a:buFontTx/>
              <a:buChar char="•"/>
            </a:pPr>
            <a:r>
              <a:rPr lang="en-US" sz="1000"/>
              <a:t>Once you understand all these 6 terms, you will understand how to perform supply chain calculations.</a:t>
            </a:r>
          </a:p>
          <a:p>
            <a:pPr>
              <a:lnSpc>
                <a:spcPct val="80000"/>
              </a:lnSpc>
              <a:buFontTx/>
              <a:buChar char="•"/>
            </a:pPr>
            <a:r>
              <a:rPr lang="en-US" sz="1000"/>
              <a:t>Maximum Level </a:t>
            </a:r>
          </a:p>
          <a:p>
            <a:pPr lvl="1">
              <a:lnSpc>
                <a:spcPct val="80000"/>
              </a:lnSpc>
              <a:buFontTx/>
              <a:buChar char="•"/>
            </a:pPr>
            <a:r>
              <a:rPr lang="en-US" sz="1000" i="1"/>
              <a:t>TEACHER: What does maximum level mean?</a:t>
            </a:r>
          </a:p>
          <a:p>
            <a:pPr lvl="2">
              <a:lnSpc>
                <a:spcPct val="80000"/>
              </a:lnSpc>
              <a:buFontTx/>
              <a:buChar char="•"/>
            </a:pPr>
            <a:r>
              <a:rPr lang="en-US" sz="1000" i="1"/>
              <a:t>The level that you want your maximum stock of 1 item to be.</a:t>
            </a:r>
          </a:p>
          <a:p>
            <a:pPr lvl="1">
              <a:lnSpc>
                <a:spcPct val="80000"/>
              </a:lnSpc>
              <a:buFontTx/>
              <a:buChar char="•"/>
            </a:pPr>
            <a:r>
              <a:rPr lang="en-US" sz="1000"/>
              <a:t>Calculated as a certain number of months of stock</a:t>
            </a:r>
          </a:p>
          <a:p>
            <a:pPr>
              <a:lnSpc>
                <a:spcPct val="80000"/>
              </a:lnSpc>
              <a:buFontTx/>
              <a:buChar char="•"/>
            </a:pPr>
            <a:r>
              <a:rPr lang="en-US" sz="1000"/>
              <a:t>Minimum Level?</a:t>
            </a:r>
          </a:p>
          <a:p>
            <a:pPr lvl="1">
              <a:lnSpc>
                <a:spcPct val="80000"/>
              </a:lnSpc>
              <a:buFontTx/>
              <a:buChar char="•"/>
            </a:pPr>
            <a:r>
              <a:rPr lang="en-US" sz="1000" i="1"/>
              <a:t>TEACHER: What does minimum level means?</a:t>
            </a:r>
          </a:p>
          <a:p>
            <a:pPr lvl="2">
              <a:lnSpc>
                <a:spcPct val="80000"/>
              </a:lnSpc>
              <a:buFontTx/>
              <a:buChar char="•"/>
            </a:pPr>
            <a:r>
              <a:rPr lang="en-US" sz="1000" i="1"/>
              <a:t>The minimum level of stock you want in stock. When you hit the minimum level, you want to reorder.</a:t>
            </a:r>
          </a:p>
          <a:p>
            <a:pPr>
              <a:lnSpc>
                <a:spcPct val="80000"/>
              </a:lnSpc>
              <a:buFontTx/>
              <a:buChar char="•"/>
            </a:pPr>
            <a:r>
              <a:rPr lang="en-US" sz="1000"/>
              <a:t>Review Period</a:t>
            </a:r>
          </a:p>
          <a:p>
            <a:pPr lvl="1">
              <a:lnSpc>
                <a:spcPct val="80000"/>
              </a:lnSpc>
              <a:buFontTx/>
              <a:buChar char="•"/>
            </a:pPr>
            <a:r>
              <a:rPr lang="en-US" sz="1000"/>
              <a:t>Depends on the hospital – how often do you reorder? You have to know this. </a:t>
            </a:r>
          </a:p>
          <a:p>
            <a:pPr lvl="1">
              <a:lnSpc>
                <a:spcPct val="80000"/>
              </a:lnSpc>
              <a:buFontTx/>
              <a:buChar char="•"/>
            </a:pPr>
            <a:r>
              <a:rPr lang="en-US" sz="1000"/>
              <a:t>TEACHER: Why is this important and how does it affect your inventory?</a:t>
            </a:r>
          </a:p>
          <a:p>
            <a:pPr lvl="2">
              <a:lnSpc>
                <a:spcPct val="80000"/>
              </a:lnSpc>
              <a:buFontTx/>
              <a:buChar char="•"/>
            </a:pPr>
            <a:r>
              <a:rPr lang="en-US" sz="1000"/>
              <a:t>STUDENT: It affects how much you want to buy at one time!</a:t>
            </a:r>
          </a:p>
          <a:p>
            <a:pPr>
              <a:lnSpc>
                <a:spcPct val="80000"/>
              </a:lnSpc>
              <a:buFontTx/>
              <a:buChar char="•"/>
            </a:pPr>
            <a:r>
              <a:rPr lang="en-US" sz="1000"/>
              <a:t>Safety stock level</a:t>
            </a:r>
          </a:p>
          <a:p>
            <a:pPr lvl="1">
              <a:lnSpc>
                <a:spcPct val="80000"/>
              </a:lnSpc>
              <a:buFontTx/>
              <a:buChar char="•"/>
            </a:pPr>
            <a:r>
              <a:rPr lang="en-US" sz="1000"/>
              <a:t>Buffer stock kept on hand to protect against stock outs. </a:t>
            </a:r>
          </a:p>
          <a:p>
            <a:pPr lvl="1">
              <a:lnSpc>
                <a:spcPct val="80000"/>
              </a:lnSpc>
              <a:buFontTx/>
              <a:buChar char="•"/>
            </a:pPr>
            <a:r>
              <a:rPr lang="en-US" sz="1000"/>
              <a:t>Example: what if your there is a lot of floods in the area and supplies can’t be delivered? Your safety stock level prevents again stock outs.</a:t>
            </a:r>
          </a:p>
          <a:p>
            <a:pPr>
              <a:lnSpc>
                <a:spcPct val="80000"/>
              </a:lnSpc>
              <a:buFontTx/>
              <a:buChar char="•"/>
            </a:pPr>
            <a:r>
              <a:rPr lang="en-US" sz="1000"/>
              <a:t>Lead time</a:t>
            </a:r>
          </a:p>
          <a:p>
            <a:pPr lvl="1">
              <a:lnSpc>
                <a:spcPct val="80000"/>
              </a:lnSpc>
              <a:buFontTx/>
              <a:buChar char="•"/>
            </a:pPr>
            <a:r>
              <a:rPr lang="en-US" sz="1000"/>
              <a:t>The time from when you reorder to when items arrive (time between ordering and receiving)</a:t>
            </a:r>
          </a:p>
          <a:p>
            <a:pPr>
              <a:lnSpc>
                <a:spcPct val="80000"/>
              </a:lnSpc>
              <a:buFontTx/>
              <a:buChar char="•"/>
            </a:pPr>
            <a:r>
              <a:rPr lang="en-US" sz="1000"/>
              <a:t>Emergency Stock Level</a:t>
            </a:r>
          </a:p>
          <a:p>
            <a:pPr lvl="1">
              <a:lnSpc>
                <a:spcPct val="80000"/>
              </a:lnSpc>
              <a:buFontTx/>
              <a:buChar char="•"/>
            </a:pPr>
            <a:r>
              <a:rPr lang="en-US" sz="1000"/>
              <a:t>One step lower than safety stock level. </a:t>
            </a:r>
          </a:p>
          <a:p>
            <a:pPr lvl="1">
              <a:lnSpc>
                <a:spcPct val="80000"/>
              </a:lnSpc>
              <a:buFontTx/>
              <a:buChar char="•"/>
            </a:pPr>
            <a:r>
              <a:rPr lang="en-US" sz="1000"/>
              <a:t>When you hit this level, it means no matter what, you need to procure stock, even if you have to borrow from other hospitals.</a:t>
            </a:r>
          </a:p>
          <a:p>
            <a:pPr>
              <a:lnSpc>
                <a:spcPct val="80000"/>
              </a:lnSpc>
            </a:pPr>
            <a:endParaRPr lang="en-US" sz="10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4960137"/>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E27D2B86-5DB3-4ACB-B307-9E116079FF38}"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5F0570-84FE-4B7B-8DB5-40483C6435D3}"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7D2B86-5DB3-4ACB-B307-9E116079FF38}"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5F0570-84FE-4B7B-8DB5-40483C6435D3}"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7D2B86-5DB3-4ACB-B307-9E116079FF38}"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5F0570-84FE-4B7B-8DB5-40483C6435D3}"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27D2B86-5DB3-4ACB-B307-9E116079FF38}" type="datetimeFigureOut">
              <a:rPr lang="en-US" smtClean="0"/>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5F0570-84FE-4B7B-8DB5-40483C6435D3}"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68096"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4491990"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27D2B86-5DB3-4ACB-B307-9E116079FF38}" type="datetimeFigureOut">
              <a:rPr lang="en-US" smtClean="0"/>
              <a:t>1/31/2026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85F0570-84FE-4B7B-8DB5-40483C6435D3}"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27D2B86-5DB3-4ACB-B307-9E116079FF38}" type="datetimeFigureOut">
              <a:rPr lang="en-US" smtClean="0"/>
              <a:t>1/31/2026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85F0570-84FE-4B7B-8DB5-40483C6435D3}"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7D2B86-5DB3-4ACB-B307-9E116079FF38}" type="datetimeFigureOut">
              <a:rPr lang="en-US" smtClean="0"/>
              <a:t>1/31/2026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85F0570-84FE-4B7B-8DB5-40483C6435D3}"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en-US"/>
              <a:t>Click to edit Master title style</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7D2B86-5DB3-4ACB-B307-9E116079FF38}" type="datetimeFigureOut">
              <a:rPr lang="en-US" smtClean="0"/>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5F0570-84FE-4B7B-8DB5-40483C6435D3}"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9141714"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E27D2B86-5DB3-4ACB-B307-9E116079FF38}" type="datetimeFigureOut">
              <a:rPr lang="en-US" smtClean="0"/>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5F0570-84FE-4B7B-8DB5-40483C6435D3}"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7D2B86-5DB3-4ACB-B307-9E116079FF38}"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5F0570-84FE-4B7B-8DB5-40483C6435D3}"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7D2B86-5DB3-4ACB-B307-9E116079FF38}"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5F0570-84FE-4B7B-8DB5-40483C6435D3}" type="slidenum">
              <a:rPr lang="en-US" smtClean="0"/>
              <a:t>‹#›</a:t>
            </a:fld>
            <a:endParaRPr lang="en-US"/>
          </a:p>
        </p:txBody>
      </p:sp>
      <p:cxnSp>
        <p:nvCxnSpPr>
          <p:cNvPr id="7" name="Straight Connector 6"/>
          <p:cNvCxnSpPr/>
          <p:nvPr/>
        </p:nvCxnSpPr>
        <p:spPr>
          <a:xfrm rot="5400000" flipV="1">
            <a:off x="7543800" y="17356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5" descr="WHO_P285 without words light blue bk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3789363"/>
            <a:ext cx="2447925" cy="227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6"/>
          <p:cNvSpPr>
            <a:spLocks noChangeArrowheads="1"/>
          </p:cNvSpPr>
          <p:nvPr/>
        </p:nvSpPr>
        <p:spPr bwMode="auto">
          <a:xfrm>
            <a:off x="0" y="933450"/>
            <a:ext cx="9144000" cy="2546350"/>
          </a:xfrm>
          <a:prstGeom prst="rect">
            <a:avLst/>
          </a:prstGeom>
          <a:gradFill rotWithShape="1">
            <a:gsLst>
              <a:gs pos="0">
                <a:srgbClr val="3366FF">
                  <a:gamma/>
                  <a:shade val="46275"/>
                  <a:invGamma/>
                </a:srgbClr>
              </a:gs>
              <a:gs pos="50000">
                <a:srgbClr val="3366FF"/>
              </a:gs>
              <a:gs pos="100000">
                <a:srgbClr val="3366FF">
                  <a:gamma/>
                  <a:shade val="46275"/>
                  <a:invGamma/>
                </a:srgbClr>
              </a:gs>
            </a:gsLst>
            <a:lin ang="5400000" scaled="1"/>
          </a:gradFill>
          <a:ln w="9525">
            <a:noFill/>
            <a:miter lim="800000"/>
          </a:ln>
          <a:effectLst/>
        </p:spPr>
        <p:txBody>
          <a:bodyPr wrap="none" anchor="ctr"/>
          <a:lstStyle/>
          <a:p>
            <a:pPr fontAlgn="base">
              <a:spcBef>
                <a:spcPct val="0"/>
              </a:spcBef>
              <a:spcAft>
                <a:spcPct val="0"/>
              </a:spcAft>
              <a:defRPr/>
            </a:pPr>
            <a:endParaRPr lang="en-US">
              <a:solidFill>
                <a:srgbClr val="000000"/>
              </a:solidFill>
              <a:latin typeface="Arial" panose="020B0604020202020204" pitchFamily="34" charset="0"/>
            </a:endParaRPr>
          </a:p>
        </p:txBody>
      </p:sp>
      <p:sp>
        <p:nvSpPr>
          <p:cNvPr id="6" name="Line 7"/>
          <p:cNvSpPr>
            <a:spLocks noChangeShapeType="1"/>
          </p:cNvSpPr>
          <p:nvPr/>
        </p:nvSpPr>
        <p:spPr bwMode="auto">
          <a:xfrm>
            <a:off x="0" y="874713"/>
            <a:ext cx="9144000" cy="0"/>
          </a:xfrm>
          <a:prstGeom prst="line">
            <a:avLst/>
          </a:prstGeom>
          <a:noFill/>
          <a:ln w="38100">
            <a:solidFill>
              <a:srgbClr val="CC3300"/>
            </a:solidFill>
            <a:round/>
          </a:ln>
          <a:effectLst/>
        </p:spPr>
        <p:txBody>
          <a:bodyPr/>
          <a:lstStyle/>
          <a:p>
            <a:pPr fontAlgn="base">
              <a:spcBef>
                <a:spcPct val="0"/>
              </a:spcBef>
              <a:spcAft>
                <a:spcPct val="0"/>
              </a:spcAft>
              <a:defRPr/>
            </a:pPr>
            <a:endParaRPr lang="en-US">
              <a:solidFill>
                <a:srgbClr val="000000"/>
              </a:solidFill>
              <a:latin typeface="Arial" panose="020B0604020202020204" pitchFamily="34" charset="0"/>
            </a:endParaRPr>
          </a:p>
        </p:txBody>
      </p:sp>
      <p:sp>
        <p:nvSpPr>
          <p:cNvPr id="7" name="Line 8"/>
          <p:cNvSpPr>
            <a:spLocks noChangeShapeType="1"/>
          </p:cNvSpPr>
          <p:nvPr/>
        </p:nvSpPr>
        <p:spPr bwMode="auto">
          <a:xfrm>
            <a:off x="0" y="3530600"/>
            <a:ext cx="9144000" cy="0"/>
          </a:xfrm>
          <a:prstGeom prst="line">
            <a:avLst/>
          </a:prstGeom>
          <a:noFill/>
          <a:ln w="38100">
            <a:solidFill>
              <a:srgbClr val="CC3300"/>
            </a:solidFill>
            <a:round/>
          </a:ln>
          <a:effectLst/>
        </p:spPr>
        <p:txBody>
          <a:bodyPr/>
          <a:lstStyle/>
          <a:p>
            <a:pPr fontAlgn="base">
              <a:spcBef>
                <a:spcPct val="0"/>
              </a:spcBef>
              <a:spcAft>
                <a:spcPct val="0"/>
              </a:spcAft>
              <a:defRPr/>
            </a:pPr>
            <a:endParaRPr lang="en-US">
              <a:solidFill>
                <a:srgbClr val="000000"/>
              </a:solidFill>
              <a:latin typeface="Arial" panose="020B0604020202020204" pitchFamily="34" charset="0"/>
            </a:endParaRPr>
          </a:p>
        </p:txBody>
      </p:sp>
      <p:sp>
        <p:nvSpPr>
          <p:cNvPr id="259075" name="Rectangle 3"/>
          <p:cNvSpPr>
            <a:spLocks noGrp="1" noChangeArrowheads="1"/>
          </p:cNvSpPr>
          <p:nvPr>
            <p:ph type="ctrTitle"/>
          </p:nvPr>
        </p:nvSpPr>
        <p:spPr>
          <a:xfrm>
            <a:off x="685800" y="1268413"/>
            <a:ext cx="7772400" cy="1470025"/>
          </a:xfrm>
        </p:spPr>
        <p:txBody>
          <a:bodyPr/>
          <a:lstStyle>
            <a:lvl1pPr>
              <a:defRPr/>
            </a:lvl1pPr>
          </a:lstStyle>
          <a:p>
            <a:r>
              <a:rPr lang="en-US"/>
              <a:t>Click to edit Master title style</a:t>
            </a:r>
          </a:p>
        </p:txBody>
      </p:sp>
      <p:sp>
        <p:nvSpPr>
          <p:cNvPr id="259076" name="Rectangle 4"/>
          <p:cNvSpPr>
            <a:spLocks noGrp="1" noChangeArrowheads="1"/>
          </p:cNvSpPr>
          <p:nvPr>
            <p:ph type="subTitle" idx="1"/>
          </p:nvPr>
        </p:nvSpPr>
        <p:spPr>
          <a:xfrm>
            <a:off x="3419475" y="4005263"/>
            <a:ext cx="4279900" cy="867930"/>
          </a:xfrm>
        </p:spPr>
        <p:txBody>
          <a:bodyPr/>
          <a:lstStyle>
            <a:lvl1pPr marL="0" indent="0">
              <a:spcAft>
                <a:spcPct val="75000"/>
              </a:spcAft>
              <a:buFont typeface="Wingdings" panose="05000000000000000000" pitchFamily="2" charset="2"/>
              <a:buNone/>
              <a:defRPr sz="2800" b="1" i="0">
                <a:solidFill>
                  <a:srgbClr val="C00000"/>
                </a:solidFill>
              </a:defRPr>
            </a:lvl1pPr>
          </a:lstStyle>
          <a:p>
            <a:r>
              <a:rPr lang="en-US" dirty="0"/>
              <a:t>Click to edit Master subtitle style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cxnSp>
        <p:nvCxnSpPr>
          <p:cNvPr id="4" name="Straight Connector 3"/>
          <p:cNvCxnSpPr/>
          <p:nvPr userDrawn="1"/>
        </p:nvCxnSpPr>
        <p:spPr>
          <a:xfrm>
            <a:off x="739775" y="3925888"/>
            <a:ext cx="7691438" cy="14287"/>
          </a:xfrm>
          <a:prstGeom prst="line">
            <a:avLst/>
          </a:prstGeom>
          <a:ln cmpd="tri">
            <a:solidFill>
              <a:srgbClr val="C00000"/>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22313" y="2528048"/>
            <a:ext cx="7951040" cy="1398493"/>
          </a:xfrm>
        </p:spPr>
        <p:txBody>
          <a:bodyPr anchor="t"/>
          <a:lstStyle>
            <a:lvl1pPr algn="l">
              <a:defRPr sz="3600" b="1" cap="none" baseline="0">
                <a:solidFill>
                  <a:schemeClr val="accent6">
                    <a:lumMod val="75000"/>
                  </a:schemeClr>
                </a:solidFill>
              </a:defRPr>
            </a:lvl1pPr>
          </a:lstStyle>
          <a:p>
            <a:r>
              <a:rPr lang="en-US" dirty="0"/>
              <a:t>Click to edit Master title style</a:t>
            </a:r>
          </a:p>
        </p:txBody>
      </p:sp>
      <p:sp>
        <p:nvSpPr>
          <p:cNvPr id="3" name="Text Placeholder 2"/>
          <p:cNvSpPr>
            <a:spLocks noGrp="1"/>
          </p:cNvSpPr>
          <p:nvPr>
            <p:ph type="body" idx="1"/>
          </p:nvPr>
        </p:nvSpPr>
        <p:spPr>
          <a:xfrm>
            <a:off x="722313" y="3953435"/>
            <a:ext cx="7772400" cy="369332"/>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6400" y="1641475"/>
            <a:ext cx="4122738" cy="19129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81538" y="1641475"/>
            <a:ext cx="4124325" cy="19129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160338"/>
            <a:ext cx="2286000" cy="33940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160338"/>
            <a:ext cx="6705600" cy="33940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411163"/>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752600"/>
            <a:ext cx="3815862" cy="232063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2338" y="1752600"/>
            <a:ext cx="3815862" cy="232063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2338" y="4090989"/>
            <a:ext cx="3815862" cy="232063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0"/>
          </p:nvPr>
        </p:nvSpPr>
        <p:spPr>
          <a:xfrm>
            <a:off x="6553200" y="6381750"/>
            <a:ext cx="2133600" cy="476250"/>
          </a:xfrm>
          <a:prstGeom prst="rect">
            <a:avLst/>
          </a:prstGeom>
        </p:spPr>
        <p:txBody>
          <a:bodyPr vert="horz" wrap="square" lIns="91440" tIns="45720" rIns="91440" bIns="45720" numCol="1" anchor="t" anchorCtr="0" compatLnSpc="1"/>
          <a:lstStyle>
            <a:lvl1pPr>
              <a:defRPr/>
            </a:lvl1pPr>
          </a:lstStyle>
          <a:p>
            <a:pPr fontAlgn="base">
              <a:spcBef>
                <a:spcPct val="0"/>
              </a:spcBef>
              <a:spcAft>
                <a:spcPct val="0"/>
              </a:spcAft>
            </a:pPr>
            <a:fld id="{74D349CD-5AEA-41C5-8B61-AB28288F734A}" type="slidenum">
              <a:rPr lang="en-US" altLang="fr-FR" smtClean="0">
                <a:solidFill>
                  <a:srgbClr val="000000"/>
                </a:solidFill>
                <a:latin typeface="Arial" panose="020B0604020202020204" pitchFamily="34" charset="0"/>
              </a:rPr>
              <a:t>‹#›</a:t>
            </a:fld>
            <a:endParaRPr lang="en-US" altLang="fr-FR">
              <a:solidFill>
                <a:srgbClr val="000000"/>
              </a:solidFill>
              <a:latin typeface="Arial" panose="020B060402020202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411163"/>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752600"/>
            <a:ext cx="3815862" cy="232063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2338" y="1752600"/>
            <a:ext cx="3815862" cy="232063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a:xfrm>
            <a:off x="6553200" y="6381750"/>
            <a:ext cx="2133600" cy="476250"/>
          </a:xfrm>
          <a:prstGeom prst="rect">
            <a:avLst/>
          </a:prstGeom>
        </p:spPr>
        <p:txBody>
          <a:bodyPr vert="horz" wrap="square" lIns="91440" tIns="45720" rIns="91440" bIns="45720" numCol="1" anchor="t" anchorCtr="0" compatLnSpc="1"/>
          <a:lstStyle>
            <a:lvl1pPr>
              <a:defRPr/>
            </a:lvl1pPr>
          </a:lstStyle>
          <a:p>
            <a:pPr fontAlgn="base">
              <a:spcBef>
                <a:spcPct val="0"/>
              </a:spcBef>
              <a:spcAft>
                <a:spcPct val="0"/>
              </a:spcAft>
            </a:pPr>
            <a:fld id="{4D8A4908-6808-45A5-BB55-3808447FE610}" type="slidenum">
              <a:rPr lang="en-US" altLang="fr-FR" smtClean="0">
                <a:solidFill>
                  <a:srgbClr val="000000"/>
                </a:solidFill>
                <a:latin typeface="Arial" panose="020B0604020202020204" pitchFamily="34" charset="0"/>
              </a:rPr>
              <a:t>‹#›</a:t>
            </a:fld>
            <a:endParaRPr lang="en-US" altLang="fr-FR">
              <a:solidFill>
                <a:srgbClr val="000000"/>
              </a:solidFill>
              <a:latin typeface="Arial" panose="020B060402020202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411163"/>
            <a:ext cx="7772400" cy="1143000"/>
          </a:xfrm>
        </p:spPr>
        <p:txBody>
          <a:bodyPr/>
          <a:lstStyle/>
          <a:p>
            <a:r>
              <a:rPr lang="en-US"/>
              <a:t>Click to edit Master title style</a:t>
            </a:r>
          </a:p>
        </p:txBody>
      </p:sp>
      <p:sp>
        <p:nvSpPr>
          <p:cNvPr id="3" name="Table Placeholder 2"/>
          <p:cNvSpPr>
            <a:spLocks noGrp="1"/>
          </p:cNvSpPr>
          <p:nvPr>
            <p:ph type="tbl" idx="1"/>
          </p:nvPr>
        </p:nvSpPr>
        <p:spPr>
          <a:xfrm>
            <a:off x="685800" y="1752600"/>
            <a:ext cx="7772400" cy="480131"/>
          </a:xfrm>
        </p:spPr>
        <p:txBody>
          <a:bodyPr/>
          <a:lstStyle/>
          <a:p>
            <a:pPr lvl="0"/>
            <a:endParaRPr lang="en-US" noProof="0"/>
          </a:p>
        </p:txBody>
      </p:sp>
      <p:sp>
        <p:nvSpPr>
          <p:cNvPr id="4" name="Slide Number Placeholder 3"/>
          <p:cNvSpPr>
            <a:spLocks noGrp="1"/>
          </p:cNvSpPr>
          <p:nvPr>
            <p:ph type="sldNum" sz="quarter" idx="10"/>
          </p:nvPr>
        </p:nvSpPr>
        <p:spPr>
          <a:xfrm>
            <a:off x="6553200" y="6381750"/>
            <a:ext cx="2133600" cy="476250"/>
          </a:xfrm>
          <a:prstGeom prst="rect">
            <a:avLst/>
          </a:prstGeom>
        </p:spPr>
        <p:txBody>
          <a:bodyPr vert="horz" wrap="square" lIns="91440" tIns="45720" rIns="91440" bIns="45720" numCol="1" anchor="t" anchorCtr="0" compatLnSpc="1"/>
          <a:lstStyle>
            <a:lvl1pPr>
              <a:defRPr/>
            </a:lvl1pPr>
          </a:lstStyle>
          <a:p>
            <a:pPr fontAlgn="base">
              <a:spcBef>
                <a:spcPct val="0"/>
              </a:spcBef>
              <a:spcAft>
                <a:spcPct val="0"/>
              </a:spcAft>
            </a:pPr>
            <a:fld id="{D4717A9F-BE0E-4826-9A0A-0422F684AFD9}" type="slidenum">
              <a:rPr lang="en-US" altLang="fr-FR" smtClean="0">
                <a:solidFill>
                  <a:srgbClr val="000000"/>
                </a:solidFill>
                <a:latin typeface="Arial" panose="020B0604020202020204" pitchFamily="34" charset="0"/>
              </a:rPr>
              <a:t>‹#›</a:t>
            </a:fld>
            <a:endParaRPr lang="en-US" altLang="fr-FR">
              <a:solidFill>
                <a:srgbClr val="000000"/>
              </a:solidFill>
              <a:latin typeface="Arial" panose="020B060402020202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19826C4-F9BE-4417-8455-B9839C02606E}" type="datetime1">
              <a:rPr lang="en-US" smtClean="0">
                <a:solidFill>
                  <a:prstClr val="black">
                    <a:tint val="75000"/>
                  </a:prstClr>
                </a:solidFill>
              </a:rPr>
              <a:t>1/31/2026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Drug Supply Management</a:t>
            </a:r>
          </a:p>
        </p:txBody>
      </p:sp>
      <p:sp>
        <p:nvSpPr>
          <p:cNvPr id="6" name="Slide Number Placeholder 5"/>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9860EA-6B0C-4DC0-88B8-F7DB87308206}" type="datetime1">
              <a:rPr lang="en-US" smtClean="0">
                <a:solidFill>
                  <a:prstClr val="black">
                    <a:tint val="75000"/>
                  </a:prstClr>
                </a:solidFill>
              </a:rPr>
              <a:t>1/31/2026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Drug Supply Management</a:t>
            </a:r>
          </a:p>
        </p:txBody>
      </p:sp>
      <p:sp>
        <p:nvSpPr>
          <p:cNvPr id="6" name="Slide Number Placeholder 5"/>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AFAEEA-7DC1-4C4E-B878-BE0E89D08FF5}" type="datetime1">
              <a:rPr lang="en-US" smtClean="0">
                <a:solidFill>
                  <a:prstClr val="black">
                    <a:tint val="75000"/>
                  </a:prstClr>
                </a:solidFill>
              </a:rPr>
              <a:t>1/31/2026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Drug Supply Management</a:t>
            </a:r>
          </a:p>
        </p:txBody>
      </p:sp>
      <p:sp>
        <p:nvSpPr>
          <p:cNvPr id="6" name="Slide Number Placeholder 5"/>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6527108-03E1-455F-B5D0-0CFCC8EF7A50}" type="datetime1">
              <a:rPr lang="en-US" smtClean="0">
                <a:solidFill>
                  <a:prstClr val="black">
                    <a:tint val="75000"/>
                  </a:prstClr>
                </a:solidFill>
              </a:rPr>
              <a:t>1/31/2026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Drug Supply Management</a:t>
            </a:r>
          </a:p>
        </p:txBody>
      </p:sp>
      <p:sp>
        <p:nvSpPr>
          <p:cNvPr id="7" name="Slide Number Placeholder 6"/>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8312858-BA6B-450E-9EE5-5D5718BFB147}" type="datetime1">
              <a:rPr lang="en-US" smtClean="0">
                <a:solidFill>
                  <a:prstClr val="black">
                    <a:tint val="75000"/>
                  </a:prstClr>
                </a:solidFill>
              </a:rPr>
              <a:t>1/31/2026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r>
              <a:rPr lang="en-US">
                <a:solidFill>
                  <a:prstClr val="black">
                    <a:tint val="75000"/>
                  </a:prstClr>
                </a:solidFill>
              </a:rPr>
              <a:t>Drug Supply Management</a:t>
            </a:r>
          </a:p>
        </p:txBody>
      </p:sp>
      <p:sp>
        <p:nvSpPr>
          <p:cNvPr id="9" name="Slide Number Placeholder 8"/>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8069548-8376-4A0B-A307-27FB26EC3471}" type="datetime1">
              <a:rPr lang="en-US" smtClean="0">
                <a:solidFill>
                  <a:prstClr val="black">
                    <a:tint val="75000"/>
                  </a:prstClr>
                </a:solidFill>
              </a:rPr>
              <a:t>1/31/2026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r>
              <a:rPr lang="en-US">
                <a:solidFill>
                  <a:prstClr val="black">
                    <a:tint val="75000"/>
                  </a:prstClr>
                </a:solidFill>
              </a:rPr>
              <a:t>Drug Supply Management</a:t>
            </a:r>
          </a:p>
        </p:txBody>
      </p:sp>
      <p:sp>
        <p:nvSpPr>
          <p:cNvPr id="5" name="Slide Number Placeholder 4"/>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D427FA-8E6C-4C01-92E6-3CE4C23828B3}" type="datetime1">
              <a:rPr lang="en-US" smtClean="0">
                <a:solidFill>
                  <a:prstClr val="black">
                    <a:tint val="75000"/>
                  </a:prstClr>
                </a:solidFill>
              </a:rPr>
              <a:t>1/31/2026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r>
              <a:rPr lang="en-US">
                <a:solidFill>
                  <a:prstClr val="black">
                    <a:tint val="75000"/>
                  </a:prstClr>
                </a:solidFill>
              </a:rPr>
              <a:t>Drug Supply Management</a:t>
            </a:r>
          </a:p>
        </p:txBody>
      </p:sp>
      <p:sp>
        <p:nvSpPr>
          <p:cNvPr id="4" name="Slide Number Placeholder 3"/>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2BB419-7207-44AF-AB86-8BD628A7F8D5}" type="datetime1">
              <a:rPr lang="en-US" smtClean="0">
                <a:solidFill>
                  <a:prstClr val="black">
                    <a:tint val="75000"/>
                  </a:prstClr>
                </a:solidFill>
              </a:rPr>
              <a:t>1/31/2026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Drug Supply Management</a:t>
            </a:r>
          </a:p>
        </p:txBody>
      </p:sp>
      <p:sp>
        <p:nvSpPr>
          <p:cNvPr id="7" name="Slide Number Placeholder 6"/>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36ACEC-CB7C-47CB-B355-6306C274677A}" type="datetime1">
              <a:rPr lang="en-US" smtClean="0">
                <a:solidFill>
                  <a:prstClr val="black">
                    <a:tint val="75000"/>
                  </a:prstClr>
                </a:solidFill>
              </a:rPr>
              <a:t>1/31/2026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Drug Supply Management</a:t>
            </a:r>
          </a:p>
        </p:txBody>
      </p:sp>
      <p:sp>
        <p:nvSpPr>
          <p:cNvPr id="7" name="Slide Number Placeholder 6"/>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7224BA-6431-41A8-B3A7-DBD24C375C60}" type="datetime1">
              <a:rPr lang="en-US" smtClean="0">
                <a:solidFill>
                  <a:prstClr val="black">
                    <a:tint val="75000"/>
                  </a:prstClr>
                </a:solidFill>
              </a:rPr>
              <a:t>1/31/2026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Drug Supply Management</a:t>
            </a:r>
          </a:p>
        </p:txBody>
      </p:sp>
      <p:sp>
        <p:nvSpPr>
          <p:cNvPr id="6" name="Slide Number Placeholder 5"/>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06FC852-4367-4B7A-89D7-67E926AC597A}" type="datetime1">
              <a:rPr lang="en-US" smtClean="0">
                <a:solidFill>
                  <a:prstClr val="black">
                    <a:tint val="75000"/>
                  </a:prstClr>
                </a:solidFill>
              </a:rPr>
              <a:t>1/31/2026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Drug Supply Management</a:t>
            </a:r>
          </a:p>
        </p:txBody>
      </p:sp>
      <p:sp>
        <p:nvSpPr>
          <p:cNvPr id="6" name="Slide Number Placeholder 5"/>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19826C4-F9BE-4417-8455-B9839C02606E}" type="datetime1">
              <a:rPr lang="en-US" smtClean="0">
                <a:solidFill>
                  <a:prstClr val="black">
                    <a:tint val="75000"/>
                  </a:prstClr>
                </a:solidFill>
              </a:rPr>
              <a:t>1/31/2026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Drug Supply Management</a:t>
            </a:r>
          </a:p>
        </p:txBody>
      </p:sp>
      <p:sp>
        <p:nvSpPr>
          <p:cNvPr id="6" name="Slide Number Placeholder 5"/>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9860EA-6B0C-4DC0-88B8-F7DB87308206}" type="datetime1">
              <a:rPr lang="en-US" smtClean="0">
                <a:solidFill>
                  <a:prstClr val="black">
                    <a:tint val="75000"/>
                  </a:prstClr>
                </a:solidFill>
              </a:rPr>
              <a:t>1/31/2026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Drug Supply Management</a:t>
            </a:r>
          </a:p>
        </p:txBody>
      </p:sp>
      <p:sp>
        <p:nvSpPr>
          <p:cNvPr id="6" name="Slide Number Placeholder 5"/>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AFAEEA-7DC1-4C4E-B878-BE0E89D08FF5}" type="datetime1">
              <a:rPr lang="en-US" smtClean="0">
                <a:solidFill>
                  <a:prstClr val="black">
                    <a:tint val="75000"/>
                  </a:prstClr>
                </a:solidFill>
              </a:rPr>
              <a:t>1/31/2026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Drug Supply Management</a:t>
            </a:r>
          </a:p>
        </p:txBody>
      </p:sp>
      <p:sp>
        <p:nvSpPr>
          <p:cNvPr id="6" name="Slide Number Placeholder 5"/>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6527108-03E1-455F-B5D0-0CFCC8EF7A50}" type="datetime1">
              <a:rPr lang="en-US" smtClean="0">
                <a:solidFill>
                  <a:prstClr val="black">
                    <a:tint val="75000"/>
                  </a:prstClr>
                </a:solidFill>
              </a:rPr>
              <a:t>1/31/2026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Drug Supply Management</a:t>
            </a:r>
          </a:p>
        </p:txBody>
      </p:sp>
      <p:sp>
        <p:nvSpPr>
          <p:cNvPr id="7" name="Slide Number Placeholder 6"/>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8312858-BA6B-450E-9EE5-5D5718BFB147}" type="datetime1">
              <a:rPr lang="en-US" smtClean="0">
                <a:solidFill>
                  <a:prstClr val="black">
                    <a:tint val="75000"/>
                  </a:prstClr>
                </a:solidFill>
              </a:rPr>
              <a:t>1/31/2026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r>
              <a:rPr lang="en-US">
                <a:solidFill>
                  <a:prstClr val="black">
                    <a:tint val="75000"/>
                  </a:prstClr>
                </a:solidFill>
              </a:rPr>
              <a:t>Drug Supply Management</a:t>
            </a:r>
          </a:p>
        </p:txBody>
      </p:sp>
      <p:sp>
        <p:nvSpPr>
          <p:cNvPr id="9" name="Slide Number Placeholder 8"/>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8069548-8376-4A0B-A307-27FB26EC3471}" type="datetime1">
              <a:rPr lang="en-US" smtClean="0">
                <a:solidFill>
                  <a:prstClr val="black">
                    <a:tint val="75000"/>
                  </a:prstClr>
                </a:solidFill>
              </a:rPr>
              <a:t>1/31/2026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r>
              <a:rPr lang="en-US">
                <a:solidFill>
                  <a:prstClr val="black">
                    <a:tint val="75000"/>
                  </a:prstClr>
                </a:solidFill>
              </a:rPr>
              <a:t>Drug Supply Management</a:t>
            </a:r>
          </a:p>
        </p:txBody>
      </p:sp>
      <p:sp>
        <p:nvSpPr>
          <p:cNvPr id="5" name="Slide Number Placeholder 4"/>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D427FA-8E6C-4C01-92E6-3CE4C23828B3}" type="datetime1">
              <a:rPr lang="en-US" smtClean="0">
                <a:solidFill>
                  <a:prstClr val="black">
                    <a:tint val="75000"/>
                  </a:prstClr>
                </a:solidFill>
              </a:rPr>
              <a:t>1/31/2026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r>
              <a:rPr lang="en-US">
                <a:solidFill>
                  <a:prstClr val="black">
                    <a:tint val="75000"/>
                  </a:prstClr>
                </a:solidFill>
              </a:rPr>
              <a:t>Drug Supply Management</a:t>
            </a:r>
          </a:p>
        </p:txBody>
      </p:sp>
      <p:sp>
        <p:nvSpPr>
          <p:cNvPr id="4" name="Slide Number Placeholder 3"/>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2BB419-7207-44AF-AB86-8BD628A7F8D5}" type="datetime1">
              <a:rPr lang="en-US" smtClean="0">
                <a:solidFill>
                  <a:prstClr val="black">
                    <a:tint val="75000"/>
                  </a:prstClr>
                </a:solidFill>
              </a:rPr>
              <a:t>1/31/2026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Drug Supply Management</a:t>
            </a:r>
          </a:p>
        </p:txBody>
      </p:sp>
      <p:sp>
        <p:nvSpPr>
          <p:cNvPr id="7" name="Slide Number Placeholder 6"/>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36ACEC-CB7C-47CB-B355-6306C274677A}" type="datetime1">
              <a:rPr lang="en-US" smtClean="0">
                <a:solidFill>
                  <a:prstClr val="black">
                    <a:tint val="75000"/>
                  </a:prstClr>
                </a:solidFill>
              </a:rPr>
              <a:t>1/31/2026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Drug Supply Management</a:t>
            </a:r>
          </a:p>
        </p:txBody>
      </p:sp>
      <p:sp>
        <p:nvSpPr>
          <p:cNvPr id="7" name="Slide Number Placeholder 6"/>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7224BA-6431-41A8-B3A7-DBD24C375C60}" type="datetime1">
              <a:rPr lang="en-US" smtClean="0">
                <a:solidFill>
                  <a:prstClr val="black">
                    <a:tint val="75000"/>
                  </a:prstClr>
                </a:solidFill>
              </a:rPr>
              <a:t>1/31/2026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Drug Supply Management</a:t>
            </a:r>
          </a:p>
        </p:txBody>
      </p:sp>
      <p:sp>
        <p:nvSpPr>
          <p:cNvPr id="6" name="Slide Number Placeholder 5"/>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06FC852-4367-4B7A-89D7-67E926AC597A}" type="datetime1">
              <a:rPr lang="en-US" smtClean="0">
                <a:solidFill>
                  <a:prstClr val="black">
                    <a:tint val="75000"/>
                  </a:prstClr>
                </a:solidFill>
              </a:rPr>
              <a:t>1/31/2026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Drug Supply Management</a:t>
            </a:r>
          </a:p>
        </p:txBody>
      </p:sp>
      <p:sp>
        <p:nvSpPr>
          <p:cNvPr id="6" name="Slide Number Placeholder 5"/>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19826C4-F9BE-4417-8455-B9839C02606E}" type="datetime1">
              <a:rPr lang="en-US" smtClean="0">
                <a:solidFill>
                  <a:prstClr val="black">
                    <a:tint val="75000"/>
                  </a:prstClr>
                </a:solidFill>
              </a:rPr>
              <a:t>1/31/2026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Drug Supply Management</a:t>
            </a:r>
          </a:p>
        </p:txBody>
      </p:sp>
      <p:sp>
        <p:nvSpPr>
          <p:cNvPr id="6" name="Slide Number Placeholder 5"/>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9860EA-6B0C-4DC0-88B8-F7DB87308206}" type="datetime1">
              <a:rPr lang="en-US" smtClean="0">
                <a:solidFill>
                  <a:prstClr val="black">
                    <a:tint val="75000"/>
                  </a:prstClr>
                </a:solidFill>
              </a:rPr>
              <a:t>1/31/2026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Drug Supply Management</a:t>
            </a:r>
          </a:p>
        </p:txBody>
      </p:sp>
      <p:sp>
        <p:nvSpPr>
          <p:cNvPr id="6" name="Slide Number Placeholder 5"/>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AFAEEA-7DC1-4C4E-B878-BE0E89D08FF5}" type="datetime1">
              <a:rPr lang="en-US" smtClean="0">
                <a:solidFill>
                  <a:prstClr val="black">
                    <a:tint val="75000"/>
                  </a:prstClr>
                </a:solidFill>
              </a:rPr>
              <a:t>1/31/2026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Drug Supply Management</a:t>
            </a:r>
          </a:p>
        </p:txBody>
      </p:sp>
      <p:sp>
        <p:nvSpPr>
          <p:cNvPr id="6" name="Slide Number Placeholder 5"/>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6527108-03E1-455F-B5D0-0CFCC8EF7A50}" type="datetime1">
              <a:rPr lang="en-US" smtClean="0">
                <a:solidFill>
                  <a:prstClr val="black">
                    <a:tint val="75000"/>
                  </a:prstClr>
                </a:solidFill>
              </a:rPr>
              <a:t>1/31/2026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Drug Supply Management</a:t>
            </a:r>
          </a:p>
        </p:txBody>
      </p:sp>
      <p:sp>
        <p:nvSpPr>
          <p:cNvPr id="7" name="Slide Number Placeholder 6"/>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8312858-BA6B-450E-9EE5-5D5718BFB147}" type="datetime1">
              <a:rPr lang="en-US" smtClean="0">
                <a:solidFill>
                  <a:prstClr val="black">
                    <a:tint val="75000"/>
                  </a:prstClr>
                </a:solidFill>
              </a:rPr>
              <a:t>1/31/2026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r>
              <a:rPr lang="en-US">
                <a:solidFill>
                  <a:prstClr val="black">
                    <a:tint val="75000"/>
                  </a:prstClr>
                </a:solidFill>
              </a:rPr>
              <a:t>Drug Supply Management</a:t>
            </a:r>
          </a:p>
        </p:txBody>
      </p:sp>
      <p:sp>
        <p:nvSpPr>
          <p:cNvPr id="9" name="Slide Number Placeholder 8"/>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8069548-8376-4A0B-A307-27FB26EC3471}" type="datetime1">
              <a:rPr lang="en-US" smtClean="0">
                <a:solidFill>
                  <a:prstClr val="black">
                    <a:tint val="75000"/>
                  </a:prstClr>
                </a:solidFill>
              </a:rPr>
              <a:t>1/31/2026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r>
              <a:rPr lang="en-US">
                <a:solidFill>
                  <a:prstClr val="black">
                    <a:tint val="75000"/>
                  </a:prstClr>
                </a:solidFill>
              </a:rPr>
              <a:t>Drug Supply Management</a:t>
            </a:r>
          </a:p>
        </p:txBody>
      </p:sp>
      <p:sp>
        <p:nvSpPr>
          <p:cNvPr id="5" name="Slide Number Placeholder 4"/>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D427FA-8E6C-4C01-92E6-3CE4C23828B3}" type="datetime1">
              <a:rPr lang="en-US" smtClean="0">
                <a:solidFill>
                  <a:prstClr val="black">
                    <a:tint val="75000"/>
                  </a:prstClr>
                </a:solidFill>
              </a:rPr>
              <a:t>1/31/2026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r>
              <a:rPr lang="en-US">
                <a:solidFill>
                  <a:prstClr val="black">
                    <a:tint val="75000"/>
                  </a:prstClr>
                </a:solidFill>
              </a:rPr>
              <a:t>Drug Supply Management</a:t>
            </a:r>
          </a:p>
        </p:txBody>
      </p:sp>
      <p:sp>
        <p:nvSpPr>
          <p:cNvPr id="4" name="Slide Number Placeholder 3"/>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2BB419-7207-44AF-AB86-8BD628A7F8D5}" type="datetime1">
              <a:rPr lang="en-US" smtClean="0">
                <a:solidFill>
                  <a:prstClr val="black">
                    <a:tint val="75000"/>
                  </a:prstClr>
                </a:solidFill>
              </a:rPr>
              <a:t>1/31/2026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Drug Supply Management</a:t>
            </a:r>
          </a:p>
        </p:txBody>
      </p:sp>
      <p:sp>
        <p:nvSpPr>
          <p:cNvPr id="7" name="Slide Number Placeholder 6"/>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36ACEC-CB7C-47CB-B355-6306C274677A}" type="datetime1">
              <a:rPr lang="en-US" smtClean="0">
                <a:solidFill>
                  <a:prstClr val="black">
                    <a:tint val="75000"/>
                  </a:prstClr>
                </a:solidFill>
              </a:rPr>
              <a:t>1/31/2026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Drug Supply Management</a:t>
            </a:r>
          </a:p>
        </p:txBody>
      </p:sp>
      <p:sp>
        <p:nvSpPr>
          <p:cNvPr id="7" name="Slide Number Placeholder 6"/>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7224BA-6431-41A8-B3A7-DBD24C375C60}" type="datetime1">
              <a:rPr lang="en-US" smtClean="0">
                <a:solidFill>
                  <a:prstClr val="black">
                    <a:tint val="75000"/>
                  </a:prstClr>
                </a:solidFill>
              </a:rPr>
              <a:t>1/31/2026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Drug Supply Management</a:t>
            </a:r>
          </a:p>
        </p:txBody>
      </p:sp>
      <p:sp>
        <p:nvSpPr>
          <p:cNvPr id="6" name="Slide Number Placeholder 5"/>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06FC852-4367-4B7A-89D7-67E926AC597A}" type="datetime1">
              <a:rPr lang="en-US" smtClean="0">
                <a:solidFill>
                  <a:prstClr val="black">
                    <a:tint val="75000"/>
                  </a:prstClr>
                </a:solidFill>
              </a:rPr>
              <a:t>1/31/2026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Drug Supply Management</a:t>
            </a:r>
          </a:p>
        </p:txBody>
      </p:sp>
      <p:sp>
        <p:nvSpPr>
          <p:cNvPr id="6" name="Slide Number Placeholder 5"/>
          <p:cNvSpPr>
            <a:spLocks noGrp="1"/>
          </p:cNvSpPr>
          <p:nvPr>
            <p:ph type="sldNum" sz="quarter" idx="12"/>
          </p:nvPr>
        </p:nvSpPr>
        <p:spPr/>
        <p:txBody>
          <a:body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baseline="0">
                <a:solidFill>
                  <a:srgbClr val="FCEA04"/>
                </a:solidFill>
                <a:latin typeface="YaleDesign-BoldRoman" pitchFamily="2" charset="0"/>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baseline="0">
                <a:solidFill>
                  <a:srgbClr val="B2B2B2"/>
                </a:solidFill>
                <a:latin typeface="YaleDesign-BoldRoman" pitchFamily="2"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fld id="{DFBA9F5A-1C39-44F9-8FE1-B79BA893B3EF}" type="datetimeFigureOut">
              <a:rPr lang="en-US" smtClean="0"/>
              <a:t>1/31/2026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30B2900F-A4EC-4BC1-B6F3-03781022429A}" type="slidenum">
              <a:rPr lang="en-US" smtClean="0"/>
              <a:t>‹#›</a:t>
            </a:fld>
            <a:endParaRPr lang="en-US"/>
          </a:p>
        </p:txBody>
      </p:sp>
    </p:spTree>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YaleDesign-BoldRoman" pitchFamily="2"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DFBA9F5A-1C39-44F9-8FE1-B79BA893B3EF}" type="datetimeFigureOut">
              <a:rPr lang="en-US" smtClean="0"/>
              <a:t>1/31/2026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30B2900F-A4EC-4BC1-B6F3-03781022429A}" type="slidenum">
              <a:rPr lang="en-US" smtClean="0"/>
              <a:t>‹#›</a:t>
            </a:fld>
            <a:endParaRPr lang="en-US"/>
          </a:p>
        </p:txBody>
      </p:sp>
    </p:spTree>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DFBA9F5A-1C39-44F9-8FE1-B79BA893B3EF}" type="datetimeFigureOut">
              <a:rPr lang="en-US" smtClean="0"/>
              <a:t>1/31/2026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30B2900F-A4EC-4BC1-B6F3-03781022429A}" type="slidenum">
              <a:rPr lang="en-US" smtClean="0"/>
              <a:t>‹#›</a:t>
            </a:fld>
            <a:endParaRPr lang="en-US"/>
          </a:p>
        </p:txBody>
      </p:sp>
    </p:spTree>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DFBA9F5A-1C39-44F9-8FE1-B79BA893B3EF}" type="datetimeFigureOut">
              <a:rPr lang="en-US" smtClean="0"/>
              <a:t>1/31/2026</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30B2900F-A4EC-4BC1-B6F3-03781022429A}" type="slidenum">
              <a:rPr lang="en-US" smtClean="0"/>
              <a:t>‹#›</a:t>
            </a:fld>
            <a:endParaRPr lang="en-US"/>
          </a:p>
        </p:txBody>
      </p:sp>
    </p:spTree>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DFBA9F5A-1C39-44F9-8FE1-B79BA893B3EF}" type="datetimeFigureOut">
              <a:rPr lang="en-US" smtClean="0"/>
              <a:t>1/31/2026</a:t>
            </a:fld>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30B2900F-A4EC-4BC1-B6F3-03781022429A}" type="slidenum">
              <a:rPr lang="en-US" smtClean="0"/>
              <a:t>‹#›</a:t>
            </a:fld>
            <a:endParaRPr lang="en-US"/>
          </a:p>
        </p:txBody>
      </p:sp>
    </p:spTree>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DFBA9F5A-1C39-44F9-8FE1-B79BA893B3EF}" type="datetimeFigureOut">
              <a:rPr lang="en-US" smtClean="0"/>
              <a:t>1/31/2026</a:t>
            </a:fld>
            <a:endParaRPr lang="en-US"/>
          </a:p>
        </p:txBody>
      </p:sp>
      <p:sp>
        <p:nvSpPr>
          <p:cNvPr id="4" name="Footer Placeholder 4"/>
          <p:cNvSpPr>
            <a:spLocks noGrp="1"/>
          </p:cNvSpPr>
          <p:nvPr>
            <p:ph type="ftr" sz="quarter" idx="11"/>
          </p:nvPr>
        </p:nvSpPr>
        <p:spPr/>
        <p:txBody>
          <a:bodyPr/>
          <a:lstStyle>
            <a:lvl1pPr>
              <a:defRPr/>
            </a:lvl1pPr>
          </a:lstStyle>
          <a:p>
            <a:endParaRPr lang="en-US"/>
          </a:p>
        </p:txBody>
      </p:sp>
      <p:sp>
        <p:nvSpPr>
          <p:cNvPr id="5" name="Slide Number Placeholder 5"/>
          <p:cNvSpPr>
            <a:spLocks noGrp="1"/>
          </p:cNvSpPr>
          <p:nvPr>
            <p:ph type="sldNum" sz="quarter" idx="12"/>
          </p:nvPr>
        </p:nvSpPr>
        <p:spPr/>
        <p:txBody>
          <a:bodyPr/>
          <a:lstStyle>
            <a:lvl1pPr>
              <a:defRPr/>
            </a:lvl1pPr>
          </a:lstStyle>
          <a:p>
            <a:fld id="{30B2900F-A4EC-4BC1-B6F3-03781022429A}" type="slidenum">
              <a:rPr lang="en-US" smtClean="0"/>
              <a:t>‹#›</a:t>
            </a:fld>
            <a:endParaRPr lang="en-US"/>
          </a:p>
        </p:txBody>
      </p:sp>
    </p:spTree>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DFBA9F5A-1C39-44F9-8FE1-B79BA893B3EF}" type="datetimeFigureOut">
              <a:rPr lang="en-US" smtClean="0"/>
              <a:t>1/31/2026</a:t>
            </a:fld>
            <a:endParaRPr lang="en-US"/>
          </a:p>
        </p:txBody>
      </p:sp>
      <p:sp>
        <p:nvSpPr>
          <p:cNvPr id="3" name="Footer Placeholder 4"/>
          <p:cNvSpPr>
            <a:spLocks noGrp="1"/>
          </p:cNvSpPr>
          <p:nvPr>
            <p:ph type="ftr" sz="quarter" idx="11"/>
          </p:nvPr>
        </p:nvSpPr>
        <p:spPr/>
        <p:txBody>
          <a:bodyPr/>
          <a:lstStyle>
            <a:lvl1pPr>
              <a:defRPr/>
            </a:lvl1pPr>
          </a:lstStyle>
          <a:p>
            <a:endParaRPr lang="en-US"/>
          </a:p>
        </p:txBody>
      </p:sp>
      <p:sp>
        <p:nvSpPr>
          <p:cNvPr id="4" name="Slide Number Placeholder 5"/>
          <p:cNvSpPr>
            <a:spLocks noGrp="1"/>
          </p:cNvSpPr>
          <p:nvPr>
            <p:ph type="sldNum" sz="quarter" idx="12"/>
          </p:nvPr>
        </p:nvSpPr>
        <p:spPr/>
        <p:txBody>
          <a:bodyPr/>
          <a:lstStyle>
            <a:lvl1pPr>
              <a:defRPr/>
            </a:lvl1pPr>
          </a:lstStyle>
          <a:p>
            <a:fld id="{30B2900F-A4EC-4BC1-B6F3-03781022429A}" type="slidenum">
              <a:rPr lang="en-US" smtClean="0"/>
              <a:t>‹#›</a:t>
            </a:fld>
            <a:endParaRPr lang="en-US"/>
          </a:p>
        </p:txBody>
      </p:sp>
    </p:spTree>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BA9F5A-1C39-44F9-8FE1-B79BA893B3EF}" type="datetimeFigureOut">
              <a:rPr lang="en-US" smtClean="0"/>
              <a:t>1/31/2026</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30B2900F-A4EC-4BC1-B6F3-03781022429A}" type="slidenum">
              <a:rPr lang="en-US" smtClean="0"/>
              <a:t>‹#›</a:t>
            </a:fld>
            <a:endParaRPr lang="en-US"/>
          </a:p>
        </p:txBody>
      </p:sp>
    </p:spTree>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BA9F5A-1C39-44F9-8FE1-B79BA893B3EF}" type="datetimeFigureOut">
              <a:rPr lang="en-US" smtClean="0"/>
              <a:t>1/31/2026</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30B2900F-A4EC-4BC1-B6F3-03781022429A}" type="slidenum">
              <a:rPr lang="en-US" smtClean="0"/>
              <a:t>‹#›</a:t>
            </a:fld>
            <a:endParaRPr lang="en-US"/>
          </a:p>
        </p:txBody>
      </p:sp>
    </p:spTree>
  </p:cSld>
  <p:clrMapOvr>
    <a:masterClrMapping/>
  </p:clrMapOv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DFBA9F5A-1C39-44F9-8FE1-B79BA893B3EF}" type="datetimeFigureOut">
              <a:rPr lang="en-US" smtClean="0"/>
              <a:t>1/31/2026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30B2900F-A4EC-4BC1-B6F3-03781022429A}" type="slidenum">
              <a:rPr lang="en-US" smtClean="0"/>
              <a:t>‹#›</a:t>
            </a:fld>
            <a:endParaRPr lang="en-US"/>
          </a:p>
        </p:txBody>
      </p:sp>
    </p:spTree>
  </p:cSld>
  <p:clrMapOvr>
    <a:masterClrMapping/>
  </p:clrMapOv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DFBA9F5A-1C39-44F9-8FE1-B79BA893B3EF}" type="datetimeFigureOut">
              <a:rPr lang="en-US" smtClean="0"/>
              <a:t>1/31/2026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30B2900F-A4EC-4BC1-B6F3-03781022429A}" type="slidenum">
              <a:rPr lang="en-US" smtClean="0"/>
              <a:t>‹#›</a:t>
            </a:fld>
            <a:endParaRPr lang="en-US"/>
          </a:p>
        </p:txBody>
      </p:sp>
    </p:spTree>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355EA76-BB48-1545-9A70-91107173DAC9}" type="datetime1">
              <a:rPr lang="en-US" smtClean="0">
                <a:solidFill>
                  <a:prstClr val="black">
                    <a:tint val="75000"/>
                  </a:prstClr>
                </a:solidFill>
              </a:rPr>
              <a:t>1/31/2026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36A94550-0172-2A4E-BEEB-6BE00EB0E97C}"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0EA3215-9096-5A46-A411-B696F862E4F8}" type="datetime1">
              <a:rPr lang="en-US" smtClean="0">
                <a:solidFill>
                  <a:prstClr val="black">
                    <a:tint val="75000"/>
                  </a:prstClr>
                </a:solidFill>
              </a:rPr>
              <a:t>1/31/2026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36A94550-0172-2A4E-BEEB-6BE00EB0E97C}"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DEF505-B85A-1443-8066-39CBF704915C}" type="datetime1">
              <a:rPr lang="en-US" smtClean="0">
                <a:solidFill>
                  <a:prstClr val="black">
                    <a:tint val="75000"/>
                  </a:prstClr>
                </a:solidFill>
              </a:rPr>
              <a:t>1/31/2026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36A94550-0172-2A4E-BEEB-6BE00EB0E97C}"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1CE001B-E1DE-F74E-928D-F1520747DDD2}" type="datetime1">
              <a:rPr lang="en-US" smtClean="0">
                <a:solidFill>
                  <a:prstClr val="black">
                    <a:tint val="75000"/>
                  </a:prstClr>
                </a:solidFill>
              </a:rPr>
              <a:t>1/31/2026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36A94550-0172-2A4E-BEEB-6BE00EB0E97C}"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7336BD3-ABF1-FC43-AE78-CA81B2FD5D72}" type="datetime1">
              <a:rPr lang="en-US" smtClean="0">
                <a:solidFill>
                  <a:prstClr val="black">
                    <a:tint val="75000"/>
                  </a:prstClr>
                </a:solidFill>
              </a:rPr>
              <a:t>1/31/2026</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36A94550-0172-2A4E-BEEB-6BE00EB0E97C}"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4E7EA8F-4E03-2C4D-B431-180A3DF1AC87}" type="datetime1">
              <a:rPr lang="en-US" smtClean="0">
                <a:solidFill>
                  <a:prstClr val="black">
                    <a:tint val="75000"/>
                  </a:prstClr>
                </a:solidFill>
              </a:rPr>
              <a:t>1/31/2026</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36A94550-0172-2A4E-BEEB-6BE00EB0E97C}"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A53346-7895-A548-9A8B-17ABB30D480B}" type="datetime1">
              <a:rPr lang="en-US" smtClean="0">
                <a:solidFill>
                  <a:prstClr val="black">
                    <a:tint val="75000"/>
                  </a:prstClr>
                </a:solidFill>
              </a:rPr>
              <a:t>1/31/2026</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1615352-3F51-B849-B581-5D83C85475E3}" type="datetime1">
              <a:rPr lang="en-US" smtClean="0">
                <a:solidFill>
                  <a:prstClr val="black">
                    <a:tint val="75000"/>
                  </a:prstClr>
                </a:solidFill>
              </a:rPr>
              <a:t>1/31/2026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36A94550-0172-2A4E-BEEB-6BE00EB0E97C}"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2EF822-EBE1-0D42-8E7F-0A152A3CF608}" type="datetime1">
              <a:rPr lang="en-US" smtClean="0">
                <a:solidFill>
                  <a:prstClr val="black">
                    <a:tint val="75000"/>
                  </a:prstClr>
                </a:solidFill>
              </a:rPr>
              <a:t>1/31/2026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36A94550-0172-2A4E-BEEB-6BE00EB0E97C}"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3D21DA-2A96-FB47-92B5-CD1BD5BA83A3}" type="datetime1">
              <a:rPr lang="en-US" smtClean="0">
                <a:solidFill>
                  <a:prstClr val="black">
                    <a:tint val="75000"/>
                  </a:prstClr>
                </a:solidFill>
              </a:rPr>
              <a:t>1/31/2026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36A94550-0172-2A4E-BEEB-6BE00EB0E97C}"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2009E2-540E-7946-8B49-D3F3F4D423A9}" type="datetime1">
              <a:rPr lang="en-US" smtClean="0">
                <a:solidFill>
                  <a:prstClr val="black">
                    <a:tint val="75000"/>
                  </a:prstClr>
                </a:solidFill>
              </a:rPr>
              <a:t>1/31/2026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36A94550-0172-2A4E-BEEB-6BE00EB0E97C}"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2.wmf"/><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theme" Target="../theme/theme4.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5.xml"/><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theme" Target="../theme/theme5.xml"/><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image" Target="../media/image3.png"/><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theme" Target="../theme/theme6.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7.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theme" Target="../theme/theme7.xml"/><Relationship Id="rId2" Type="http://schemas.openxmlformats.org/officeDocument/2006/relationships/slideLayout" Target="../slideLayouts/slideLayout71.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27D2B86-5DB3-4ACB-B307-9E116079FF38}" type="datetimeFigureOut">
              <a:rPr lang="en-US" smtClean="0"/>
              <a:t>1/31/2026</a:t>
            </a:fld>
            <a:endParaRPr lang="en-US"/>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85F0570-84FE-4B7B-8DB5-40483C6435D3}" type="slidenum">
              <a:rPr lang="en-US" smtClean="0"/>
              <a:t>‹#›</a:t>
            </a:fld>
            <a:endParaRPr lang="en-US"/>
          </a:p>
        </p:txBody>
      </p:sp>
      <p:cxnSp>
        <p:nvCxnSpPr>
          <p:cNvPr id="7" name="Straight Connector 6"/>
          <p:cNvCxnSpPr/>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43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600" kern="1200">
          <a:solidFill>
            <a:schemeClr val="tx1"/>
          </a:solidFill>
          <a:latin typeface="+mn-lt"/>
          <a:ea typeface="+mn-ea"/>
          <a:cs typeface="+mn-cs"/>
        </a:defRPr>
      </a:lvl2pPr>
      <a:lvl3pPr marL="44831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6pPr>
      <a:lvl7pPr marL="106045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7pPr>
      <a:lvl8pPr marL="1216025"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8pPr>
      <a:lvl9pPr marL="136271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D1FFF6"/>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title"/>
          </p:nvPr>
        </p:nvSpPr>
        <p:spPr bwMode="auto">
          <a:xfrm>
            <a:off x="0" y="160338"/>
            <a:ext cx="9144000"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44000" tIns="144000" rIns="144000" bIns="0" numCol="1" anchor="ctr" anchorCtr="0" compatLnSpc="1"/>
          <a:lstStyle/>
          <a:p>
            <a:pPr lvl="0"/>
            <a:r>
              <a:rPr lang="en-AU" altLang="fr-FR"/>
              <a:t>Click to edit Master title style</a:t>
            </a:r>
          </a:p>
        </p:txBody>
      </p:sp>
      <p:sp>
        <p:nvSpPr>
          <p:cNvPr id="1027" name="Rectangle 4"/>
          <p:cNvSpPr>
            <a:spLocks noGrp="1" noChangeArrowheads="1"/>
          </p:cNvSpPr>
          <p:nvPr>
            <p:ph type="body" idx="1"/>
          </p:nvPr>
        </p:nvSpPr>
        <p:spPr bwMode="auto">
          <a:xfrm>
            <a:off x="406400" y="1641475"/>
            <a:ext cx="8399463" cy="191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p>
            <a:pPr lvl="0"/>
            <a:r>
              <a:rPr lang="en-AU" altLang="fr-FR"/>
              <a:t>Click to edit Master text styles</a:t>
            </a:r>
          </a:p>
          <a:p>
            <a:pPr lvl="1"/>
            <a:r>
              <a:rPr lang="en-AU" altLang="fr-FR"/>
              <a:t>Second level</a:t>
            </a:r>
          </a:p>
          <a:p>
            <a:pPr lvl="2"/>
            <a:r>
              <a:rPr lang="en-AU" altLang="fr-FR"/>
              <a:t>Third level</a:t>
            </a:r>
          </a:p>
          <a:p>
            <a:pPr lvl="3"/>
            <a:r>
              <a:rPr lang="en-AU" altLang="fr-FR"/>
              <a:t>Fourth level</a:t>
            </a:r>
          </a:p>
          <a:p>
            <a:pPr lvl="4"/>
            <a:r>
              <a:rPr lang="en-AU" altLang="fr-FR"/>
              <a:t>Fifth level</a:t>
            </a:r>
          </a:p>
        </p:txBody>
      </p:sp>
      <p:sp>
        <p:nvSpPr>
          <p:cNvPr id="258053" name="Text Box 5"/>
          <p:cNvSpPr txBox="1">
            <a:spLocks noChangeArrowheads="1"/>
          </p:cNvSpPr>
          <p:nvPr/>
        </p:nvSpPr>
        <p:spPr bwMode="auto">
          <a:xfrm>
            <a:off x="8461375" y="6308725"/>
            <a:ext cx="503238" cy="274638"/>
          </a:xfrm>
          <a:prstGeom prst="rect">
            <a:avLst/>
          </a:prstGeom>
          <a:noFill/>
          <a:ln w="9525">
            <a:noFill/>
            <a:miter lim="800000"/>
          </a:ln>
          <a:effec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fontAlgn="base" hangingPunct="1">
              <a:spcBef>
                <a:spcPct val="50000"/>
              </a:spcBef>
              <a:spcAft>
                <a:spcPct val="0"/>
              </a:spcAft>
            </a:pPr>
            <a:fld id="{D9C6B138-2F97-410C-8F0A-31900451044F}" type="slidenum">
              <a:rPr lang="en-US" altLang="fr-FR" sz="1200" b="1" smtClean="0">
                <a:solidFill>
                  <a:srgbClr val="003366"/>
                </a:solidFill>
              </a:rPr>
              <a:t>‹#›</a:t>
            </a:fld>
            <a:endParaRPr lang="en-US" altLang="fr-FR" sz="1200" b="1">
              <a:solidFill>
                <a:srgbClr val="003366"/>
              </a:solidFill>
            </a:endParaRPr>
          </a:p>
        </p:txBody>
      </p:sp>
      <p:pic>
        <p:nvPicPr>
          <p:cNvPr id="1029" name="Picture 6" descr="WHO_P285 without words light blue bkd"/>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250825" y="6021388"/>
            <a:ext cx="647700"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8055" name="Rectangle 7"/>
          <p:cNvSpPr>
            <a:spLocks noChangeArrowheads="1"/>
          </p:cNvSpPr>
          <p:nvPr/>
        </p:nvSpPr>
        <p:spPr bwMode="auto">
          <a:xfrm>
            <a:off x="0" y="0"/>
            <a:ext cx="9144000" cy="1330325"/>
          </a:xfrm>
          <a:prstGeom prst="rect">
            <a:avLst/>
          </a:prstGeom>
          <a:gradFill rotWithShape="1">
            <a:gsLst>
              <a:gs pos="0">
                <a:srgbClr val="3366FF"/>
              </a:gs>
              <a:gs pos="100000">
                <a:srgbClr val="3366FF">
                  <a:gamma/>
                  <a:shade val="46275"/>
                  <a:invGamma/>
                </a:srgbClr>
              </a:gs>
            </a:gsLst>
            <a:lin ang="5400000" scaled="1"/>
          </a:gradFill>
          <a:ln w="9525">
            <a:noFill/>
            <a:miter lim="800000"/>
          </a:ln>
          <a:effectLst/>
        </p:spPr>
        <p:txBody>
          <a:bodyPr wrap="none" anchor="ctr"/>
          <a:lstStyle/>
          <a:p>
            <a:pPr fontAlgn="base">
              <a:spcBef>
                <a:spcPct val="0"/>
              </a:spcBef>
              <a:spcAft>
                <a:spcPct val="0"/>
              </a:spcAft>
              <a:defRPr/>
            </a:pPr>
            <a:endParaRPr lang="en-US">
              <a:solidFill>
                <a:srgbClr val="000000"/>
              </a:solidFill>
              <a:latin typeface="Arial" panose="020B0604020202020204" pitchFamily="34" charset="0"/>
            </a:endParaRPr>
          </a:p>
        </p:txBody>
      </p:sp>
      <p:sp>
        <p:nvSpPr>
          <p:cNvPr id="258058" name="Line 10"/>
          <p:cNvSpPr>
            <a:spLocks noChangeShapeType="1"/>
          </p:cNvSpPr>
          <p:nvPr/>
        </p:nvSpPr>
        <p:spPr bwMode="auto">
          <a:xfrm>
            <a:off x="0" y="1374775"/>
            <a:ext cx="9144000" cy="0"/>
          </a:xfrm>
          <a:prstGeom prst="line">
            <a:avLst/>
          </a:prstGeom>
          <a:noFill/>
          <a:ln w="38100">
            <a:solidFill>
              <a:srgbClr val="CC3300"/>
            </a:solidFill>
            <a:round/>
          </a:ln>
          <a:effectLst/>
        </p:spPr>
        <p:txBody>
          <a:bodyPr/>
          <a:lstStyle/>
          <a:p>
            <a:pPr fontAlgn="base">
              <a:spcBef>
                <a:spcPct val="0"/>
              </a:spcBef>
              <a:spcAft>
                <a:spcPct val="0"/>
              </a:spcAft>
              <a:defRPr/>
            </a:pPr>
            <a:endParaRPr lang="en-US">
              <a:solidFill>
                <a:srgbClr val="000000"/>
              </a:solidFill>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ctr" rtl="0" eaLnBrk="0" fontAlgn="base" hangingPunct="0">
        <a:lnSpc>
          <a:spcPct val="90000"/>
        </a:lnSpc>
        <a:spcBef>
          <a:spcPct val="0"/>
        </a:spcBef>
        <a:spcAft>
          <a:spcPct val="0"/>
        </a:spcAft>
        <a:defRPr sz="3200" b="1">
          <a:solidFill>
            <a:schemeClr val="bg1"/>
          </a:solidFill>
          <a:latin typeface="+mj-lt"/>
          <a:ea typeface="+mj-ea"/>
          <a:cs typeface="+mj-cs"/>
        </a:defRPr>
      </a:lvl1pPr>
      <a:lvl2pPr algn="ctr" rtl="0" eaLnBrk="0" fontAlgn="base" hangingPunct="0">
        <a:lnSpc>
          <a:spcPct val="90000"/>
        </a:lnSpc>
        <a:spcBef>
          <a:spcPct val="0"/>
        </a:spcBef>
        <a:spcAft>
          <a:spcPct val="0"/>
        </a:spcAft>
        <a:defRPr sz="3200" b="1">
          <a:solidFill>
            <a:schemeClr val="bg1"/>
          </a:solidFill>
          <a:latin typeface="Tahoma" panose="020B0604030504040204" pitchFamily="34" charset="0"/>
          <a:cs typeface="Arial" panose="020B0604020202020204" pitchFamily="34" charset="0"/>
        </a:defRPr>
      </a:lvl2pPr>
      <a:lvl3pPr algn="ctr" rtl="0" eaLnBrk="0" fontAlgn="base" hangingPunct="0">
        <a:lnSpc>
          <a:spcPct val="90000"/>
        </a:lnSpc>
        <a:spcBef>
          <a:spcPct val="0"/>
        </a:spcBef>
        <a:spcAft>
          <a:spcPct val="0"/>
        </a:spcAft>
        <a:defRPr sz="3200" b="1">
          <a:solidFill>
            <a:schemeClr val="bg1"/>
          </a:solidFill>
          <a:latin typeface="Tahoma" panose="020B0604030504040204" pitchFamily="34" charset="0"/>
          <a:cs typeface="Arial" panose="020B0604020202020204" pitchFamily="34" charset="0"/>
        </a:defRPr>
      </a:lvl3pPr>
      <a:lvl4pPr algn="ctr" rtl="0" eaLnBrk="0" fontAlgn="base" hangingPunct="0">
        <a:lnSpc>
          <a:spcPct val="90000"/>
        </a:lnSpc>
        <a:spcBef>
          <a:spcPct val="0"/>
        </a:spcBef>
        <a:spcAft>
          <a:spcPct val="0"/>
        </a:spcAft>
        <a:defRPr sz="3200" b="1">
          <a:solidFill>
            <a:schemeClr val="bg1"/>
          </a:solidFill>
          <a:latin typeface="Tahoma" panose="020B0604030504040204" pitchFamily="34" charset="0"/>
          <a:cs typeface="Arial" panose="020B0604020202020204" pitchFamily="34" charset="0"/>
        </a:defRPr>
      </a:lvl4pPr>
      <a:lvl5pPr algn="ctr" rtl="0" eaLnBrk="0" fontAlgn="base" hangingPunct="0">
        <a:lnSpc>
          <a:spcPct val="90000"/>
        </a:lnSpc>
        <a:spcBef>
          <a:spcPct val="0"/>
        </a:spcBef>
        <a:spcAft>
          <a:spcPct val="0"/>
        </a:spcAft>
        <a:defRPr sz="3200" b="1">
          <a:solidFill>
            <a:schemeClr val="bg1"/>
          </a:solidFill>
          <a:latin typeface="Tahoma" panose="020B0604030504040204" pitchFamily="34" charset="0"/>
          <a:cs typeface="Arial" panose="020B0604020202020204" pitchFamily="34" charset="0"/>
        </a:defRPr>
      </a:lvl5pPr>
      <a:lvl6pPr marL="457200" algn="ctr" rtl="0" fontAlgn="base">
        <a:lnSpc>
          <a:spcPct val="90000"/>
        </a:lnSpc>
        <a:spcBef>
          <a:spcPct val="0"/>
        </a:spcBef>
        <a:spcAft>
          <a:spcPct val="0"/>
        </a:spcAft>
        <a:defRPr sz="3200" b="1">
          <a:solidFill>
            <a:schemeClr val="bg1"/>
          </a:solidFill>
          <a:latin typeface="Tahoma" panose="020B0604030504040204" pitchFamily="34" charset="0"/>
          <a:cs typeface="Arial" panose="020B0604020202020204" pitchFamily="34" charset="0"/>
        </a:defRPr>
      </a:lvl6pPr>
      <a:lvl7pPr marL="914400" algn="ctr" rtl="0" fontAlgn="base">
        <a:lnSpc>
          <a:spcPct val="90000"/>
        </a:lnSpc>
        <a:spcBef>
          <a:spcPct val="0"/>
        </a:spcBef>
        <a:spcAft>
          <a:spcPct val="0"/>
        </a:spcAft>
        <a:defRPr sz="3200" b="1">
          <a:solidFill>
            <a:schemeClr val="bg1"/>
          </a:solidFill>
          <a:latin typeface="Tahoma" panose="020B0604030504040204" pitchFamily="34" charset="0"/>
          <a:cs typeface="Arial" panose="020B0604020202020204" pitchFamily="34" charset="0"/>
        </a:defRPr>
      </a:lvl7pPr>
      <a:lvl8pPr marL="1371600" algn="ctr" rtl="0" fontAlgn="base">
        <a:lnSpc>
          <a:spcPct val="90000"/>
        </a:lnSpc>
        <a:spcBef>
          <a:spcPct val="0"/>
        </a:spcBef>
        <a:spcAft>
          <a:spcPct val="0"/>
        </a:spcAft>
        <a:defRPr sz="3200" b="1">
          <a:solidFill>
            <a:schemeClr val="bg1"/>
          </a:solidFill>
          <a:latin typeface="Tahoma" panose="020B0604030504040204" pitchFamily="34" charset="0"/>
          <a:cs typeface="Arial" panose="020B0604020202020204" pitchFamily="34" charset="0"/>
        </a:defRPr>
      </a:lvl8pPr>
      <a:lvl9pPr marL="1828800" algn="ctr" rtl="0" fontAlgn="base">
        <a:lnSpc>
          <a:spcPct val="90000"/>
        </a:lnSpc>
        <a:spcBef>
          <a:spcPct val="0"/>
        </a:spcBef>
        <a:spcAft>
          <a:spcPct val="0"/>
        </a:spcAft>
        <a:defRPr sz="3200" b="1">
          <a:solidFill>
            <a:schemeClr val="bg1"/>
          </a:solidFill>
          <a:latin typeface="Tahoma" panose="020B0604030504040204" pitchFamily="34" charset="0"/>
          <a:cs typeface="Arial" panose="020B0604020202020204" pitchFamily="34" charset="0"/>
        </a:defRPr>
      </a:lvl9pPr>
    </p:titleStyle>
    <p:bodyStyle>
      <a:lvl1pPr marL="342900" indent="-342900" algn="l" rtl="0" eaLnBrk="0" fontAlgn="base" hangingPunct="0">
        <a:lnSpc>
          <a:spcPct val="90000"/>
        </a:lnSpc>
        <a:spcBef>
          <a:spcPct val="0"/>
        </a:spcBef>
        <a:spcAft>
          <a:spcPct val="10000"/>
        </a:spcAft>
        <a:buClr>
          <a:srgbClr val="FF6600"/>
        </a:buClr>
        <a:buSzPct val="80000"/>
        <a:buFont typeface="Wingdings" panose="05000000000000000000" pitchFamily="2" charset="2"/>
        <a:buChar char="§"/>
        <a:defRPr sz="2800">
          <a:solidFill>
            <a:srgbClr val="001D3A"/>
          </a:solidFill>
          <a:latin typeface="+mn-lt"/>
          <a:ea typeface="+mn-ea"/>
          <a:cs typeface="+mn-cs"/>
        </a:defRPr>
      </a:lvl1pPr>
      <a:lvl2pPr marL="742950" indent="-285750" algn="l" rtl="0" eaLnBrk="0" fontAlgn="base" hangingPunct="0">
        <a:lnSpc>
          <a:spcPct val="90000"/>
        </a:lnSpc>
        <a:spcBef>
          <a:spcPct val="0"/>
        </a:spcBef>
        <a:spcAft>
          <a:spcPct val="10000"/>
        </a:spcAft>
        <a:buClr>
          <a:srgbClr val="FF6600"/>
        </a:buClr>
        <a:buChar char="–"/>
        <a:defRPr sz="2400">
          <a:solidFill>
            <a:srgbClr val="001D3A"/>
          </a:solidFill>
          <a:latin typeface="+mn-lt"/>
          <a:cs typeface="+mn-cs"/>
        </a:defRPr>
      </a:lvl2pPr>
      <a:lvl3pPr marL="1143000" indent="-228600" algn="l" rtl="0" eaLnBrk="0" fontAlgn="base" hangingPunct="0">
        <a:lnSpc>
          <a:spcPct val="90000"/>
        </a:lnSpc>
        <a:spcBef>
          <a:spcPct val="0"/>
        </a:spcBef>
        <a:spcAft>
          <a:spcPct val="10000"/>
        </a:spcAft>
        <a:buClr>
          <a:srgbClr val="FF6600"/>
        </a:buClr>
        <a:buChar char="•"/>
        <a:defRPr sz="2200">
          <a:solidFill>
            <a:srgbClr val="001D3A"/>
          </a:solidFill>
          <a:latin typeface="+mn-lt"/>
          <a:cs typeface="+mn-cs"/>
        </a:defRPr>
      </a:lvl3pPr>
      <a:lvl4pPr marL="1600200" indent="-228600" algn="l" rtl="0" eaLnBrk="0" fontAlgn="base" hangingPunct="0">
        <a:lnSpc>
          <a:spcPct val="90000"/>
        </a:lnSpc>
        <a:spcBef>
          <a:spcPct val="0"/>
        </a:spcBef>
        <a:spcAft>
          <a:spcPct val="10000"/>
        </a:spcAft>
        <a:buClr>
          <a:srgbClr val="FF6600"/>
        </a:buClr>
        <a:buFont typeface="Wingdings" panose="05000000000000000000" pitchFamily="2" charset="2"/>
        <a:buChar char="Ø"/>
        <a:defRPr sz="2400">
          <a:solidFill>
            <a:srgbClr val="001D3A"/>
          </a:solidFill>
          <a:latin typeface="+mn-lt"/>
          <a:cs typeface="+mn-cs"/>
        </a:defRPr>
      </a:lvl4pPr>
      <a:lvl5pPr marL="2057400" indent="-228600" algn="l" rtl="0" eaLnBrk="0" fontAlgn="base" hangingPunct="0">
        <a:lnSpc>
          <a:spcPct val="90000"/>
        </a:lnSpc>
        <a:spcBef>
          <a:spcPct val="0"/>
        </a:spcBef>
        <a:spcAft>
          <a:spcPct val="10000"/>
        </a:spcAft>
        <a:buClr>
          <a:srgbClr val="FF6600"/>
        </a:buClr>
        <a:buFont typeface="Wingdings" panose="05000000000000000000" pitchFamily="2" charset="2"/>
        <a:buChar char="w"/>
        <a:defRPr sz="2400">
          <a:solidFill>
            <a:srgbClr val="001D3A"/>
          </a:solidFill>
          <a:latin typeface="+mn-lt"/>
          <a:cs typeface="+mn-cs"/>
        </a:defRPr>
      </a:lvl5pPr>
      <a:lvl6pPr marL="2514600" indent="-228600" algn="l" rtl="0" fontAlgn="base">
        <a:lnSpc>
          <a:spcPct val="90000"/>
        </a:lnSpc>
        <a:spcBef>
          <a:spcPct val="0"/>
        </a:spcBef>
        <a:spcAft>
          <a:spcPct val="10000"/>
        </a:spcAft>
        <a:buClr>
          <a:srgbClr val="FF6600"/>
        </a:buClr>
        <a:buFont typeface="Wingdings" panose="05000000000000000000" pitchFamily="2" charset="2"/>
        <a:buChar char="w"/>
        <a:defRPr sz="2400">
          <a:solidFill>
            <a:srgbClr val="001D3A"/>
          </a:solidFill>
          <a:latin typeface="+mn-lt"/>
          <a:cs typeface="+mn-cs"/>
        </a:defRPr>
      </a:lvl6pPr>
      <a:lvl7pPr marL="2971800" indent="-228600" algn="l" rtl="0" fontAlgn="base">
        <a:lnSpc>
          <a:spcPct val="90000"/>
        </a:lnSpc>
        <a:spcBef>
          <a:spcPct val="0"/>
        </a:spcBef>
        <a:spcAft>
          <a:spcPct val="10000"/>
        </a:spcAft>
        <a:buClr>
          <a:srgbClr val="FF6600"/>
        </a:buClr>
        <a:buFont typeface="Wingdings" panose="05000000000000000000" pitchFamily="2" charset="2"/>
        <a:buChar char="w"/>
        <a:defRPr sz="2400">
          <a:solidFill>
            <a:srgbClr val="001D3A"/>
          </a:solidFill>
          <a:latin typeface="+mn-lt"/>
          <a:cs typeface="+mn-cs"/>
        </a:defRPr>
      </a:lvl7pPr>
      <a:lvl8pPr marL="3429000" indent="-228600" algn="l" rtl="0" fontAlgn="base">
        <a:lnSpc>
          <a:spcPct val="90000"/>
        </a:lnSpc>
        <a:spcBef>
          <a:spcPct val="0"/>
        </a:spcBef>
        <a:spcAft>
          <a:spcPct val="10000"/>
        </a:spcAft>
        <a:buClr>
          <a:srgbClr val="FF6600"/>
        </a:buClr>
        <a:buFont typeface="Wingdings" panose="05000000000000000000" pitchFamily="2" charset="2"/>
        <a:buChar char="w"/>
        <a:defRPr sz="2400">
          <a:solidFill>
            <a:srgbClr val="001D3A"/>
          </a:solidFill>
          <a:latin typeface="+mn-lt"/>
          <a:cs typeface="+mn-cs"/>
        </a:defRPr>
      </a:lvl8pPr>
      <a:lvl9pPr marL="3886200" indent="-228600" algn="l" rtl="0" fontAlgn="base">
        <a:lnSpc>
          <a:spcPct val="90000"/>
        </a:lnSpc>
        <a:spcBef>
          <a:spcPct val="0"/>
        </a:spcBef>
        <a:spcAft>
          <a:spcPct val="10000"/>
        </a:spcAft>
        <a:buClr>
          <a:srgbClr val="FF6600"/>
        </a:buClr>
        <a:buFont typeface="Wingdings" panose="05000000000000000000" pitchFamily="2" charset="2"/>
        <a:buChar char="w"/>
        <a:defRPr sz="2400">
          <a:solidFill>
            <a:srgbClr val="001D3A"/>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143EC7-5625-4ED6-AABC-76696349159A}" type="datetime1">
              <a:rPr lang="en-US" smtClean="0">
                <a:solidFill>
                  <a:prstClr val="black">
                    <a:tint val="75000"/>
                  </a:prstClr>
                </a:solidFill>
              </a:rPr>
              <a:t>1/31/2026</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solidFill>
                  <a:prstClr val="black">
                    <a:tint val="75000"/>
                  </a:prstClr>
                </a:solidFill>
              </a:rPr>
              <a:t>Drug Supply Management</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transition/>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143EC7-5625-4ED6-AABC-76696349159A}" type="datetime1">
              <a:rPr lang="en-US" smtClean="0">
                <a:solidFill>
                  <a:prstClr val="black">
                    <a:tint val="75000"/>
                  </a:prstClr>
                </a:solidFill>
              </a:rPr>
              <a:t>1/31/2026</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solidFill>
                  <a:prstClr val="black">
                    <a:tint val="75000"/>
                  </a:prstClr>
                </a:solidFill>
              </a:rPr>
              <a:t>Drug Supply Management</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transition/>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143EC7-5625-4ED6-AABC-76696349159A}" type="datetime1">
              <a:rPr lang="en-US" smtClean="0">
                <a:solidFill>
                  <a:prstClr val="black">
                    <a:tint val="75000"/>
                  </a:prstClr>
                </a:solidFill>
              </a:rPr>
              <a:t>1/31/2026</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solidFill>
                  <a:prstClr val="black">
                    <a:tint val="75000"/>
                  </a:prstClr>
                </a:solidFill>
              </a:rPr>
              <a:t>Drug Supply Management</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D2F681-1A86-4E8F-BCBD-B1ED175AC95E}" type="slidenum">
              <a:rPr lang="en-US" smtClean="0">
                <a:solidFill>
                  <a:prstClr val="black">
                    <a:tint val="75000"/>
                  </a:prstClr>
                </a:solidFill>
              </a:r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Lst>
  <p:transition/>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ln>
        </p:spPr>
        <p:txBody>
          <a:bodyPr vert="horz" wrap="square" lIns="91440" tIns="45720" rIns="91440" bIns="45720" numCol="1" anchor="ctr" anchorCtr="0" compatLnSpc="1"/>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lstStyle>
            <a:lvl1pPr>
              <a:defRPr sz="1200">
                <a:solidFill>
                  <a:srgbClr val="FFFFFF"/>
                </a:solidFill>
                <a:latin typeface="Tahoma" panose="020B0604030504040204" pitchFamily="34" charset="0"/>
              </a:defRPr>
            </a:lvl1pPr>
          </a:lstStyle>
          <a:p>
            <a:fld id="{DFBA9F5A-1C39-44F9-8FE1-B79BA893B3EF}" type="datetimeFigureOut">
              <a:rPr lang="en-US" smtClean="0"/>
              <a:t>1/31/2026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lstStyle>
            <a:lvl1pPr algn="ctr">
              <a:defRPr sz="1200">
                <a:solidFill>
                  <a:srgbClr val="FFFFFF"/>
                </a:solidFill>
                <a:latin typeface="Tahoma" panose="020B0604030504040204" pitchFamily="34"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a:defRPr sz="1200">
                <a:solidFill>
                  <a:srgbClr val="FFFFFF"/>
                </a:solidFill>
                <a:latin typeface="Tahoma" panose="020B0604030504040204" pitchFamily="34" charset="0"/>
              </a:defRPr>
            </a:lvl1pPr>
          </a:lstStyle>
          <a:p>
            <a:fld id="{30B2900F-A4EC-4BC1-B6F3-03781022429A}" type="slidenum">
              <a:rPr lang="en-US" smtClean="0"/>
              <a:t>‹#›</a:t>
            </a:fld>
            <a:endParaRPr lang="en-US"/>
          </a:p>
        </p:txBody>
      </p:sp>
      <p:pic>
        <p:nvPicPr>
          <p:cNvPr id="1031" name="Picture 9" descr="GHLI_banner_white_nick_2_1_2011_small.png"/>
          <p:cNvPicPr>
            <a:picLocks noChangeAspect="1"/>
          </p:cNvPicPr>
          <p:nvPr/>
        </p:nvPicPr>
        <p:blipFill>
          <a:blip r:embed="rId13" cstate="print"/>
          <a:srcRect/>
          <a:stretch>
            <a:fillRect/>
          </a:stretch>
        </p:blipFill>
        <p:spPr bwMode="auto">
          <a:xfrm>
            <a:off x="3124200" y="6400800"/>
            <a:ext cx="2906713" cy="241300"/>
          </a:xfrm>
          <a:prstGeom prst="rect">
            <a:avLst/>
          </a:prstGeom>
          <a:noFill/>
          <a:ln w="9525">
            <a:noFill/>
            <a:miter lim="800000"/>
            <a:headEnd/>
            <a:tailEnd/>
          </a:ln>
        </p:spPr>
      </p:pic>
      <p:pic>
        <p:nvPicPr>
          <p:cNvPr id="1032" name="Picture 9" descr="GHLI_banner_white_nick_2_1_2011_small.png"/>
          <p:cNvPicPr>
            <a:picLocks noChangeAspect="1"/>
          </p:cNvPicPr>
          <p:nvPr/>
        </p:nvPicPr>
        <p:blipFill>
          <a:blip r:embed="rId13" cstate="print"/>
          <a:srcRect/>
          <a:stretch>
            <a:fillRect/>
          </a:stretch>
        </p:blipFill>
        <p:spPr bwMode="auto">
          <a:xfrm>
            <a:off x="3124200" y="6400800"/>
            <a:ext cx="2906713" cy="241300"/>
          </a:xfrm>
          <a:prstGeom prst="rect">
            <a:avLst/>
          </a:prstGeom>
          <a:noFill/>
          <a:ln w="9525">
            <a:noFill/>
            <a:miter lim="800000"/>
            <a:headEnd/>
            <a:tailEnd/>
          </a:ln>
        </p:spPr>
      </p:pic>
    </p:spTree>
  </p:cSld>
  <p:clrMap bg1="dk1" tx1="lt1" bg2="dk2" tx2="lt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transition/>
  <p:txStyles>
    <p:titleStyle>
      <a:lvl1pPr algn="ctr" rtl="0" eaLnBrk="1" fontAlgn="base" hangingPunct="1">
        <a:spcBef>
          <a:spcPct val="0"/>
        </a:spcBef>
        <a:spcAft>
          <a:spcPct val="0"/>
        </a:spcAft>
        <a:defRPr sz="4400" kern="1200">
          <a:solidFill>
            <a:srgbClr val="FCEA04"/>
          </a:solidFill>
          <a:latin typeface="Tahoma" panose="020B0604030504040204" pitchFamily="34" charset="0"/>
          <a:ea typeface="+mj-ea"/>
          <a:cs typeface="+mj-cs"/>
        </a:defRPr>
      </a:lvl1pPr>
      <a:lvl2pPr algn="ctr" rtl="0" eaLnBrk="1" fontAlgn="base" hangingPunct="1">
        <a:spcBef>
          <a:spcPct val="0"/>
        </a:spcBef>
        <a:spcAft>
          <a:spcPct val="0"/>
        </a:spcAft>
        <a:defRPr sz="4400">
          <a:solidFill>
            <a:srgbClr val="FCEA04"/>
          </a:solidFill>
          <a:latin typeface="Tahoma" panose="020B0604030504040204" pitchFamily="34" charset="0"/>
        </a:defRPr>
      </a:lvl2pPr>
      <a:lvl3pPr algn="ctr" rtl="0" eaLnBrk="1" fontAlgn="base" hangingPunct="1">
        <a:spcBef>
          <a:spcPct val="0"/>
        </a:spcBef>
        <a:spcAft>
          <a:spcPct val="0"/>
        </a:spcAft>
        <a:defRPr sz="4400">
          <a:solidFill>
            <a:srgbClr val="FCEA04"/>
          </a:solidFill>
          <a:latin typeface="Tahoma" panose="020B0604030504040204" pitchFamily="34" charset="0"/>
        </a:defRPr>
      </a:lvl3pPr>
      <a:lvl4pPr algn="ctr" rtl="0" eaLnBrk="1" fontAlgn="base" hangingPunct="1">
        <a:spcBef>
          <a:spcPct val="0"/>
        </a:spcBef>
        <a:spcAft>
          <a:spcPct val="0"/>
        </a:spcAft>
        <a:defRPr sz="4400">
          <a:solidFill>
            <a:srgbClr val="FCEA04"/>
          </a:solidFill>
          <a:latin typeface="Tahoma" panose="020B0604030504040204" pitchFamily="34" charset="0"/>
        </a:defRPr>
      </a:lvl4pPr>
      <a:lvl5pPr algn="ctr" rtl="0" eaLnBrk="1" fontAlgn="base" hangingPunct="1">
        <a:spcBef>
          <a:spcPct val="0"/>
        </a:spcBef>
        <a:spcAft>
          <a:spcPct val="0"/>
        </a:spcAft>
        <a:defRPr sz="4400">
          <a:solidFill>
            <a:srgbClr val="FCEA04"/>
          </a:solidFill>
          <a:latin typeface="Tahoma" panose="020B0604030504040204" pitchFamily="34" charset="0"/>
        </a:defRPr>
      </a:lvl5pPr>
      <a:lvl6pPr marL="457200" algn="ctr" rtl="0" eaLnBrk="1" fontAlgn="base" hangingPunct="1">
        <a:spcBef>
          <a:spcPct val="0"/>
        </a:spcBef>
        <a:spcAft>
          <a:spcPct val="0"/>
        </a:spcAft>
        <a:defRPr sz="4400">
          <a:solidFill>
            <a:srgbClr val="FFFF00"/>
          </a:solidFill>
          <a:latin typeface="Tahoma" panose="020B0604030504040204" pitchFamily="34" charset="0"/>
        </a:defRPr>
      </a:lvl6pPr>
      <a:lvl7pPr marL="914400" algn="ctr" rtl="0" eaLnBrk="1" fontAlgn="base" hangingPunct="1">
        <a:spcBef>
          <a:spcPct val="0"/>
        </a:spcBef>
        <a:spcAft>
          <a:spcPct val="0"/>
        </a:spcAft>
        <a:defRPr sz="4400">
          <a:solidFill>
            <a:srgbClr val="FFFF00"/>
          </a:solidFill>
          <a:latin typeface="Tahoma" panose="020B0604030504040204" pitchFamily="34" charset="0"/>
        </a:defRPr>
      </a:lvl7pPr>
      <a:lvl8pPr marL="1371600" algn="ctr" rtl="0" eaLnBrk="1" fontAlgn="base" hangingPunct="1">
        <a:spcBef>
          <a:spcPct val="0"/>
        </a:spcBef>
        <a:spcAft>
          <a:spcPct val="0"/>
        </a:spcAft>
        <a:defRPr sz="4400">
          <a:solidFill>
            <a:srgbClr val="FFFF00"/>
          </a:solidFill>
          <a:latin typeface="Tahoma" panose="020B0604030504040204" pitchFamily="34" charset="0"/>
        </a:defRPr>
      </a:lvl8pPr>
      <a:lvl9pPr marL="1828800" algn="ctr" rtl="0" eaLnBrk="1" fontAlgn="base" hangingPunct="1">
        <a:spcBef>
          <a:spcPct val="0"/>
        </a:spcBef>
        <a:spcAft>
          <a:spcPct val="0"/>
        </a:spcAft>
        <a:defRPr sz="4400">
          <a:solidFill>
            <a:srgbClr val="FFFF00"/>
          </a:solidFill>
          <a:latin typeface="Tahoma" panose="020B0604030504040204" pitchFamily="34" charset="0"/>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chemeClr val="tx1"/>
          </a:solidFill>
          <a:latin typeface="Tahoma" panose="020B0604030504040204" pitchFamily="34" charset="0"/>
          <a:ea typeface="+mn-ea"/>
          <a:cs typeface="+mn-cs"/>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tx1"/>
          </a:solidFill>
          <a:latin typeface="Tahoma" panose="020B0604030504040204" pitchFamily="34" charset="0"/>
          <a:ea typeface="+mn-ea"/>
          <a:cs typeface="+mn-cs"/>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Tahoma" panose="020B0604030504040204" pitchFamily="34" charset="0"/>
          <a:ea typeface="+mn-ea"/>
          <a:cs typeface="+mn-cs"/>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Tahoma" panose="020B0604030504040204" pitchFamily="34" charset="0"/>
          <a:ea typeface="+mn-ea"/>
          <a:cs typeface="+mn-cs"/>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Tahoma" panose="020B060403050404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a:fld id="{C0961194-43EC-E047-983E-1B5D27BC88D6}" type="datetime1">
              <a:rPr lang="en-US" smtClean="0">
                <a:solidFill>
                  <a:prstClr val="black">
                    <a:tint val="75000"/>
                  </a:prstClr>
                </a:solidFill>
              </a:rPr>
              <a:t>1/31/2026</a:t>
            </a:fld>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a:fld id="{36A94550-0172-2A4E-BEEB-6BE00EB0E97C}" type="slidenum">
              <a:rPr lang="en-US" smtClean="0">
                <a:solidFill>
                  <a:prstClr val="black">
                    <a:tint val="75000"/>
                  </a:prstClr>
                </a:solidFill>
              </a:r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3.xml"/></Relationships>
</file>

<file path=ppt/slides/_rels/slide2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6.xml"/><Relationship Id="rId1" Type="http://schemas.openxmlformats.org/officeDocument/2006/relationships/slideLayout" Target="../slideLayouts/slideLayout7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1.xml"/></Relationships>
</file>

<file path=ppt/slides/_rels/slide4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8.xml"/><Relationship Id="rId1" Type="http://schemas.openxmlformats.org/officeDocument/2006/relationships/slideLayout" Target="../slideLayouts/slideLayout7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1.xml"/></Relationships>
</file>

<file path=ppt/slides/_rels/slide4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4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4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0.xml"/><Relationship Id="rId1" Type="http://schemas.openxmlformats.org/officeDocument/2006/relationships/slideLayout" Target="../slideLayouts/slideLayout71.xml"/></Relationships>
</file>

<file path=ppt/slides/_rels/slide4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1.xml"/></Relationships>
</file>

<file path=ppt/slides/_rels/slide6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1.xml"/></Relationships>
</file>

<file path=ppt/slides/_rels/slide6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0.xml"/><Relationship Id="rId1" Type="http://schemas.openxmlformats.org/officeDocument/2006/relationships/slideLayout" Target="../slideLayouts/slideLayout7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1.xml"/></Relationships>
</file>

<file path=ppt/slides/_rels/slide7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6.xml"/><Relationship Id="rId1" Type="http://schemas.openxmlformats.org/officeDocument/2006/relationships/slideLayout" Target="../slideLayouts/slideLayout71.xml"/><Relationship Id="rId6" Type="http://schemas.openxmlformats.org/officeDocument/2006/relationships/chart" Target="../charts/chart1.xml"/><Relationship Id="rId5" Type="http://schemas.openxmlformats.org/officeDocument/2006/relationships/image" Target="../media/image13.jpeg"/><Relationship Id="rId4" Type="http://schemas.openxmlformats.org/officeDocument/2006/relationships/image" Target="../media/image12.GIF"/></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6.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6.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5.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6.xml"/></Relationships>
</file>

<file path=ppt/slides/_rels/slide1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9.xml"/><Relationship Id="rId1" Type="http://schemas.openxmlformats.org/officeDocument/2006/relationships/slideLayout" Target="../slideLayouts/slideLayout24.xml"/></Relationships>
</file>

<file path=ppt/slides/_rels/slide1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0.xml"/><Relationship Id="rId1" Type="http://schemas.openxmlformats.org/officeDocument/2006/relationships/slideLayout" Target="../slideLayouts/slideLayout2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4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6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9.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6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9.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7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9.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65.xml"/></Relationships>
</file>

<file path=ppt/slides/_rels/slide180.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49.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870466"/>
            <a:ext cx="8991600" cy="5835134"/>
          </a:xfrm>
        </p:spPr>
        <p:txBody>
          <a:bodyPr>
            <a:normAutofit/>
          </a:bodyPr>
          <a:lstStyle/>
          <a:p>
            <a:pPr marL="0" indent="0">
              <a:lnSpc>
                <a:spcPct val="150000"/>
              </a:lnSpc>
              <a:buNone/>
            </a:pPr>
            <a:endParaRPr lang="en-US" sz="2400" b="1" dirty="0">
              <a:latin typeface="Tahoma" panose="020B0604030504040204" pitchFamily="34" charset="0"/>
              <a:ea typeface="Tahoma" panose="020B0604030504040204" pitchFamily="34" charset="0"/>
              <a:cs typeface="Tahoma" panose="020B0604030504040204" pitchFamily="34" charset="0"/>
            </a:endParaRPr>
          </a:p>
          <a:p>
            <a:pPr marL="0" indent="0">
              <a:lnSpc>
                <a:spcPct val="150000"/>
              </a:lnSpc>
              <a:buNone/>
            </a:pPr>
            <a:endParaRPr lang="en-US" sz="2400" b="1" dirty="0">
              <a:latin typeface="Tahoma" panose="020B0604030504040204" pitchFamily="34" charset="0"/>
              <a:ea typeface="Tahoma" panose="020B0604030504040204" pitchFamily="34" charset="0"/>
              <a:cs typeface="Tahoma" panose="020B0604030504040204" pitchFamily="34" charset="0"/>
            </a:endParaRPr>
          </a:p>
          <a:p>
            <a:pPr marL="0" indent="0">
              <a:lnSpc>
                <a:spcPct val="150000"/>
              </a:lnSpc>
              <a:buNone/>
            </a:pPr>
            <a:r>
              <a:rPr lang="en-US" sz="2400" b="1" dirty="0">
                <a:latin typeface="Arial" panose="020B0604020202020204" pitchFamily="34" charset="0"/>
                <a:ea typeface="Tahoma" panose="020B0604030504040204" pitchFamily="34" charset="0"/>
                <a:cs typeface="Arial" panose="020B0604020202020204" pitchFamily="34" charset="0"/>
              </a:rPr>
              <a:t>      MANAGEMENT OF HEALTH FACILITY RESOURCES </a:t>
            </a:r>
          </a:p>
          <a:p>
            <a:pPr algn="ctr">
              <a:buNone/>
            </a:pPr>
            <a:r>
              <a:rPr lang="en-US" b="1" dirty="0">
                <a:solidFill>
                  <a:schemeClr val="accent2">
                    <a:lumMod val="50000"/>
                  </a:schemeClr>
                </a:solidFill>
              </a:rPr>
              <a:t>L5 Nursing Upgrading </a:t>
            </a:r>
          </a:p>
          <a:p>
            <a:pPr algn="ctr">
              <a:buNone/>
            </a:pPr>
            <a:endParaRPr lang="en-US" b="1" dirty="0">
              <a:solidFill>
                <a:schemeClr val="accent2">
                  <a:lumMod val="50000"/>
                </a:schemeClr>
              </a:solidFill>
            </a:endParaRPr>
          </a:p>
          <a:p>
            <a:pPr algn="ctr">
              <a:buNone/>
            </a:pPr>
            <a:r>
              <a:rPr lang="en-US" b="1" dirty="0">
                <a:solidFill>
                  <a:schemeClr val="accent2">
                    <a:lumMod val="50000"/>
                  </a:schemeClr>
                </a:solidFill>
              </a:rPr>
              <a:t>BY </a:t>
            </a:r>
          </a:p>
          <a:p>
            <a:pPr algn="ctr">
              <a:buNone/>
            </a:pPr>
            <a:r>
              <a:rPr lang="en-US" sz="3600" b="1" dirty="0" err="1">
                <a:solidFill>
                  <a:schemeClr val="accent2">
                    <a:lumMod val="50000"/>
                  </a:schemeClr>
                </a:solidFill>
              </a:rPr>
              <a:t>Mr</a:t>
            </a:r>
            <a:r>
              <a:rPr lang="en-US" sz="3600" b="1" dirty="0">
                <a:solidFill>
                  <a:schemeClr val="accent2">
                    <a:lumMod val="50000"/>
                  </a:schemeClr>
                </a:solidFill>
              </a:rPr>
              <a:t> BISANUKURI Evergiste ,</a:t>
            </a:r>
            <a:r>
              <a:rPr lang="en-US" sz="3600" b="1" dirty="0" err="1">
                <a:solidFill>
                  <a:schemeClr val="accent2">
                    <a:lumMod val="50000"/>
                  </a:schemeClr>
                </a:solidFill>
              </a:rPr>
              <a:t>MHA,BScN</a:t>
            </a:r>
            <a:r>
              <a:rPr lang="en-US" sz="3600" b="1" dirty="0">
                <a:solidFill>
                  <a:schemeClr val="accent2">
                    <a:lumMod val="50000"/>
                  </a:schemeClr>
                </a:solidFill>
              </a:rPr>
              <a:t> ,RM  </a:t>
            </a:r>
          </a:p>
          <a:p>
            <a:pPr algn="ctr"/>
            <a:r>
              <a:rPr lang="en-US" sz="2400" dirty="0"/>
              <a:t>                Jan/2026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fr-FR"/>
              <a:t>content</a:t>
            </a:r>
          </a:p>
        </p:txBody>
      </p:sp>
      <p:sp>
        <p:nvSpPr>
          <p:cNvPr id="3" name="Content Placeholder 2"/>
          <p:cNvSpPr>
            <a:spLocks noGrp="1"/>
          </p:cNvSpPr>
          <p:nvPr>
            <p:ph idx="1"/>
          </p:nvPr>
        </p:nvSpPr>
        <p:spPr/>
        <p:txBody>
          <a:bodyPr>
            <a:normAutofit/>
          </a:bodyPr>
          <a:lstStyle/>
          <a:p>
            <a:r>
              <a:rPr lang="en-US" sz="3200" b="1" dirty="0"/>
              <a:t>Human Resource management </a:t>
            </a:r>
          </a:p>
          <a:p>
            <a:r>
              <a:rPr lang="en-US" sz="3200" b="1" dirty="0"/>
              <a:t>Material Management</a:t>
            </a:r>
          </a:p>
          <a:p>
            <a:r>
              <a:rPr lang="en-US" sz="3200" b="1" dirty="0"/>
              <a:t>Managing Equipment </a:t>
            </a:r>
          </a:p>
          <a:p>
            <a:r>
              <a:rPr lang="en-US" sz="3200" b="1" dirty="0"/>
              <a:t>Drug management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Human Resource Management</a:t>
            </a:r>
          </a:p>
        </p:txBody>
      </p:sp>
      <p:sp>
        <p:nvSpPr>
          <p:cNvPr id="3" name="Content Placeholder 2"/>
          <p:cNvSpPr>
            <a:spLocks noGrp="1"/>
          </p:cNvSpPr>
          <p:nvPr>
            <p:ph idx="1"/>
          </p:nvPr>
        </p:nvSpPr>
        <p:spPr>
          <a:xfrm>
            <a:off x="268014" y="1892301"/>
            <a:ext cx="8749834" cy="3530599"/>
          </a:xfrm>
        </p:spPr>
        <p:txBody>
          <a:bodyPr>
            <a:normAutofit/>
          </a:bodyPr>
          <a:lstStyle/>
          <a:p>
            <a:pPr lvl="0" defTabSz="914400" fontAlgn="base">
              <a:lnSpc>
                <a:spcPct val="150000"/>
              </a:lnSpc>
              <a:spcBef>
                <a:spcPts val="0"/>
              </a:spcBef>
              <a:spcAft>
                <a:spcPct val="0"/>
              </a:spcAft>
              <a:buNone/>
              <a:defRPr/>
            </a:pPr>
            <a:r>
              <a:rPr lang="en-US" sz="2800" dirty="0"/>
              <a:t>The </a:t>
            </a:r>
            <a:r>
              <a:rPr lang="en-US" sz="2800" b="1" i="1" dirty="0">
                <a:solidFill>
                  <a:schemeClr val="tx2">
                    <a:lumMod val="60000"/>
                    <a:lumOff val="40000"/>
                  </a:schemeClr>
                </a:solidFill>
              </a:rPr>
              <a:t>integrated</a:t>
            </a:r>
            <a:r>
              <a:rPr lang="en-US" sz="2800" dirty="0">
                <a:solidFill>
                  <a:schemeClr val="tx2">
                    <a:lumMod val="60000"/>
                    <a:lumOff val="40000"/>
                  </a:schemeClr>
                </a:solidFill>
              </a:rPr>
              <a:t> </a:t>
            </a:r>
            <a:r>
              <a:rPr lang="en-US" sz="2800" dirty="0"/>
              <a:t>use of policies, procedures and practices to recruit, retain and develop employees in order for the organization to meet its desired goals.</a:t>
            </a:r>
          </a:p>
          <a:p>
            <a:pPr lvl="0" defTabSz="914400" fontAlgn="base">
              <a:lnSpc>
                <a:spcPct val="150000"/>
              </a:lnSpc>
              <a:spcBef>
                <a:spcPts val="0"/>
              </a:spcBef>
              <a:spcAft>
                <a:spcPct val="0"/>
              </a:spcAft>
              <a:buNone/>
              <a:defRPr/>
            </a:pPr>
            <a:endParaRPr lang="en-US" sz="2800" dirty="0"/>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3</a:t>
            </a:fld>
            <a:endParaRPr lang="en-US" dirty="0">
              <a:solidFill>
                <a:prstClr val="black">
                  <a:tint val="75000"/>
                </a:prstClr>
              </a:solidFill>
            </a:endParaRPr>
          </a:p>
        </p:txBody>
      </p:sp>
      <p:sp>
        <p:nvSpPr>
          <p:cNvPr id="6" name="TextBox 5"/>
          <p:cNvSpPr txBox="1"/>
          <p:nvPr/>
        </p:nvSpPr>
        <p:spPr>
          <a:xfrm>
            <a:off x="110331" y="1442554"/>
            <a:ext cx="8907517" cy="523220"/>
          </a:xfrm>
          <a:prstGeom prst="rect">
            <a:avLst/>
          </a:prstGeom>
          <a:noFill/>
        </p:spPr>
        <p:txBody>
          <a:bodyPr wrap="square" rtlCol="0">
            <a:spAutoFit/>
          </a:bodyPr>
          <a:lstStyle/>
          <a:p>
            <a:pPr defTabSz="457200"/>
            <a:r>
              <a:rPr lang="en-US" sz="2800" b="1" dirty="0">
                <a:solidFill>
                  <a:prstClr val="black"/>
                </a:solidFill>
              </a:rPr>
              <a:t>Definition:</a:t>
            </a:r>
          </a:p>
        </p:txBody>
      </p:sp>
      <p:cxnSp>
        <p:nvCxnSpPr>
          <p:cNvPr id="8" name="Straight Connector 7"/>
          <p:cNvCxnSpPr/>
          <p:nvPr/>
        </p:nvCxnSpPr>
        <p:spPr>
          <a:xfrm flipV="1">
            <a:off x="3528391" y="2557848"/>
            <a:ext cx="1160476" cy="1235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flipV="1">
            <a:off x="4920225" y="2574321"/>
            <a:ext cx="1276524" cy="1235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V="1">
            <a:off x="7276618" y="2549607"/>
            <a:ext cx="1160476" cy="1235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flipV="1">
            <a:off x="603951" y="3105667"/>
            <a:ext cx="1160476" cy="1235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V="1">
            <a:off x="1889181" y="3122140"/>
            <a:ext cx="871883" cy="1235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V="1">
            <a:off x="3425421" y="3097426"/>
            <a:ext cx="1160476" cy="1235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left)">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Basic Functions of HRM</a:t>
            </a:r>
          </a:p>
        </p:txBody>
      </p:sp>
      <p:sp>
        <p:nvSpPr>
          <p:cNvPr id="3" name="Content Placeholder 2"/>
          <p:cNvSpPr>
            <a:spLocks noGrp="1"/>
          </p:cNvSpPr>
          <p:nvPr>
            <p:ph idx="1"/>
          </p:nvPr>
        </p:nvSpPr>
        <p:spPr>
          <a:xfrm>
            <a:off x="460585" y="1562933"/>
            <a:ext cx="8147385" cy="4751371"/>
          </a:xfrm>
        </p:spPr>
        <p:txBody>
          <a:bodyPr>
            <a:noAutofit/>
          </a:bodyPr>
          <a:lstStyle/>
          <a:p>
            <a:pPr marL="514350" indent="-514350" defTabSz="914400" fontAlgn="base">
              <a:spcAft>
                <a:spcPct val="0"/>
              </a:spcAft>
              <a:buFont typeface="+mj-lt"/>
              <a:buAutoNum type="arabicPeriod"/>
              <a:defRPr/>
            </a:pPr>
            <a:r>
              <a:rPr lang="en-US" sz="2800" dirty="0"/>
              <a:t>Staff (Workforce) Planning</a:t>
            </a:r>
          </a:p>
          <a:p>
            <a:pPr marL="514350" indent="-514350" defTabSz="914400" fontAlgn="base">
              <a:spcAft>
                <a:spcPct val="0"/>
              </a:spcAft>
              <a:buFont typeface="+mj-lt"/>
              <a:buAutoNum type="arabicPeriod"/>
              <a:defRPr/>
            </a:pPr>
            <a:r>
              <a:rPr lang="en-US" sz="2800" dirty="0"/>
              <a:t>Recruitment</a:t>
            </a:r>
          </a:p>
          <a:p>
            <a:pPr marL="0" indent="0" defTabSz="914400" fontAlgn="base">
              <a:spcAft>
                <a:spcPct val="0"/>
              </a:spcAft>
              <a:buNone/>
              <a:defRPr/>
            </a:pPr>
            <a:r>
              <a:rPr lang="en-US" sz="2800" dirty="0"/>
              <a:t>3.   Orientation to the Organization </a:t>
            </a:r>
          </a:p>
          <a:p>
            <a:pPr marL="0" indent="0" defTabSz="914400" fontAlgn="base">
              <a:spcAft>
                <a:spcPct val="0"/>
              </a:spcAft>
              <a:buNone/>
              <a:defRPr/>
            </a:pPr>
            <a:r>
              <a:rPr lang="en-US" sz="2800" dirty="0"/>
              <a:t>4.   Training, Education, and Staff Development</a:t>
            </a:r>
          </a:p>
          <a:p>
            <a:pPr marL="0" indent="0" defTabSz="914400" fontAlgn="base">
              <a:spcAft>
                <a:spcPct val="0"/>
              </a:spcAft>
              <a:buNone/>
              <a:defRPr/>
            </a:pPr>
            <a:r>
              <a:rPr lang="en-US" sz="2800" dirty="0"/>
              <a:t>5.    Employee Relations</a:t>
            </a:r>
          </a:p>
          <a:p>
            <a:pPr marL="0" indent="0" defTabSz="914400" fontAlgn="base">
              <a:spcAft>
                <a:spcPct val="0"/>
              </a:spcAft>
              <a:buNone/>
              <a:defRPr/>
            </a:pPr>
            <a:r>
              <a:rPr lang="en-US" sz="2800" dirty="0"/>
              <a:t>6.    Performance Management</a:t>
            </a:r>
          </a:p>
          <a:p>
            <a:pPr marL="0" indent="0" defTabSz="914400" fontAlgn="base">
              <a:spcAft>
                <a:spcPct val="0"/>
              </a:spcAft>
              <a:buNone/>
              <a:defRPr/>
            </a:pPr>
            <a:r>
              <a:rPr lang="en-US" sz="2800" dirty="0"/>
              <a:t>7.    Policies and Procedures</a:t>
            </a:r>
          </a:p>
          <a:p>
            <a:pPr marL="0" indent="0" defTabSz="914400" fontAlgn="base">
              <a:spcAft>
                <a:spcPct val="0"/>
              </a:spcAft>
              <a:buNone/>
              <a:defRPr/>
            </a:pPr>
            <a:r>
              <a:rPr lang="en-US" sz="2800" dirty="0"/>
              <a:t>8.    Record keeping: Personnel Files</a:t>
            </a:r>
          </a:p>
        </p:txBody>
      </p:sp>
      <p:sp>
        <p:nvSpPr>
          <p:cNvPr id="5" name="Slide Number Placeholder 4"/>
          <p:cNvSpPr>
            <a:spLocks noGrp="1"/>
          </p:cNvSpPr>
          <p:nvPr>
            <p:ph type="sldNum" sz="quarter" idx="12"/>
          </p:nvPr>
        </p:nvSpPr>
        <p:spPr/>
        <p:txBody>
          <a:bodyPr/>
          <a:lstStyle/>
          <a:p>
            <a:fld id="{36A94550-0172-2A4E-BEEB-6BE00EB0E97C}" type="slidenum">
              <a:rPr lang="en-US" smtClean="0">
                <a:solidFill>
                  <a:prstClr val="black">
                    <a:tint val="75000"/>
                  </a:prstClr>
                </a:solidFill>
              </a:rPr>
              <a:t>4</a:t>
            </a:fld>
            <a:endParaRPr lang="en-US" dirty="0">
              <a:solidFill>
                <a:prstClr val="black">
                  <a:tint val="75000"/>
                </a:prst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62" y="2652245"/>
            <a:ext cx="9260997" cy="1362075"/>
          </a:xfrm>
          <a:solidFill>
            <a:schemeClr val="tx2">
              <a:lumMod val="50000"/>
            </a:schemeClr>
          </a:solidFill>
        </p:spPr>
        <p:txBody>
          <a:bodyPr>
            <a:noAutofit/>
          </a:bodyPr>
          <a:lstStyle/>
          <a:p>
            <a:pPr algn="ctr">
              <a:lnSpc>
                <a:spcPct val="150000"/>
              </a:lnSpc>
            </a:pPr>
            <a:r>
              <a:rPr lang="en-US" sz="3600" dirty="0">
                <a:solidFill>
                  <a:srgbClr val="FFFFFF"/>
                </a:solidFill>
              </a:rPr>
              <a:t>1. Staff (Workforce) Planning</a:t>
            </a:r>
          </a:p>
        </p:txBody>
      </p:sp>
      <p:sp>
        <p:nvSpPr>
          <p:cNvPr id="3" name="Text Placeholder 2"/>
          <p:cNvSpPr>
            <a:spLocks noGrp="1"/>
          </p:cNvSpPr>
          <p:nvPr>
            <p:ph type="body" idx="1"/>
          </p:nvPr>
        </p:nvSpPr>
        <p:spPr>
          <a:xfrm>
            <a:off x="651974" y="2906713"/>
            <a:ext cx="8421687" cy="1500187"/>
          </a:xfrm>
        </p:spPr>
        <p:txBody>
          <a:bodyPr>
            <a:normAutofit/>
          </a:bodyPr>
          <a:lstStyle/>
          <a:p>
            <a:r>
              <a:rPr lang="en-US" sz="2800" b="1" dirty="0"/>
              <a:t>Basic Functions of Human Resource Management</a:t>
            </a:r>
          </a:p>
        </p:txBody>
      </p:sp>
      <p:sp>
        <p:nvSpPr>
          <p:cNvPr id="5" name="Slide Number Placeholder 4"/>
          <p:cNvSpPr>
            <a:spLocks noGrp="1"/>
          </p:cNvSpPr>
          <p:nvPr>
            <p:ph type="sldNum" sz="quarter" idx="12"/>
          </p:nvPr>
        </p:nvSpPr>
        <p:spPr/>
        <p:txBody>
          <a:bodyPr/>
          <a:lstStyle/>
          <a:p>
            <a:fld id="{36A94550-0172-2A4E-BEEB-6BE00EB0E97C}" type="slidenum">
              <a:rPr lang="en-US" smtClean="0">
                <a:solidFill>
                  <a:prstClr val="black">
                    <a:tint val="75000"/>
                  </a:prstClr>
                </a:solidFill>
              </a:rPr>
              <a:t>5</a:t>
            </a:fld>
            <a:endParaRPr lang="en-US" dirty="0">
              <a:solidFill>
                <a:prstClr val="black">
                  <a:tint val="75000"/>
                </a:prst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a:solidFill>
                  <a:srgbClr val="FFFFFF"/>
                </a:solidFill>
              </a:rPr>
              <a:t>1. Staff </a:t>
            </a:r>
            <a:r>
              <a:rPr lang="en-US" dirty="0">
                <a:solidFill>
                  <a:srgbClr val="FFFFFF"/>
                </a:solidFill>
              </a:rPr>
              <a:t>(Workforce) Planning</a:t>
            </a:r>
          </a:p>
        </p:txBody>
      </p:sp>
      <p:sp>
        <p:nvSpPr>
          <p:cNvPr id="3" name="Content Placeholder 2"/>
          <p:cNvSpPr>
            <a:spLocks noGrp="1"/>
          </p:cNvSpPr>
          <p:nvPr>
            <p:ph idx="1"/>
          </p:nvPr>
        </p:nvSpPr>
        <p:spPr>
          <a:xfrm>
            <a:off x="261004" y="1183284"/>
            <a:ext cx="8378497" cy="4787899"/>
          </a:xfrm>
        </p:spPr>
        <p:txBody>
          <a:bodyPr>
            <a:noAutofit/>
          </a:bodyPr>
          <a:lstStyle/>
          <a:p>
            <a:pPr marL="0" indent="0" defTabSz="914400" fontAlgn="base">
              <a:lnSpc>
                <a:spcPct val="170000"/>
              </a:lnSpc>
              <a:spcAft>
                <a:spcPct val="0"/>
              </a:spcAft>
              <a:buNone/>
              <a:defRPr/>
            </a:pPr>
            <a:r>
              <a:rPr lang="en-US" sz="2800" b="1" dirty="0"/>
              <a:t>Definition:</a:t>
            </a:r>
          </a:p>
          <a:p>
            <a:pPr marL="0" indent="0" defTabSz="914400" fontAlgn="base">
              <a:spcAft>
                <a:spcPct val="0"/>
              </a:spcAft>
              <a:buNone/>
              <a:defRPr/>
            </a:pPr>
            <a:r>
              <a:rPr lang="en-US" sz="2400" dirty="0"/>
              <a:t>To </a:t>
            </a:r>
            <a:r>
              <a:rPr lang="en-US" sz="2400" b="1" dirty="0">
                <a:solidFill>
                  <a:schemeClr val="tx2">
                    <a:lumMod val="60000"/>
                    <a:lumOff val="40000"/>
                  </a:schemeClr>
                </a:solidFill>
              </a:rPr>
              <a:t>anticipate</a:t>
            </a:r>
            <a:r>
              <a:rPr lang="en-US" sz="2400" dirty="0"/>
              <a:t> and plan for the future staffing needs of your hospital.</a:t>
            </a:r>
          </a:p>
          <a:p>
            <a:pPr marL="0" indent="0" defTabSz="914400" fontAlgn="base">
              <a:lnSpc>
                <a:spcPct val="170000"/>
              </a:lnSpc>
              <a:spcAft>
                <a:spcPct val="0"/>
              </a:spcAft>
              <a:buNone/>
              <a:defRPr/>
            </a:pPr>
            <a:r>
              <a:rPr lang="en-US" sz="2800" b="1" dirty="0"/>
              <a:t>Why important? </a:t>
            </a:r>
          </a:p>
          <a:p>
            <a:pPr marL="0" indent="0" defTabSz="914400" fontAlgn="base">
              <a:spcAft>
                <a:spcPct val="0"/>
              </a:spcAft>
              <a:buNone/>
              <a:defRPr/>
            </a:pPr>
            <a:r>
              <a:rPr lang="en-US" sz="2400" dirty="0"/>
              <a:t>If you don’t plan future needs, the hospital will not have:</a:t>
            </a:r>
          </a:p>
          <a:p>
            <a:pPr defTabSz="914400" fontAlgn="base">
              <a:spcAft>
                <a:spcPct val="0"/>
              </a:spcAft>
              <a:defRPr/>
            </a:pPr>
            <a:r>
              <a:rPr lang="en-US" sz="2400" i="1" dirty="0"/>
              <a:t>right number (too few or too many)</a:t>
            </a:r>
            <a:r>
              <a:rPr lang="en-US" sz="2400" dirty="0"/>
              <a:t> </a:t>
            </a:r>
          </a:p>
          <a:p>
            <a:pPr defTabSz="914400" fontAlgn="base">
              <a:spcAft>
                <a:spcPct val="0"/>
              </a:spcAft>
              <a:defRPr/>
            </a:pPr>
            <a:r>
              <a:rPr lang="en-US" sz="2400" i="1" dirty="0"/>
              <a:t>right types </a:t>
            </a:r>
            <a:r>
              <a:rPr lang="en-US" sz="2400" dirty="0"/>
              <a:t>of employees to provide care to patients. </a:t>
            </a:r>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6</a:t>
            </a:fld>
            <a:endParaRPr lang="en-US" dirty="0">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1. Staff (Workforce) Planning</a:t>
            </a:r>
          </a:p>
        </p:txBody>
      </p:sp>
      <p:sp>
        <p:nvSpPr>
          <p:cNvPr id="3" name="Content Placeholder 2"/>
          <p:cNvSpPr>
            <a:spLocks noGrp="1"/>
          </p:cNvSpPr>
          <p:nvPr>
            <p:ph idx="1"/>
          </p:nvPr>
        </p:nvSpPr>
        <p:spPr>
          <a:xfrm>
            <a:off x="88734" y="1168309"/>
            <a:ext cx="8932041" cy="606971"/>
          </a:xfrm>
        </p:spPr>
        <p:txBody>
          <a:bodyPr>
            <a:noAutofit/>
          </a:bodyPr>
          <a:lstStyle/>
          <a:p>
            <a:pPr marL="0" indent="0" defTabSz="914400" fontAlgn="base">
              <a:spcBef>
                <a:spcPts val="0"/>
              </a:spcBef>
              <a:spcAft>
                <a:spcPct val="0"/>
              </a:spcAft>
              <a:buNone/>
              <a:defRPr/>
            </a:pPr>
            <a:r>
              <a:rPr lang="en-US" sz="2800" b="1" dirty="0"/>
              <a:t>What can make your workforce change?</a:t>
            </a:r>
            <a:br>
              <a:rPr lang="en-US" sz="2800" dirty="0"/>
            </a:br>
            <a:endParaRPr lang="en-US" sz="2800" i="1" dirty="0"/>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7</a:t>
            </a:fld>
            <a:endParaRPr lang="en-US" dirty="0">
              <a:solidFill>
                <a:prstClr val="black">
                  <a:tint val="75000"/>
                </a:prstClr>
              </a:solidFill>
            </a:endParaRPr>
          </a:p>
        </p:txBody>
      </p:sp>
      <p:sp>
        <p:nvSpPr>
          <p:cNvPr id="5" name="Content Placeholder 2"/>
          <p:cNvSpPr txBox="1"/>
          <p:nvPr/>
        </p:nvSpPr>
        <p:spPr>
          <a:xfrm>
            <a:off x="101600" y="2620814"/>
            <a:ext cx="8932041" cy="583283"/>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457200" indent="-457200" defTabSz="914400" fontAlgn="base">
              <a:spcAft>
                <a:spcPct val="0"/>
              </a:spcAft>
              <a:buFont typeface="+mj-lt"/>
              <a:buAutoNum type="alphaUcPeriod" startAt="2"/>
              <a:defRPr/>
            </a:pPr>
            <a:r>
              <a:rPr lang="en-US" sz="2400" dirty="0">
                <a:solidFill>
                  <a:prstClr val="black"/>
                </a:solidFill>
              </a:rPr>
              <a:t>Skills and expertise change</a:t>
            </a:r>
            <a:endParaRPr lang="en-US" sz="2400" i="1" dirty="0">
              <a:solidFill>
                <a:prstClr val="black"/>
              </a:solidFill>
            </a:endParaRPr>
          </a:p>
        </p:txBody>
      </p:sp>
      <p:sp>
        <p:nvSpPr>
          <p:cNvPr id="9" name="Content Placeholder 2"/>
          <p:cNvSpPr txBox="1"/>
          <p:nvPr/>
        </p:nvSpPr>
        <p:spPr>
          <a:xfrm>
            <a:off x="1505455" y="2163620"/>
            <a:ext cx="7132320" cy="458229"/>
          </a:xfrm>
          <a:prstGeom prst="rect">
            <a:avLst/>
          </a:prstGeom>
          <a:noFill/>
          <a:ln>
            <a:solidFill>
              <a:schemeClr val="tx2"/>
            </a:solidFill>
          </a:ln>
        </p:spPr>
        <p:txBody>
          <a:bodyPr vert="horz" lIns="91440" tIns="45720" rIns="91440" bIns="45720" rtlCol="0">
            <a:no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defTabSz="914400" fontAlgn="base">
              <a:spcAft>
                <a:spcPct val="0"/>
              </a:spcAft>
              <a:buFont typeface="Arial" panose="020B0604020202020204"/>
              <a:buNone/>
              <a:defRPr/>
            </a:pPr>
            <a:r>
              <a:rPr lang="en-US" sz="2400" i="1" dirty="0">
                <a:solidFill>
                  <a:prstClr val="black"/>
                </a:solidFill>
              </a:rPr>
              <a:t>The hospital adds nephrology program</a:t>
            </a:r>
          </a:p>
        </p:txBody>
      </p:sp>
      <p:sp>
        <p:nvSpPr>
          <p:cNvPr id="10" name="Content Placeholder 2"/>
          <p:cNvSpPr txBox="1"/>
          <p:nvPr/>
        </p:nvSpPr>
        <p:spPr>
          <a:xfrm>
            <a:off x="84073" y="1681187"/>
            <a:ext cx="8932041" cy="508557"/>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457200" indent="-457200" defTabSz="914400" fontAlgn="base">
              <a:spcAft>
                <a:spcPct val="0"/>
              </a:spcAft>
              <a:buFont typeface="+mj-lt"/>
              <a:buAutoNum type="alphaUcPeriod"/>
              <a:defRPr/>
            </a:pPr>
            <a:r>
              <a:rPr lang="en-US" sz="2400" dirty="0">
                <a:solidFill>
                  <a:prstClr val="black"/>
                </a:solidFill>
              </a:rPr>
              <a:t>Change in the services offered</a:t>
            </a:r>
          </a:p>
        </p:txBody>
      </p:sp>
      <p:sp>
        <p:nvSpPr>
          <p:cNvPr id="6" name="TextBox 5"/>
          <p:cNvSpPr txBox="1"/>
          <p:nvPr/>
        </p:nvSpPr>
        <p:spPr>
          <a:xfrm>
            <a:off x="1481362" y="3098767"/>
            <a:ext cx="7132320" cy="461665"/>
          </a:xfrm>
          <a:prstGeom prst="rect">
            <a:avLst/>
          </a:prstGeom>
          <a:noFill/>
          <a:ln>
            <a:solidFill>
              <a:schemeClr val="tx2"/>
            </a:solidFill>
          </a:ln>
        </p:spPr>
        <p:txBody>
          <a:bodyPr wrap="square" rtlCol="0">
            <a:spAutoFit/>
          </a:bodyPr>
          <a:lstStyle/>
          <a:p>
            <a:pPr defTabSz="457200"/>
            <a:r>
              <a:rPr lang="en-US" sz="2400" i="1" dirty="0">
                <a:solidFill>
                  <a:prstClr val="black"/>
                </a:solidFill>
              </a:rPr>
              <a:t>Decrease in the number of A2 nurses, more A1 nurses</a:t>
            </a:r>
            <a:endParaRPr lang="en-US" sz="2400" dirty="0">
              <a:solidFill>
                <a:prstClr val="black"/>
              </a:solidFill>
            </a:endParaRPr>
          </a:p>
        </p:txBody>
      </p:sp>
      <p:sp>
        <p:nvSpPr>
          <p:cNvPr id="11" name="Content Placeholder 2"/>
          <p:cNvSpPr txBox="1"/>
          <p:nvPr/>
        </p:nvSpPr>
        <p:spPr>
          <a:xfrm>
            <a:off x="101600" y="4458390"/>
            <a:ext cx="8932041" cy="583283"/>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457200" indent="-457200" defTabSz="914400" fontAlgn="base">
              <a:spcAft>
                <a:spcPct val="0"/>
              </a:spcAft>
              <a:buFont typeface="+mj-lt"/>
              <a:buAutoNum type="alphaUcPeriod" startAt="4"/>
              <a:defRPr/>
            </a:pPr>
            <a:r>
              <a:rPr lang="en-US" sz="2400" dirty="0">
                <a:solidFill>
                  <a:prstClr val="black"/>
                </a:solidFill>
              </a:rPr>
              <a:t>Number of people in a particular role changes</a:t>
            </a:r>
            <a:endParaRPr lang="en-US" sz="2400" i="1" dirty="0">
              <a:solidFill>
                <a:prstClr val="black"/>
              </a:solidFill>
            </a:endParaRPr>
          </a:p>
        </p:txBody>
      </p:sp>
      <p:sp>
        <p:nvSpPr>
          <p:cNvPr id="12" name="Content Placeholder 2"/>
          <p:cNvSpPr txBox="1"/>
          <p:nvPr/>
        </p:nvSpPr>
        <p:spPr>
          <a:xfrm>
            <a:off x="1421231" y="3977133"/>
            <a:ext cx="7132320" cy="417770"/>
          </a:xfrm>
          <a:prstGeom prst="rect">
            <a:avLst/>
          </a:prstGeom>
          <a:noFill/>
          <a:ln>
            <a:solidFill>
              <a:schemeClr val="tx2"/>
            </a:solidFill>
          </a:ln>
        </p:spPr>
        <p:txBody>
          <a:bodyPr vert="horz" lIns="91440" tIns="45720" rIns="91440" bIns="45720" rtlCol="0">
            <a:no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defTabSz="914400" fontAlgn="base">
              <a:spcAft>
                <a:spcPct val="0"/>
              </a:spcAft>
              <a:buFont typeface="Arial" panose="020B0604020202020204"/>
              <a:buNone/>
              <a:defRPr/>
            </a:pPr>
            <a:r>
              <a:rPr lang="en-US" sz="2400" i="1" dirty="0">
                <a:solidFill>
                  <a:prstClr val="black"/>
                </a:solidFill>
              </a:rPr>
              <a:t>Four midwives enroll in school and must work part time</a:t>
            </a:r>
          </a:p>
        </p:txBody>
      </p:sp>
      <p:sp>
        <p:nvSpPr>
          <p:cNvPr id="13" name="Content Placeholder 2"/>
          <p:cNvSpPr txBox="1"/>
          <p:nvPr/>
        </p:nvSpPr>
        <p:spPr>
          <a:xfrm>
            <a:off x="84073" y="3542827"/>
            <a:ext cx="8932041" cy="522629"/>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457200" indent="-457200" defTabSz="914400" fontAlgn="base">
              <a:spcAft>
                <a:spcPct val="0"/>
              </a:spcAft>
              <a:buFont typeface="+mj-lt"/>
              <a:buAutoNum type="alphaUcPeriod" startAt="3"/>
              <a:defRPr/>
            </a:pPr>
            <a:r>
              <a:rPr lang="en-US" sz="2400" dirty="0">
                <a:solidFill>
                  <a:prstClr val="black"/>
                </a:solidFill>
              </a:rPr>
              <a:t>Full-time and part-time mix changes</a:t>
            </a:r>
            <a:endParaRPr lang="en-US" sz="2400" b="1" i="1" dirty="0">
              <a:solidFill>
                <a:prstClr val="black"/>
              </a:solidFill>
            </a:endParaRPr>
          </a:p>
        </p:txBody>
      </p:sp>
      <p:sp>
        <p:nvSpPr>
          <p:cNvPr id="14" name="TextBox 13"/>
          <p:cNvSpPr txBox="1"/>
          <p:nvPr/>
        </p:nvSpPr>
        <p:spPr>
          <a:xfrm>
            <a:off x="1397166" y="4861193"/>
            <a:ext cx="7132320" cy="461665"/>
          </a:xfrm>
          <a:prstGeom prst="rect">
            <a:avLst/>
          </a:prstGeom>
          <a:noFill/>
          <a:ln>
            <a:solidFill>
              <a:schemeClr val="tx2"/>
            </a:solidFill>
          </a:ln>
        </p:spPr>
        <p:txBody>
          <a:bodyPr wrap="square" rtlCol="0">
            <a:spAutoFit/>
          </a:bodyPr>
          <a:lstStyle/>
          <a:p>
            <a:pPr defTabSz="457200"/>
            <a:r>
              <a:rPr lang="en-US" sz="2400" i="1" dirty="0">
                <a:solidFill>
                  <a:prstClr val="black"/>
                </a:solidFill>
              </a:rPr>
              <a:t>Decrease in number of GPs assigned to your hospital</a:t>
            </a:r>
            <a:endParaRPr lang="en-US" sz="2400"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1+#ppt_w/2"/>
                                          </p:val>
                                        </p:tav>
                                        <p:tav tm="100000">
                                          <p:val>
                                            <p:strVal val="#ppt_x"/>
                                          </p:val>
                                        </p:tav>
                                      </p:tavLst>
                                    </p:anim>
                                    <p:anim calcmode="lin" valueType="num">
                                      <p:cBhvr additive="base">
                                        <p:cTn id="24"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500" fill="hold"/>
                                        <p:tgtEl>
                                          <p:spTgt spid="6"/>
                                        </p:tgtEl>
                                        <p:attrNameLst>
                                          <p:attrName>ppt_x</p:attrName>
                                        </p:attrNameLst>
                                      </p:cBhvr>
                                      <p:tavLst>
                                        <p:tav tm="0">
                                          <p:val>
                                            <p:strVal val="1+#ppt_w/2"/>
                                          </p:val>
                                        </p:tav>
                                        <p:tav tm="100000">
                                          <p:val>
                                            <p:strVal val="#ppt_x"/>
                                          </p:val>
                                        </p:tav>
                                      </p:tavLst>
                                    </p:anim>
                                    <p:anim calcmode="lin" valueType="num">
                                      <p:cBhvr additive="base">
                                        <p:cTn id="30"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1+#ppt_w/2"/>
                                          </p:val>
                                        </p:tav>
                                        <p:tav tm="100000">
                                          <p:val>
                                            <p:strVal val="#ppt_x"/>
                                          </p:val>
                                        </p:tav>
                                      </p:tavLst>
                                    </p:anim>
                                    <p:anim calcmode="lin" valueType="num">
                                      <p:cBhvr additive="base">
                                        <p:cTn id="36"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1+#ppt_w/2"/>
                                          </p:val>
                                        </p:tav>
                                        <p:tav tm="100000">
                                          <p:val>
                                            <p:strVal val="#ppt_x"/>
                                          </p:val>
                                        </p:tav>
                                      </p:tavLst>
                                    </p:anim>
                                    <p:anim calcmode="lin" valueType="num">
                                      <p:cBhvr additive="base">
                                        <p:cTn id="42"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12"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1. Staff (Workforce) Planning</a:t>
            </a:r>
          </a:p>
        </p:txBody>
      </p:sp>
      <p:sp>
        <p:nvSpPr>
          <p:cNvPr id="3" name="Content Placeholder 2"/>
          <p:cNvSpPr>
            <a:spLocks noGrp="1"/>
          </p:cNvSpPr>
          <p:nvPr>
            <p:ph idx="1"/>
          </p:nvPr>
        </p:nvSpPr>
        <p:spPr>
          <a:xfrm>
            <a:off x="261004" y="1183284"/>
            <a:ext cx="8378497" cy="4787899"/>
          </a:xfrm>
        </p:spPr>
        <p:txBody>
          <a:bodyPr>
            <a:noAutofit/>
          </a:bodyPr>
          <a:lstStyle/>
          <a:p>
            <a:pPr marL="0" indent="0" defTabSz="914400" fontAlgn="base">
              <a:lnSpc>
                <a:spcPct val="170000"/>
              </a:lnSpc>
              <a:spcAft>
                <a:spcPct val="0"/>
              </a:spcAft>
              <a:buNone/>
              <a:defRPr/>
            </a:pPr>
            <a:r>
              <a:rPr lang="en-US" sz="2800" b="1" dirty="0"/>
              <a:t>Principles of Good Staffing</a:t>
            </a:r>
          </a:p>
          <a:p>
            <a:pPr lvl="1" defTabSz="914400" fontAlgn="base">
              <a:lnSpc>
                <a:spcPct val="150000"/>
              </a:lnSpc>
              <a:spcBef>
                <a:spcPts val="0"/>
              </a:spcBef>
              <a:spcAft>
                <a:spcPct val="0"/>
              </a:spcAft>
              <a:defRPr/>
            </a:pPr>
            <a:r>
              <a:rPr lang="en-US" dirty="0"/>
              <a:t>Skill Mix</a:t>
            </a:r>
          </a:p>
          <a:p>
            <a:pPr lvl="1" defTabSz="914400" fontAlgn="base">
              <a:lnSpc>
                <a:spcPct val="150000"/>
              </a:lnSpc>
              <a:spcBef>
                <a:spcPts val="0"/>
              </a:spcBef>
              <a:spcAft>
                <a:spcPct val="0"/>
              </a:spcAft>
              <a:defRPr/>
            </a:pPr>
            <a:r>
              <a:rPr lang="en-US" dirty="0"/>
              <a:t>Staffing to Demand</a:t>
            </a:r>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8</a:t>
            </a:fld>
            <a:endParaRPr lang="en-US" dirty="0">
              <a:solidFill>
                <a:prstClr val="black">
                  <a:tint val="75000"/>
                </a:prst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p:nvPr/>
        </p:nvSpPr>
        <p:spPr>
          <a:xfrm>
            <a:off x="-10432" y="1803400"/>
            <a:ext cx="9167131" cy="4598432"/>
          </a:xfrm>
          <a:prstGeom prst="rect">
            <a:avLst/>
          </a:prstGeom>
          <a:solidFill>
            <a:srgbClr val="C6D9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dirty="0">
              <a:solidFill>
                <a:prstClr val="white"/>
              </a:solidFill>
            </a:endParaRPr>
          </a:p>
        </p:txBody>
      </p:sp>
      <p:sp>
        <p:nvSpPr>
          <p:cNvPr id="2" name="Title 1"/>
          <p:cNvSpPr>
            <a:spLocks noGrp="1"/>
          </p:cNvSpPr>
          <p:nvPr>
            <p:ph type="title"/>
          </p:nvPr>
        </p:nvSpPr>
        <p:spPr>
          <a:xfrm>
            <a:off x="0" y="0"/>
            <a:ext cx="9144000" cy="952500"/>
          </a:xfrm>
          <a:solidFill>
            <a:schemeClr val="accent1">
              <a:lumMod val="40000"/>
              <a:lumOff val="60000"/>
            </a:schemeClr>
          </a:solidFill>
        </p:spPr>
        <p:txBody>
          <a:bodyPr>
            <a:normAutofit/>
          </a:bodyPr>
          <a:lstStyle/>
          <a:p>
            <a:r>
              <a:rPr lang="en-US" dirty="0"/>
              <a:t>Exercise 1: Skill Mix</a:t>
            </a:r>
            <a:endParaRPr lang="en-US" b="1" dirty="0"/>
          </a:p>
        </p:txBody>
      </p:sp>
      <p:sp>
        <p:nvSpPr>
          <p:cNvPr id="3" name="Content Placeholder 2"/>
          <p:cNvSpPr>
            <a:spLocks noGrp="1"/>
          </p:cNvSpPr>
          <p:nvPr>
            <p:ph idx="1"/>
          </p:nvPr>
        </p:nvSpPr>
        <p:spPr>
          <a:xfrm>
            <a:off x="101600" y="736601"/>
            <a:ext cx="9017000" cy="901700"/>
          </a:xfrm>
        </p:spPr>
        <p:txBody>
          <a:bodyPr>
            <a:normAutofit/>
          </a:bodyPr>
          <a:lstStyle/>
          <a:p>
            <a:pPr marL="0" indent="0" defTabSz="914400" fontAlgn="base">
              <a:lnSpc>
                <a:spcPct val="170000"/>
              </a:lnSpc>
              <a:spcAft>
                <a:spcPct val="0"/>
              </a:spcAft>
              <a:buNone/>
              <a:defRPr/>
            </a:pPr>
            <a:r>
              <a:rPr lang="en-US" sz="2800" b="1" dirty="0"/>
              <a:t>Class exercise: </a:t>
            </a:r>
            <a:r>
              <a:rPr lang="en-US" sz="2800" dirty="0"/>
              <a:t>Match the task with the role(s) (P. 4).</a:t>
            </a:r>
          </a:p>
        </p:txBody>
      </p:sp>
      <p:sp>
        <p:nvSpPr>
          <p:cNvPr id="5" name="TextBox 4"/>
          <p:cNvSpPr txBox="1"/>
          <p:nvPr/>
        </p:nvSpPr>
        <p:spPr>
          <a:xfrm>
            <a:off x="2492260" y="2667000"/>
            <a:ext cx="990325" cy="369332"/>
          </a:xfrm>
          <a:prstGeom prst="rect">
            <a:avLst/>
          </a:prstGeom>
          <a:noFill/>
        </p:spPr>
        <p:txBody>
          <a:bodyPr wrap="none" rtlCol="0">
            <a:spAutoFit/>
          </a:bodyPr>
          <a:lstStyle/>
          <a:p>
            <a:pPr algn="dist" defTabSz="457200"/>
            <a:r>
              <a:rPr lang="en-US" dirty="0">
                <a:solidFill>
                  <a:prstClr val="black"/>
                </a:solidFill>
              </a:rPr>
              <a:t>Cleaning</a:t>
            </a:r>
          </a:p>
        </p:txBody>
      </p:sp>
      <p:sp>
        <p:nvSpPr>
          <p:cNvPr id="6" name="TextBox 5"/>
          <p:cNvSpPr txBox="1"/>
          <p:nvPr/>
        </p:nvSpPr>
        <p:spPr>
          <a:xfrm>
            <a:off x="693165" y="3505200"/>
            <a:ext cx="2789420" cy="369332"/>
          </a:xfrm>
          <a:prstGeom prst="rect">
            <a:avLst/>
          </a:prstGeom>
          <a:noFill/>
        </p:spPr>
        <p:txBody>
          <a:bodyPr wrap="none" rtlCol="0">
            <a:spAutoFit/>
          </a:bodyPr>
          <a:lstStyle/>
          <a:p>
            <a:pPr algn="dist" defTabSz="457200"/>
            <a:r>
              <a:rPr lang="en-US" dirty="0">
                <a:solidFill>
                  <a:prstClr val="black"/>
                </a:solidFill>
              </a:rPr>
              <a:t>Taking specimens to the lab</a:t>
            </a:r>
          </a:p>
        </p:txBody>
      </p:sp>
      <p:sp>
        <p:nvSpPr>
          <p:cNvPr id="7" name="TextBox 6"/>
          <p:cNvSpPr txBox="1"/>
          <p:nvPr/>
        </p:nvSpPr>
        <p:spPr>
          <a:xfrm>
            <a:off x="1284447" y="4343400"/>
            <a:ext cx="2198138" cy="369332"/>
          </a:xfrm>
          <a:prstGeom prst="rect">
            <a:avLst/>
          </a:prstGeom>
          <a:noFill/>
        </p:spPr>
        <p:txBody>
          <a:bodyPr wrap="none" rtlCol="0">
            <a:spAutoFit/>
          </a:bodyPr>
          <a:lstStyle/>
          <a:p>
            <a:pPr algn="dist" defTabSz="457200"/>
            <a:r>
              <a:rPr lang="en-US" dirty="0">
                <a:solidFill>
                  <a:prstClr val="black"/>
                </a:solidFill>
              </a:rPr>
              <a:t>Transporting patients</a:t>
            </a:r>
          </a:p>
        </p:txBody>
      </p:sp>
      <p:sp>
        <p:nvSpPr>
          <p:cNvPr id="8" name="TextBox 7"/>
          <p:cNvSpPr txBox="1"/>
          <p:nvPr/>
        </p:nvSpPr>
        <p:spPr>
          <a:xfrm>
            <a:off x="1489732" y="5181600"/>
            <a:ext cx="1992853" cy="369332"/>
          </a:xfrm>
          <a:prstGeom prst="rect">
            <a:avLst/>
          </a:prstGeom>
          <a:noFill/>
        </p:spPr>
        <p:txBody>
          <a:bodyPr wrap="none" rtlCol="0">
            <a:spAutoFit/>
          </a:bodyPr>
          <a:lstStyle/>
          <a:p>
            <a:pPr algn="dist" defTabSz="457200"/>
            <a:r>
              <a:rPr lang="en-US" dirty="0">
                <a:solidFill>
                  <a:prstClr val="black"/>
                </a:solidFill>
              </a:rPr>
              <a:t>Performing surgery</a:t>
            </a:r>
          </a:p>
        </p:txBody>
      </p:sp>
      <p:sp>
        <p:nvSpPr>
          <p:cNvPr id="9" name="TextBox 8"/>
          <p:cNvSpPr txBox="1"/>
          <p:nvPr/>
        </p:nvSpPr>
        <p:spPr>
          <a:xfrm>
            <a:off x="449934" y="5600700"/>
            <a:ext cx="3032651" cy="369332"/>
          </a:xfrm>
          <a:prstGeom prst="rect">
            <a:avLst/>
          </a:prstGeom>
          <a:noFill/>
        </p:spPr>
        <p:txBody>
          <a:bodyPr wrap="none" rtlCol="0">
            <a:spAutoFit/>
          </a:bodyPr>
          <a:lstStyle/>
          <a:p>
            <a:pPr algn="dist" defTabSz="457200"/>
            <a:r>
              <a:rPr lang="en-US" dirty="0">
                <a:solidFill>
                  <a:prstClr val="black"/>
                </a:solidFill>
              </a:rPr>
              <a:t>Documenting patient progress</a:t>
            </a:r>
          </a:p>
        </p:txBody>
      </p:sp>
      <p:sp>
        <p:nvSpPr>
          <p:cNvPr id="10" name="TextBox 9"/>
          <p:cNvSpPr txBox="1"/>
          <p:nvPr/>
        </p:nvSpPr>
        <p:spPr>
          <a:xfrm>
            <a:off x="2145" y="4762500"/>
            <a:ext cx="3480440" cy="369332"/>
          </a:xfrm>
          <a:prstGeom prst="rect">
            <a:avLst/>
          </a:prstGeom>
          <a:noFill/>
        </p:spPr>
        <p:txBody>
          <a:bodyPr wrap="none" rtlCol="0">
            <a:spAutoFit/>
          </a:bodyPr>
          <a:lstStyle/>
          <a:p>
            <a:pPr algn="dist" defTabSz="457200"/>
            <a:r>
              <a:rPr lang="en-US" dirty="0">
                <a:solidFill>
                  <a:prstClr val="black"/>
                </a:solidFill>
              </a:rPr>
              <a:t>Doing vital signs and height/weight</a:t>
            </a:r>
          </a:p>
        </p:txBody>
      </p:sp>
      <p:sp>
        <p:nvSpPr>
          <p:cNvPr id="11" name="TextBox 10"/>
          <p:cNvSpPr txBox="1"/>
          <p:nvPr/>
        </p:nvSpPr>
        <p:spPr>
          <a:xfrm>
            <a:off x="951123" y="6019800"/>
            <a:ext cx="2531462" cy="369332"/>
          </a:xfrm>
          <a:prstGeom prst="rect">
            <a:avLst/>
          </a:prstGeom>
          <a:noFill/>
        </p:spPr>
        <p:txBody>
          <a:bodyPr wrap="none" rtlCol="0">
            <a:spAutoFit/>
          </a:bodyPr>
          <a:lstStyle/>
          <a:p>
            <a:pPr algn="dist" defTabSz="457200"/>
            <a:r>
              <a:rPr lang="en-US" dirty="0">
                <a:solidFill>
                  <a:prstClr val="black"/>
                </a:solidFill>
              </a:rPr>
              <a:t>Obtaining blood urgently</a:t>
            </a:r>
          </a:p>
        </p:txBody>
      </p:sp>
      <p:sp>
        <p:nvSpPr>
          <p:cNvPr id="13" name="TextBox 12"/>
          <p:cNvSpPr txBox="1"/>
          <p:nvPr/>
        </p:nvSpPr>
        <p:spPr>
          <a:xfrm>
            <a:off x="5012870" y="2427514"/>
            <a:ext cx="740557" cy="369332"/>
          </a:xfrm>
          <a:prstGeom prst="rect">
            <a:avLst/>
          </a:prstGeom>
          <a:noFill/>
        </p:spPr>
        <p:txBody>
          <a:bodyPr wrap="none" rtlCol="0">
            <a:spAutoFit/>
          </a:bodyPr>
          <a:lstStyle/>
          <a:p>
            <a:pPr algn="dist" defTabSz="457200"/>
            <a:r>
              <a:rPr lang="en-US" dirty="0">
                <a:solidFill>
                  <a:prstClr val="black"/>
                </a:solidFill>
              </a:rPr>
              <a:t>Nurse</a:t>
            </a:r>
          </a:p>
        </p:txBody>
      </p:sp>
      <p:sp>
        <p:nvSpPr>
          <p:cNvPr id="14" name="TextBox 13"/>
          <p:cNvSpPr txBox="1"/>
          <p:nvPr/>
        </p:nvSpPr>
        <p:spPr>
          <a:xfrm>
            <a:off x="4993391" y="3026228"/>
            <a:ext cx="2793591" cy="369332"/>
          </a:xfrm>
          <a:prstGeom prst="rect">
            <a:avLst/>
          </a:prstGeom>
          <a:noFill/>
        </p:spPr>
        <p:txBody>
          <a:bodyPr wrap="none" rtlCol="0">
            <a:spAutoFit/>
          </a:bodyPr>
          <a:lstStyle/>
          <a:p>
            <a:pPr algn="dist" defTabSz="457200"/>
            <a:r>
              <a:rPr lang="en-US" dirty="0">
                <a:solidFill>
                  <a:prstClr val="black"/>
                </a:solidFill>
              </a:rPr>
              <a:t>Patient Transporter/Runner</a:t>
            </a:r>
          </a:p>
        </p:txBody>
      </p:sp>
      <p:sp>
        <p:nvSpPr>
          <p:cNvPr id="15" name="TextBox 14"/>
          <p:cNvSpPr txBox="1"/>
          <p:nvPr/>
        </p:nvSpPr>
        <p:spPr>
          <a:xfrm>
            <a:off x="5012870" y="3624942"/>
            <a:ext cx="778766" cy="369332"/>
          </a:xfrm>
          <a:prstGeom prst="rect">
            <a:avLst/>
          </a:prstGeom>
          <a:noFill/>
        </p:spPr>
        <p:txBody>
          <a:bodyPr wrap="none" rtlCol="0">
            <a:spAutoFit/>
          </a:bodyPr>
          <a:lstStyle/>
          <a:p>
            <a:pPr algn="dist" defTabSz="457200"/>
            <a:r>
              <a:rPr lang="en-US" dirty="0">
                <a:solidFill>
                  <a:prstClr val="black"/>
                </a:solidFill>
              </a:rPr>
              <a:t>Porter</a:t>
            </a:r>
          </a:p>
        </p:txBody>
      </p:sp>
      <p:sp>
        <p:nvSpPr>
          <p:cNvPr id="16" name="TextBox 15"/>
          <p:cNvSpPr txBox="1"/>
          <p:nvPr/>
        </p:nvSpPr>
        <p:spPr>
          <a:xfrm>
            <a:off x="5012870" y="4822370"/>
            <a:ext cx="2454518" cy="369332"/>
          </a:xfrm>
          <a:prstGeom prst="rect">
            <a:avLst/>
          </a:prstGeom>
          <a:noFill/>
        </p:spPr>
        <p:txBody>
          <a:bodyPr wrap="none" rtlCol="0">
            <a:spAutoFit/>
          </a:bodyPr>
          <a:lstStyle/>
          <a:p>
            <a:pPr algn="dist" defTabSz="457200"/>
            <a:r>
              <a:rPr lang="en-US" dirty="0">
                <a:solidFill>
                  <a:prstClr val="black"/>
                </a:solidFill>
              </a:rPr>
              <a:t>Administrative Assistant</a:t>
            </a:r>
          </a:p>
        </p:txBody>
      </p:sp>
      <p:sp>
        <p:nvSpPr>
          <p:cNvPr id="17" name="TextBox 16"/>
          <p:cNvSpPr txBox="1"/>
          <p:nvPr/>
        </p:nvSpPr>
        <p:spPr>
          <a:xfrm>
            <a:off x="5012870" y="5421084"/>
            <a:ext cx="4140940" cy="369332"/>
          </a:xfrm>
          <a:prstGeom prst="rect">
            <a:avLst/>
          </a:prstGeom>
          <a:noFill/>
        </p:spPr>
        <p:txBody>
          <a:bodyPr wrap="none" rtlCol="0">
            <a:spAutoFit/>
          </a:bodyPr>
          <a:lstStyle/>
          <a:p>
            <a:pPr algn="dist" defTabSz="457200"/>
            <a:r>
              <a:rPr lang="en-US" dirty="0">
                <a:solidFill>
                  <a:prstClr val="black"/>
                </a:solidFill>
              </a:rPr>
              <a:t>Tech: Anesthesia, Radiology, Kinestherapy</a:t>
            </a:r>
          </a:p>
        </p:txBody>
      </p:sp>
      <p:sp>
        <p:nvSpPr>
          <p:cNvPr id="18" name="TextBox 17"/>
          <p:cNvSpPr txBox="1"/>
          <p:nvPr/>
        </p:nvSpPr>
        <p:spPr>
          <a:xfrm>
            <a:off x="5012870" y="4223656"/>
            <a:ext cx="902811" cy="369332"/>
          </a:xfrm>
          <a:prstGeom prst="rect">
            <a:avLst/>
          </a:prstGeom>
          <a:noFill/>
        </p:spPr>
        <p:txBody>
          <a:bodyPr wrap="none" rtlCol="0">
            <a:spAutoFit/>
          </a:bodyPr>
          <a:lstStyle/>
          <a:p>
            <a:pPr algn="dist" defTabSz="457200"/>
            <a:r>
              <a:rPr lang="en-US" dirty="0">
                <a:solidFill>
                  <a:prstClr val="black"/>
                </a:solidFill>
              </a:rPr>
              <a:t>Cleaner</a:t>
            </a:r>
          </a:p>
        </p:txBody>
      </p:sp>
      <p:sp>
        <p:nvSpPr>
          <p:cNvPr id="19" name="TextBox 18"/>
          <p:cNvSpPr txBox="1"/>
          <p:nvPr/>
        </p:nvSpPr>
        <p:spPr>
          <a:xfrm>
            <a:off x="5012870" y="6019800"/>
            <a:ext cx="761747" cy="369332"/>
          </a:xfrm>
          <a:prstGeom prst="rect">
            <a:avLst/>
          </a:prstGeom>
          <a:noFill/>
        </p:spPr>
        <p:txBody>
          <a:bodyPr wrap="none" rtlCol="0">
            <a:spAutoFit/>
          </a:bodyPr>
          <a:lstStyle/>
          <a:p>
            <a:pPr algn="dist" defTabSz="457200"/>
            <a:r>
              <a:rPr lang="en-US" dirty="0">
                <a:solidFill>
                  <a:prstClr val="black"/>
                </a:solidFill>
              </a:rPr>
              <a:t>Driver</a:t>
            </a:r>
          </a:p>
        </p:txBody>
      </p:sp>
      <p:sp>
        <p:nvSpPr>
          <p:cNvPr id="20" name="TextBox 19"/>
          <p:cNvSpPr txBox="1"/>
          <p:nvPr/>
        </p:nvSpPr>
        <p:spPr>
          <a:xfrm>
            <a:off x="5012870" y="1828800"/>
            <a:ext cx="825867" cy="369332"/>
          </a:xfrm>
          <a:prstGeom prst="rect">
            <a:avLst/>
          </a:prstGeom>
          <a:noFill/>
        </p:spPr>
        <p:txBody>
          <a:bodyPr wrap="none" rtlCol="0">
            <a:spAutoFit/>
          </a:bodyPr>
          <a:lstStyle/>
          <a:p>
            <a:pPr algn="dist" defTabSz="457200"/>
            <a:r>
              <a:rPr lang="en-US" dirty="0">
                <a:solidFill>
                  <a:prstClr val="black"/>
                </a:solidFill>
              </a:rPr>
              <a:t>Doctor</a:t>
            </a:r>
          </a:p>
        </p:txBody>
      </p:sp>
      <p:sp>
        <p:nvSpPr>
          <p:cNvPr id="21" name="TextBox 20"/>
          <p:cNvSpPr txBox="1"/>
          <p:nvPr/>
        </p:nvSpPr>
        <p:spPr>
          <a:xfrm>
            <a:off x="1292112" y="2247900"/>
            <a:ext cx="2190473" cy="369332"/>
          </a:xfrm>
          <a:prstGeom prst="rect">
            <a:avLst/>
          </a:prstGeom>
          <a:noFill/>
        </p:spPr>
        <p:txBody>
          <a:bodyPr wrap="none" rtlCol="0">
            <a:spAutoFit/>
          </a:bodyPr>
          <a:lstStyle/>
          <a:p>
            <a:pPr algn="dist" defTabSz="457200"/>
            <a:r>
              <a:rPr lang="en-US" dirty="0">
                <a:solidFill>
                  <a:prstClr val="black"/>
                </a:solidFill>
              </a:rPr>
              <a:t>Scheduling a meeting</a:t>
            </a:r>
          </a:p>
        </p:txBody>
      </p:sp>
      <p:sp>
        <p:nvSpPr>
          <p:cNvPr id="22" name="TextBox 21"/>
          <p:cNvSpPr txBox="1"/>
          <p:nvPr/>
        </p:nvSpPr>
        <p:spPr>
          <a:xfrm>
            <a:off x="640528" y="3086100"/>
            <a:ext cx="2842057" cy="369332"/>
          </a:xfrm>
          <a:prstGeom prst="rect">
            <a:avLst/>
          </a:prstGeom>
          <a:noFill/>
        </p:spPr>
        <p:txBody>
          <a:bodyPr wrap="none" rtlCol="0">
            <a:spAutoFit/>
          </a:bodyPr>
          <a:lstStyle/>
          <a:p>
            <a:pPr algn="dist" defTabSz="457200"/>
            <a:r>
              <a:rPr lang="en-US" dirty="0">
                <a:solidFill>
                  <a:prstClr val="black"/>
                </a:solidFill>
              </a:rPr>
              <a:t>Taking minutes of a meeting</a:t>
            </a:r>
          </a:p>
        </p:txBody>
      </p:sp>
      <p:sp>
        <p:nvSpPr>
          <p:cNvPr id="23" name="TextBox 22"/>
          <p:cNvSpPr txBox="1"/>
          <p:nvPr/>
        </p:nvSpPr>
        <p:spPr>
          <a:xfrm>
            <a:off x="14969" y="3924300"/>
            <a:ext cx="3467616" cy="369332"/>
          </a:xfrm>
          <a:prstGeom prst="rect">
            <a:avLst/>
          </a:prstGeom>
          <a:noFill/>
        </p:spPr>
        <p:txBody>
          <a:bodyPr wrap="none" rtlCol="0">
            <a:spAutoFit/>
          </a:bodyPr>
          <a:lstStyle/>
          <a:p>
            <a:pPr algn="dist" defTabSz="457200"/>
            <a:r>
              <a:rPr lang="en-US" dirty="0">
                <a:solidFill>
                  <a:prstClr val="black"/>
                </a:solidFill>
              </a:rPr>
              <a:t>Writing memos and getting stamps</a:t>
            </a:r>
          </a:p>
        </p:txBody>
      </p:sp>
      <p:cxnSp>
        <p:nvCxnSpPr>
          <p:cNvPr id="31" name="Straight Arrow Connector 30"/>
          <p:cNvCxnSpPr>
            <a:stCxn id="21" idx="3"/>
            <a:endCxn id="16" idx="1"/>
          </p:cNvCxnSpPr>
          <p:nvPr/>
        </p:nvCxnSpPr>
        <p:spPr>
          <a:xfrm>
            <a:off x="3482585" y="2432566"/>
            <a:ext cx="1530285" cy="25744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5" idx="3"/>
            <a:endCxn id="18" idx="1"/>
          </p:cNvCxnSpPr>
          <p:nvPr/>
        </p:nvCxnSpPr>
        <p:spPr>
          <a:xfrm>
            <a:off x="3482585" y="2851666"/>
            <a:ext cx="1530285" cy="15566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a:stCxn id="22" idx="3"/>
          </p:cNvCxnSpPr>
          <p:nvPr/>
        </p:nvCxnSpPr>
        <p:spPr>
          <a:xfrm>
            <a:off x="3482585" y="3270766"/>
            <a:ext cx="1530285" cy="17362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V="1">
            <a:off x="3482585" y="3270766"/>
            <a:ext cx="1530285" cy="35417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a:off x="3482585" y="3994274"/>
            <a:ext cx="1530285" cy="101276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a:stCxn id="7" idx="3"/>
          </p:cNvCxnSpPr>
          <p:nvPr/>
        </p:nvCxnSpPr>
        <p:spPr>
          <a:xfrm flipV="1">
            <a:off x="3482585" y="3270766"/>
            <a:ext cx="1530285" cy="12573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a:stCxn id="7" idx="3"/>
            <a:endCxn id="15" idx="1"/>
          </p:cNvCxnSpPr>
          <p:nvPr/>
        </p:nvCxnSpPr>
        <p:spPr>
          <a:xfrm flipV="1">
            <a:off x="3482585" y="3809608"/>
            <a:ext cx="1530285" cy="71845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5" name="Straight Arrow Connector 44"/>
          <p:cNvCxnSpPr>
            <a:stCxn id="10" idx="3"/>
            <a:endCxn id="13" idx="1"/>
          </p:cNvCxnSpPr>
          <p:nvPr/>
        </p:nvCxnSpPr>
        <p:spPr>
          <a:xfrm flipV="1">
            <a:off x="3482585" y="2612180"/>
            <a:ext cx="1530285" cy="233498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a:endCxn id="20" idx="1"/>
          </p:cNvCxnSpPr>
          <p:nvPr/>
        </p:nvCxnSpPr>
        <p:spPr>
          <a:xfrm flipV="1">
            <a:off x="3482585" y="2013466"/>
            <a:ext cx="1530285" cy="340761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9" name="Straight Arrow Connector 48"/>
          <p:cNvCxnSpPr>
            <a:stCxn id="9" idx="3"/>
            <a:endCxn id="13" idx="1"/>
          </p:cNvCxnSpPr>
          <p:nvPr/>
        </p:nvCxnSpPr>
        <p:spPr>
          <a:xfrm flipV="1">
            <a:off x="3482585" y="2612180"/>
            <a:ext cx="1530285" cy="317318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1" name="Straight Arrow Connector 50"/>
          <p:cNvCxnSpPr>
            <a:endCxn id="20" idx="1"/>
          </p:cNvCxnSpPr>
          <p:nvPr/>
        </p:nvCxnSpPr>
        <p:spPr>
          <a:xfrm flipV="1">
            <a:off x="3482585" y="2013466"/>
            <a:ext cx="1530285" cy="377695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a:endCxn id="17" idx="1"/>
          </p:cNvCxnSpPr>
          <p:nvPr/>
        </p:nvCxnSpPr>
        <p:spPr>
          <a:xfrm flipV="1">
            <a:off x="3482585" y="5605750"/>
            <a:ext cx="1530285" cy="17961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a:stCxn id="11" idx="3"/>
          </p:cNvCxnSpPr>
          <p:nvPr/>
        </p:nvCxnSpPr>
        <p:spPr>
          <a:xfrm flipV="1">
            <a:off x="3482585" y="3270766"/>
            <a:ext cx="1530285" cy="29337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a:endCxn id="13" idx="1"/>
          </p:cNvCxnSpPr>
          <p:nvPr/>
        </p:nvCxnSpPr>
        <p:spPr>
          <a:xfrm flipV="1">
            <a:off x="3482585" y="2612180"/>
            <a:ext cx="1530285" cy="359228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9" name="Straight Arrow Connector 58"/>
          <p:cNvCxnSpPr>
            <a:endCxn id="19" idx="1"/>
          </p:cNvCxnSpPr>
          <p:nvPr/>
        </p:nvCxnSpPr>
        <p:spPr>
          <a:xfrm>
            <a:off x="3482585" y="4528066"/>
            <a:ext cx="1530285" cy="16764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60" name="Slide Number Placeholder 59"/>
          <p:cNvSpPr>
            <a:spLocks noGrp="1"/>
          </p:cNvSpPr>
          <p:nvPr>
            <p:ph type="sldNum" sz="quarter" idx="12"/>
          </p:nvPr>
        </p:nvSpPr>
        <p:spPr/>
        <p:txBody>
          <a:bodyPr/>
          <a:lstStyle/>
          <a:p>
            <a:fld id="{36A94550-0172-2A4E-BEEB-6BE00EB0E97C}" type="slidenum">
              <a:rPr lang="en-US" smtClean="0">
                <a:solidFill>
                  <a:prstClr val="black">
                    <a:tint val="75000"/>
                  </a:prstClr>
                </a:solidFill>
              </a:rPr>
              <a:t>9</a:t>
            </a:fld>
            <a:endParaRPr lang="en-US" dirty="0">
              <a:solidFill>
                <a:prstClr val="black">
                  <a:tint val="75000"/>
                </a:prstClr>
              </a:solidFill>
            </a:endParaRPr>
          </a:p>
        </p:txBody>
      </p:sp>
      <p:sp>
        <p:nvSpPr>
          <p:cNvPr id="4" name="Rectangle 3"/>
          <p:cNvSpPr/>
          <p:nvPr/>
        </p:nvSpPr>
        <p:spPr>
          <a:xfrm>
            <a:off x="6553200" y="1778001"/>
            <a:ext cx="1485900" cy="4698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a:solidFill>
                <a:prstClr val="white"/>
              </a:solidFill>
            </a:endParaRPr>
          </a:p>
        </p:txBody>
      </p:sp>
      <p:sp>
        <p:nvSpPr>
          <p:cNvPr id="44" name="TextBox 43"/>
          <p:cNvSpPr txBox="1"/>
          <p:nvPr/>
        </p:nvSpPr>
        <p:spPr>
          <a:xfrm>
            <a:off x="1676000" y="1434068"/>
            <a:ext cx="596830" cy="369332"/>
          </a:xfrm>
          <a:prstGeom prst="rect">
            <a:avLst/>
          </a:prstGeom>
          <a:noFill/>
        </p:spPr>
        <p:txBody>
          <a:bodyPr wrap="none" rtlCol="0">
            <a:spAutoFit/>
          </a:bodyPr>
          <a:lstStyle/>
          <a:p>
            <a:pPr algn="dist" defTabSz="457200"/>
            <a:r>
              <a:rPr lang="en-US" b="1" dirty="0">
                <a:solidFill>
                  <a:prstClr val="black"/>
                </a:solidFill>
              </a:rPr>
              <a:t>Task</a:t>
            </a:r>
          </a:p>
        </p:txBody>
      </p:sp>
      <p:sp>
        <p:nvSpPr>
          <p:cNvPr id="46" name="TextBox 45"/>
          <p:cNvSpPr txBox="1"/>
          <p:nvPr/>
        </p:nvSpPr>
        <p:spPr>
          <a:xfrm>
            <a:off x="5427893" y="1460500"/>
            <a:ext cx="605422" cy="369332"/>
          </a:xfrm>
          <a:prstGeom prst="rect">
            <a:avLst/>
          </a:prstGeom>
          <a:noFill/>
        </p:spPr>
        <p:txBody>
          <a:bodyPr wrap="none" rtlCol="0">
            <a:spAutoFit/>
          </a:bodyPr>
          <a:lstStyle/>
          <a:p>
            <a:pPr algn="dist" defTabSz="457200"/>
            <a:r>
              <a:rPr lang="en-US" b="1" dirty="0">
                <a:solidFill>
                  <a:prstClr val="black"/>
                </a:solidFill>
              </a:rPr>
              <a:t>Role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5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p:nvPr/>
        </p:nvSpPr>
        <p:spPr>
          <a:xfrm>
            <a:off x="22331" y="4728410"/>
            <a:ext cx="9121669" cy="2129659"/>
          </a:xfrm>
          <a:prstGeom prst="rect">
            <a:avLst/>
          </a:prstGeom>
          <a:solidFill>
            <a:srgbClr val="C6D9F1"/>
          </a:solidFill>
        </p:spPr>
        <p:txBody>
          <a:bodyPr vert="horz" lIns="91440" tIns="45720" rIns="91440" bIns="45720" rtlCol="0">
            <a:no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457200" lvl="1" indent="0" defTabSz="914400" fontAlgn="base">
              <a:spcAft>
                <a:spcPct val="0"/>
              </a:spcAft>
              <a:buFont typeface="Arial" panose="020B0604020202020204"/>
              <a:buNone/>
              <a:defRPr/>
            </a:pPr>
            <a:r>
              <a:rPr lang="en-US" sz="2400" i="1" dirty="0">
                <a:solidFill>
                  <a:prstClr val="black"/>
                </a:solidFill>
              </a:rPr>
              <a:t>Example: Transporting blood</a:t>
            </a:r>
          </a:p>
          <a:p>
            <a:pPr lvl="1" defTabSz="914400" fontAlgn="base">
              <a:spcAft>
                <a:spcPct val="0"/>
              </a:spcAft>
              <a:defRPr/>
            </a:pPr>
            <a:r>
              <a:rPr lang="en-US" sz="2400" i="1" dirty="0">
                <a:solidFill>
                  <a:prstClr val="black"/>
                </a:solidFill>
              </a:rPr>
              <a:t>Nurses can transport blood. Porters can’t provide nursing care. </a:t>
            </a:r>
          </a:p>
          <a:p>
            <a:pPr lvl="1" defTabSz="914400" fontAlgn="base">
              <a:spcAft>
                <a:spcPct val="0"/>
              </a:spcAft>
              <a:defRPr/>
            </a:pPr>
            <a:r>
              <a:rPr lang="en-US" sz="2400" i="1" dirty="0">
                <a:solidFill>
                  <a:prstClr val="black"/>
                </a:solidFill>
              </a:rPr>
              <a:t>So, it is better to use the nurse to continue providing nursing care, not walking away from patients to transport blood to the lab.</a:t>
            </a:r>
          </a:p>
        </p:txBody>
      </p:sp>
      <p:sp>
        <p:nvSpPr>
          <p:cNvPr id="2" name="Title 1"/>
          <p:cNvSpPr>
            <a:spLocks noGrp="1"/>
          </p:cNvSpPr>
          <p:nvPr>
            <p:ph type="title"/>
          </p:nvPr>
        </p:nvSpPr>
        <p:spPr>
          <a:xfrm>
            <a:off x="0" y="0"/>
            <a:ext cx="9144000" cy="952500"/>
          </a:xfrm>
          <a:solidFill>
            <a:srgbClr val="10253F"/>
          </a:solidFill>
        </p:spPr>
        <p:txBody>
          <a:bodyPr>
            <a:normAutofit/>
          </a:bodyPr>
          <a:lstStyle/>
          <a:p>
            <a:r>
              <a:rPr lang="en-US" dirty="0">
                <a:solidFill>
                  <a:srgbClr val="FFFFFF"/>
                </a:solidFill>
              </a:rPr>
              <a:t>1. Staff (Workforce) Planning</a:t>
            </a:r>
          </a:p>
        </p:txBody>
      </p:sp>
      <p:sp>
        <p:nvSpPr>
          <p:cNvPr id="3" name="Content Placeholder 2"/>
          <p:cNvSpPr>
            <a:spLocks noGrp="1"/>
          </p:cNvSpPr>
          <p:nvPr>
            <p:ph idx="1"/>
          </p:nvPr>
        </p:nvSpPr>
        <p:spPr>
          <a:xfrm>
            <a:off x="63500" y="962134"/>
            <a:ext cx="9017000" cy="5689599"/>
          </a:xfrm>
        </p:spPr>
        <p:txBody>
          <a:bodyPr>
            <a:noAutofit/>
          </a:bodyPr>
          <a:lstStyle/>
          <a:p>
            <a:pPr marL="0" indent="0" defTabSz="914400" fontAlgn="base">
              <a:spcBef>
                <a:spcPts val="0"/>
              </a:spcBef>
              <a:spcAft>
                <a:spcPct val="0"/>
              </a:spcAft>
              <a:buNone/>
              <a:defRPr/>
            </a:pPr>
            <a:r>
              <a:rPr lang="en-US" sz="2800" b="1" dirty="0"/>
              <a:t>Principles of Good Staffing</a:t>
            </a:r>
          </a:p>
          <a:p>
            <a:pPr marL="0" indent="0" defTabSz="914400" fontAlgn="base">
              <a:spcBef>
                <a:spcPts val="0"/>
              </a:spcBef>
              <a:spcAft>
                <a:spcPct val="0"/>
              </a:spcAft>
              <a:buNone/>
              <a:defRPr/>
            </a:pPr>
            <a:r>
              <a:rPr lang="en-US" sz="2800" b="1" dirty="0"/>
              <a:t>Skill Mix</a:t>
            </a:r>
          </a:p>
          <a:p>
            <a:pPr marL="0" indent="0" defTabSz="914400" fontAlgn="base">
              <a:spcBef>
                <a:spcPts val="0"/>
              </a:spcBef>
              <a:spcAft>
                <a:spcPct val="0"/>
              </a:spcAft>
              <a:buNone/>
              <a:defRPr/>
            </a:pPr>
            <a:r>
              <a:rPr lang="en-US" sz="2800" b="1" dirty="0"/>
              <a:t>Definition:</a:t>
            </a:r>
          </a:p>
          <a:p>
            <a:pPr marL="0" indent="0" defTabSz="914400" fontAlgn="base">
              <a:spcAft>
                <a:spcPct val="0"/>
              </a:spcAft>
              <a:buNone/>
              <a:defRPr/>
            </a:pPr>
            <a:r>
              <a:rPr lang="en-US" sz="2400" dirty="0"/>
              <a:t>Match the skills/expertise required with the task to be done </a:t>
            </a:r>
          </a:p>
          <a:p>
            <a:pPr marL="0" indent="0" defTabSz="914400" fontAlgn="base">
              <a:spcAft>
                <a:spcPct val="0"/>
              </a:spcAft>
              <a:buNone/>
              <a:defRPr/>
            </a:pPr>
            <a:endParaRPr lang="en-US" sz="1000" dirty="0"/>
          </a:p>
          <a:p>
            <a:pPr marL="0" indent="0" defTabSz="914400" fontAlgn="base">
              <a:spcAft>
                <a:spcPct val="0"/>
              </a:spcAft>
              <a:buNone/>
              <a:defRPr/>
            </a:pPr>
            <a:r>
              <a:rPr lang="en-US" sz="2800" b="1" dirty="0"/>
              <a:t>Why important?</a:t>
            </a:r>
          </a:p>
          <a:p>
            <a:pPr marL="0" indent="0" defTabSz="914400" fontAlgn="base">
              <a:spcAft>
                <a:spcPct val="0"/>
              </a:spcAft>
              <a:buNone/>
              <a:defRPr/>
            </a:pPr>
            <a:r>
              <a:rPr lang="en-US" sz="2400" dirty="0"/>
              <a:t>Helps to avoid using highly-skilled staff to do a task that a lesser-skilled person can do</a:t>
            </a:r>
          </a:p>
        </p:txBody>
      </p:sp>
      <p:sp>
        <p:nvSpPr>
          <p:cNvPr id="4" name="Slide Number Placeholder 3"/>
          <p:cNvSpPr>
            <a:spLocks noGrp="1"/>
          </p:cNvSpPr>
          <p:nvPr>
            <p:ph type="sldNum" sz="quarter" idx="12"/>
          </p:nvPr>
        </p:nvSpPr>
        <p:spPr>
          <a:xfrm>
            <a:off x="6884286" y="6372116"/>
            <a:ext cx="2133600" cy="365125"/>
          </a:xfrm>
        </p:spPr>
        <p:txBody>
          <a:bodyPr/>
          <a:lstStyle/>
          <a:p>
            <a:fld id="{36A94550-0172-2A4E-BEEB-6BE00EB0E97C}" type="slidenum">
              <a:rPr lang="en-US" smtClean="0">
                <a:solidFill>
                  <a:prstClr val="black">
                    <a:tint val="75000"/>
                  </a:prstClr>
                </a:solidFill>
              </a:rPr>
              <a:t>10</a:t>
            </a:fld>
            <a:endParaRPr lang="en-US" dirty="0">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1+#ppt_w/2"/>
                                          </p:val>
                                        </p:tav>
                                        <p:tav tm="100000">
                                          <p:val>
                                            <p:strVal val="#ppt_x"/>
                                          </p:val>
                                        </p:tav>
                                      </p:tavLst>
                                    </p:anim>
                                    <p:anim calcmode="lin" valueType="num">
                                      <p:cBhvr additive="base">
                                        <p:cTn id="16"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52500"/>
          </a:xfrm>
          <a:solidFill>
            <a:srgbClr val="10253F"/>
          </a:solidFill>
        </p:spPr>
        <p:txBody>
          <a:bodyPr>
            <a:normAutofit/>
          </a:bodyPr>
          <a:lstStyle/>
          <a:p>
            <a:r>
              <a:rPr lang="en-US" dirty="0">
                <a:solidFill>
                  <a:srgbClr val="FFFFFF"/>
                </a:solidFill>
              </a:rPr>
              <a:t>1. Staff (Workforce) Planning</a:t>
            </a:r>
          </a:p>
        </p:txBody>
      </p:sp>
      <p:sp>
        <p:nvSpPr>
          <p:cNvPr id="3" name="Content Placeholder 2"/>
          <p:cNvSpPr>
            <a:spLocks noGrp="1"/>
          </p:cNvSpPr>
          <p:nvPr>
            <p:ph idx="1"/>
          </p:nvPr>
        </p:nvSpPr>
        <p:spPr>
          <a:xfrm>
            <a:off x="230284" y="952500"/>
            <a:ext cx="8527050" cy="5689599"/>
          </a:xfrm>
        </p:spPr>
        <p:txBody>
          <a:bodyPr>
            <a:noAutofit/>
          </a:bodyPr>
          <a:lstStyle/>
          <a:p>
            <a:pPr marL="0" indent="0" defTabSz="914400" fontAlgn="base">
              <a:spcAft>
                <a:spcPct val="0"/>
              </a:spcAft>
              <a:buNone/>
              <a:defRPr/>
            </a:pPr>
            <a:r>
              <a:rPr lang="en-US" sz="2800" b="1" dirty="0"/>
              <a:t>Principles of Good Staffing</a:t>
            </a:r>
            <a:endParaRPr lang="en-US" sz="2800" i="1" dirty="0"/>
          </a:p>
          <a:p>
            <a:pPr marL="0" indent="0" defTabSz="914400" fontAlgn="base">
              <a:spcAft>
                <a:spcPct val="0"/>
              </a:spcAft>
              <a:buNone/>
              <a:defRPr/>
            </a:pPr>
            <a:r>
              <a:rPr lang="en-US" sz="2800" b="1" dirty="0"/>
              <a:t>Staffing to Demand</a:t>
            </a:r>
          </a:p>
          <a:p>
            <a:pPr marL="0" indent="0" defTabSz="914400" fontAlgn="base">
              <a:spcAft>
                <a:spcPct val="0"/>
              </a:spcAft>
              <a:buNone/>
              <a:defRPr/>
            </a:pPr>
            <a:r>
              <a:rPr lang="en-US" sz="2800" b="1" dirty="0"/>
              <a:t>Definition:</a:t>
            </a:r>
            <a:endParaRPr lang="en-US" sz="2800" dirty="0"/>
          </a:p>
          <a:p>
            <a:pPr marL="0" indent="0" defTabSz="914400" fontAlgn="base">
              <a:spcAft>
                <a:spcPct val="0"/>
              </a:spcAft>
              <a:buNone/>
              <a:defRPr/>
            </a:pPr>
            <a:r>
              <a:rPr lang="en-US" sz="2800" dirty="0"/>
              <a:t>The number of staff working should match the workload</a:t>
            </a:r>
          </a:p>
          <a:p>
            <a:pPr lvl="1" defTabSz="914400" fontAlgn="base">
              <a:spcAft>
                <a:spcPct val="0"/>
              </a:spcAft>
              <a:buFont typeface="Arial" panose="020B0604020202020204" pitchFamily="34" charset="0"/>
              <a:buChar char="•"/>
              <a:defRPr/>
            </a:pPr>
            <a:endParaRPr lang="en-US" dirty="0"/>
          </a:p>
          <a:p>
            <a:pPr lvl="1" defTabSz="914400" fontAlgn="base">
              <a:spcAft>
                <a:spcPct val="0"/>
              </a:spcAft>
              <a:buFont typeface="Arial" panose="020B0604020202020204" pitchFamily="34" charset="0"/>
              <a:buChar char="•"/>
              <a:defRPr/>
            </a:pPr>
            <a:endParaRPr lang="en-US" dirty="0"/>
          </a:p>
          <a:p>
            <a:pPr lvl="1" defTabSz="914400" fontAlgn="base">
              <a:spcAft>
                <a:spcPct val="0"/>
              </a:spcAft>
              <a:buFont typeface="Arial" panose="020B0604020202020204" pitchFamily="34" charset="0"/>
              <a:buChar char="•"/>
              <a:defRPr/>
            </a:pPr>
            <a:endParaRPr lang="en-US" sz="2400" dirty="0"/>
          </a:p>
          <a:p>
            <a:pPr defTabSz="914400" fontAlgn="base">
              <a:spcAft>
                <a:spcPct val="0"/>
              </a:spcAft>
              <a:buFont typeface="Arial" panose="020B0604020202020204" pitchFamily="34" charset="0"/>
              <a:buChar char="•"/>
              <a:defRPr/>
            </a:pPr>
            <a:r>
              <a:rPr lang="en-US" sz="2800" dirty="0"/>
              <a:t>Minimum staffing levels do exist</a:t>
            </a:r>
            <a:r>
              <a:rPr lang="en-US" sz="2400" i="1" dirty="0"/>
              <a:t> </a:t>
            </a:r>
          </a:p>
          <a:p>
            <a:pPr marL="0" indent="0" defTabSz="914400" fontAlgn="base">
              <a:spcAft>
                <a:spcPct val="0"/>
              </a:spcAft>
              <a:buNone/>
              <a:defRPr/>
            </a:pPr>
            <a:r>
              <a:rPr lang="en-US" sz="2400" i="1" dirty="0"/>
              <a:t>     E.g. Even if there is only one patient in ICU, you still need two 	nurses</a:t>
            </a:r>
            <a:endParaRPr lang="en-US" sz="2400" dirty="0"/>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11</a:t>
            </a:fld>
            <a:endParaRPr lang="en-US" dirty="0">
              <a:solidFill>
                <a:prstClr val="black">
                  <a:tint val="75000"/>
                </a:prstClr>
              </a:solidFill>
            </a:endParaRPr>
          </a:p>
        </p:txBody>
      </p:sp>
      <p:graphicFrame>
        <p:nvGraphicFramePr>
          <p:cNvPr id="6" name="Table 5"/>
          <p:cNvGraphicFramePr>
            <a:graphicFrameLocks noGrp="1"/>
          </p:cNvGraphicFramePr>
          <p:nvPr/>
        </p:nvGraphicFramePr>
        <p:xfrm>
          <a:off x="4180709" y="2998584"/>
          <a:ext cx="3374263" cy="1371600"/>
        </p:xfrm>
        <a:graphic>
          <a:graphicData uri="http://schemas.openxmlformats.org/drawingml/2006/table">
            <a:tbl>
              <a:tblPr firstRow="1" bandRow="1">
                <a:tableStyleId>{5C22544A-7EE6-4342-B048-85BDC9FD1C3A}</a:tableStyleId>
              </a:tblPr>
              <a:tblGrid>
                <a:gridCol w="3374263">
                  <a:extLst>
                    <a:ext uri="{9D8B030D-6E8A-4147-A177-3AD203B41FA5}">
                      <a16:colId xmlns:a16="http://schemas.microsoft.com/office/drawing/2014/main" val="20000"/>
                    </a:ext>
                  </a:extLst>
                </a:gridCol>
              </a:tblGrid>
              <a:tr h="0">
                <a:tc>
                  <a:txBody>
                    <a:bodyPr/>
                    <a:lstStyle/>
                    <a:p>
                      <a:pPr algn="ctr"/>
                      <a:r>
                        <a:rPr lang="en-US" sz="2400" dirty="0">
                          <a:solidFill>
                            <a:sysClr val="windowText" lastClr="000000"/>
                          </a:solidFill>
                        </a:rPr>
                        <a:t>Number of staff working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sz="2400" b="0" i="0" dirty="0">
                          <a:solidFill>
                            <a:sysClr val="windowText" lastClr="000000"/>
                          </a:solidFill>
                        </a:rPr>
                        <a:t>More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sz="2400" b="0" i="0" dirty="0">
                          <a:solidFill>
                            <a:sysClr val="windowText" lastClr="000000"/>
                          </a:solidFill>
                        </a:rPr>
                        <a:t>Fewer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7" name="Table 6"/>
          <p:cNvGraphicFramePr>
            <a:graphicFrameLocks noGrp="1"/>
          </p:cNvGraphicFramePr>
          <p:nvPr/>
        </p:nvGraphicFramePr>
        <p:xfrm>
          <a:off x="1114670" y="2998584"/>
          <a:ext cx="3048000" cy="13716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tblGrid>
              <a:tr h="0">
                <a:tc>
                  <a:txBody>
                    <a:bodyPr/>
                    <a:lstStyle/>
                    <a:p>
                      <a:pPr algn="ctr"/>
                      <a:r>
                        <a:rPr lang="en-US" sz="2400" dirty="0">
                          <a:solidFill>
                            <a:sysClr val="windowText" lastClr="000000"/>
                          </a:solidFill>
                        </a:rPr>
                        <a:t>Workload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sz="2400" b="0" i="0" dirty="0">
                          <a:solidFill>
                            <a:sysClr val="windowText" lastClr="000000"/>
                          </a:solidFill>
                        </a:rPr>
                        <a:t>High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sz="2400" b="0" i="0" dirty="0">
                          <a:solidFill>
                            <a:sysClr val="windowText" lastClr="000000"/>
                          </a:solidFill>
                        </a:rPr>
                        <a:t>Low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52500"/>
          </a:xfrm>
          <a:solidFill>
            <a:schemeClr val="accent1">
              <a:lumMod val="40000"/>
              <a:lumOff val="60000"/>
            </a:schemeClr>
          </a:solidFill>
        </p:spPr>
        <p:txBody>
          <a:bodyPr>
            <a:normAutofit/>
          </a:bodyPr>
          <a:lstStyle/>
          <a:p>
            <a:r>
              <a:rPr lang="en-US" dirty="0"/>
              <a:t>Exercise 2: Staffing to Demand</a:t>
            </a:r>
          </a:p>
        </p:txBody>
      </p:sp>
      <p:sp>
        <p:nvSpPr>
          <p:cNvPr id="3" name="Content Placeholder 2"/>
          <p:cNvSpPr>
            <a:spLocks noGrp="1"/>
          </p:cNvSpPr>
          <p:nvPr>
            <p:ph idx="1"/>
          </p:nvPr>
        </p:nvSpPr>
        <p:spPr>
          <a:xfrm>
            <a:off x="268894" y="915273"/>
            <a:ext cx="9017000" cy="901700"/>
          </a:xfrm>
        </p:spPr>
        <p:txBody>
          <a:bodyPr>
            <a:noAutofit/>
          </a:bodyPr>
          <a:lstStyle/>
          <a:p>
            <a:pPr marL="0" indent="0" defTabSz="914400" fontAlgn="base">
              <a:spcBef>
                <a:spcPts val="0"/>
              </a:spcBef>
              <a:spcAft>
                <a:spcPct val="0"/>
              </a:spcAft>
              <a:buNone/>
              <a:defRPr/>
            </a:pPr>
            <a:r>
              <a:rPr lang="en-US" sz="2800" b="1" dirty="0"/>
              <a:t>Team exercise: </a:t>
            </a:r>
            <a:r>
              <a:rPr lang="en-US" sz="2800" dirty="0"/>
              <a:t>Adjust the staffing pattern to meet the demand (P. 5).</a:t>
            </a:r>
          </a:p>
        </p:txBody>
      </p:sp>
      <p:sp>
        <p:nvSpPr>
          <p:cNvPr id="4" name="TextBox 3"/>
          <p:cNvSpPr txBox="1"/>
          <p:nvPr/>
        </p:nvSpPr>
        <p:spPr>
          <a:xfrm>
            <a:off x="423890" y="1879321"/>
            <a:ext cx="8325973" cy="3785652"/>
          </a:xfrm>
          <a:prstGeom prst="rect">
            <a:avLst/>
          </a:prstGeom>
          <a:solidFill>
            <a:schemeClr val="tx2">
              <a:lumMod val="20000"/>
              <a:lumOff val="80000"/>
            </a:schemeClr>
          </a:solidFill>
        </p:spPr>
        <p:txBody>
          <a:bodyPr wrap="square" rtlCol="0">
            <a:spAutoFit/>
          </a:bodyPr>
          <a:lstStyle/>
          <a:p>
            <a:pPr defTabSz="457200"/>
            <a:r>
              <a:rPr lang="en-US" sz="2400" dirty="0">
                <a:solidFill>
                  <a:prstClr val="black"/>
                </a:solidFill>
              </a:rPr>
              <a:t>Lab is staffed with five people from 7: am. – 5: pm. and two people from 5 pm. to 7 am.</a:t>
            </a:r>
          </a:p>
          <a:p>
            <a:pPr defTabSz="457200"/>
            <a:r>
              <a:rPr lang="en-US" sz="2400" dirty="0">
                <a:solidFill>
                  <a:prstClr val="black"/>
                </a:solidFill>
              </a:rPr>
              <a:t>Doctors and residents complain that it takes too long to get lab results. </a:t>
            </a:r>
          </a:p>
          <a:p>
            <a:pPr defTabSz="457200"/>
            <a:r>
              <a:rPr lang="en-US" sz="2400" dirty="0">
                <a:solidFill>
                  <a:prstClr val="black"/>
                </a:solidFill>
              </a:rPr>
              <a:t>Most doctors order tests during their morning rounds. The nurses draw the samples after rounds and then send them to the lab. The lab receives most of the samples between 12 - 3 p.m. </a:t>
            </a:r>
            <a:br>
              <a:rPr lang="en-US" sz="2400" dirty="0">
                <a:solidFill>
                  <a:prstClr val="black"/>
                </a:solidFill>
              </a:rPr>
            </a:br>
            <a:endParaRPr lang="en-US" sz="2400" dirty="0">
              <a:solidFill>
                <a:prstClr val="black"/>
              </a:solidFill>
            </a:endParaRPr>
          </a:p>
          <a:p>
            <a:pPr defTabSz="457200"/>
            <a:r>
              <a:rPr lang="en-US" sz="2400" b="1" dirty="0">
                <a:solidFill>
                  <a:prstClr val="black"/>
                </a:solidFill>
              </a:rPr>
              <a:t>Using the </a:t>
            </a:r>
            <a:r>
              <a:rPr lang="en-US" sz="2400" b="1" i="1" dirty="0">
                <a:solidFill>
                  <a:prstClr val="black"/>
                </a:solidFill>
              </a:rPr>
              <a:t>principle of Staffing to Demand</a:t>
            </a:r>
            <a:r>
              <a:rPr lang="en-US" sz="2400" b="1" dirty="0">
                <a:solidFill>
                  <a:prstClr val="black"/>
                </a:solidFill>
              </a:rPr>
              <a:t>, how can you change the staffing pattern</a:t>
            </a:r>
            <a:r>
              <a:rPr lang="en-US" sz="2400" dirty="0">
                <a:solidFill>
                  <a:prstClr val="black"/>
                </a:solidFill>
              </a:rPr>
              <a:t>? </a:t>
            </a:r>
          </a:p>
        </p:txBody>
      </p:sp>
      <p:sp>
        <p:nvSpPr>
          <p:cNvPr id="5" name="Slide Number Placeholder 4"/>
          <p:cNvSpPr>
            <a:spLocks noGrp="1"/>
          </p:cNvSpPr>
          <p:nvPr>
            <p:ph type="sldNum" sz="quarter" idx="12"/>
          </p:nvPr>
        </p:nvSpPr>
        <p:spPr/>
        <p:txBody>
          <a:bodyPr/>
          <a:lstStyle/>
          <a:p>
            <a:fld id="{36A94550-0172-2A4E-BEEB-6BE00EB0E97C}" type="slidenum">
              <a:rPr lang="en-US" smtClean="0">
                <a:solidFill>
                  <a:prstClr val="black">
                    <a:tint val="75000"/>
                  </a:prstClr>
                </a:solidFill>
              </a:rPr>
              <a:t>12</a:t>
            </a:fld>
            <a:endParaRPr lang="en-US" dirty="0">
              <a:solidFill>
                <a:prstClr val="black">
                  <a:tint val="75000"/>
                </a:prst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91" y="2783143"/>
            <a:ext cx="9128016" cy="1082881"/>
          </a:xfrm>
          <a:solidFill>
            <a:schemeClr val="tx2">
              <a:lumMod val="50000"/>
            </a:schemeClr>
          </a:solidFill>
        </p:spPr>
        <p:txBody>
          <a:bodyPr/>
          <a:lstStyle/>
          <a:p>
            <a:pPr algn="ctr"/>
            <a:r>
              <a:rPr lang="en-US" dirty="0">
                <a:solidFill>
                  <a:srgbClr val="FFFFFF"/>
                </a:solidFill>
              </a:rPr>
              <a:t>2. Recruitment</a:t>
            </a:r>
          </a:p>
        </p:txBody>
      </p:sp>
      <p:sp>
        <p:nvSpPr>
          <p:cNvPr id="3" name="Text Placeholder 2"/>
          <p:cNvSpPr>
            <a:spLocks noGrp="1"/>
          </p:cNvSpPr>
          <p:nvPr>
            <p:ph type="body" idx="1"/>
          </p:nvPr>
        </p:nvSpPr>
        <p:spPr/>
        <p:txBody>
          <a:bodyPr>
            <a:normAutofit/>
          </a:bodyPr>
          <a:lstStyle/>
          <a:p>
            <a:r>
              <a:rPr lang="en-US" sz="2800" b="1" dirty="0"/>
              <a:t>Basic Functions of Human Resource Management</a:t>
            </a:r>
          </a:p>
        </p:txBody>
      </p:sp>
      <p:sp>
        <p:nvSpPr>
          <p:cNvPr id="5" name="Slide Number Placeholder 4"/>
          <p:cNvSpPr>
            <a:spLocks noGrp="1"/>
          </p:cNvSpPr>
          <p:nvPr>
            <p:ph type="sldNum" sz="quarter" idx="12"/>
          </p:nvPr>
        </p:nvSpPr>
        <p:spPr/>
        <p:txBody>
          <a:bodyPr/>
          <a:lstStyle/>
          <a:p>
            <a:fld id="{36A94550-0172-2A4E-BEEB-6BE00EB0E97C}" type="slidenum">
              <a:rPr lang="en-US" smtClean="0">
                <a:solidFill>
                  <a:prstClr val="black">
                    <a:tint val="75000"/>
                  </a:prstClr>
                </a:solidFill>
              </a:rPr>
              <a:t>13</a:t>
            </a:fld>
            <a:endParaRPr lang="en-US" dirty="0">
              <a:solidFill>
                <a:prstClr val="black">
                  <a:tint val="75000"/>
                </a:prst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2. Recruitment</a:t>
            </a:r>
          </a:p>
        </p:txBody>
      </p:sp>
      <p:sp>
        <p:nvSpPr>
          <p:cNvPr id="3" name="Content Placeholder 2"/>
          <p:cNvSpPr>
            <a:spLocks noGrp="1"/>
          </p:cNvSpPr>
          <p:nvPr>
            <p:ph idx="1"/>
          </p:nvPr>
        </p:nvSpPr>
        <p:spPr>
          <a:xfrm>
            <a:off x="261004" y="1183284"/>
            <a:ext cx="8378497" cy="4787899"/>
          </a:xfrm>
        </p:spPr>
        <p:txBody>
          <a:bodyPr>
            <a:noAutofit/>
          </a:bodyPr>
          <a:lstStyle/>
          <a:p>
            <a:pPr marL="0" indent="0" defTabSz="914400" fontAlgn="base">
              <a:lnSpc>
                <a:spcPct val="170000"/>
              </a:lnSpc>
              <a:spcAft>
                <a:spcPct val="0"/>
              </a:spcAft>
              <a:buNone/>
              <a:defRPr/>
            </a:pPr>
            <a:r>
              <a:rPr lang="en-US" sz="2800" b="1" dirty="0"/>
              <a:t>What you will learn:</a:t>
            </a:r>
          </a:p>
          <a:p>
            <a:pPr defTabSz="914400" fontAlgn="base">
              <a:lnSpc>
                <a:spcPct val="150000"/>
              </a:lnSpc>
              <a:spcBef>
                <a:spcPts val="0"/>
              </a:spcBef>
              <a:spcAft>
                <a:spcPct val="0"/>
              </a:spcAft>
              <a:defRPr/>
            </a:pPr>
            <a:r>
              <a:rPr lang="en-US" sz="2800" dirty="0"/>
              <a:t>Purpose of recruitment</a:t>
            </a:r>
          </a:p>
          <a:p>
            <a:pPr defTabSz="914400" fontAlgn="base">
              <a:lnSpc>
                <a:spcPct val="150000"/>
              </a:lnSpc>
              <a:spcBef>
                <a:spcPts val="0"/>
              </a:spcBef>
              <a:spcAft>
                <a:spcPct val="0"/>
              </a:spcAft>
              <a:defRPr/>
            </a:pPr>
            <a:r>
              <a:rPr lang="en-US" sz="2800" dirty="0"/>
              <a:t>What is needed for good recruitment?</a:t>
            </a:r>
          </a:p>
          <a:p>
            <a:pPr lvl="1" defTabSz="914400" fontAlgn="base">
              <a:spcBef>
                <a:spcPts val="0"/>
              </a:spcBef>
              <a:spcAft>
                <a:spcPct val="0"/>
              </a:spcAft>
              <a:buFont typeface="Calibri" panose="020F0502020204030204" charset="0"/>
              <a:buChar char="⁻"/>
              <a:defRPr/>
            </a:pPr>
            <a:r>
              <a:rPr lang="en-US" dirty="0"/>
              <a:t>Who should be involved</a:t>
            </a:r>
          </a:p>
          <a:p>
            <a:pPr lvl="1" defTabSz="914400" fontAlgn="base">
              <a:spcBef>
                <a:spcPts val="0"/>
              </a:spcBef>
              <a:spcAft>
                <a:spcPct val="0"/>
              </a:spcAft>
              <a:buFont typeface="Calibri" panose="020F0502020204030204" charset="0"/>
              <a:buChar char="⁻"/>
              <a:defRPr/>
            </a:pPr>
            <a:r>
              <a:rPr lang="en-US" dirty="0"/>
              <a:t>What should be known</a:t>
            </a:r>
          </a:p>
          <a:p>
            <a:pPr lvl="1" defTabSz="914400" fontAlgn="base">
              <a:spcBef>
                <a:spcPts val="0"/>
              </a:spcBef>
              <a:spcAft>
                <a:spcPct val="0"/>
              </a:spcAft>
              <a:buFont typeface="Calibri" panose="020F0502020204030204" charset="0"/>
              <a:buChar char="⁻"/>
              <a:defRPr/>
            </a:pPr>
            <a:r>
              <a:rPr lang="en-US" dirty="0"/>
              <a:t>How do you select</a:t>
            </a:r>
          </a:p>
          <a:p>
            <a:pPr defTabSz="914400" fontAlgn="base">
              <a:lnSpc>
                <a:spcPct val="150000"/>
              </a:lnSpc>
              <a:spcBef>
                <a:spcPts val="0"/>
              </a:spcBef>
              <a:spcAft>
                <a:spcPct val="0"/>
              </a:spcAft>
              <a:defRPr/>
            </a:pPr>
            <a:r>
              <a:rPr lang="en-US" sz="2800" dirty="0"/>
              <a:t>Behavioral interviewing</a:t>
            </a:r>
          </a:p>
          <a:p>
            <a:pPr defTabSz="914400" fontAlgn="base">
              <a:lnSpc>
                <a:spcPct val="150000"/>
              </a:lnSpc>
              <a:spcBef>
                <a:spcPts val="0"/>
              </a:spcBef>
              <a:spcAft>
                <a:spcPct val="0"/>
              </a:spcAft>
              <a:defRPr/>
            </a:pPr>
            <a:r>
              <a:rPr lang="en-US" sz="2800" dirty="0"/>
              <a:t>Core components of a job description</a:t>
            </a:r>
          </a:p>
          <a:p>
            <a:pPr defTabSz="914400" fontAlgn="base">
              <a:lnSpc>
                <a:spcPct val="150000"/>
              </a:lnSpc>
              <a:spcBef>
                <a:spcPts val="0"/>
              </a:spcBef>
              <a:spcAft>
                <a:spcPct val="0"/>
              </a:spcAft>
              <a:defRPr/>
            </a:pPr>
            <a:r>
              <a:rPr lang="en-US" sz="2800" dirty="0"/>
              <a:t>Compensation</a:t>
            </a:r>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14</a:t>
            </a:fld>
            <a:endParaRPr lang="en-US" dirty="0">
              <a:solidFill>
                <a:prstClr val="black">
                  <a:tint val="75000"/>
                </a:prst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2. Recruitment</a:t>
            </a:r>
          </a:p>
        </p:txBody>
      </p:sp>
      <p:sp>
        <p:nvSpPr>
          <p:cNvPr id="5" name="Content Placeholder 2"/>
          <p:cNvSpPr>
            <a:spLocks noGrp="1"/>
          </p:cNvSpPr>
          <p:nvPr>
            <p:ph idx="1"/>
          </p:nvPr>
        </p:nvSpPr>
        <p:spPr>
          <a:xfrm>
            <a:off x="47298" y="1302996"/>
            <a:ext cx="9191292" cy="5373709"/>
          </a:xfrm>
        </p:spPr>
        <p:txBody>
          <a:bodyPr>
            <a:noAutofit/>
          </a:bodyPr>
          <a:lstStyle/>
          <a:p>
            <a:pPr marL="57150" indent="0" defTabSz="914400" fontAlgn="base">
              <a:spcBef>
                <a:spcPts val="0"/>
              </a:spcBef>
              <a:spcAft>
                <a:spcPct val="0"/>
              </a:spcAft>
              <a:buNone/>
              <a:defRPr/>
            </a:pPr>
            <a:r>
              <a:rPr lang="en-US" sz="2800" b="1" dirty="0"/>
              <a:t>Definition:</a:t>
            </a:r>
          </a:p>
          <a:p>
            <a:pPr lvl="1" defTabSz="914400" fontAlgn="base">
              <a:lnSpc>
                <a:spcPct val="150000"/>
              </a:lnSpc>
              <a:spcBef>
                <a:spcPts val="0"/>
              </a:spcBef>
              <a:spcAft>
                <a:spcPct val="0"/>
              </a:spcAft>
              <a:buFont typeface="Arial" panose="020B0604020202020204" pitchFamily="34" charset="0"/>
              <a:buChar char="•"/>
              <a:defRPr/>
            </a:pPr>
            <a:r>
              <a:rPr lang="en-US" sz="2400" dirty="0"/>
              <a:t>The process to find and hire the best-qualified candidate for a job opening</a:t>
            </a:r>
          </a:p>
          <a:p>
            <a:pPr marL="57150" indent="0" defTabSz="914400" fontAlgn="base">
              <a:lnSpc>
                <a:spcPct val="150000"/>
              </a:lnSpc>
              <a:spcBef>
                <a:spcPts val="0"/>
              </a:spcBef>
              <a:spcAft>
                <a:spcPct val="0"/>
              </a:spcAft>
              <a:buNone/>
              <a:defRPr/>
            </a:pPr>
            <a:r>
              <a:rPr lang="en-US" sz="2800" b="1" dirty="0"/>
              <a:t>The recruitment process requires HR to:</a:t>
            </a:r>
          </a:p>
          <a:p>
            <a:pPr lvl="1" defTabSz="914400" fontAlgn="base">
              <a:lnSpc>
                <a:spcPct val="150000"/>
              </a:lnSpc>
              <a:spcBef>
                <a:spcPts val="0"/>
              </a:spcBef>
              <a:spcAft>
                <a:spcPct val="0"/>
              </a:spcAft>
              <a:buFont typeface="Arial" panose="020B0604020202020204" pitchFamily="34" charset="0"/>
              <a:buChar char="•"/>
              <a:defRPr/>
            </a:pPr>
            <a:r>
              <a:rPr lang="en-US" sz="2400" dirty="0"/>
              <a:t>Analyze the requirements of the job </a:t>
            </a:r>
          </a:p>
          <a:p>
            <a:pPr lvl="1" defTabSz="914400" fontAlgn="base">
              <a:lnSpc>
                <a:spcPct val="150000"/>
              </a:lnSpc>
              <a:spcBef>
                <a:spcPts val="0"/>
              </a:spcBef>
              <a:spcAft>
                <a:spcPct val="0"/>
              </a:spcAft>
              <a:buFont typeface="Arial" panose="020B0604020202020204" pitchFamily="34" charset="0"/>
              <a:buChar char="•"/>
              <a:defRPr/>
            </a:pPr>
            <a:r>
              <a:rPr lang="en-US" sz="2400" dirty="0"/>
              <a:t>Attract employees to the job through competitive compensation</a:t>
            </a:r>
          </a:p>
          <a:p>
            <a:pPr lvl="1" defTabSz="914400" fontAlgn="base">
              <a:lnSpc>
                <a:spcPct val="150000"/>
              </a:lnSpc>
              <a:spcBef>
                <a:spcPts val="0"/>
              </a:spcBef>
              <a:spcAft>
                <a:spcPct val="0"/>
              </a:spcAft>
              <a:buFont typeface="Arial" panose="020B0604020202020204" pitchFamily="34" charset="0"/>
              <a:buChar char="•"/>
              <a:defRPr/>
            </a:pPr>
            <a:r>
              <a:rPr lang="en-US" sz="2400" dirty="0"/>
              <a:t>Screen and select applicants</a:t>
            </a:r>
          </a:p>
          <a:p>
            <a:pPr lvl="1" defTabSz="914400" fontAlgn="base">
              <a:lnSpc>
                <a:spcPct val="150000"/>
              </a:lnSpc>
              <a:spcBef>
                <a:spcPts val="0"/>
              </a:spcBef>
              <a:spcAft>
                <a:spcPct val="0"/>
              </a:spcAft>
              <a:buFont typeface="Arial" panose="020B0604020202020204" pitchFamily="34" charset="0"/>
              <a:buChar char="•"/>
              <a:defRPr/>
            </a:pPr>
            <a:r>
              <a:rPr lang="en-US" sz="2400" dirty="0"/>
              <a:t>Hire and welcome into the organization</a:t>
            </a:r>
            <a:endParaRPr lang="en-US" sz="2400" b="1" dirty="0"/>
          </a:p>
          <a:p>
            <a:pPr marL="457200" lvl="1" indent="0" defTabSz="914400" fontAlgn="base">
              <a:spcBef>
                <a:spcPts val="0"/>
              </a:spcBef>
              <a:spcAft>
                <a:spcPct val="0"/>
              </a:spcAft>
              <a:buNone/>
              <a:defRPr/>
            </a:pPr>
            <a:endParaRPr lang="en-US" b="1" dirty="0"/>
          </a:p>
        </p:txBody>
      </p:sp>
      <p:sp>
        <p:nvSpPr>
          <p:cNvPr id="3" name="Slide Number Placeholder 2"/>
          <p:cNvSpPr>
            <a:spLocks noGrp="1"/>
          </p:cNvSpPr>
          <p:nvPr>
            <p:ph type="sldNum" sz="quarter" idx="12"/>
          </p:nvPr>
        </p:nvSpPr>
        <p:spPr/>
        <p:txBody>
          <a:bodyPr/>
          <a:lstStyle/>
          <a:p>
            <a:fld id="{36A94550-0172-2A4E-BEEB-6BE00EB0E97C}" type="slidenum">
              <a:rPr lang="en-US" smtClean="0">
                <a:solidFill>
                  <a:prstClr val="black">
                    <a:tint val="75000"/>
                  </a:prstClr>
                </a:solidFill>
              </a:rPr>
              <a:t>15</a:t>
            </a:fld>
            <a:endParaRPr lang="en-US" dirty="0">
              <a:solidFill>
                <a:prstClr val="black">
                  <a:tint val="75000"/>
                </a:prstClr>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2. Recruitment</a:t>
            </a:r>
          </a:p>
        </p:txBody>
      </p:sp>
      <p:sp>
        <p:nvSpPr>
          <p:cNvPr id="5" name="Content Placeholder 2"/>
          <p:cNvSpPr>
            <a:spLocks noGrp="1"/>
          </p:cNvSpPr>
          <p:nvPr>
            <p:ph idx="1"/>
          </p:nvPr>
        </p:nvSpPr>
        <p:spPr>
          <a:xfrm>
            <a:off x="136634" y="1334528"/>
            <a:ext cx="8833945" cy="5373709"/>
          </a:xfrm>
        </p:spPr>
        <p:txBody>
          <a:bodyPr>
            <a:noAutofit/>
          </a:bodyPr>
          <a:lstStyle/>
          <a:p>
            <a:pPr marL="57150" indent="0" defTabSz="914400" fontAlgn="base">
              <a:spcBef>
                <a:spcPts val="0"/>
              </a:spcBef>
              <a:spcAft>
                <a:spcPct val="0"/>
              </a:spcAft>
              <a:buNone/>
              <a:defRPr/>
            </a:pPr>
            <a:r>
              <a:rPr lang="en-US" sz="2800" b="1" dirty="0"/>
              <a:t>Why important?</a:t>
            </a:r>
          </a:p>
          <a:p>
            <a:pPr defTabSz="914400" fontAlgn="base">
              <a:lnSpc>
                <a:spcPct val="150000"/>
              </a:lnSpc>
              <a:spcBef>
                <a:spcPts val="0"/>
              </a:spcBef>
              <a:spcAft>
                <a:spcPct val="0"/>
              </a:spcAft>
              <a:defRPr/>
            </a:pPr>
            <a:r>
              <a:rPr lang="en-US" sz="2400" dirty="0"/>
              <a:t>Your employees are your service and your product </a:t>
            </a:r>
          </a:p>
          <a:p>
            <a:pPr defTabSz="914400" fontAlgn="base">
              <a:lnSpc>
                <a:spcPct val="150000"/>
              </a:lnSpc>
              <a:spcBef>
                <a:spcPts val="0"/>
              </a:spcBef>
              <a:spcAft>
                <a:spcPct val="0"/>
              </a:spcAft>
              <a:defRPr/>
            </a:pPr>
            <a:r>
              <a:rPr lang="en-US" sz="2400" dirty="0"/>
              <a:t>Without employees, you cannot care for patients and families</a:t>
            </a:r>
          </a:p>
          <a:p>
            <a:pPr defTabSz="914400" fontAlgn="base">
              <a:lnSpc>
                <a:spcPct val="150000"/>
              </a:lnSpc>
              <a:spcBef>
                <a:spcPts val="0"/>
              </a:spcBef>
              <a:spcAft>
                <a:spcPct val="0"/>
              </a:spcAft>
              <a:defRPr/>
            </a:pPr>
            <a:r>
              <a:rPr lang="en-US" sz="2400" dirty="0"/>
              <a:t>People are your most expensive resource</a:t>
            </a:r>
          </a:p>
          <a:p>
            <a:pPr defTabSz="914400" fontAlgn="base">
              <a:lnSpc>
                <a:spcPct val="150000"/>
              </a:lnSpc>
              <a:spcBef>
                <a:spcPts val="0"/>
              </a:spcBef>
              <a:spcAft>
                <a:spcPct val="0"/>
              </a:spcAft>
              <a:defRPr/>
            </a:pPr>
            <a:r>
              <a:rPr lang="en-US" sz="2400" dirty="0"/>
              <a:t>You must steward your resources well</a:t>
            </a:r>
          </a:p>
        </p:txBody>
      </p:sp>
      <p:sp>
        <p:nvSpPr>
          <p:cNvPr id="3" name="Slide Number Placeholder 2"/>
          <p:cNvSpPr>
            <a:spLocks noGrp="1"/>
          </p:cNvSpPr>
          <p:nvPr>
            <p:ph type="sldNum" sz="quarter" idx="12"/>
          </p:nvPr>
        </p:nvSpPr>
        <p:spPr/>
        <p:txBody>
          <a:bodyPr/>
          <a:lstStyle/>
          <a:p>
            <a:fld id="{36A94550-0172-2A4E-BEEB-6BE00EB0E97C}" type="slidenum">
              <a:rPr lang="en-US" smtClean="0">
                <a:solidFill>
                  <a:prstClr val="black">
                    <a:tint val="75000"/>
                  </a:prstClr>
                </a:solidFill>
              </a:rPr>
              <a:t>16</a:t>
            </a:fld>
            <a:endParaRPr lang="en-US" dirty="0">
              <a:solidFill>
                <a:prstClr val="black">
                  <a:tint val="75000"/>
                </a:prstClr>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2. Recruitment</a:t>
            </a:r>
          </a:p>
        </p:txBody>
      </p:sp>
      <p:sp>
        <p:nvSpPr>
          <p:cNvPr id="5" name="Content Placeholder 2"/>
          <p:cNvSpPr>
            <a:spLocks noGrp="1"/>
          </p:cNvSpPr>
          <p:nvPr>
            <p:ph idx="1"/>
          </p:nvPr>
        </p:nvSpPr>
        <p:spPr>
          <a:xfrm>
            <a:off x="23448" y="1756115"/>
            <a:ext cx="9156700" cy="5194299"/>
          </a:xfrm>
        </p:spPr>
        <p:txBody>
          <a:bodyPr>
            <a:noAutofit/>
          </a:bodyPr>
          <a:lstStyle/>
          <a:p>
            <a:pPr marL="0" indent="0" defTabSz="914400" fontAlgn="base">
              <a:spcAft>
                <a:spcPct val="0"/>
              </a:spcAft>
              <a:buNone/>
              <a:defRPr/>
            </a:pPr>
            <a:r>
              <a:rPr lang="en-US" sz="2800" b="1" dirty="0"/>
              <a:t>What is needed for good recruitment?</a:t>
            </a:r>
            <a:br>
              <a:rPr lang="en-US" sz="2400" b="1" dirty="0"/>
            </a:br>
            <a:endParaRPr lang="en-US" sz="2400" b="1" dirty="0"/>
          </a:p>
          <a:p>
            <a:pPr marL="0" indent="0" defTabSz="914400" fontAlgn="base">
              <a:spcAft>
                <a:spcPct val="0"/>
              </a:spcAft>
              <a:buNone/>
              <a:defRPr/>
            </a:pPr>
            <a:r>
              <a:rPr lang="en-US" sz="2400" b="1" dirty="0"/>
              <a:t>                                     </a:t>
            </a:r>
            <a:r>
              <a:rPr lang="en-US" sz="2800" b="1" dirty="0"/>
              <a:t>Who</a:t>
            </a:r>
            <a:r>
              <a:rPr lang="en-US" sz="2800" dirty="0"/>
              <a:t> should be involved</a:t>
            </a:r>
          </a:p>
          <a:p>
            <a:pPr marL="0" indent="0" defTabSz="914400" fontAlgn="base">
              <a:spcAft>
                <a:spcPct val="0"/>
              </a:spcAft>
              <a:buNone/>
              <a:defRPr/>
            </a:pPr>
            <a:endParaRPr lang="en-US" sz="2800" dirty="0"/>
          </a:p>
          <a:p>
            <a:pPr marL="0" indent="0" defTabSz="914400" fontAlgn="base">
              <a:spcAft>
                <a:spcPct val="0"/>
              </a:spcAft>
              <a:buNone/>
              <a:defRPr/>
            </a:pPr>
            <a:r>
              <a:rPr lang="en-US" sz="2800" b="1" dirty="0"/>
              <a:t>                               What</a:t>
            </a:r>
            <a:r>
              <a:rPr lang="en-US" sz="2800" dirty="0"/>
              <a:t> should be known</a:t>
            </a:r>
          </a:p>
          <a:p>
            <a:pPr marL="0" indent="0" defTabSz="914400" fontAlgn="base">
              <a:spcAft>
                <a:spcPct val="0"/>
              </a:spcAft>
              <a:buNone/>
              <a:defRPr/>
            </a:pPr>
            <a:endParaRPr lang="en-US" sz="2800" dirty="0"/>
          </a:p>
          <a:p>
            <a:pPr marL="0" indent="0" defTabSz="914400" fontAlgn="base">
              <a:spcAft>
                <a:spcPct val="0"/>
              </a:spcAft>
              <a:buNone/>
              <a:defRPr/>
            </a:pPr>
            <a:r>
              <a:rPr lang="en-US" sz="2800" b="1" dirty="0"/>
              <a:t>                               How </a:t>
            </a:r>
            <a:r>
              <a:rPr lang="en-US" sz="2800" dirty="0"/>
              <a:t>to select</a:t>
            </a:r>
          </a:p>
        </p:txBody>
      </p:sp>
      <p:sp>
        <p:nvSpPr>
          <p:cNvPr id="3" name="Slide Number Placeholder 2"/>
          <p:cNvSpPr>
            <a:spLocks noGrp="1"/>
          </p:cNvSpPr>
          <p:nvPr>
            <p:ph type="sldNum" sz="quarter" idx="12"/>
          </p:nvPr>
        </p:nvSpPr>
        <p:spPr/>
        <p:txBody>
          <a:bodyPr/>
          <a:lstStyle/>
          <a:p>
            <a:fld id="{36A94550-0172-2A4E-BEEB-6BE00EB0E97C}" type="slidenum">
              <a:rPr lang="en-US" smtClean="0">
                <a:solidFill>
                  <a:prstClr val="black">
                    <a:tint val="75000"/>
                  </a:prstClr>
                </a:solidFill>
              </a:rPr>
              <a:t>17</a:t>
            </a:fld>
            <a:endParaRPr lang="en-US" dirty="0">
              <a:solidFill>
                <a:prstClr val="black">
                  <a:tint val="75000"/>
                </a:prstClr>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2. Recruitment</a:t>
            </a:r>
          </a:p>
        </p:txBody>
      </p:sp>
      <p:sp>
        <p:nvSpPr>
          <p:cNvPr id="5" name="Content Placeholder 2"/>
          <p:cNvSpPr>
            <a:spLocks noGrp="1"/>
          </p:cNvSpPr>
          <p:nvPr>
            <p:ph idx="1"/>
          </p:nvPr>
        </p:nvSpPr>
        <p:spPr>
          <a:xfrm>
            <a:off x="23448" y="1238739"/>
            <a:ext cx="9156700" cy="5194299"/>
          </a:xfrm>
        </p:spPr>
        <p:txBody>
          <a:bodyPr>
            <a:noAutofit/>
          </a:bodyPr>
          <a:lstStyle/>
          <a:p>
            <a:pPr marL="0" indent="0" defTabSz="914400" fontAlgn="base">
              <a:spcAft>
                <a:spcPct val="0"/>
              </a:spcAft>
              <a:buNone/>
              <a:defRPr/>
            </a:pPr>
            <a:r>
              <a:rPr lang="en-US" sz="2800" b="1" dirty="0"/>
              <a:t>What is needed for good recruitment?</a:t>
            </a:r>
            <a:br>
              <a:rPr lang="en-US" sz="2400" b="1" dirty="0"/>
            </a:br>
            <a:endParaRPr lang="en-US" sz="2400" b="1" dirty="0"/>
          </a:p>
          <a:p>
            <a:pPr marL="0" indent="0" defTabSz="914400" fontAlgn="base">
              <a:spcAft>
                <a:spcPct val="0"/>
              </a:spcAft>
              <a:buNone/>
              <a:defRPr/>
            </a:pPr>
            <a:r>
              <a:rPr lang="en-US" sz="2800" b="1" dirty="0"/>
              <a:t>Who</a:t>
            </a:r>
            <a:r>
              <a:rPr lang="en-US" sz="2800" dirty="0"/>
              <a:t> should be involved: </a:t>
            </a:r>
          </a:p>
          <a:p>
            <a:pPr lvl="1" defTabSz="914400" fontAlgn="base">
              <a:spcAft>
                <a:spcPct val="0"/>
              </a:spcAft>
              <a:buFont typeface="Arial" panose="020B0604020202020204" pitchFamily="34" charset="0"/>
              <a:buChar char="•"/>
              <a:defRPr/>
            </a:pPr>
            <a:r>
              <a:rPr lang="en-US" sz="2400" dirty="0"/>
              <a:t>People who will work closely with the new hire  </a:t>
            </a:r>
          </a:p>
          <a:p>
            <a:pPr lvl="1" defTabSz="914400" fontAlgn="base">
              <a:spcAft>
                <a:spcPct val="0"/>
              </a:spcAft>
              <a:buFont typeface="Arial" panose="020B0604020202020204" pitchFamily="34" charset="0"/>
              <a:buChar char="•"/>
              <a:defRPr/>
            </a:pPr>
            <a:r>
              <a:rPr lang="en-US" sz="2400" dirty="0"/>
              <a:t>A multidisciplinary group</a:t>
            </a:r>
          </a:p>
          <a:p>
            <a:pPr lvl="2" defTabSz="914400" fontAlgn="base">
              <a:spcAft>
                <a:spcPct val="0"/>
              </a:spcAft>
              <a:buFont typeface="Arial" panose="020B0604020202020204" pitchFamily="34" charset="0"/>
              <a:buChar char="•"/>
              <a:defRPr/>
            </a:pPr>
            <a:r>
              <a:rPr lang="en-US" dirty="0"/>
              <a:t>A group with different types of people (many disciplines) </a:t>
            </a:r>
          </a:p>
          <a:p>
            <a:pPr lvl="1" defTabSz="914400" fontAlgn="base">
              <a:spcAft>
                <a:spcPct val="0"/>
              </a:spcAft>
              <a:buFont typeface="Arial" panose="020B0604020202020204" pitchFamily="34" charset="0"/>
              <a:buChar char="•"/>
              <a:defRPr/>
            </a:pPr>
            <a:r>
              <a:rPr lang="en-US" sz="2400" dirty="0"/>
              <a:t>No conflicts of interest </a:t>
            </a:r>
          </a:p>
          <a:p>
            <a:pPr lvl="2" defTabSz="914400" fontAlgn="base">
              <a:spcAft>
                <a:spcPct val="0"/>
              </a:spcAft>
              <a:buFont typeface="Arial" panose="020B0604020202020204" pitchFamily="34" charset="0"/>
              <a:buChar char="•"/>
              <a:defRPr/>
            </a:pPr>
            <a:r>
              <a:rPr lang="en-US" dirty="0"/>
              <a:t>If your family member is interviewing for a job, you should not participate</a:t>
            </a:r>
          </a:p>
        </p:txBody>
      </p:sp>
      <p:sp>
        <p:nvSpPr>
          <p:cNvPr id="3" name="Slide Number Placeholder 2"/>
          <p:cNvSpPr>
            <a:spLocks noGrp="1"/>
          </p:cNvSpPr>
          <p:nvPr>
            <p:ph type="sldNum" sz="quarter" idx="12"/>
          </p:nvPr>
        </p:nvSpPr>
        <p:spPr/>
        <p:txBody>
          <a:bodyPr/>
          <a:lstStyle/>
          <a:p>
            <a:fld id="{36A94550-0172-2A4E-BEEB-6BE00EB0E97C}" type="slidenum">
              <a:rPr lang="en-US" smtClean="0">
                <a:solidFill>
                  <a:prstClr val="black">
                    <a:tint val="75000"/>
                  </a:prstClr>
                </a:solidFill>
              </a:rPr>
              <a:t>18</a:t>
            </a:fld>
            <a:endParaRPr lang="en-US" dirty="0">
              <a:solidFill>
                <a:prstClr val="black">
                  <a:tint val="75000"/>
                </a:prstClr>
              </a:solidFill>
            </a:endParaRPr>
          </a:p>
        </p:txBody>
      </p:sp>
      <p:sp>
        <p:nvSpPr>
          <p:cNvPr id="7" name="Content Placeholder 2"/>
          <p:cNvSpPr txBox="1"/>
          <p:nvPr/>
        </p:nvSpPr>
        <p:spPr>
          <a:xfrm>
            <a:off x="10506" y="5658738"/>
            <a:ext cx="9128234" cy="1206498"/>
          </a:xfrm>
          <a:prstGeom prst="rect">
            <a:avLst/>
          </a:prstGeom>
          <a:solidFill>
            <a:schemeClr val="tx2">
              <a:lumMod val="20000"/>
              <a:lumOff val="80000"/>
            </a:schemeClr>
          </a:solidFill>
        </p:spPr>
        <p:txBody>
          <a:bodyPr vert="horz" lIns="91440" tIns="45720" rIns="91440" bIns="45720" rtlCol="0" anchor="ctr">
            <a:no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spcBef>
                <a:spcPts val="0"/>
              </a:spcBef>
              <a:buFont typeface="Arial" panose="020B0604020202020204"/>
              <a:buNone/>
            </a:pPr>
            <a:r>
              <a:rPr lang="en-US" sz="2800" b="1" dirty="0">
                <a:solidFill>
                  <a:prstClr val="black"/>
                </a:solidFill>
              </a:rPr>
              <a:t>Class Exercise:</a:t>
            </a:r>
            <a:r>
              <a:rPr lang="en-US" sz="2800" dirty="0">
                <a:solidFill>
                  <a:prstClr val="black"/>
                </a:solidFill>
              </a:rPr>
              <a:t> </a:t>
            </a:r>
          </a:p>
          <a:p>
            <a:pPr marL="0" indent="0" algn="ctr">
              <a:spcBef>
                <a:spcPts val="0"/>
              </a:spcBef>
              <a:buFont typeface="Arial" panose="020B0604020202020204"/>
              <a:buNone/>
            </a:pPr>
            <a:r>
              <a:rPr lang="en-US" sz="2800" dirty="0">
                <a:solidFill>
                  <a:prstClr val="black"/>
                </a:solidFill>
              </a:rPr>
              <a:t>You are hiring a Nurse In Charge for Neonatology.</a:t>
            </a:r>
            <a:r>
              <a:rPr lang="en-US" sz="2800" b="1" dirty="0">
                <a:solidFill>
                  <a:prstClr val="black"/>
                </a:solidFill>
              </a:rPr>
              <a:t> </a:t>
            </a:r>
          </a:p>
          <a:p>
            <a:pPr marL="0" indent="0" algn="ctr">
              <a:spcBef>
                <a:spcPts val="0"/>
              </a:spcBef>
              <a:buFont typeface="Arial" panose="020B0604020202020204"/>
              <a:buNone/>
            </a:pPr>
            <a:r>
              <a:rPr lang="en-US" sz="2800" b="1" dirty="0">
                <a:solidFill>
                  <a:prstClr val="black"/>
                </a:solidFill>
              </a:rPr>
              <a:t>Who should be involved?</a:t>
            </a:r>
            <a:endParaRPr lang="en-US" sz="2800"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2. Recruitment</a:t>
            </a:r>
          </a:p>
        </p:txBody>
      </p:sp>
      <p:sp>
        <p:nvSpPr>
          <p:cNvPr id="5" name="Content Placeholder 2"/>
          <p:cNvSpPr>
            <a:spLocks noGrp="1"/>
          </p:cNvSpPr>
          <p:nvPr>
            <p:ph idx="1"/>
          </p:nvPr>
        </p:nvSpPr>
        <p:spPr>
          <a:xfrm>
            <a:off x="23448" y="1238739"/>
            <a:ext cx="9156700" cy="5194299"/>
          </a:xfrm>
        </p:spPr>
        <p:txBody>
          <a:bodyPr>
            <a:noAutofit/>
          </a:bodyPr>
          <a:lstStyle/>
          <a:p>
            <a:pPr marL="0" indent="0" defTabSz="914400" fontAlgn="base">
              <a:spcAft>
                <a:spcPct val="0"/>
              </a:spcAft>
              <a:buNone/>
              <a:defRPr/>
            </a:pPr>
            <a:r>
              <a:rPr lang="en-US" sz="2800" b="1" dirty="0"/>
              <a:t>What is needed for good recruitment?</a:t>
            </a:r>
            <a:br>
              <a:rPr lang="en-US" sz="2400" b="1" dirty="0"/>
            </a:br>
            <a:endParaRPr lang="en-US" sz="2400" b="1" dirty="0"/>
          </a:p>
          <a:p>
            <a:pPr marL="0" indent="0" defTabSz="914400" fontAlgn="base">
              <a:spcAft>
                <a:spcPct val="0"/>
              </a:spcAft>
              <a:buNone/>
              <a:defRPr/>
            </a:pPr>
            <a:r>
              <a:rPr lang="en-US" sz="1400" dirty="0"/>
              <a:t> </a:t>
            </a:r>
            <a:r>
              <a:rPr lang="en-US" sz="2800" b="1" dirty="0"/>
              <a:t>What</a:t>
            </a:r>
            <a:r>
              <a:rPr lang="en-US" sz="2800" dirty="0"/>
              <a:t> should be known</a:t>
            </a:r>
          </a:p>
          <a:p>
            <a:pPr lvl="1" defTabSz="914400" fontAlgn="base">
              <a:spcAft>
                <a:spcPct val="0"/>
              </a:spcAft>
              <a:buFont typeface="Arial" panose="020B0604020202020204" pitchFamily="34" charset="0"/>
              <a:buChar char="•"/>
              <a:defRPr/>
            </a:pPr>
            <a:r>
              <a:rPr lang="en-US" sz="2400" dirty="0"/>
              <a:t>Job title</a:t>
            </a:r>
          </a:p>
          <a:p>
            <a:pPr lvl="1" defTabSz="914400" fontAlgn="base">
              <a:spcAft>
                <a:spcPct val="0"/>
              </a:spcAft>
              <a:buFont typeface="Arial" panose="020B0604020202020204" pitchFamily="34" charset="0"/>
              <a:buChar char="•"/>
              <a:defRPr/>
            </a:pPr>
            <a:r>
              <a:rPr lang="en-US" sz="2400" dirty="0"/>
              <a:t>Job description of role and major functions (Terms of Reference)</a:t>
            </a:r>
          </a:p>
          <a:p>
            <a:pPr lvl="1" defTabSz="914400" fontAlgn="base">
              <a:spcAft>
                <a:spcPct val="0"/>
              </a:spcAft>
              <a:buFont typeface="Arial" panose="020B0604020202020204" pitchFamily="34" charset="0"/>
              <a:buChar char="•"/>
              <a:defRPr/>
            </a:pPr>
            <a:r>
              <a:rPr lang="en-US" sz="2400" dirty="0"/>
              <a:t>Qualifications</a:t>
            </a:r>
          </a:p>
          <a:p>
            <a:pPr lvl="2" defTabSz="914400" fontAlgn="base">
              <a:spcAft>
                <a:spcPct val="0"/>
              </a:spcAft>
              <a:buFont typeface="Arial" panose="020B0604020202020204" pitchFamily="34" charset="0"/>
              <a:buChar char="•"/>
              <a:defRPr/>
            </a:pPr>
            <a:r>
              <a:rPr lang="en-US" dirty="0"/>
              <a:t>education, work experience, other credentials/licenses</a:t>
            </a:r>
          </a:p>
          <a:p>
            <a:pPr lvl="1" defTabSz="914400" fontAlgn="base">
              <a:spcAft>
                <a:spcPct val="0"/>
              </a:spcAft>
              <a:buFont typeface="Arial" panose="020B0604020202020204" pitchFamily="34" charset="0"/>
              <a:buChar char="•"/>
              <a:defRPr/>
            </a:pPr>
            <a:r>
              <a:rPr lang="en-US" sz="2400" dirty="0"/>
              <a:t>Pay and benefits</a:t>
            </a:r>
          </a:p>
          <a:p>
            <a:pPr lvl="1" defTabSz="914400" fontAlgn="base">
              <a:spcAft>
                <a:spcPct val="0"/>
              </a:spcAft>
              <a:buFont typeface="Arial" panose="020B0604020202020204" pitchFamily="34" charset="0"/>
              <a:buChar char="•"/>
              <a:defRPr/>
            </a:pPr>
            <a:r>
              <a:rPr lang="en-US" sz="2400" dirty="0"/>
              <a:t>Schedule </a:t>
            </a:r>
          </a:p>
          <a:p>
            <a:pPr lvl="2" defTabSz="914400" fontAlgn="base">
              <a:spcAft>
                <a:spcPct val="0"/>
              </a:spcAft>
              <a:buFont typeface="Arial" panose="020B0604020202020204" pitchFamily="34" charset="0"/>
              <a:buChar char="•"/>
              <a:defRPr/>
            </a:pPr>
            <a:r>
              <a:rPr lang="en-US" dirty="0"/>
              <a:t>When must they be at work? How many hours each week? What days?</a:t>
            </a:r>
          </a:p>
        </p:txBody>
      </p:sp>
      <p:sp>
        <p:nvSpPr>
          <p:cNvPr id="3" name="Slide Number Placeholder 2"/>
          <p:cNvSpPr>
            <a:spLocks noGrp="1"/>
          </p:cNvSpPr>
          <p:nvPr>
            <p:ph type="sldNum" sz="quarter" idx="12"/>
          </p:nvPr>
        </p:nvSpPr>
        <p:spPr/>
        <p:txBody>
          <a:bodyPr/>
          <a:lstStyle/>
          <a:p>
            <a:fld id="{36A94550-0172-2A4E-BEEB-6BE00EB0E97C}" type="slidenum">
              <a:rPr lang="en-US" smtClean="0">
                <a:solidFill>
                  <a:prstClr val="black">
                    <a:tint val="75000"/>
                  </a:prstClr>
                </a:solidFill>
              </a:rPr>
              <a:t>19</a:t>
            </a:fld>
            <a:endParaRPr lang="en-US" dirty="0">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2. Recruitment</a:t>
            </a:r>
          </a:p>
        </p:txBody>
      </p:sp>
      <p:sp>
        <p:nvSpPr>
          <p:cNvPr id="5" name="Content Placeholder 2"/>
          <p:cNvSpPr>
            <a:spLocks noGrp="1"/>
          </p:cNvSpPr>
          <p:nvPr>
            <p:ph idx="1"/>
          </p:nvPr>
        </p:nvSpPr>
        <p:spPr>
          <a:xfrm>
            <a:off x="133810" y="1238739"/>
            <a:ext cx="8947131" cy="5194299"/>
          </a:xfrm>
        </p:spPr>
        <p:txBody>
          <a:bodyPr>
            <a:noAutofit/>
          </a:bodyPr>
          <a:lstStyle/>
          <a:p>
            <a:pPr marL="0" indent="0" defTabSz="914400" fontAlgn="base">
              <a:spcAft>
                <a:spcPct val="0"/>
              </a:spcAft>
              <a:buNone/>
              <a:defRPr/>
            </a:pPr>
            <a:r>
              <a:rPr lang="en-US" sz="2800" b="1" dirty="0"/>
              <a:t>What is needed for good recruitment?</a:t>
            </a:r>
            <a:br>
              <a:rPr lang="en-US" sz="2800" b="1" dirty="0"/>
            </a:br>
            <a:endParaRPr lang="en-US" sz="2800" b="1" dirty="0"/>
          </a:p>
          <a:p>
            <a:pPr marL="0" indent="0" defTabSz="914400" fontAlgn="base">
              <a:spcAft>
                <a:spcPct val="0"/>
              </a:spcAft>
              <a:buNone/>
              <a:defRPr/>
            </a:pPr>
            <a:r>
              <a:rPr lang="en-US" sz="2800" b="1" dirty="0"/>
              <a:t>How </a:t>
            </a:r>
            <a:r>
              <a:rPr lang="en-US" sz="2800" dirty="0"/>
              <a:t>do you select?</a:t>
            </a:r>
            <a:endParaRPr lang="en-US" sz="2800" b="1" dirty="0"/>
          </a:p>
          <a:p>
            <a:pPr lvl="1" defTabSz="914400" fontAlgn="base">
              <a:spcAft>
                <a:spcPct val="0"/>
              </a:spcAft>
              <a:buFont typeface="Arial" panose="020B0604020202020204" pitchFamily="34" charset="0"/>
              <a:buChar char="•"/>
              <a:defRPr/>
            </a:pPr>
            <a:r>
              <a:rPr lang="en-US" sz="2400" dirty="0"/>
              <a:t>Use clear and standard interview and/or testing process</a:t>
            </a:r>
          </a:p>
          <a:p>
            <a:pPr lvl="2" defTabSz="914400" fontAlgn="base">
              <a:spcAft>
                <a:spcPct val="0"/>
              </a:spcAft>
              <a:buFont typeface="Arial" panose="020B0604020202020204" pitchFamily="34" charset="0"/>
              <a:buChar char="•"/>
              <a:defRPr/>
            </a:pPr>
            <a:r>
              <a:rPr lang="en-US" dirty="0"/>
              <a:t>Interviews should be </a:t>
            </a:r>
            <a:r>
              <a:rPr lang="en-US" u="sng" dirty="0"/>
              <a:t>behaviorally</a:t>
            </a:r>
            <a:r>
              <a:rPr lang="en-US" dirty="0"/>
              <a:t> based</a:t>
            </a:r>
          </a:p>
          <a:p>
            <a:pPr lvl="1" defTabSz="914400" fontAlgn="base">
              <a:spcAft>
                <a:spcPct val="0"/>
              </a:spcAft>
              <a:buFont typeface="Arial" panose="020B0604020202020204" pitchFamily="34" charset="0"/>
              <a:buChar char="•"/>
              <a:defRPr/>
            </a:pPr>
            <a:r>
              <a:rPr lang="en-US" sz="2400" dirty="0"/>
              <a:t>Use clear and standard decision-making criteria</a:t>
            </a:r>
          </a:p>
        </p:txBody>
      </p:sp>
      <p:sp>
        <p:nvSpPr>
          <p:cNvPr id="3" name="Slide Number Placeholder 2"/>
          <p:cNvSpPr>
            <a:spLocks noGrp="1"/>
          </p:cNvSpPr>
          <p:nvPr>
            <p:ph type="sldNum" sz="quarter" idx="12"/>
          </p:nvPr>
        </p:nvSpPr>
        <p:spPr/>
        <p:txBody>
          <a:bodyPr/>
          <a:lstStyle/>
          <a:p>
            <a:fld id="{36A94550-0172-2A4E-BEEB-6BE00EB0E97C}" type="slidenum">
              <a:rPr lang="en-US" smtClean="0">
                <a:solidFill>
                  <a:prstClr val="black">
                    <a:tint val="75000"/>
                  </a:prstClr>
                </a:solidFill>
              </a:rPr>
              <a:t>20</a:t>
            </a:fld>
            <a:endParaRPr lang="en-US" dirty="0">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2. Recruitment</a:t>
            </a:r>
          </a:p>
        </p:txBody>
      </p:sp>
      <p:sp>
        <p:nvSpPr>
          <p:cNvPr id="5" name="Content Placeholder 2"/>
          <p:cNvSpPr>
            <a:spLocks noGrp="1"/>
          </p:cNvSpPr>
          <p:nvPr>
            <p:ph idx="1"/>
          </p:nvPr>
        </p:nvSpPr>
        <p:spPr>
          <a:xfrm>
            <a:off x="3502" y="1254671"/>
            <a:ext cx="9156700" cy="711199"/>
          </a:xfrm>
        </p:spPr>
        <p:txBody>
          <a:bodyPr>
            <a:noAutofit/>
          </a:bodyPr>
          <a:lstStyle/>
          <a:p>
            <a:pPr marL="0" indent="0" defTabSz="914400" fontAlgn="base">
              <a:spcAft>
                <a:spcPct val="0"/>
              </a:spcAft>
              <a:buNone/>
              <a:defRPr/>
            </a:pPr>
            <a:r>
              <a:rPr lang="en-US" sz="2800" b="1" dirty="0"/>
              <a:t>Behavioral Interviewing</a:t>
            </a:r>
          </a:p>
        </p:txBody>
      </p:sp>
      <p:sp>
        <p:nvSpPr>
          <p:cNvPr id="4" name="TextBox 3"/>
          <p:cNvSpPr txBox="1"/>
          <p:nvPr/>
        </p:nvSpPr>
        <p:spPr>
          <a:xfrm>
            <a:off x="160224" y="1841330"/>
            <a:ext cx="8879110" cy="5432256"/>
          </a:xfrm>
          <a:prstGeom prst="rect">
            <a:avLst/>
          </a:prstGeom>
          <a:noFill/>
        </p:spPr>
        <p:txBody>
          <a:bodyPr wrap="square" rtlCol="0">
            <a:spAutoFit/>
          </a:bodyPr>
          <a:lstStyle/>
          <a:p>
            <a:pPr fontAlgn="base">
              <a:spcAft>
                <a:spcPct val="0"/>
              </a:spcAft>
              <a:defRPr/>
            </a:pPr>
            <a:r>
              <a:rPr lang="en-US" sz="2800" b="1" dirty="0">
                <a:solidFill>
                  <a:prstClr val="black"/>
                </a:solidFill>
              </a:rPr>
              <a:t>Definition: </a:t>
            </a:r>
          </a:p>
          <a:p>
            <a:pPr fontAlgn="base">
              <a:lnSpc>
                <a:spcPct val="150000"/>
              </a:lnSpc>
              <a:spcAft>
                <a:spcPct val="0"/>
              </a:spcAft>
              <a:defRPr/>
            </a:pPr>
            <a:r>
              <a:rPr lang="en-US" sz="2400" dirty="0">
                <a:solidFill>
                  <a:prstClr val="black"/>
                </a:solidFill>
              </a:rPr>
              <a:t>A job interviewing technique where the candidate is asked to describe past behaviors in order to help the interviewing panel to evaluate if the candidate is good for the position. </a:t>
            </a:r>
            <a:br>
              <a:rPr lang="en-US" sz="2400" dirty="0">
                <a:solidFill>
                  <a:prstClr val="black"/>
                </a:solidFill>
              </a:rPr>
            </a:br>
            <a:endParaRPr lang="en-US" sz="1000" dirty="0">
              <a:solidFill>
                <a:prstClr val="black"/>
              </a:solidFill>
            </a:endParaRPr>
          </a:p>
          <a:p>
            <a:pPr fontAlgn="base">
              <a:spcAft>
                <a:spcPct val="0"/>
              </a:spcAft>
              <a:defRPr/>
            </a:pPr>
            <a:r>
              <a:rPr lang="en-US" sz="2800" b="1" dirty="0">
                <a:solidFill>
                  <a:prstClr val="black"/>
                </a:solidFill>
              </a:rPr>
              <a:t>Why important?</a:t>
            </a:r>
            <a:endParaRPr lang="en-US" sz="2400" dirty="0">
              <a:solidFill>
                <a:prstClr val="black"/>
              </a:solidFill>
            </a:endParaRPr>
          </a:p>
          <a:p>
            <a:pPr marL="342900" indent="-342900" fontAlgn="base">
              <a:lnSpc>
                <a:spcPct val="150000"/>
              </a:lnSpc>
              <a:spcAft>
                <a:spcPct val="0"/>
              </a:spcAft>
              <a:buFont typeface="Arial" panose="020B0604020202020204" pitchFamily="34" charset="0"/>
              <a:buChar char="•"/>
              <a:defRPr/>
            </a:pPr>
            <a:r>
              <a:rPr lang="en-US" sz="2400" dirty="0">
                <a:solidFill>
                  <a:prstClr val="black"/>
                </a:solidFill>
              </a:rPr>
              <a:t>It helps match the candidate’s qualifications and interests with the mission, needs of the job, culture, values and workplace practices</a:t>
            </a:r>
          </a:p>
          <a:p>
            <a:pPr marL="342900" indent="-342900" fontAlgn="base">
              <a:lnSpc>
                <a:spcPct val="150000"/>
              </a:lnSpc>
              <a:spcAft>
                <a:spcPct val="0"/>
              </a:spcAft>
              <a:buFont typeface="Arial" panose="020B0604020202020204" pitchFamily="34" charset="0"/>
              <a:buChar char="•"/>
              <a:defRPr/>
            </a:pPr>
            <a:r>
              <a:rPr lang="en-US" sz="2400" dirty="0">
                <a:solidFill>
                  <a:prstClr val="black"/>
                </a:solidFill>
              </a:rPr>
              <a:t>It gives a higher chance of successfully matching the right person to the right job</a:t>
            </a:r>
          </a:p>
          <a:p>
            <a:pPr defTabSz="457200"/>
            <a:endParaRPr lang="en-US" sz="2400" dirty="0">
              <a:solidFill>
                <a:prstClr val="black"/>
              </a:solidFill>
            </a:endParaRPr>
          </a:p>
        </p:txBody>
      </p:sp>
      <p:sp>
        <p:nvSpPr>
          <p:cNvPr id="3" name="Slide Number Placeholder 2"/>
          <p:cNvSpPr>
            <a:spLocks noGrp="1"/>
          </p:cNvSpPr>
          <p:nvPr>
            <p:ph type="sldNum" sz="quarter" idx="12"/>
          </p:nvPr>
        </p:nvSpPr>
        <p:spPr/>
        <p:txBody>
          <a:bodyPr/>
          <a:lstStyle/>
          <a:p>
            <a:fld id="{36A94550-0172-2A4E-BEEB-6BE00EB0E97C}" type="slidenum">
              <a:rPr lang="en-US" smtClean="0">
                <a:solidFill>
                  <a:prstClr val="black">
                    <a:tint val="75000"/>
                  </a:prstClr>
                </a:solidFill>
              </a:rPr>
              <a:t>21</a:t>
            </a:fld>
            <a:endParaRPr lang="en-US" dirty="0">
              <a:solidFill>
                <a:prstClr val="black">
                  <a:tint val="75000"/>
                </a:prstClr>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2. Recruitment</a:t>
            </a:r>
          </a:p>
        </p:txBody>
      </p:sp>
      <p:sp>
        <p:nvSpPr>
          <p:cNvPr id="5" name="Content Placeholder 2"/>
          <p:cNvSpPr>
            <a:spLocks noGrp="1"/>
          </p:cNvSpPr>
          <p:nvPr>
            <p:ph idx="1"/>
          </p:nvPr>
        </p:nvSpPr>
        <p:spPr>
          <a:xfrm>
            <a:off x="23448" y="1149839"/>
            <a:ext cx="9156700" cy="5571636"/>
          </a:xfrm>
        </p:spPr>
        <p:txBody>
          <a:bodyPr>
            <a:noAutofit/>
          </a:bodyPr>
          <a:lstStyle/>
          <a:p>
            <a:pPr marL="0" indent="0" defTabSz="914400" fontAlgn="base">
              <a:spcAft>
                <a:spcPct val="0"/>
              </a:spcAft>
              <a:buNone/>
              <a:defRPr/>
            </a:pPr>
            <a:r>
              <a:rPr lang="en-US" sz="2800" b="1" dirty="0"/>
              <a:t>The core components of a job description </a:t>
            </a:r>
          </a:p>
          <a:p>
            <a:pPr defTabSz="914400" fontAlgn="base">
              <a:lnSpc>
                <a:spcPct val="150000"/>
              </a:lnSpc>
              <a:spcBef>
                <a:spcPts val="0"/>
              </a:spcBef>
              <a:spcAft>
                <a:spcPct val="0"/>
              </a:spcAft>
              <a:buFont typeface="Arial" panose="020B0604020202020204" pitchFamily="34" charset="0"/>
              <a:buChar char="•"/>
              <a:defRPr/>
            </a:pPr>
            <a:r>
              <a:rPr lang="en-US" sz="2400" b="1" dirty="0"/>
              <a:t>Job Title </a:t>
            </a:r>
            <a:r>
              <a:rPr lang="en-US" sz="2400" dirty="0"/>
              <a:t>(name of position)</a:t>
            </a:r>
          </a:p>
          <a:p>
            <a:pPr defTabSz="914400" fontAlgn="base">
              <a:lnSpc>
                <a:spcPct val="150000"/>
              </a:lnSpc>
              <a:spcBef>
                <a:spcPts val="0"/>
              </a:spcBef>
              <a:spcAft>
                <a:spcPct val="0"/>
              </a:spcAft>
              <a:buFont typeface="Arial" panose="020B0604020202020204" pitchFamily="34" charset="0"/>
              <a:buChar char="•"/>
              <a:defRPr/>
            </a:pPr>
            <a:r>
              <a:rPr lang="en-US" sz="2400" b="1" dirty="0"/>
              <a:t>Brief Description of Role</a:t>
            </a:r>
          </a:p>
          <a:p>
            <a:pPr defTabSz="914400" fontAlgn="base">
              <a:lnSpc>
                <a:spcPct val="150000"/>
              </a:lnSpc>
              <a:spcBef>
                <a:spcPts val="0"/>
              </a:spcBef>
              <a:spcAft>
                <a:spcPct val="0"/>
              </a:spcAft>
              <a:buFont typeface="Arial" panose="020B0604020202020204" pitchFamily="34" charset="0"/>
              <a:buChar char="•"/>
              <a:defRPr/>
            </a:pPr>
            <a:r>
              <a:rPr lang="en-US" sz="2400" b="1" dirty="0"/>
              <a:t>Key Functions </a:t>
            </a:r>
            <a:r>
              <a:rPr lang="en-US" sz="2400" dirty="0"/>
              <a:t>(responsibilities and activities)</a:t>
            </a:r>
          </a:p>
          <a:p>
            <a:pPr defTabSz="914400" fontAlgn="base">
              <a:lnSpc>
                <a:spcPct val="150000"/>
              </a:lnSpc>
              <a:spcBef>
                <a:spcPts val="0"/>
              </a:spcBef>
              <a:spcAft>
                <a:spcPct val="0"/>
              </a:spcAft>
              <a:buFont typeface="Arial" panose="020B0604020202020204" pitchFamily="34" charset="0"/>
              <a:buChar char="•"/>
              <a:defRPr/>
            </a:pPr>
            <a:r>
              <a:rPr lang="en-US" sz="2400" b="1" dirty="0"/>
              <a:t>Reporting relationship </a:t>
            </a:r>
            <a:r>
              <a:rPr lang="en-US" sz="2400" dirty="0"/>
              <a:t>(to whom the role reports)</a:t>
            </a:r>
          </a:p>
          <a:p>
            <a:pPr defTabSz="914400" fontAlgn="base">
              <a:lnSpc>
                <a:spcPct val="150000"/>
              </a:lnSpc>
              <a:spcBef>
                <a:spcPts val="0"/>
              </a:spcBef>
              <a:spcAft>
                <a:spcPct val="0"/>
              </a:spcAft>
              <a:buFont typeface="Arial" panose="020B0604020202020204" pitchFamily="34" charset="0"/>
              <a:buChar char="•"/>
              <a:defRPr/>
            </a:pPr>
            <a:r>
              <a:rPr lang="en-US" sz="2400" b="1" dirty="0"/>
              <a:t>Qualifications </a:t>
            </a:r>
            <a:r>
              <a:rPr lang="en-US" sz="2400" dirty="0"/>
              <a:t>(required and desired educational degree(s), licenses, certificates, years of experience)</a:t>
            </a:r>
          </a:p>
          <a:p>
            <a:pPr defTabSz="914400" fontAlgn="base">
              <a:lnSpc>
                <a:spcPct val="150000"/>
              </a:lnSpc>
              <a:spcBef>
                <a:spcPts val="0"/>
              </a:spcBef>
              <a:spcAft>
                <a:spcPct val="0"/>
              </a:spcAft>
              <a:buFont typeface="Arial" panose="020B0604020202020204" pitchFamily="34" charset="0"/>
              <a:buChar char="•"/>
              <a:defRPr/>
            </a:pPr>
            <a:r>
              <a:rPr lang="en-US" sz="2400" b="1" dirty="0"/>
              <a:t>Work hours </a:t>
            </a:r>
            <a:r>
              <a:rPr lang="en-US" sz="2400" dirty="0"/>
              <a:t>(full-time? part-time? weekdays? weekends? nights?) </a:t>
            </a:r>
          </a:p>
          <a:p>
            <a:pPr defTabSz="914400" fontAlgn="base">
              <a:lnSpc>
                <a:spcPct val="150000"/>
              </a:lnSpc>
              <a:spcBef>
                <a:spcPts val="0"/>
              </a:spcBef>
              <a:spcAft>
                <a:spcPct val="0"/>
              </a:spcAft>
              <a:buFont typeface="Arial" panose="020B0604020202020204" pitchFamily="34" charset="0"/>
              <a:buChar char="•"/>
              <a:defRPr/>
            </a:pPr>
            <a:r>
              <a:rPr lang="en-US" sz="2400" b="1" dirty="0"/>
              <a:t>Work location and any job hazards</a:t>
            </a:r>
          </a:p>
          <a:p>
            <a:pPr defTabSz="914400" fontAlgn="base">
              <a:lnSpc>
                <a:spcPct val="150000"/>
              </a:lnSpc>
              <a:spcBef>
                <a:spcPts val="0"/>
              </a:spcBef>
              <a:spcAft>
                <a:spcPct val="0"/>
              </a:spcAft>
              <a:buFont typeface="Arial" panose="020B0604020202020204" pitchFamily="34" charset="0"/>
              <a:buChar char="•"/>
              <a:defRPr/>
            </a:pPr>
            <a:r>
              <a:rPr lang="en-US" sz="2400" b="1" dirty="0"/>
              <a:t>Compensation range</a:t>
            </a:r>
          </a:p>
        </p:txBody>
      </p:sp>
      <p:sp>
        <p:nvSpPr>
          <p:cNvPr id="3" name="Slide Number Placeholder 2"/>
          <p:cNvSpPr>
            <a:spLocks noGrp="1"/>
          </p:cNvSpPr>
          <p:nvPr>
            <p:ph type="sldNum" sz="quarter" idx="12"/>
          </p:nvPr>
        </p:nvSpPr>
        <p:spPr/>
        <p:txBody>
          <a:bodyPr/>
          <a:lstStyle/>
          <a:p>
            <a:fld id="{36A94550-0172-2A4E-BEEB-6BE00EB0E97C}" type="slidenum">
              <a:rPr lang="en-US" smtClean="0">
                <a:solidFill>
                  <a:prstClr val="black">
                    <a:tint val="75000"/>
                  </a:prstClr>
                </a:solidFill>
              </a:rPr>
              <a:t>22</a:t>
            </a:fld>
            <a:endParaRPr lang="en-US" dirty="0">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0744" y="1301178"/>
            <a:ext cx="9090550" cy="5064663"/>
          </a:xfrm>
        </p:spPr>
        <p:txBody>
          <a:bodyPr>
            <a:noAutofit/>
          </a:bodyPr>
          <a:lstStyle/>
          <a:p>
            <a:pPr marL="0" indent="0">
              <a:spcBef>
                <a:spcPts val="0"/>
              </a:spcBef>
              <a:buNone/>
            </a:pPr>
            <a:r>
              <a:rPr lang="en-US" sz="2800" b="1" dirty="0"/>
              <a:t>Compensation</a:t>
            </a:r>
          </a:p>
          <a:p>
            <a:pPr marL="0" indent="0">
              <a:spcBef>
                <a:spcPts val="0"/>
              </a:spcBef>
              <a:buNone/>
            </a:pPr>
            <a:r>
              <a:rPr lang="en-US" sz="2800" b="1" dirty="0"/>
              <a:t>Definition</a:t>
            </a:r>
            <a:r>
              <a:rPr lang="en-US" sz="2800" dirty="0"/>
              <a:t>: </a:t>
            </a:r>
          </a:p>
          <a:p>
            <a:pPr marL="0" indent="0">
              <a:buNone/>
            </a:pPr>
            <a:r>
              <a:rPr lang="en-US" sz="2400" dirty="0"/>
              <a:t>The pay + benefits that the employee receives from employer.</a:t>
            </a:r>
            <a:br>
              <a:rPr lang="en-US" sz="2400" dirty="0"/>
            </a:br>
            <a:endParaRPr lang="en-US" sz="2400" dirty="0"/>
          </a:p>
          <a:p>
            <a:pPr lvl="1"/>
            <a:r>
              <a:rPr lang="en-US" sz="2400" b="1" dirty="0"/>
              <a:t>Pay</a:t>
            </a:r>
            <a:r>
              <a:rPr lang="en-US" sz="2400" dirty="0"/>
              <a:t>:  cash payments to employees</a:t>
            </a:r>
            <a:br>
              <a:rPr lang="en-US" sz="2400" dirty="0"/>
            </a:br>
            <a:br>
              <a:rPr lang="en-US" sz="2400" dirty="0"/>
            </a:br>
            <a:r>
              <a:rPr lang="en-US" sz="2400" i="1" dirty="0"/>
              <a:t>Ex:  salary, bonus, etc.</a:t>
            </a:r>
            <a:br>
              <a:rPr lang="en-US" sz="2400" dirty="0"/>
            </a:br>
            <a:endParaRPr lang="en-US" sz="2400" dirty="0"/>
          </a:p>
          <a:p>
            <a:pPr lvl="1"/>
            <a:r>
              <a:rPr lang="en-US" sz="2400" b="1" dirty="0"/>
              <a:t>Benefits</a:t>
            </a:r>
            <a:r>
              <a:rPr lang="en-US" sz="2400" dirty="0"/>
              <a:t>: services or time that the organization pays for</a:t>
            </a:r>
            <a:br>
              <a:rPr lang="en-US" sz="2400" dirty="0"/>
            </a:br>
            <a:br>
              <a:rPr lang="en-US" sz="2400" dirty="0"/>
            </a:br>
            <a:r>
              <a:rPr lang="en-US" sz="2400" i="1" dirty="0"/>
              <a:t>Ex: health insurance, paid annual leave, maternity leave, bereavement leave, food, uniforms, training</a:t>
            </a:r>
            <a:endParaRPr lang="en-US" sz="2400" dirty="0"/>
          </a:p>
        </p:txBody>
      </p:sp>
      <p:sp>
        <p:nvSpPr>
          <p:cNvPr id="4"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2. Recruitment</a:t>
            </a:r>
          </a:p>
        </p:txBody>
      </p:sp>
      <p:sp>
        <p:nvSpPr>
          <p:cNvPr id="2" name="Slide Number Placeholder 1"/>
          <p:cNvSpPr>
            <a:spLocks noGrp="1"/>
          </p:cNvSpPr>
          <p:nvPr>
            <p:ph type="sldNum" sz="quarter" idx="12"/>
          </p:nvPr>
        </p:nvSpPr>
        <p:spPr/>
        <p:txBody>
          <a:bodyPr/>
          <a:lstStyle/>
          <a:p>
            <a:fld id="{36A94550-0172-2A4E-BEEB-6BE00EB0E97C}" type="slidenum">
              <a:rPr lang="en-US" smtClean="0">
                <a:solidFill>
                  <a:prstClr val="black">
                    <a:tint val="75000"/>
                  </a:prstClr>
                </a:solidFill>
              </a:rPr>
              <a:t>23</a:t>
            </a:fld>
            <a:endParaRPr lang="en-US" dirty="0">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04" y="2526537"/>
            <a:ext cx="9144000" cy="1188720"/>
          </a:xfrm>
          <a:solidFill>
            <a:schemeClr val="tx2">
              <a:lumMod val="50000"/>
            </a:schemeClr>
          </a:solidFill>
        </p:spPr>
        <p:txBody>
          <a:bodyPr/>
          <a:lstStyle/>
          <a:p>
            <a:pPr algn="ctr"/>
            <a:r>
              <a:rPr lang="en-US" dirty="0">
                <a:solidFill>
                  <a:srgbClr val="FFFFFF"/>
                </a:solidFill>
              </a:rPr>
              <a:t>3. orientation</a:t>
            </a:r>
          </a:p>
        </p:txBody>
      </p:sp>
      <p:sp>
        <p:nvSpPr>
          <p:cNvPr id="3" name="Text Placeholder 2"/>
          <p:cNvSpPr>
            <a:spLocks noGrp="1"/>
          </p:cNvSpPr>
          <p:nvPr>
            <p:ph type="body" idx="1"/>
          </p:nvPr>
        </p:nvSpPr>
        <p:spPr>
          <a:xfrm>
            <a:off x="675015" y="2954011"/>
            <a:ext cx="7772400" cy="1500187"/>
          </a:xfrm>
        </p:spPr>
        <p:txBody>
          <a:bodyPr>
            <a:normAutofit/>
          </a:bodyPr>
          <a:lstStyle/>
          <a:p>
            <a:r>
              <a:rPr lang="en-US" sz="2800" dirty="0">
                <a:solidFill>
                  <a:srgbClr val="FFFFFF"/>
                </a:solidFill>
              </a:rPr>
              <a:t>1. Staff (Workforce) Planning</a:t>
            </a:r>
            <a:endParaRPr lang="en-US" sz="2800" dirty="0"/>
          </a:p>
        </p:txBody>
      </p:sp>
      <p:sp>
        <p:nvSpPr>
          <p:cNvPr id="5" name="Slide Number Placeholder 4"/>
          <p:cNvSpPr>
            <a:spLocks noGrp="1"/>
          </p:cNvSpPr>
          <p:nvPr>
            <p:ph type="sldNum" sz="quarter" idx="12"/>
          </p:nvPr>
        </p:nvSpPr>
        <p:spPr/>
        <p:txBody>
          <a:bodyPr/>
          <a:lstStyle/>
          <a:p>
            <a:fld id="{36A94550-0172-2A4E-BEEB-6BE00EB0E97C}" type="slidenum">
              <a:rPr lang="en-US" smtClean="0">
                <a:solidFill>
                  <a:prstClr val="black">
                    <a:tint val="75000"/>
                  </a:prstClr>
                </a:solidFill>
              </a:rPr>
              <a:t>24</a:t>
            </a:fld>
            <a:endParaRPr lang="en-US" dirty="0">
              <a:solidFill>
                <a:prstClr val="black">
                  <a:tint val="75000"/>
                </a:prstClr>
              </a:solidFill>
            </a:endParaRPr>
          </a:p>
        </p:txBody>
      </p:sp>
      <p:sp>
        <p:nvSpPr>
          <p:cNvPr id="6" name="Text Placeholder 2"/>
          <p:cNvSpPr txBox="1"/>
          <p:nvPr/>
        </p:nvSpPr>
        <p:spPr>
          <a:xfrm>
            <a:off x="627717" y="2906713"/>
            <a:ext cx="7772400" cy="1500187"/>
          </a:xfrm>
          <a:prstGeom prst="rect">
            <a:avLst/>
          </a:prstGeom>
        </p:spPr>
        <p:txBody>
          <a:bodyPr vert="horz" lIns="91440" tIns="45720" rIns="91440" bIns="45720" rtlCol="0" anchor="b">
            <a:normAutofit/>
          </a:bodyPr>
          <a:lstStyle>
            <a:lvl1pPr marL="0" indent="0" algn="l"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1pPr>
            <a:lvl2pPr marL="457200" indent="0" algn="l" defTabSz="457200" rtl="0" eaLnBrk="1" latinLnBrk="0" hangingPunct="1">
              <a:spcBef>
                <a:spcPct val="20000"/>
              </a:spcBef>
              <a:buFont typeface="Arial" panose="020B0604020202020204"/>
              <a:buNone/>
              <a:defRPr sz="1800" kern="1200">
                <a:solidFill>
                  <a:schemeClr val="tx1">
                    <a:tint val="75000"/>
                  </a:schemeClr>
                </a:solidFill>
                <a:latin typeface="+mn-lt"/>
                <a:ea typeface="+mn-ea"/>
                <a:cs typeface="+mn-cs"/>
              </a:defRPr>
            </a:lvl2pPr>
            <a:lvl3pPr marL="914400" indent="0" algn="l" defTabSz="457200" rtl="0" eaLnBrk="1" latinLnBrk="0" hangingPunct="1">
              <a:spcBef>
                <a:spcPct val="20000"/>
              </a:spcBef>
              <a:buFont typeface="Arial" panose="020B0604020202020204"/>
              <a:buNone/>
              <a:defRPr sz="1600" kern="1200">
                <a:solidFill>
                  <a:schemeClr val="tx1">
                    <a:tint val="75000"/>
                  </a:schemeClr>
                </a:solidFill>
                <a:latin typeface="+mn-lt"/>
                <a:ea typeface="+mn-ea"/>
                <a:cs typeface="+mn-cs"/>
              </a:defRPr>
            </a:lvl3pPr>
            <a:lvl4pPr marL="1371600" indent="0" algn="l" defTabSz="457200" rtl="0" eaLnBrk="1" latinLnBrk="0" hangingPunct="1">
              <a:spcBef>
                <a:spcPct val="20000"/>
              </a:spcBef>
              <a:buFont typeface="Arial" panose="020B0604020202020204"/>
              <a:buNone/>
              <a:defRPr sz="1400" kern="1200">
                <a:solidFill>
                  <a:schemeClr val="tx1">
                    <a:tint val="75000"/>
                  </a:schemeClr>
                </a:solidFill>
                <a:latin typeface="+mn-lt"/>
                <a:ea typeface="+mn-ea"/>
                <a:cs typeface="+mn-cs"/>
              </a:defRPr>
            </a:lvl4pPr>
            <a:lvl5pPr marL="1828800" indent="0" algn="l" defTabSz="457200" rtl="0" eaLnBrk="1" latinLnBrk="0" hangingPunct="1">
              <a:spcBef>
                <a:spcPct val="20000"/>
              </a:spcBef>
              <a:buFont typeface="Arial" panose="020B0604020202020204"/>
              <a:buNone/>
              <a:defRPr sz="1400" kern="1200">
                <a:solidFill>
                  <a:schemeClr val="tx1">
                    <a:tint val="75000"/>
                  </a:schemeClr>
                </a:solidFill>
                <a:latin typeface="+mn-lt"/>
                <a:ea typeface="+mn-ea"/>
                <a:cs typeface="+mn-cs"/>
              </a:defRPr>
            </a:lvl5pPr>
            <a:lvl6pPr marL="2286000" indent="0" algn="l" defTabSz="457200" rtl="0" eaLnBrk="1" latinLnBrk="0" hangingPunct="1">
              <a:spcBef>
                <a:spcPct val="20000"/>
              </a:spcBef>
              <a:buFont typeface="Arial" panose="020B0604020202020204"/>
              <a:buNone/>
              <a:defRPr sz="1400" kern="1200">
                <a:solidFill>
                  <a:schemeClr val="tx1">
                    <a:tint val="75000"/>
                  </a:schemeClr>
                </a:solidFill>
                <a:latin typeface="+mn-lt"/>
                <a:ea typeface="+mn-ea"/>
                <a:cs typeface="+mn-cs"/>
              </a:defRPr>
            </a:lvl6pPr>
            <a:lvl7pPr marL="2743200" indent="0" algn="l" defTabSz="457200" rtl="0" eaLnBrk="1" latinLnBrk="0" hangingPunct="1">
              <a:spcBef>
                <a:spcPct val="20000"/>
              </a:spcBef>
              <a:buFont typeface="Arial" panose="020B0604020202020204"/>
              <a:buNone/>
              <a:defRPr sz="1400" kern="1200">
                <a:solidFill>
                  <a:schemeClr val="tx1">
                    <a:tint val="75000"/>
                  </a:schemeClr>
                </a:solidFill>
                <a:latin typeface="+mn-lt"/>
                <a:ea typeface="+mn-ea"/>
                <a:cs typeface="+mn-cs"/>
              </a:defRPr>
            </a:lvl7pPr>
            <a:lvl8pPr marL="3200400" indent="0" algn="l" defTabSz="457200" rtl="0" eaLnBrk="1" latinLnBrk="0" hangingPunct="1">
              <a:spcBef>
                <a:spcPct val="20000"/>
              </a:spcBef>
              <a:buFont typeface="Arial" panose="020B0604020202020204"/>
              <a:buNone/>
              <a:defRPr sz="1400" kern="1200">
                <a:solidFill>
                  <a:schemeClr val="tx1">
                    <a:tint val="75000"/>
                  </a:schemeClr>
                </a:solidFill>
                <a:latin typeface="+mn-lt"/>
                <a:ea typeface="+mn-ea"/>
                <a:cs typeface="+mn-cs"/>
              </a:defRPr>
            </a:lvl8pPr>
            <a:lvl9pPr marL="3657600" indent="0" algn="l" defTabSz="457200" rtl="0" eaLnBrk="1" latinLnBrk="0" hangingPunct="1">
              <a:spcBef>
                <a:spcPct val="20000"/>
              </a:spcBef>
              <a:buFont typeface="Arial" panose="020B0604020202020204"/>
              <a:buNone/>
              <a:defRPr sz="1400" kern="1200">
                <a:solidFill>
                  <a:schemeClr val="tx1">
                    <a:tint val="75000"/>
                  </a:schemeClr>
                </a:solidFill>
                <a:latin typeface="+mn-lt"/>
                <a:ea typeface="+mn-ea"/>
                <a:cs typeface="+mn-cs"/>
              </a:defRPr>
            </a:lvl9pPr>
          </a:lstStyle>
          <a:p>
            <a:r>
              <a:rPr lang="en-US" sz="2800" b="1" dirty="0">
                <a:solidFill>
                  <a:prstClr val="black">
                    <a:tint val="75000"/>
                  </a:prstClr>
                </a:solidFill>
              </a:rPr>
              <a:t>Basic Functions of Human Resource Management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3. Orientation</a:t>
            </a:r>
          </a:p>
        </p:txBody>
      </p:sp>
      <p:sp>
        <p:nvSpPr>
          <p:cNvPr id="3" name="Content Placeholder 2"/>
          <p:cNvSpPr>
            <a:spLocks noGrp="1"/>
          </p:cNvSpPr>
          <p:nvPr>
            <p:ph idx="1"/>
          </p:nvPr>
        </p:nvSpPr>
        <p:spPr>
          <a:xfrm>
            <a:off x="261004" y="1183284"/>
            <a:ext cx="8378497" cy="4787899"/>
          </a:xfrm>
        </p:spPr>
        <p:txBody>
          <a:bodyPr>
            <a:noAutofit/>
          </a:bodyPr>
          <a:lstStyle/>
          <a:p>
            <a:pPr marL="0" indent="0" defTabSz="914400" fontAlgn="base">
              <a:lnSpc>
                <a:spcPct val="170000"/>
              </a:lnSpc>
              <a:spcAft>
                <a:spcPct val="0"/>
              </a:spcAft>
              <a:buNone/>
              <a:defRPr/>
            </a:pPr>
            <a:r>
              <a:rPr lang="en-US" sz="2800" b="1" dirty="0"/>
              <a:t>What you will learn:</a:t>
            </a:r>
          </a:p>
          <a:p>
            <a:pPr defTabSz="914400" fontAlgn="base">
              <a:lnSpc>
                <a:spcPct val="150000"/>
              </a:lnSpc>
              <a:spcBef>
                <a:spcPts val="0"/>
              </a:spcBef>
              <a:spcAft>
                <a:spcPct val="0"/>
              </a:spcAft>
              <a:defRPr/>
            </a:pPr>
            <a:r>
              <a:rPr lang="en-US" sz="2800" dirty="0"/>
              <a:t>Information needed at various orientation levels</a:t>
            </a:r>
          </a:p>
          <a:p>
            <a:pPr lvl="1" defTabSz="914400" fontAlgn="base">
              <a:lnSpc>
                <a:spcPct val="150000"/>
              </a:lnSpc>
              <a:spcBef>
                <a:spcPts val="0"/>
              </a:spcBef>
              <a:spcAft>
                <a:spcPct val="0"/>
              </a:spcAft>
              <a:defRPr/>
            </a:pPr>
            <a:r>
              <a:rPr lang="en-US" dirty="0"/>
              <a:t>Organizational</a:t>
            </a:r>
          </a:p>
          <a:p>
            <a:pPr lvl="1" defTabSz="914400" fontAlgn="base">
              <a:lnSpc>
                <a:spcPct val="150000"/>
              </a:lnSpc>
              <a:spcBef>
                <a:spcPts val="0"/>
              </a:spcBef>
              <a:spcAft>
                <a:spcPct val="0"/>
              </a:spcAft>
              <a:defRPr/>
            </a:pPr>
            <a:r>
              <a:rPr lang="en-US" dirty="0"/>
              <a:t>Departmental</a:t>
            </a:r>
          </a:p>
          <a:p>
            <a:pPr lvl="1" defTabSz="914400" fontAlgn="base">
              <a:lnSpc>
                <a:spcPct val="150000"/>
              </a:lnSpc>
              <a:spcBef>
                <a:spcPts val="0"/>
              </a:spcBef>
              <a:spcAft>
                <a:spcPct val="0"/>
              </a:spcAft>
              <a:defRPr/>
            </a:pPr>
            <a:r>
              <a:rPr lang="en-US" dirty="0"/>
              <a:t>Job/role</a:t>
            </a:r>
          </a:p>
          <a:p>
            <a:pPr defTabSz="914400" fontAlgn="base">
              <a:lnSpc>
                <a:spcPct val="150000"/>
              </a:lnSpc>
              <a:spcBef>
                <a:spcPts val="0"/>
              </a:spcBef>
              <a:spcAft>
                <a:spcPct val="0"/>
              </a:spcAft>
              <a:defRPr/>
            </a:pPr>
            <a:r>
              <a:rPr lang="en-US" sz="2800" dirty="0"/>
              <a:t>Organizational Chart</a:t>
            </a:r>
          </a:p>
          <a:p>
            <a:pPr marL="0" indent="0" defTabSz="914400" fontAlgn="base">
              <a:lnSpc>
                <a:spcPct val="170000"/>
              </a:lnSpc>
              <a:spcAft>
                <a:spcPct val="0"/>
              </a:spcAft>
              <a:buNone/>
              <a:defRPr/>
            </a:pPr>
            <a:endParaRPr lang="en-US" sz="2800" dirty="0"/>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25</a:t>
            </a:fld>
            <a:endParaRPr lang="en-US" dirty="0">
              <a:solidFill>
                <a:prstClr val="black">
                  <a:tint val="75000"/>
                </a:prstClr>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2383" y="1812195"/>
            <a:ext cx="6115912" cy="1200329"/>
          </a:xfrm>
          <a:prstGeom prst="rect">
            <a:avLst/>
          </a:prstGeom>
          <a:noFill/>
        </p:spPr>
        <p:txBody>
          <a:bodyPr wrap="square" rtlCol="0">
            <a:spAutoFit/>
          </a:bodyPr>
          <a:lstStyle/>
          <a:p>
            <a:pPr marL="285750" indent="-285750" fontAlgn="base">
              <a:spcAft>
                <a:spcPct val="0"/>
              </a:spcAft>
              <a:buFont typeface="Arial" panose="020B0604020202020204"/>
              <a:buChar char="•"/>
              <a:defRPr/>
            </a:pPr>
            <a:r>
              <a:rPr lang="en-US" sz="2400" b="1" dirty="0">
                <a:solidFill>
                  <a:prstClr val="black"/>
                </a:solidFill>
              </a:rPr>
              <a:t>Organization-level:</a:t>
            </a:r>
          </a:p>
          <a:p>
            <a:pPr marL="742950" lvl="1" indent="-285750" fontAlgn="base">
              <a:spcAft>
                <a:spcPct val="0"/>
              </a:spcAft>
              <a:buFont typeface="Arial" panose="020B0604020202020204"/>
              <a:buChar char="•"/>
              <a:defRPr/>
            </a:pPr>
            <a:r>
              <a:rPr lang="en-US" sz="2400" dirty="0">
                <a:solidFill>
                  <a:prstClr val="black"/>
                </a:solidFill>
              </a:rPr>
              <a:t>Campus map, Policies, Leadership, Organizational chart</a:t>
            </a:r>
          </a:p>
        </p:txBody>
      </p:sp>
      <p:sp>
        <p:nvSpPr>
          <p:cNvPr id="12" name="Content Placeholder 11"/>
          <p:cNvSpPr>
            <a:spLocks noGrp="1"/>
          </p:cNvSpPr>
          <p:nvPr>
            <p:ph sz="half" idx="2"/>
          </p:nvPr>
        </p:nvSpPr>
        <p:spPr>
          <a:xfrm>
            <a:off x="94601" y="4547035"/>
            <a:ext cx="6450578" cy="1408598"/>
          </a:xfrm>
        </p:spPr>
        <p:txBody>
          <a:bodyPr>
            <a:normAutofit/>
          </a:bodyPr>
          <a:lstStyle/>
          <a:p>
            <a:pPr marL="285750" indent="-285750" defTabSz="914400" fontAlgn="base">
              <a:spcAft>
                <a:spcPct val="0"/>
              </a:spcAft>
              <a:defRPr/>
            </a:pPr>
            <a:r>
              <a:rPr lang="en-US" sz="2400" b="1" dirty="0"/>
              <a:t>Job/Role-level:</a:t>
            </a:r>
          </a:p>
          <a:p>
            <a:pPr lvl="1" defTabSz="914400" fontAlgn="base">
              <a:spcAft>
                <a:spcPct val="0"/>
              </a:spcAft>
              <a:buFont typeface="Arial" panose="020B0604020202020204"/>
              <a:buChar char="•"/>
              <a:defRPr/>
            </a:pPr>
            <a:r>
              <a:rPr lang="en-US" dirty="0"/>
              <a:t>Expectations (daily, weekly, monthly), Communication</a:t>
            </a:r>
          </a:p>
        </p:txBody>
      </p:sp>
      <p:sp>
        <p:nvSpPr>
          <p:cNvPr id="7" name="Oval 6"/>
          <p:cNvSpPr/>
          <p:nvPr/>
        </p:nvSpPr>
        <p:spPr>
          <a:xfrm>
            <a:off x="6058269" y="2381048"/>
            <a:ext cx="2971800" cy="2971800"/>
          </a:xfrm>
          <a:prstGeom prst="ellipse">
            <a:avLst/>
          </a:prstGeom>
          <a:solidFill>
            <a:schemeClr val="tx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dirty="0">
              <a:solidFill>
                <a:prstClr val="white"/>
              </a:solidFill>
            </a:endParaRPr>
          </a:p>
        </p:txBody>
      </p:sp>
      <p:sp>
        <p:nvSpPr>
          <p:cNvPr id="5" name="Content Placeholder 2"/>
          <p:cNvSpPr>
            <a:spLocks noGrp="1"/>
          </p:cNvSpPr>
          <p:nvPr>
            <p:ph sz="half" idx="1"/>
          </p:nvPr>
        </p:nvSpPr>
        <p:spPr>
          <a:xfrm>
            <a:off x="94601" y="1206051"/>
            <a:ext cx="9113382" cy="843456"/>
          </a:xfrm>
        </p:spPr>
        <p:txBody>
          <a:bodyPr>
            <a:noAutofit/>
          </a:bodyPr>
          <a:lstStyle/>
          <a:p>
            <a:pPr marL="0" indent="0" defTabSz="914400" fontAlgn="base">
              <a:spcAft>
                <a:spcPct val="0"/>
              </a:spcAft>
              <a:buNone/>
              <a:defRPr/>
            </a:pPr>
            <a:r>
              <a:rPr lang="en-US" b="1" dirty="0"/>
              <a:t>What information do new staff need to be successful? </a:t>
            </a:r>
          </a:p>
          <a:p>
            <a:pPr marL="0" indent="0" defTabSz="914400" fontAlgn="base">
              <a:spcAft>
                <a:spcPct val="0"/>
              </a:spcAft>
              <a:buNone/>
              <a:defRPr/>
            </a:pPr>
            <a:endParaRPr lang="en-US" b="1" dirty="0"/>
          </a:p>
        </p:txBody>
      </p:sp>
      <p:sp>
        <p:nvSpPr>
          <p:cNvPr id="11" name="Slide Number Placeholder 10"/>
          <p:cNvSpPr>
            <a:spLocks noGrp="1"/>
          </p:cNvSpPr>
          <p:nvPr>
            <p:ph type="sldNum" sz="quarter" idx="12"/>
          </p:nvPr>
        </p:nvSpPr>
        <p:spPr>
          <a:xfrm>
            <a:off x="6773924" y="6324818"/>
            <a:ext cx="2133600" cy="365125"/>
          </a:xfrm>
        </p:spPr>
        <p:txBody>
          <a:bodyPr/>
          <a:lstStyle/>
          <a:p>
            <a:fld id="{36A94550-0172-2A4E-BEEB-6BE00EB0E97C}" type="slidenum">
              <a:rPr lang="en-US" smtClean="0">
                <a:solidFill>
                  <a:prstClr val="black">
                    <a:tint val="75000"/>
                  </a:prstClr>
                </a:solidFill>
              </a:rPr>
              <a:t>26</a:t>
            </a:fld>
            <a:endParaRPr lang="en-US" dirty="0">
              <a:solidFill>
                <a:prstClr val="black">
                  <a:tint val="75000"/>
                </a:prstClr>
              </a:solidFill>
            </a:endParaRPr>
          </a:p>
        </p:txBody>
      </p:sp>
      <p:sp>
        <p:nvSpPr>
          <p:cNvPr id="6" name="Oval 5"/>
          <p:cNvSpPr/>
          <p:nvPr/>
        </p:nvSpPr>
        <p:spPr>
          <a:xfrm>
            <a:off x="6718669" y="3073334"/>
            <a:ext cx="1651000" cy="1651000"/>
          </a:xfrm>
          <a:prstGeom prst="ellipse">
            <a:avLst/>
          </a:prstGeom>
          <a:solidFill>
            <a:schemeClr val="tx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dirty="0">
              <a:solidFill>
                <a:prstClr val="white"/>
              </a:solidFill>
            </a:endParaRPr>
          </a:p>
        </p:txBody>
      </p:sp>
      <p:sp>
        <p:nvSpPr>
          <p:cNvPr id="3" name="Oval 2"/>
          <p:cNvSpPr/>
          <p:nvPr/>
        </p:nvSpPr>
        <p:spPr>
          <a:xfrm>
            <a:off x="7264769" y="3595459"/>
            <a:ext cx="558800" cy="558800"/>
          </a:xfrm>
          <a:prstGeom prst="ellipse">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dirty="0">
              <a:solidFill>
                <a:prstClr val="white"/>
              </a:solidFill>
            </a:endParaRPr>
          </a:p>
        </p:txBody>
      </p:sp>
      <p:sp>
        <p:nvSpPr>
          <p:cNvPr id="8" name="TextBox 7"/>
          <p:cNvSpPr txBox="1"/>
          <p:nvPr/>
        </p:nvSpPr>
        <p:spPr>
          <a:xfrm>
            <a:off x="7311009" y="3667081"/>
            <a:ext cx="501272" cy="369332"/>
          </a:xfrm>
          <a:prstGeom prst="rect">
            <a:avLst/>
          </a:prstGeom>
          <a:noFill/>
        </p:spPr>
        <p:txBody>
          <a:bodyPr wrap="none" rtlCol="0">
            <a:spAutoFit/>
          </a:bodyPr>
          <a:lstStyle/>
          <a:p>
            <a:pPr defTabSz="457200"/>
            <a:r>
              <a:rPr lang="en-US" dirty="0">
                <a:solidFill>
                  <a:prstClr val="black"/>
                </a:solidFill>
              </a:rPr>
              <a:t>Job</a:t>
            </a:r>
          </a:p>
        </p:txBody>
      </p:sp>
      <p:sp>
        <p:nvSpPr>
          <p:cNvPr id="9" name="TextBox 8"/>
          <p:cNvSpPr txBox="1"/>
          <p:nvPr/>
        </p:nvSpPr>
        <p:spPr>
          <a:xfrm>
            <a:off x="6881368" y="3231835"/>
            <a:ext cx="1329022" cy="369332"/>
          </a:xfrm>
          <a:prstGeom prst="rect">
            <a:avLst/>
          </a:prstGeom>
          <a:noFill/>
        </p:spPr>
        <p:txBody>
          <a:bodyPr wrap="none" rtlCol="0">
            <a:spAutoFit/>
          </a:bodyPr>
          <a:lstStyle/>
          <a:p>
            <a:pPr defTabSz="457200"/>
            <a:r>
              <a:rPr lang="en-US" dirty="0">
                <a:solidFill>
                  <a:prstClr val="black"/>
                </a:solidFill>
              </a:rPr>
              <a:t>Department</a:t>
            </a:r>
          </a:p>
        </p:txBody>
      </p:sp>
      <p:sp>
        <p:nvSpPr>
          <p:cNvPr id="10" name="TextBox 9"/>
          <p:cNvSpPr txBox="1"/>
          <p:nvPr/>
        </p:nvSpPr>
        <p:spPr>
          <a:xfrm>
            <a:off x="6869238" y="2565714"/>
            <a:ext cx="1384814" cy="369332"/>
          </a:xfrm>
          <a:prstGeom prst="rect">
            <a:avLst/>
          </a:prstGeom>
          <a:noFill/>
        </p:spPr>
        <p:txBody>
          <a:bodyPr wrap="none" rtlCol="0">
            <a:spAutoFit/>
          </a:bodyPr>
          <a:lstStyle/>
          <a:p>
            <a:pPr defTabSz="457200"/>
            <a:r>
              <a:rPr lang="en-US" dirty="0">
                <a:solidFill>
                  <a:srgbClr val="FFFFFF"/>
                </a:solidFill>
              </a:rPr>
              <a:t>Organization</a:t>
            </a:r>
          </a:p>
        </p:txBody>
      </p:sp>
      <p:sp>
        <p:nvSpPr>
          <p:cNvPr id="13" name="Title 1"/>
          <p:cNvSpPr txBox="1"/>
          <p:nvPr/>
        </p:nvSpPr>
        <p:spPr>
          <a:xfrm>
            <a:off x="0" y="0"/>
            <a:ext cx="9144000" cy="1143000"/>
          </a:xfrm>
          <a:prstGeom prst="rect">
            <a:avLst/>
          </a:prstGeom>
          <a:solidFill>
            <a:srgbClr val="10253F"/>
          </a:solid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solidFill>
                  <a:srgbClr val="FFFFFF"/>
                </a:solidFill>
              </a:rPr>
              <a:t>3. Orientation</a:t>
            </a:r>
          </a:p>
        </p:txBody>
      </p:sp>
      <p:sp>
        <p:nvSpPr>
          <p:cNvPr id="2" name="TextBox 1"/>
          <p:cNvSpPr txBox="1"/>
          <p:nvPr/>
        </p:nvSpPr>
        <p:spPr>
          <a:xfrm>
            <a:off x="141460" y="5983544"/>
            <a:ext cx="5391818" cy="461665"/>
          </a:xfrm>
          <a:prstGeom prst="rect">
            <a:avLst/>
          </a:prstGeom>
          <a:noFill/>
        </p:spPr>
        <p:txBody>
          <a:bodyPr wrap="square" rtlCol="0">
            <a:spAutoFit/>
          </a:bodyPr>
          <a:lstStyle/>
          <a:p>
            <a:pPr marL="342900" indent="-342900" defTabSz="457200">
              <a:buFont typeface="Arial" panose="020B0604020202020204" pitchFamily="34" charset="0"/>
              <a:buChar char="•"/>
            </a:pPr>
            <a:r>
              <a:rPr lang="en-US" sz="2400" b="1" i="1" dirty="0">
                <a:solidFill>
                  <a:prstClr val="black"/>
                </a:solidFill>
              </a:rPr>
              <a:t>Other information needed?</a:t>
            </a:r>
          </a:p>
        </p:txBody>
      </p:sp>
      <p:sp>
        <p:nvSpPr>
          <p:cNvPr id="14" name="TextBox 13"/>
          <p:cNvSpPr txBox="1"/>
          <p:nvPr/>
        </p:nvSpPr>
        <p:spPr>
          <a:xfrm>
            <a:off x="58495" y="3015105"/>
            <a:ext cx="5999774" cy="1569660"/>
          </a:xfrm>
          <a:prstGeom prst="rect">
            <a:avLst/>
          </a:prstGeom>
          <a:noFill/>
        </p:spPr>
        <p:txBody>
          <a:bodyPr wrap="square" rtlCol="0">
            <a:spAutoFit/>
          </a:bodyPr>
          <a:lstStyle/>
          <a:p>
            <a:pPr marL="285750" indent="-285750" fontAlgn="base">
              <a:spcAft>
                <a:spcPct val="0"/>
              </a:spcAft>
              <a:buFont typeface="Arial" panose="020B0604020202020204"/>
              <a:buChar char="•"/>
              <a:defRPr/>
            </a:pPr>
            <a:r>
              <a:rPr lang="en-US" sz="2400" b="1" dirty="0">
                <a:solidFill>
                  <a:prstClr val="black"/>
                </a:solidFill>
              </a:rPr>
              <a:t>Department-level</a:t>
            </a:r>
            <a:r>
              <a:rPr lang="en-US" sz="2400" dirty="0">
                <a:solidFill>
                  <a:prstClr val="black"/>
                </a:solidFill>
              </a:rPr>
              <a:t>:</a:t>
            </a:r>
          </a:p>
          <a:p>
            <a:pPr marL="742950" lvl="1" indent="-285750" fontAlgn="base">
              <a:spcAft>
                <a:spcPct val="0"/>
              </a:spcAft>
              <a:buFont typeface="Arial" panose="020B0604020202020204"/>
              <a:buChar char="•"/>
              <a:defRPr/>
            </a:pPr>
            <a:r>
              <a:rPr lang="en-US" sz="2400" dirty="0">
                <a:solidFill>
                  <a:prstClr val="black"/>
                </a:solidFill>
              </a:rPr>
              <a:t>Equipment, Supplies, Policies, procedures, guidelines, Co-workers, Communication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500"/>
                                        <p:tgtEl>
                                          <p:spTgt spid="10"/>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4">
                                            <p:txEl>
                                              <p:pRg st="0" end="0"/>
                                            </p:txEl>
                                          </p:spTgt>
                                        </p:tgtEl>
                                        <p:attrNameLst>
                                          <p:attrName>style.visibility</p:attrName>
                                        </p:attrNameLst>
                                      </p:cBhvr>
                                      <p:to>
                                        <p:strVal val="visible"/>
                                      </p:to>
                                    </p:se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sz="half" idx="1"/>
          </p:nvPr>
        </p:nvSpPr>
        <p:spPr>
          <a:xfrm>
            <a:off x="94601" y="1206050"/>
            <a:ext cx="9113382" cy="6124915"/>
          </a:xfrm>
        </p:spPr>
        <p:txBody>
          <a:bodyPr>
            <a:noAutofit/>
          </a:bodyPr>
          <a:lstStyle/>
          <a:p>
            <a:pPr marL="0" indent="0" defTabSz="914400" fontAlgn="base">
              <a:spcAft>
                <a:spcPct val="0"/>
              </a:spcAft>
              <a:buNone/>
              <a:defRPr/>
            </a:pPr>
            <a:r>
              <a:rPr lang="en-US" b="1" dirty="0"/>
              <a:t>Definition:</a:t>
            </a:r>
          </a:p>
          <a:p>
            <a:pPr marL="0" indent="0" defTabSz="914400" fontAlgn="base">
              <a:spcAft>
                <a:spcPct val="0"/>
              </a:spcAft>
              <a:buNone/>
              <a:defRPr/>
            </a:pPr>
            <a:r>
              <a:rPr lang="en-US" sz="2600" dirty="0"/>
              <a:t>To provide information and guidance about organizational culture and practices as well as specific work responsibilities to a new employee. </a:t>
            </a:r>
            <a:br>
              <a:rPr lang="en-US" sz="2000" dirty="0"/>
            </a:br>
            <a:endParaRPr lang="en-US" sz="2000" b="1" dirty="0"/>
          </a:p>
          <a:p>
            <a:pPr marL="0" indent="0" defTabSz="914400" fontAlgn="base">
              <a:spcAft>
                <a:spcPct val="0"/>
              </a:spcAft>
              <a:buNone/>
              <a:defRPr/>
            </a:pPr>
            <a:r>
              <a:rPr lang="en-US" b="1" dirty="0"/>
              <a:t>Why important?</a:t>
            </a:r>
            <a:endParaRPr lang="en-US" sz="2400" b="1" dirty="0"/>
          </a:p>
          <a:p>
            <a:pPr defTabSz="914400" fontAlgn="base">
              <a:spcAft>
                <a:spcPct val="0"/>
              </a:spcAft>
              <a:defRPr/>
            </a:pPr>
            <a:r>
              <a:rPr lang="en-US" sz="2400" dirty="0"/>
              <a:t>to be familiar with and committed to the work </a:t>
            </a:r>
          </a:p>
          <a:p>
            <a:pPr defTabSz="914400" fontAlgn="base">
              <a:spcAft>
                <a:spcPct val="0"/>
              </a:spcAft>
              <a:defRPr/>
            </a:pPr>
            <a:r>
              <a:rPr lang="en-US" sz="2400" dirty="0"/>
              <a:t>reduces employee anxiety of working in a new environment</a:t>
            </a:r>
          </a:p>
          <a:p>
            <a:pPr defTabSz="914400" fontAlgn="base">
              <a:spcAft>
                <a:spcPct val="0"/>
              </a:spcAft>
              <a:defRPr/>
            </a:pPr>
            <a:r>
              <a:rPr lang="en-US" sz="2400" dirty="0"/>
              <a:t>understand the organization's expectations </a:t>
            </a:r>
          </a:p>
          <a:p>
            <a:pPr defTabSz="914400" fontAlgn="base">
              <a:spcAft>
                <a:spcPct val="0"/>
              </a:spcAft>
              <a:defRPr/>
            </a:pPr>
            <a:r>
              <a:rPr lang="en-US" sz="2400" dirty="0"/>
              <a:t>tells employee what to expect from the job and the organization</a:t>
            </a:r>
            <a:endParaRPr lang="en-US" sz="2400" b="1" dirty="0"/>
          </a:p>
        </p:txBody>
      </p:sp>
      <p:sp>
        <p:nvSpPr>
          <p:cNvPr id="13" name="Title 1"/>
          <p:cNvSpPr txBox="1"/>
          <p:nvPr/>
        </p:nvSpPr>
        <p:spPr>
          <a:xfrm>
            <a:off x="0" y="0"/>
            <a:ext cx="9144000" cy="1143000"/>
          </a:xfrm>
          <a:prstGeom prst="rect">
            <a:avLst/>
          </a:prstGeom>
          <a:solidFill>
            <a:srgbClr val="10253F"/>
          </a:solid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solidFill>
                  <a:srgbClr val="FFFFFF"/>
                </a:solidFill>
              </a:rPr>
              <a:t>3. Orientation to the Organization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animEffect transition="in" filter="fade">
                                      <p:cBhvr>
                                        <p:cTn id="11" dur="500"/>
                                        <p:tgtEl>
                                          <p:spTgt spid="5">
                                            <p:txEl>
                                              <p:pRg st="3" end="3"/>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5">
                                            <p:txEl>
                                              <p:pRg st="4" end="4"/>
                                            </p:txEl>
                                          </p:spTgt>
                                        </p:tgtEl>
                                        <p:attrNameLst>
                                          <p:attrName>style.visibility</p:attrName>
                                        </p:attrNameLst>
                                      </p:cBhvr>
                                      <p:to>
                                        <p:strVal val="visible"/>
                                      </p:to>
                                    </p:set>
                                    <p:animEffect transition="in" filter="fade">
                                      <p:cBhvr>
                                        <p:cTn id="14" dur="500"/>
                                        <p:tgtEl>
                                          <p:spTgt spid="5">
                                            <p:txEl>
                                              <p:pRg st="4" end="4"/>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animEffect transition="in" filter="fade">
                                      <p:cBhvr>
                                        <p:cTn id="17" dur="500"/>
                                        <p:tgtEl>
                                          <p:spTgt spid="5">
                                            <p:txEl>
                                              <p:pRg st="5" end="5"/>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5">
                                            <p:txEl>
                                              <p:pRg st="6" end="6"/>
                                            </p:txEl>
                                          </p:spTgt>
                                        </p:tgtEl>
                                        <p:attrNameLst>
                                          <p:attrName>style.visibility</p:attrName>
                                        </p:attrNameLst>
                                      </p:cBhvr>
                                      <p:to>
                                        <p:strVal val="visible"/>
                                      </p:to>
                                    </p:set>
                                    <p:animEffect transition="in" filter="fade">
                                      <p:cBhvr>
                                        <p:cTn id="20"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p:cNvSpPr>
            <a:spLocks noGrp="1"/>
          </p:cNvSpPr>
          <p:nvPr>
            <p:ph type="sldNum" sz="quarter" idx="12"/>
          </p:nvPr>
        </p:nvSpPr>
        <p:spPr>
          <a:xfrm>
            <a:off x="6553200" y="6356350"/>
            <a:ext cx="2133600" cy="365125"/>
          </a:xfrm>
        </p:spPr>
        <p:txBody>
          <a:bodyPr/>
          <a:lstStyle/>
          <a:p>
            <a:fld id="{9F0BD4F6-3C3F-423A-B975-4D06BA8D3E00}" type="slidenum">
              <a:rPr lang="en-US">
                <a:solidFill>
                  <a:prstClr val="black">
                    <a:tint val="75000"/>
                  </a:prstClr>
                </a:solidFill>
              </a:rPr>
              <a:t>28</a:t>
            </a:fld>
            <a:endParaRPr lang="en-US" dirty="0">
              <a:solidFill>
                <a:prstClr val="black">
                  <a:tint val="75000"/>
                </a:prstClr>
              </a:solidFill>
            </a:endParaRPr>
          </a:p>
        </p:txBody>
      </p:sp>
      <p:sp>
        <p:nvSpPr>
          <p:cNvPr id="3" name="Rectangle 2"/>
          <p:cNvSpPr txBox="1">
            <a:spLocks noChangeArrowheads="1"/>
          </p:cNvSpPr>
          <p:nvPr/>
        </p:nvSpPr>
        <p:spPr>
          <a:xfrm>
            <a:off x="0" y="0"/>
            <a:ext cx="9144000" cy="1143000"/>
          </a:xfrm>
          <a:prstGeom prst="rect">
            <a:avLst/>
          </a:prstGeom>
          <a:solidFill>
            <a:srgbClr val="10253F"/>
          </a:solidFill>
        </p:spPr>
        <p:txBody>
          <a:bodyPr/>
          <a:lstStyle/>
          <a:p>
            <a:pPr algn="ctr" fontAlgn="base">
              <a:spcBef>
                <a:spcPct val="0"/>
              </a:spcBef>
              <a:spcAft>
                <a:spcPct val="0"/>
              </a:spcAft>
              <a:defRPr/>
            </a:pPr>
            <a:r>
              <a:rPr lang="en-US" sz="4400" dirty="0">
                <a:solidFill>
                  <a:srgbClr val="FFFFFF"/>
                </a:solidFill>
              </a:rPr>
              <a:t>Organizational Structure</a:t>
            </a:r>
          </a:p>
        </p:txBody>
      </p:sp>
      <p:sp>
        <p:nvSpPr>
          <p:cNvPr id="4" name="Rectangle 3"/>
          <p:cNvSpPr txBox="1">
            <a:spLocks noChangeArrowheads="1"/>
          </p:cNvSpPr>
          <p:nvPr/>
        </p:nvSpPr>
        <p:spPr>
          <a:xfrm>
            <a:off x="298994" y="1350574"/>
            <a:ext cx="8686800" cy="4832350"/>
          </a:xfrm>
          <a:prstGeom prst="rect">
            <a:avLst/>
          </a:prstGeom>
        </p:spPr>
        <p:txBody>
          <a:bodyPr/>
          <a:lstStyle/>
          <a:p>
            <a:pPr fontAlgn="base">
              <a:spcBef>
                <a:spcPct val="0"/>
              </a:spcBef>
              <a:spcAft>
                <a:spcPct val="0"/>
              </a:spcAft>
              <a:defRPr/>
            </a:pPr>
            <a:r>
              <a:rPr lang="fr-FR" sz="2800" b="1" dirty="0">
                <a:solidFill>
                  <a:prstClr val="black"/>
                </a:solidFill>
              </a:rPr>
              <a:t>Organizational Chart</a:t>
            </a:r>
          </a:p>
          <a:p>
            <a:pPr fontAlgn="base">
              <a:spcBef>
                <a:spcPct val="0"/>
              </a:spcBef>
              <a:spcAft>
                <a:spcPct val="0"/>
              </a:spcAft>
              <a:defRPr/>
            </a:pPr>
            <a:br>
              <a:rPr lang="fr-FR" sz="2800" b="1" dirty="0">
                <a:solidFill>
                  <a:prstClr val="black"/>
                </a:solidFill>
              </a:rPr>
            </a:br>
            <a:endParaRPr lang="fr-FR" sz="2800" b="1" dirty="0">
              <a:solidFill>
                <a:prstClr val="black"/>
              </a:solidFill>
            </a:endParaRPr>
          </a:p>
          <a:p>
            <a:pPr marL="342900" indent="-342900" fontAlgn="base">
              <a:spcBef>
                <a:spcPct val="0"/>
              </a:spcBef>
              <a:spcAft>
                <a:spcPct val="0"/>
              </a:spcAft>
              <a:buFont typeface="Arial" panose="020B0604020202020204" pitchFamily="34" charset="0"/>
              <a:buChar char="•"/>
              <a:defRPr/>
            </a:pPr>
            <a:r>
              <a:rPr lang="fr-FR" sz="2400" dirty="0">
                <a:solidFill>
                  <a:prstClr val="black"/>
                </a:solidFill>
              </a:rPr>
              <a:t>A picture of the organization’s departments and roles and how they relate to each other.</a:t>
            </a:r>
          </a:p>
          <a:p>
            <a:pPr fontAlgn="base">
              <a:spcBef>
                <a:spcPct val="0"/>
              </a:spcBef>
              <a:spcAft>
                <a:spcPct val="0"/>
              </a:spcAft>
              <a:defRPr/>
            </a:pPr>
            <a:endParaRPr lang="fr-FR" sz="2400" dirty="0">
              <a:solidFill>
                <a:prstClr val="black"/>
              </a:solidFill>
            </a:endParaRPr>
          </a:p>
        </p:txBody>
      </p:sp>
      <p:pic>
        <p:nvPicPr>
          <p:cNvPr id="1026" name="Picture 2" descr="http://www.hi-tours.com/images/organization-chart.jpg"/>
          <p:cNvPicPr>
            <a:picLocks noChangeAspect="1" noChangeArrowheads="1"/>
          </p:cNvPicPr>
          <p:nvPr/>
        </p:nvPicPr>
        <p:blipFill rotWithShape="1">
          <a:blip r:embed="rId3">
            <a:extLst>
              <a:ext uri="{28A0092B-C50C-407E-A947-70E740481C1C}">
                <a14:useLocalDpi xmlns:a14="http://schemas.microsoft.com/office/drawing/2010/main" val="0"/>
              </a:ext>
            </a:extLst>
          </a:blip>
          <a:srcRect t="8163" b="2244"/>
          <a:stretch>
            <a:fillRect/>
          </a:stretch>
        </p:blipFill>
        <p:spPr bwMode="auto">
          <a:xfrm>
            <a:off x="1375081" y="3504231"/>
            <a:ext cx="6101487" cy="31089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p:cNvSpPr>
            <a:spLocks noGrp="1"/>
          </p:cNvSpPr>
          <p:nvPr>
            <p:ph type="sldNum" sz="quarter" idx="12"/>
          </p:nvPr>
        </p:nvSpPr>
        <p:spPr>
          <a:xfrm>
            <a:off x="6553200" y="6356350"/>
            <a:ext cx="2133600" cy="365125"/>
          </a:xfrm>
        </p:spPr>
        <p:txBody>
          <a:bodyPr/>
          <a:lstStyle/>
          <a:p>
            <a:fld id="{9F0BD4F6-3C3F-423A-B975-4D06BA8D3E00}" type="slidenum">
              <a:rPr lang="en-US">
                <a:solidFill>
                  <a:prstClr val="black">
                    <a:tint val="75000"/>
                  </a:prstClr>
                </a:solidFill>
              </a:rPr>
              <a:t>29</a:t>
            </a:fld>
            <a:endParaRPr lang="en-US" dirty="0">
              <a:solidFill>
                <a:prstClr val="black">
                  <a:tint val="75000"/>
                </a:prstClr>
              </a:solidFill>
            </a:endParaRPr>
          </a:p>
        </p:txBody>
      </p:sp>
      <p:sp>
        <p:nvSpPr>
          <p:cNvPr id="3" name="Rectangle 2"/>
          <p:cNvSpPr txBox="1">
            <a:spLocks noChangeArrowheads="1"/>
          </p:cNvSpPr>
          <p:nvPr/>
        </p:nvSpPr>
        <p:spPr>
          <a:xfrm>
            <a:off x="0" y="0"/>
            <a:ext cx="9144000" cy="1143000"/>
          </a:xfrm>
          <a:prstGeom prst="rect">
            <a:avLst/>
          </a:prstGeom>
          <a:solidFill>
            <a:srgbClr val="10253F"/>
          </a:solidFill>
        </p:spPr>
        <p:txBody>
          <a:bodyPr/>
          <a:lstStyle/>
          <a:p>
            <a:pPr algn="ctr" fontAlgn="base">
              <a:spcBef>
                <a:spcPct val="0"/>
              </a:spcBef>
              <a:spcAft>
                <a:spcPct val="0"/>
              </a:spcAft>
              <a:defRPr/>
            </a:pPr>
            <a:r>
              <a:rPr lang="en-US" sz="4400" dirty="0">
                <a:solidFill>
                  <a:srgbClr val="FFFFFF"/>
                </a:solidFill>
              </a:rPr>
              <a:t>Organizational Structure</a:t>
            </a:r>
          </a:p>
        </p:txBody>
      </p:sp>
      <p:sp>
        <p:nvSpPr>
          <p:cNvPr id="4" name="Rectangle 3"/>
          <p:cNvSpPr txBox="1">
            <a:spLocks noChangeArrowheads="1"/>
          </p:cNvSpPr>
          <p:nvPr/>
        </p:nvSpPr>
        <p:spPr>
          <a:xfrm>
            <a:off x="220164" y="1255978"/>
            <a:ext cx="8686800" cy="4832350"/>
          </a:xfrm>
          <a:prstGeom prst="rect">
            <a:avLst/>
          </a:prstGeom>
        </p:spPr>
        <p:txBody>
          <a:bodyPr/>
          <a:lstStyle/>
          <a:p>
            <a:pPr fontAlgn="base">
              <a:spcBef>
                <a:spcPct val="0"/>
              </a:spcBef>
              <a:spcAft>
                <a:spcPct val="0"/>
              </a:spcAft>
              <a:defRPr/>
            </a:pPr>
            <a:r>
              <a:rPr lang="fr-FR" sz="2800" b="1" dirty="0">
                <a:solidFill>
                  <a:prstClr val="black"/>
                </a:solidFill>
              </a:rPr>
              <a:t>Organizational Chart</a:t>
            </a:r>
          </a:p>
          <a:p>
            <a:pPr fontAlgn="base">
              <a:spcBef>
                <a:spcPct val="0"/>
              </a:spcBef>
              <a:spcAft>
                <a:spcPct val="0"/>
              </a:spcAft>
              <a:defRPr/>
            </a:pPr>
            <a:r>
              <a:rPr lang="en-US" sz="2800" b="1" dirty="0">
                <a:solidFill>
                  <a:prstClr val="black"/>
                </a:solidFill>
              </a:rPr>
              <a:t>Why important? </a:t>
            </a:r>
          </a:p>
          <a:p>
            <a:pPr fontAlgn="base">
              <a:spcBef>
                <a:spcPct val="0"/>
              </a:spcBef>
              <a:spcAft>
                <a:spcPct val="0"/>
              </a:spcAft>
              <a:defRPr/>
            </a:pPr>
            <a:endParaRPr lang="en-US" sz="1000" b="1" dirty="0">
              <a:solidFill>
                <a:prstClr val="black"/>
              </a:solidFill>
            </a:endParaRPr>
          </a:p>
          <a:p>
            <a:pPr marL="457200" indent="-457200" fontAlgn="base">
              <a:lnSpc>
                <a:spcPct val="150000"/>
              </a:lnSpc>
              <a:spcBef>
                <a:spcPct val="0"/>
              </a:spcBef>
              <a:spcAft>
                <a:spcPct val="0"/>
              </a:spcAft>
              <a:buFont typeface="Arial" panose="020B0604020202020204"/>
              <a:buChar char="•"/>
              <a:defRPr/>
            </a:pPr>
            <a:r>
              <a:rPr lang="en-US" sz="2400" dirty="0">
                <a:solidFill>
                  <a:prstClr val="black"/>
                </a:solidFill>
              </a:rPr>
              <a:t>Shows how departments </a:t>
            </a:r>
            <a:r>
              <a:rPr lang="en-US" sz="2400" b="1" dirty="0">
                <a:solidFill>
                  <a:prstClr val="black"/>
                </a:solidFill>
              </a:rPr>
              <a:t>relate to each other</a:t>
            </a:r>
          </a:p>
          <a:p>
            <a:pPr marL="457200" indent="-457200" fontAlgn="base">
              <a:lnSpc>
                <a:spcPct val="150000"/>
              </a:lnSpc>
              <a:spcBef>
                <a:spcPct val="0"/>
              </a:spcBef>
              <a:spcAft>
                <a:spcPct val="0"/>
              </a:spcAft>
              <a:buFont typeface="Arial" panose="020B0604020202020204"/>
              <a:buChar char="•"/>
              <a:defRPr/>
            </a:pPr>
            <a:r>
              <a:rPr lang="en-US" sz="2400" dirty="0">
                <a:solidFill>
                  <a:prstClr val="black"/>
                </a:solidFill>
              </a:rPr>
              <a:t>Shows important</a:t>
            </a:r>
            <a:r>
              <a:rPr lang="en-US" sz="2400" b="1" dirty="0">
                <a:solidFill>
                  <a:prstClr val="black"/>
                </a:solidFill>
              </a:rPr>
              <a:t> reporting relationships</a:t>
            </a:r>
            <a:endParaRPr lang="en-US" sz="2400" dirty="0">
              <a:solidFill>
                <a:prstClr val="black"/>
              </a:solidFill>
            </a:endParaRPr>
          </a:p>
          <a:p>
            <a:pPr marL="457200" indent="-457200" fontAlgn="base">
              <a:lnSpc>
                <a:spcPct val="150000"/>
              </a:lnSpc>
              <a:spcBef>
                <a:spcPct val="0"/>
              </a:spcBef>
              <a:spcAft>
                <a:spcPct val="0"/>
              </a:spcAft>
              <a:buFont typeface="Arial" panose="020B0604020202020204"/>
              <a:buChar char="•"/>
              <a:defRPr/>
            </a:pPr>
            <a:r>
              <a:rPr lang="en-US" sz="2400" dirty="0">
                <a:solidFill>
                  <a:prstClr val="black"/>
                </a:solidFill>
              </a:rPr>
              <a:t>Shows who is </a:t>
            </a:r>
            <a:r>
              <a:rPr lang="en-US" sz="2400" b="1" dirty="0">
                <a:solidFill>
                  <a:prstClr val="black"/>
                </a:solidFill>
              </a:rPr>
              <a:t>in charge</a:t>
            </a:r>
          </a:p>
          <a:p>
            <a:pPr marL="457200" indent="-457200" fontAlgn="base">
              <a:lnSpc>
                <a:spcPct val="150000"/>
              </a:lnSpc>
              <a:spcBef>
                <a:spcPct val="0"/>
              </a:spcBef>
              <a:spcAft>
                <a:spcPct val="0"/>
              </a:spcAft>
              <a:buFont typeface="Arial" panose="020B0604020202020204"/>
              <a:buChar char="•"/>
              <a:defRPr/>
            </a:pPr>
            <a:r>
              <a:rPr lang="en-US" sz="2400" dirty="0">
                <a:solidFill>
                  <a:prstClr val="black"/>
                </a:solidFill>
              </a:rPr>
              <a:t>It is an important </a:t>
            </a:r>
            <a:r>
              <a:rPr lang="en-US" sz="2400" b="1" dirty="0">
                <a:solidFill>
                  <a:prstClr val="black"/>
                </a:solidFill>
              </a:rPr>
              <a:t>communications</a:t>
            </a:r>
            <a:r>
              <a:rPr lang="en-US" sz="2400" dirty="0">
                <a:solidFill>
                  <a:prstClr val="black"/>
                </a:solidFill>
              </a:rPr>
              <a:t> tool</a:t>
            </a:r>
          </a:p>
          <a:p>
            <a:pPr marL="457200" indent="-457200" fontAlgn="base">
              <a:lnSpc>
                <a:spcPct val="150000"/>
              </a:lnSpc>
              <a:spcBef>
                <a:spcPct val="0"/>
              </a:spcBef>
              <a:spcAft>
                <a:spcPct val="0"/>
              </a:spcAft>
              <a:buFont typeface="Arial" panose="020B0604020202020204"/>
              <a:buChar char="•"/>
              <a:defRPr/>
            </a:pPr>
            <a:r>
              <a:rPr lang="en-US" sz="2400" dirty="0">
                <a:solidFill>
                  <a:prstClr val="black"/>
                </a:solidFill>
              </a:rPr>
              <a:t>It is required for </a:t>
            </a:r>
            <a:r>
              <a:rPr lang="en-US" sz="2400" b="1" dirty="0">
                <a:solidFill>
                  <a:prstClr val="black"/>
                </a:solidFill>
              </a:rPr>
              <a:t>accreditation</a:t>
            </a:r>
            <a:endParaRPr lang="en-US" sz="2400" dirty="0">
              <a:solidFill>
                <a:prstClr val="black"/>
              </a:solidFill>
            </a:endParaRPr>
          </a:p>
          <a:p>
            <a:pPr marL="457200" indent="-457200" fontAlgn="base">
              <a:lnSpc>
                <a:spcPct val="150000"/>
              </a:lnSpc>
              <a:spcBef>
                <a:spcPct val="0"/>
              </a:spcBef>
              <a:spcAft>
                <a:spcPct val="0"/>
              </a:spcAft>
              <a:buFont typeface="Arial" panose="020B0604020202020204"/>
              <a:buChar char="•"/>
              <a:defRPr/>
            </a:pPr>
            <a:r>
              <a:rPr lang="en-US" sz="2400" dirty="0">
                <a:solidFill>
                  <a:prstClr val="black"/>
                </a:solidFill>
              </a:rPr>
              <a:t>It is required for employee </a:t>
            </a:r>
            <a:r>
              <a:rPr lang="en-US" sz="2400" b="1" dirty="0">
                <a:solidFill>
                  <a:prstClr val="black"/>
                </a:solidFill>
              </a:rPr>
              <a:t>orientation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27739"/>
            <a:ext cx="9144000" cy="1028716"/>
          </a:xfrm>
          <a:solidFill>
            <a:schemeClr val="tx2">
              <a:lumMod val="50000"/>
            </a:schemeClr>
          </a:solidFill>
        </p:spPr>
        <p:txBody>
          <a:bodyPr>
            <a:normAutofit/>
          </a:bodyPr>
          <a:lstStyle/>
          <a:p>
            <a:r>
              <a:rPr lang="en-US" dirty="0">
                <a:solidFill>
                  <a:srgbClr val="FFFFFF"/>
                </a:solidFill>
              </a:rPr>
              <a:t>4. </a:t>
            </a:r>
            <a:r>
              <a:rPr lang="en-US" b="0" cap="none" dirty="0">
                <a:solidFill>
                  <a:srgbClr val="FFFFFF"/>
                </a:solidFill>
                <a:latin typeface="+mn-lt"/>
              </a:rPr>
              <a:t>Training, education &amp; staff development</a:t>
            </a:r>
          </a:p>
        </p:txBody>
      </p:sp>
      <p:sp>
        <p:nvSpPr>
          <p:cNvPr id="3" name="Text Placeholder 2"/>
          <p:cNvSpPr>
            <a:spLocks noGrp="1"/>
          </p:cNvSpPr>
          <p:nvPr>
            <p:ph type="body" idx="1"/>
          </p:nvPr>
        </p:nvSpPr>
        <p:spPr>
          <a:xfrm>
            <a:off x="722313" y="2829703"/>
            <a:ext cx="7772400" cy="1500187"/>
          </a:xfrm>
        </p:spPr>
        <p:txBody>
          <a:bodyPr>
            <a:normAutofit/>
          </a:bodyPr>
          <a:lstStyle/>
          <a:p>
            <a:r>
              <a:rPr lang="en-US" sz="2800" b="1" dirty="0"/>
              <a:t>Basic functions of Human Resource Management</a:t>
            </a:r>
          </a:p>
        </p:txBody>
      </p:sp>
      <p:sp>
        <p:nvSpPr>
          <p:cNvPr id="5" name="Slide Number Placeholder 4"/>
          <p:cNvSpPr>
            <a:spLocks noGrp="1"/>
          </p:cNvSpPr>
          <p:nvPr>
            <p:ph type="sldNum" sz="quarter" idx="12"/>
          </p:nvPr>
        </p:nvSpPr>
        <p:spPr/>
        <p:txBody>
          <a:bodyPr/>
          <a:lstStyle/>
          <a:p>
            <a:fld id="{36A94550-0172-2A4E-BEEB-6BE00EB0E97C}" type="slidenum">
              <a:rPr lang="en-US" smtClean="0">
                <a:solidFill>
                  <a:prstClr val="black">
                    <a:tint val="75000"/>
                  </a:prstClr>
                </a:solidFill>
              </a:rPr>
              <a:t>30</a:t>
            </a:fld>
            <a:endParaRPr lang="en-US" dirty="0">
              <a:solidFill>
                <a:prstClr val="black">
                  <a:tint val="75000"/>
                </a:prstClr>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fontScale="90000"/>
          </a:bodyPr>
          <a:lstStyle/>
          <a:p>
            <a:r>
              <a:rPr lang="en-US" dirty="0">
                <a:solidFill>
                  <a:srgbClr val="FFFFFF"/>
                </a:solidFill>
              </a:rPr>
              <a:t>4. Training, Education &amp; Staff Development</a:t>
            </a:r>
          </a:p>
        </p:txBody>
      </p:sp>
      <p:sp>
        <p:nvSpPr>
          <p:cNvPr id="3" name="Content Placeholder 2"/>
          <p:cNvSpPr>
            <a:spLocks noGrp="1"/>
          </p:cNvSpPr>
          <p:nvPr>
            <p:ph idx="1"/>
          </p:nvPr>
        </p:nvSpPr>
        <p:spPr>
          <a:xfrm>
            <a:off x="261004" y="1183284"/>
            <a:ext cx="8648218" cy="4787899"/>
          </a:xfrm>
        </p:spPr>
        <p:txBody>
          <a:bodyPr>
            <a:noAutofit/>
          </a:bodyPr>
          <a:lstStyle/>
          <a:p>
            <a:pPr marL="0" indent="0" defTabSz="914400" fontAlgn="base">
              <a:lnSpc>
                <a:spcPct val="170000"/>
              </a:lnSpc>
              <a:spcAft>
                <a:spcPct val="0"/>
              </a:spcAft>
              <a:buNone/>
              <a:defRPr/>
            </a:pPr>
            <a:r>
              <a:rPr lang="en-US" sz="2800" b="1" dirty="0"/>
              <a:t>What you will learn:</a:t>
            </a:r>
          </a:p>
          <a:p>
            <a:pPr defTabSz="914400" fontAlgn="base">
              <a:lnSpc>
                <a:spcPct val="150000"/>
              </a:lnSpc>
              <a:spcBef>
                <a:spcPts val="0"/>
              </a:spcBef>
              <a:spcAft>
                <a:spcPct val="0"/>
              </a:spcAft>
              <a:defRPr/>
            </a:pPr>
            <a:r>
              <a:rPr lang="en-US" sz="2800" dirty="0"/>
              <a:t>Importance of training, education &amp; staff development</a:t>
            </a:r>
          </a:p>
          <a:p>
            <a:pPr defTabSz="914400" fontAlgn="base">
              <a:lnSpc>
                <a:spcPct val="150000"/>
              </a:lnSpc>
              <a:spcBef>
                <a:spcPts val="0"/>
              </a:spcBef>
              <a:spcAft>
                <a:spcPct val="0"/>
              </a:spcAft>
              <a:defRPr/>
            </a:pPr>
            <a:r>
              <a:rPr lang="en-US" sz="2800" dirty="0"/>
              <a:t>Types of training employees need</a:t>
            </a:r>
          </a:p>
          <a:p>
            <a:pPr defTabSz="914400" fontAlgn="base">
              <a:lnSpc>
                <a:spcPct val="150000"/>
              </a:lnSpc>
              <a:spcBef>
                <a:spcPts val="0"/>
              </a:spcBef>
              <a:spcAft>
                <a:spcPct val="0"/>
              </a:spcAft>
              <a:defRPr/>
            </a:pPr>
            <a:r>
              <a:rPr lang="en-US" sz="2800" dirty="0"/>
              <a:t>Creating a learning environment</a:t>
            </a:r>
          </a:p>
          <a:p>
            <a:pPr defTabSz="914400" fontAlgn="base">
              <a:lnSpc>
                <a:spcPct val="150000"/>
              </a:lnSpc>
              <a:spcBef>
                <a:spcPts val="0"/>
              </a:spcBef>
              <a:spcAft>
                <a:spcPct val="0"/>
              </a:spcAft>
              <a:defRPr/>
            </a:pPr>
            <a:endParaRPr lang="en-US" sz="2800" dirty="0"/>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31</a:t>
            </a:fld>
            <a:endParaRPr lang="en-US" dirty="0">
              <a:solidFill>
                <a:prstClr val="black">
                  <a:tint val="75000"/>
                </a:prstClr>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0629" y="1178525"/>
            <a:ext cx="8890000" cy="5434096"/>
          </a:xfrm>
        </p:spPr>
        <p:txBody>
          <a:bodyPr>
            <a:noAutofit/>
          </a:bodyPr>
          <a:lstStyle/>
          <a:p>
            <a:pPr marL="0" indent="0">
              <a:buNone/>
            </a:pPr>
            <a:r>
              <a:rPr lang="en-US" sz="2800" b="1" dirty="0"/>
              <a:t>Definition</a:t>
            </a:r>
          </a:p>
          <a:p>
            <a:pPr marL="0" indent="0">
              <a:buNone/>
            </a:pPr>
            <a:r>
              <a:rPr lang="en-US" sz="2400" dirty="0"/>
              <a:t>Ongoing educational activities offered to employees to improve skills, expertise or knowledge in their field of work.</a:t>
            </a:r>
          </a:p>
          <a:p>
            <a:pPr marL="0" indent="0">
              <a:buNone/>
            </a:pPr>
            <a:endParaRPr lang="en-US" sz="2800" b="1" dirty="0"/>
          </a:p>
          <a:p>
            <a:r>
              <a:rPr lang="en-US" sz="2800" i="1" dirty="0"/>
              <a:t>Informal training</a:t>
            </a:r>
            <a:endParaRPr lang="en-US" sz="2800" dirty="0"/>
          </a:p>
          <a:p>
            <a:r>
              <a:rPr lang="en-US" sz="2800" i="1" dirty="0"/>
              <a:t>In-service training</a:t>
            </a:r>
          </a:p>
          <a:p>
            <a:r>
              <a:rPr lang="en-US" sz="2800" i="1" dirty="0"/>
              <a:t>Continuing education</a:t>
            </a:r>
            <a:endParaRPr lang="en-US" sz="2800" dirty="0"/>
          </a:p>
          <a:p>
            <a:r>
              <a:rPr lang="en-US" sz="2800" i="1" dirty="0"/>
              <a:t>Professional development courses</a:t>
            </a:r>
            <a:r>
              <a:rPr lang="en-US" sz="2800" dirty="0"/>
              <a:t> </a:t>
            </a:r>
          </a:p>
          <a:p>
            <a:pPr marL="0" indent="0">
              <a:buNone/>
            </a:pPr>
            <a:endParaRPr lang="en-US" sz="2800" b="1" dirty="0"/>
          </a:p>
        </p:txBody>
      </p:sp>
      <p:sp>
        <p:nvSpPr>
          <p:cNvPr id="4" name="Title 1"/>
          <p:cNvSpPr>
            <a:spLocks noGrp="1"/>
          </p:cNvSpPr>
          <p:nvPr>
            <p:ph type="title"/>
          </p:nvPr>
        </p:nvSpPr>
        <p:spPr>
          <a:xfrm>
            <a:off x="0" y="0"/>
            <a:ext cx="9144000" cy="1143000"/>
          </a:xfrm>
          <a:solidFill>
            <a:srgbClr val="10253F"/>
          </a:solidFill>
        </p:spPr>
        <p:txBody>
          <a:bodyPr>
            <a:normAutofit fontScale="90000"/>
          </a:bodyPr>
          <a:lstStyle/>
          <a:p>
            <a:r>
              <a:rPr lang="en-US" dirty="0">
                <a:solidFill>
                  <a:srgbClr val="FFFFFF"/>
                </a:solidFill>
              </a:rPr>
              <a:t>4. Training, Education &amp; Staff Development</a:t>
            </a:r>
          </a:p>
        </p:txBody>
      </p:sp>
      <p:sp>
        <p:nvSpPr>
          <p:cNvPr id="2" name="Slide Number Placeholder 1"/>
          <p:cNvSpPr>
            <a:spLocks noGrp="1"/>
          </p:cNvSpPr>
          <p:nvPr>
            <p:ph type="sldNum" sz="quarter" idx="12"/>
          </p:nvPr>
        </p:nvSpPr>
        <p:spPr/>
        <p:txBody>
          <a:bodyPr/>
          <a:lstStyle/>
          <a:p>
            <a:fld id="{36A94550-0172-2A4E-BEEB-6BE00EB0E97C}" type="slidenum">
              <a:rPr lang="en-US" smtClean="0">
                <a:solidFill>
                  <a:prstClr val="black">
                    <a:tint val="75000"/>
                  </a:prstClr>
                </a:solidFill>
              </a:rPr>
              <a:t>32</a:t>
            </a:fld>
            <a:endParaRPr lang="en-US" dirty="0">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0629" y="1287380"/>
            <a:ext cx="8890000" cy="5434096"/>
          </a:xfrm>
        </p:spPr>
        <p:txBody>
          <a:bodyPr>
            <a:noAutofit/>
          </a:bodyPr>
          <a:lstStyle/>
          <a:p>
            <a:pPr marL="0" indent="0">
              <a:buNone/>
            </a:pPr>
            <a:r>
              <a:rPr lang="en-US" sz="2800" b="1" dirty="0"/>
              <a:t>Why important?</a:t>
            </a:r>
          </a:p>
          <a:p>
            <a:pPr>
              <a:lnSpc>
                <a:spcPct val="150000"/>
              </a:lnSpc>
              <a:spcBef>
                <a:spcPts val="0"/>
              </a:spcBef>
            </a:pPr>
            <a:r>
              <a:rPr lang="en-US" sz="2400" dirty="0"/>
              <a:t>Helps employees practice existing skills or learn new skills</a:t>
            </a:r>
          </a:p>
          <a:p>
            <a:pPr>
              <a:lnSpc>
                <a:spcPct val="150000"/>
              </a:lnSpc>
              <a:spcBef>
                <a:spcPts val="0"/>
              </a:spcBef>
            </a:pPr>
            <a:r>
              <a:rPr lang="en-US" sz="2400" dirty="0"/>
              <a:t>Accreditation</a:t>
            </a:r>
          </a:p>
          <a:p>
            <a:pPr defTabSz="914400" fontAlgn="base">
              <a:lnSpc>
                <a:spcPct val="150000"/>
              </a:lnSpc>
              <a:spcAft>
                <a:spcPct val="0"/>
              </a:spcAft>
              <a:buFont typeface="Arial" panose="020B0604020202020204" pitchFamily="34" charset="0"/>
              <a:buChar char="•"/>
              <a:defRPr/>
            </a:pPr>
            <a:r>
              <a:rPr lang="en-US" sz="2400" dirty="0"/>
              <a:t>Builds and maintains morale</a:t>
            </a:r>
          </a:p>
          <a:p>
            <a:pPr>
              <a:lnSpc>
                <a:spcPct val="150000"/>
              </a:lnSpc>
            </a:pPr>
            <a:r>
              <a:rPr lang="en-US" sz="2400" dirty="0"/>
              <a:t>Encourages professionals to stay up-to-date on new developments</a:t>
            </a:r>
          </a:p>
          <a:p>
            <a:pPr>
              <a:lnSpc>
                <a:spcPct val="150000"/>
              </a:lnSpc>
            </a:pPr>
            <a:r>
              <a:rPr lang="en-US" sz="2400" dirty="0"/>
              <a:t>Brings new knowledge into the organization</a:t>
            </a:r>
          </a:p>
          <a:p>
            <a:pPr>
              <a:lnSpc>
                <a:spcPct val="150000"/>
              </a:lnSpc>
            </a:pPr>
            <a:r>
              <a:rPr lang="en-US" sz="2400" dirty="0"/>
              <a:t>Prepares the organization to meet new challenges</a:t>
            </a:r>
          </a:p>
        </p:txBody>
      </p:sp>
      <p:sp>
        <p:nvSpPr>
          <p:cNvPr id="4" name="Title 1"/>
          <p:cNvSpPr>
            <a:spLocks noGrp="1"/>
          </p:cNvSpPr>
          <p:nvPr>
            <p:ph type="title"/>
          </p:nvPr>
        </p:nvSpPr>
        <p:spPr>
          <a:xfrm>
            <a:off x="0" y="0"/>
            <a:ext cx="9144000" cy="1143000"/>
          </a:xfrm>
          <a:solidFill>
            <a:srgbClr val="10253F"/>
          </a:solidFill>
        </p:spPr>
        <p:txBody>
          <a:bodyPr>
            <a:normAutofit fontScale="90000"/>
          </a:bodyPr>
          <a:lstStyle/>
          <a:p>
            <a:r>
              <a:rPr lang="en-US" dirty="0">
                <a:solidFill>
                  <a:srgbClr val="FFFFFF"/>
                </a:solidFill>
              </a:rPr>
              <a:t>4. Training, Education &amp; Staff Development</a:t>
            </a:r>
          </a:p>
        </p:txBody>
      </p:sp>
      <p:sp>
        <p:nvSpPr>
          <p:cNvPr id="2" name="Slide Number Placeholder 1"/>
          <p:cNvSpPr>
            <a:spLocks noGrp="1"/>
          </p:cNvSpPr>
          <p:nvPr>
            <p:ph type="sldNum" sz="quarter" idx="12"/>
          </p:nvPr>
        </p:nvSpPr>
        <p:spPr/>
        <p:txBody>
          <a:bodyPr/>
          <a:lstStyle/>
          <a:p>
            <a:fld id="{36A94550-0172-2A4E-BEEB-6BE00EB0E97C}" type="slidenum">
              <a:rPr lang="en-US" smtClean="0">
                <a:solidFill>
                  <a:prstClr val="black">
                    <a:tint val="75000"/>
                  </a:prstClr>
                </a:solidFill>
              </a:rPr>
              <a:t>33</a:t>
            </a:fld>
            <a:endParaRPr lang="en-US" dirty="0">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033576"/>
            <a:ext cx="4137468" cy="4525963"/>
          </a:xfrm>
        </p:spPr>
        <p:txBody>
          <a:bodyPr>
            <a:noAutofit/>
          </a:bodyPr>
          <a:lstStyle/>
          <a:p>
            <a:pPr marL="0" indent="0" algn="r">
              <a:lnSpc>
                <a:spcPct val="120000"/>
              </a:lnSpc>
              <a:buNone/>
            </a:pPr>
            <a:r>
              <a:rPr lang="en-US" sz="2200" dirty="0"/>
              <a:t>Review of knowledge and skills</a:t>
            </a:r>
          </a:p>
          <a:p>
            <a:pPr marL="0" indent="0" algn="r">
              <a:lnSpc>
                <a:spcPct val="120000"/>
              </a:lnSpc>
              <a:buNone/>
            </a:pPr>
            <a:endParaRPr lang="en-US" sz="2200" dirty="0"/>
          </a:p>
          <a:p>
            <a:pPr marL="0" indent="0" algn="r">
              <a:lnSpc>
                <a:spcPct val="120000"/>
              </a:lnSpc>
              <a:buNone/>
            </a:pPr>
            <a:r>
              <a:rPr lang="en-US" sz="2200" dirty="0"/>
              <a:t>Demonstration of competency</a:t>
            </a:r>
          </a:p>
          <a:p>
            <a:pPr marL="0" indent="0" algn="r">
              <a:lnSpc>
                <a:spcPct val="120000"/>
              </a:lnSpc>
              <a:buNone/>
            </a:pPr>
            <a:endParaRPr lang="en-US" sz="2200" dirty="0"/>
          </a:p>
          <a:p>
            <a:pPr marL="0" indent="0" algn="r">
              <a:lnSpc>
                <a:spcPct val="120000"/>
              </a:lnSpc>
              <a:buNone/>
            </a:pPr>
            <a:r>
              <a:rPr lang="en-US" sz="2200" dirty="0"/>
              <a:t>New/revised P&amp;P </a:t>
            </a:r>
          </a:p>
          <a:p>
            <a:pPr marL="0" indent="0" algn="r">
              <a:lnSpc>
                <a:spcPct val="120000"/>
              </a:lnSpc>
              <a:buNone/>
            </a:pPr>
            <a:endParaRPr lang="en-US" sz="2200" dirty="0"/>
          </a:p>
          <a:p>
            <a:pPr marL="0" indent="0" algn="r">
              <a:lnSpc>
                <a:spcPct val="120000"/>
              </a:lnSpc>
              <a:buNone/>
            </a:pPr>
            <a:r>
              <a:rPr lang="en-US" sz="2200" dirty="0"/>
              <a:t>New knowledge</a:t>
            </a:r>
          </a:p>
          <a:p>
            <a:pPr marL="0" indent="0" algn="r">
              <a:lnSpc>
                <a:spcPct val="120000"/>
              </a:lnSpc>
              <a:buNone/>
            </a:pPr>
            <a:endParaRPr lang="en-US" sz="2200" dirty="0"/>
          </a:p>
          <a:p>
            <a:pPr marL="0" indent="0" algn="r">
              <a:lnSpc>
                <a:spcPct val="120000"/>
              </a:lnSpc>
              <a:buNone/>
            </a:pPr>
            <a:r>
              <a:rPr lang="en-US" sz="2200" dirty="0"/>
              <a:t>New skills</a:t>
            </a:r>
          </a:p>
          <a:p>
            <a:pPr marL="457200" lvl="1" indent="0" algn="r">
              <a:lnSpc>
                <a:spcPct val="120000"/>
              </a:lnSpc>
              <a:buNone/>
            </a:pPr>
            <a:endParaRPr lang="en-US" sz="2200" dirty="0"/>
          </a:p>
        </p:txBody>
      </p:sp>
      <p:sp>
        <p:nvSpPr>
          <p:cNvPr id="6" name="Content Placeholder 2"/>
          <p:cNvSpPr txBox="1"/>
          <p:nvPr/>
        </p:nvSpPr>
        <p:spPr>
          <a:xfrm>
            <a:off x="4743541" y="2069672"/>
            <a:ext cx="4652823" cy="4525963"/>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nSpc>
                <a:spcPct val="120000"/>
              </a:lnSpc>
              <a:buFont typeface="Arial" panose="020B0604020202020204"/>
              <a:buNone/>
            </a:pPr>
            <a:r>
              <a:rPr lang="en-US" sz="2000" dirty="0">
                <a:solidFill>
                  <a:srgbClr val="4F81BD">
                    <a:lumMod val="50000"/>
                  </a:srgbClr>
                </a:solidFill>
              </a:rPr>
              <a:t>Proper hand washing technique</a:t>
            </a:r>
          </a:p>
          <a:p>
            <a:pPr marL="0" indent="0">
              <a:lnSpc>
                <a:spcPct val="120000"/>
              </a:lnSpc>
              <a:buFont typeface="Arial" panose="020B0604020202020204"/>
              <a:buNone/>
            </a:pPr>
            <a:endParaRPr lang="en-US" sz="2000" dirty="0">
              <a:solidFill>
                <a:srgbClr val="4F81BD">
                  <a:lumMod val="50000"/>
                </a:srgbClr>
              </a:solidFill>
            </a:endParaRPr>
          </a:p>
          <a:p>
            <a:pPr marL="0" indent="0">
              <a:lnSpc>
                <a:spcPct val="120000"/>
              </a:lnSpc>
              <a:buFont typeface="Arial" panose="020B0604020202020204"/>
              <a:buNone/>
            </a:pPr>
            <a:r>
              <a:rPr lang="en-US" sz="2000" dirty="0">
                <a:solidFill>
                  <a:srgbClr val="4F81BD">
                    <a:lumMod val="50000"/>
                  </a:srgbClr>
                </a:solidFill>
              </a:rPr>
              <a:t>Creation of an Excel spreadsheet</a:t>
            </a:r>
          </a:p>
          <a:p>
            <a:pPr marL="0" indent="0">
              <a:lnSpc>
                <a:spcPct val="120000"/>
              </a:lnSpc>
              <a:buFont typeface="Arial" panose="020B0604020202020204"/>
              <a:buNone/>
            </a:pPr>
            <a:endParaRPr lang="en-US" sz="1000" dirty="0">
              <a:solidFill>
                <a:srgbClr val="4F81BD">
                  <a:lumMod val="50000"/>
                </a:srgbClr>
              </a:solidFill>
            </a:endParaRPr>
          </a:p>
          <a:p>
            <a:pPr marL="0" indent="0">
              <a:lnSpc>
                <a:spcPct val="120000"/>
              </a:lnSpc>
              <a:buFont typeface="Arial" panose="020B0604020202020204"/>
              <a:buNone/>
            </a:pPr>
            <a:endParaRPr lang="en-US" sz="1000" dirty="0">
              <a:solidFill>
                <a:srgbClr val="4F81BD">
                  <a:lumMod val="50000"/>
                </a:srgbClr>
              </a:solidFill>
            </a:endParaRPr>
          </a:p>
          <a:p>
            <a:pPr marL="0" indent="0">
              <a:lnSpc>
                <a:spcPct val="120000"/>
              </a:lnSpc>
              <a:buFont typeface="Arial" panose="020B0604020202020204"/>
              <a:buNone/>
            </a:pPr>
            <a:endParaRPr lang="en-US" sz="1000" dirty="0">
              <a:solidFill>
                <a:srgbClr val="4F81BD">
                  <a:lumMod val="50000"/>
                </a:srgbClr>
              </a:solidFill>
            </a:endParaRPr>
          </a:p>
          <a:p>
            <a:pPr marL="0" indent="0">
              <a:lnSpc>
                <a:spcPct val="120000"/>
              </a:lnSpc>
              <a:buFont typeface="Arial" panose="020B0604020202020204"/>
              <a:buNone/>
            </a:pPr>
            <a:r>
              <a:rPr lang="en-US" sz="2000" dirty="0">
                <a:solidFill>
                  <a:srgbClr val="4F81BD">
                    <a:lumMod val="50000"/>
                  </a:srgbClr>
                </a:solidFill>
              </a:rPr>
              <a:t>New policy for reporting medical errors</a:t>
            </a:r>
          </a:p>
          <a:p>
            <a:pPr marL="0" indent="0">
              <a:lnSpc>
                <a:spcPct val="120000"/>
              </a:lnSpc>
              <a:buFont typeface="Arial" panose="020B0604020202020204"/>
              <a:buNone/>
            </a:pPr>
            <a:endParaRPr lang="en-US" sz="2000" dirty="0">
              <a:solidFill>
                <a:srgbClr val="4F81BD">
                  <a:lumMod val="50000"/>
                </a:srgbClr>
              </a:solidFill>
            </a:endParaRPr>
          </a:p>
          <a:p>
            <a:pPr marL="0" indent="0">
              <a:lnSpc>
                <a:spcPct val="120000"/>
              </a:lnSpc>
              <a:buFont typeface="Arial" panose="020B0604020202020204"/>
              <a:buNone/>
            </a:pPr>
            <a:r>
              <a:rPr lang="en-US" sz="2000" dirty="0">
                <a:solidFill>
                  <a:srgbClr val="4F81BD">
                    <a:lumMod val="50000"/>
                  </a:srgbClr>
                </a:solidFill>
              </a:rPr>
              <a:t>New way to treat heart attack patients</a:t>
            </a:r>
          </a:p>
          <a:p>
            <a:pPr marL="0" indent="0">
              <a:lnSpc>
                <a:spcPct val="120000"/>
              </a:lnSpc>
              <a:buFont typeface="Arial" panose="020B0604020202020204"/>
              <a:buNone/>
            </a:pPr>
            <a:endParaRPr lang="en-US" sz="500" dirty="0">
              <a:solidFill>
                <a:srgbClr val="4F81BD">
                  <a:lumMod val="50000"/>
                </a:srgbClr>
              </a:solidFill>
            </a:endParaRPr>
          </a:p>
          <a:p>
            <a:pPr marL="0" indent="0">
              <a:lnSpc>
                <a:spcPct val="120000"/>
              </a:lnSpc>
              <a:buFont typeface="Arial" panose="020B0604020202020204"/>
              <a:buNone/>
            </a:pPr>
            <a:endParaRPr lang="en-US" sz="500" dirty="0">
              <a:solidFill>
                <a:srgbClr val="4F81BD">
                  <a:lumMod val="50000"/>
                </a:srgbClr>
              </a:solidFill>
            </a:endParaRPr>
          </a:p>
          <a:p>
            <a:pPr marL="0" indent="0">
              <a:lnSpc>
                <a:spcPct val="120000"/>
              </a:lnSpc>
              <a:buFont typeface="Arial" panose="020B0604020202020204"/>
              <a:buNone/>
            </a:pPr>
            <a:endParaRPr lang="en-US" sz="500" dirty="0">
              <a:solidFill>
                <a:srgbClr val="4F81BD">
                  <a:lumMod val="50000"/>
                </a:srgbClr>
              </a:solidFill>
            </a:endParaRPr>
          </a:p>
          <a:p>
            <a:pPr marL="0" indent="0">
              <a:lnSpc>
                <a:spcPct val="120000"/>
              </a:lnSpc>
              <a:buFont typeface="Arial" panose="020B0604020202020204"/>
              <a:buNone/>
            </a:pPr>
            <a:endParaRPr lang="en-US" sz="500" dirty="0">
              <a:solidFill>
                <a:srgbClr val="4F81BD">
                  <a:lumMod val="50000"/>
                </a:srgbClr>
              </a:solidFill>
            </a:endParaRPr>
          </a:p>
          <a:p>
            <a:pPr marL="0" indent="0">
              <a:lnSpc>
                <a:spcPct val="120000"/>
              </a:lnSpc>
              <a:buFont typeface="Arial" panose="020B0604020202020204"/>
              <a:buNone/>
            </a:pPr>
            <a:endParaRPr lang="en-US" sz="500" dirty="0">
              <a:solidFill>
                <a:srgbClr val="4F81BD">
                  <a:lumMod val="50000"/>
                </a:srgbClr>
              </a:solidFill>
            </a:endParaRPr>
          </a:p>
          <a:p>
            <a:pPr marL="0" indent="0">
              <a:lnSpc>
                <a:spcPct val="120000"/>
              </a:lnSpc>
              <a:buFont typeface="Arial" panose="020B0604020202020204"/>
              <a:buNone/>
            </a:pPr>
            <a:r>
              <a:rPr lang="en-US" sz="2000" dirty="0">
                <a:solidFill>
                  <a:srgbClr val="4F81BD">
                    <a:lumMod val="50000"/>
                  </a:srgbClr>
                </a:solidFill>
              </a:rPr>
              <a:t>Intubating a patient</a:t>
            </a:r>
          </a:p>
          <a:p>
            <a:pPr marL="457200" lvl="1" indent="0">
              <a:lnSpc>
                <a:spcPct val="120000"/>
              </a:lnSpc>
              <a:buFont typeface="Arial" panose="020B0604020202020204"/>
              <a:buNone/>
            </a:pPr>
            <a:endParaRPr lang="en-US" sz="1800" dirty="0">
              <a:solidFill>
                <a:srgbClr val="4F81BD">
                  <a:lumMod val="50000"/>
                </a:srgbClr>
              </a:solidFill>
            </a:endParaRPr>
          </a:p>
        </p:txBody>
      </p:sp>
      <p:sp>
        <p:nvSpPr>
          <p:cNvPr id="2" name="TextBox 1"/>
          <p:cNvSpPr txBox="1"/>
          <p:nvPr/>
        </p:nvSpPr>
        <p:spPr>
          <a:xfrm>
            <a:off x="1251966" y="1255164"/>
            <a:ext cx="2986715" cy="830997"/>
          </a:xfrm>
          <a:prstGeom prst="rect">
            <a:avLst/>
          </a:prstGeom>
          <a:noFill/>
        </p:spPr>
        <p:txBody>
          <a:bodyPr wrap="none" rtlCol="0">
            <a:spAutoFit/>
          </a:bodyPr>
          <a:lstStyle/>
          <a:p>
            <a:pPr defTabSz="457200"/>
            <a:r>
              <a:rPr lang="en-US" sz="2400" b="1" dirty="0">
                <a:solidFill>
                  <a:prstClr val="black"/>
                </a:solidFill>
              </a:rPr>
              <a:t>What type of training </a:t>
            </a:r>
          </a:p>
          <a:p>
            <a:pPr defTabSz="457200"/>
            <a:r>
              <a:rPr lang="en-US" sz="2400" b="1" dirty="0">
                <a:solidFill>
                  <a:prstClr val="black"/>
                </a:solidFill>
              </a:rPr>
              <a:t>employees need?</a:t>
            </a:r>
          </a:p>
        </p:txBody>
      </p:sp>
      <p:sp>
        <p:nvSpPr>
          <p:cNvPr id="7" name="TextBox 6"/>
          <p:cNvSpPr txBox="1"/>
          <p:nvPr/>
        </p:nvSpPr>
        <p:spPr>
          <a:xfrm>
            <a:off x="5821392" y="1339388"/>
            <a:ext cx="1274207" cy="461665"/>
          </a:xfrm>
          <a:prstGeom prst="rect">
            <a:avLst/>
          </a:prstGeom>
          <a:noFill/>
        </p:spPr>
        <p:txBody>
          <a:bodyPr wrap="none" rtlCol="0">
            <a:spAutoFit/>
          </a:bodyPr>
          <a:lstStyle/>
          <a:p>
            <a:pPr defTabSz="457200"/>
            <a:r>
              <a:rPr lang="en-US" sz="2400" b="1" dirty="0">
                <a:solidFill>
                  <a:prstClr val="black"/>
                </a:solidFill>
              </a:rPr>
              <a:t>Example</a:t>
            </a:r>
          </a:p>
        </p:txBody>
      </p:sp>
      <p:cxnSp>
        <p:nvCxnSpPr>
          <p:cNvPr id="9" name="Straight Connector 8"/>
          <p:cNvCxnSpPr/>
          <p:nvPr/>
        </p:nvCxnSpPr>
        <p:spPr>
          <a:xfrm>
            <a:off x="4630421" y="1296309"/>
            <a:ext cx="0" cy="5052452"/>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5" name="Slide Number Placeholder 4"/>
          <p:cNvSpPr>
            <a:spLocks noGrp="1"/>
          </p:cNvSpPr>
          <p:nvPr>
            <p:ph type="sldNum" sz="quarter" idx="12"/>
          </p:nvPr>
        </p:nvSpPr>
        <p:spPr>
          <a:xfrm>
            <a:off x="6902128" y="6356350"/>
            <a:ext cx="2133600" cy="365125"/>
          </a:xfrm>
        </p:spPr>
        <p:txBody>
          <a:bodyPr/>
          <a:lstStyle/>
          <a:p>
            <a:fld id="{36A94550-0172-2A4E-BEEB-6BE00EB0E97C}" type="slidenum">
              <a:rPr lang="en-US" smtClean="0">
                <a:solidFill>
                  <a:prstClr val="black">
                    <a:tint val="75000"/>
                  </a:prstClr>
                </a:solidFill>
              </a:rPr>
              <a:t>34</a:t>
            </a:fld>
            <a:endParaRPr lang="en-US" dirty="0">
              <a:solidFill>
                <a:prstClr val="black">
                  <a:tint val="75000"/>
                </a:prstClr>
              </a:solidFill>
            </a:endParaRPr>
          </a:p>
        </p:txBody>
      </p:sp>
      <p:sp>
        <p:nvSpPr>
          <p:cNvPr id="8" name="Title 7"/>
          <p:cNvSpPr>
            <a:spLocks noGrp="1"/>
          </p:cNvSpPr>
          <p:nvPr>
            <p:ph type="title"/>
          </p:nvPr>
        </p:nvSpPr>
        <p:spPr/>
        <p:txBody>
          <a:bodyPr/>
          <a:lstStyle/>
          <a:p>
            <a:endParaRPr lang="en-US" dirty="0"/>
          </a:p>
        </p:txBody>
      </p:sp>
      <p:sp>
        <p:nvSpPr>
          <p:cNvPr id="10" name="Title 1"/>
          <p:cNvSpPr txBox="1"/>
          <p:nvPr/>
        </p:nvSpPr>
        <p:spPr>
          <a:xfrm>
            <a:off x="0" y="0"/>
            <a:ext cx="9144000" cy="1143000"/>
          </a:xfrm>
          <a:prstGeom prst="rect">
            <a:avLst/>
          </a:prstGeom>
          <a:solidFill>
            <a:srgbClr val="10253F"/>
          </a:solid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4000" dirty="0">
                <a:solidFill>
                  <a:srgbClr val="FFFFFF"/>
                </a:solidFill>
              </a:rPr>
              <a:t>4. Training, Education &amp; Staff Development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p:cNvSpPr>
            <a:spLocks noGrp="1"/>
          </p:cNvSpPr>
          <p:nvPr>
            <p:ph type="sldNum" sz="quarter" idx="12"/>
          </p:nvPr>
        </p:nvSpPr>
        <p:spPr>
          <a:xfrm>
            <a:off x="6553200" y="6356350"/>
            <a:ext cx="2133600" cy="365125"/>
          </a:xfrm>
        </p:spPr>
        <p:txBody>
          <a:bodyPr/>
          <a:lstStyle/>
          <a:p>
            <a:fld id="{74287321-5DC6-45D0-9071-8583FBCFAFB7}" type="slidenum">
              <a:rPr lang="en-US">
                <a:solidFill>
                  <a:prstClr val="black">
                    <a:tint val="75000"/>
                  </a:prstClr>
                </a:solidFill>
              </a:rPr>
              <a:t>35</a:t>
            </a:fld>
            <a:endParaRPr lang="en-US" dirty="0">
              <a:solidFill>
                <a:prstClr val="black">
                  <a:tint val="75000"/>
                </a:prstClr>
              </a:solidFill>
            </a:endParaRPr>
          </a:p>
        </p:txBody>
      </p:sp>
      <p:sp>
        <p:nvSpPr>
          <p:cNvPr id="3" name="Rectangle 2"/>
          <p:cNvSpPr txBox="1">
            <a:spLocks noChangeArrowheads="1"/>
          </p:cNvSpPr>
          <p:nvPr/>
        </p:nvSpPr>
        <p:spPr>
          <a:xfrm>
            <a:off x="189178" y="825382"/>
            <a:ext cx="8229600" cy="1129542"/>
          </a:xfrm>
          <a:prstGeom prst="rect">
            <a:avLst/>
          </a:prstGeom>
        </p:spPr>
        <p:txBody>
          <a:bodyPr/>
          <a:lstStyle/>
          <a:p>
            <a:pPr fontAlgn="base">
              <a:spcBef>
                <a:spcPct val="0"/>
              </a:spcBef>
              <a:spcAft>
                <a:spcPct val="0"/>
              </a:spcAft>
              <a:defRPr/>
            </a:pPr>
            <a:r>
              <a:rPr lang="en-US" sz="2800" b="1" dirty="0">
                <a:solidFill>
                  <a:srgbClr val="000000"/>
                </a:solidFill>
              </a:rPr>
              <a:t>What is a learning environment?</a:t>
            </a:r>
          </a:p>
          <a:p>
            <a:pPr fontAlgn="base">
              <a:spcBef>
                <a:spcPct val="0"/>
              </a:spcBef>
              <a:spcAft>
                <a:spcPct val="0"/>
              </a:spcAft>
              <a:defRPr/>
            </a:pPr>
            <a:r>
              <a:rPr lang="en-US" sz="2800" b="1" dirty="0">
                <a:solidFill>
                  <a:srgbClr val="000000"/>
                </a:solidFill>
              </a:rPr>
              <a:t>An organization where: </a:t>
            </a:r>
          </a:p>
        </p:txBody>
      </p:sp>
      <p:sp>
        <p:nvSpPr>
          <p:cNvPr id="4" name="Rectangle 3"/>
          <p:cNvSpPr txBox="1">
            <a:spLocks noChangeArrowheads="1"/>
          </p:cNvSpPr>
          <p:nvPr/>
        </p:nvSpPr>
        <p:spPr>
          <a:xfrm>
            <a:off x="304800" y="1835279"/>
            <a:ext cx="8382000" cy="4476621"/>
          </a:xfrm>
          <a:prstGeom prst="rect">
            <a:avLst/>
          </a:prstGeom>
        </p:spPr>
        <p:txBody>
          <a:bodyPr/>
          <a:lstStyle/>
          <a:p>
            <a:pPr marL="342900" indent="-342900" fontAlgn="base">
              <a:lnSpc>
                <a:spcPct val="150000"/>
              </a:lnSpc>
              <a:spcBef>
                <a:spcPct val="20000"/>
              </a:spcBef>
              <a:spcAft>
                <a:spcPct val="0"/>
              </a:spcAft>
              <a:buFont typeface="Arial" panose="020B0604020202020204" pitchFamily="34" charset="0"/>
              <a:buChar char="•"/>
              <a:defRPr/>
            </a:pPr>
            <a:r>
              <a:rPr lang="en-US" sz="2400" dirty="0">
                <a:solidFill>
                  <a:prstClr val="black"/>
                </a:solidFill>
              </a:rPr>
              <a:t>learning is </a:t>
            </a:r>
            <a:r>
              <a:rPr lang="en-US" sz="2400" b="1" dirty="0">
                <a:solidFill>
                  <a:prstClr val="black"/>
                </a:solidFill>
              </a:rPr>
              <a:t>encouraged</a:t>
            </a:r>
            <a:r>
              <a:rPr lang="en-US" sz="2400" dirty="0">
                <a:solidFill>
                  <a:prstClr val="black"/>
                </a:solidFill>
              </a:rPr>
              <a:t> and </a:t>
            </a:r>
            <a:r>
              <a:rPr lang="en-US" sz="2400" b="1" dirty="0">
                <a:solidFill>
                  <a:prstClr val="black"/>
                </a:solidFill>
              </a:rPr>
              <a:t>supported</a:t>
            </a:r>
            <a:r>
              <a:rPr lang="en-US" sz="2400" dirty="0">
                <a:solidFill>
                  <a:prstClr val="black"/>
                </a:solidFill>
              </a:rPr>
              <a:t> </a:t>
            </a:r>
          </a:p>
          <a:p>
            <a:pPr marL="342900" indent="-342900" fontAlgn="base">
              <a:lnSpc>
                <a:spcPct val="150000"/>
              </a:lnSpc>
              <a:spcBef>
                <a:spcPct val="20000"/>
              </a:spcBef>
              <a:spcAft>
                <a:spcPct val="0"/>
              </a:spcAft>
              <a:buFont typeface="Arial" panose="020B0604020202020204" pitchFamily="34" charset="0"/>
              <a:buChar char="•"/>
              <a:defRPr/>
            </a:pPr>
            <a:r>
              <a:rPr lang="en-US" sz="2400" dirty="0">
                <a:solidFill>
                  <a:prstClr val="black"/>
                </a:solidFill>
              </a:rPr>
              <a:t>people are not afraid to </a:t>
            </a:r>
            <a:r>
              <a:rPr lang="en-US" sz="2400" b="1" dirty="0">
                <a:solidFill>
                  <a:prstClr val="black"/>
                </a:solidFill>
              </a:rPr>
              <a:t>admit mistakes</a:t>
            </a:r>
          </a:p>
          <a:p>
            <a:pPr marL="342900" indent="-342900" fontAlgn="base">
              <a:lnSpc>
                <a:spcPct val="150000"/>
              </a:lnSpc>
              <a:spcBef>
                <a:spcPct val="20000"/>
              </a:spcBef>
              <a:spcAft>
                <a:spcPct val="0"/>
              </a:spcAft>
              <a:buFont typeface="Arial" panose="020B0604020202020204" pitchFamily="34" charset="0"/>
              <a:buChar char="•"/>
              <a:defRPr/>
            </a:pPr>
            <a:r>
              <a:rPr lang="en-US" sz="2400" dirty="0">
                <a:solidFill>
                  <a:prstClr val="black"/>
                </a:solidFill>
              </a:rPr>
              <a:t>people </a:t>
            </a:r>
            <a:r>
              <a:rPr lang="en-US" sz="2400" b="1" dirty="0">
                <a:solidFill>
                  <a:prstClr val="black"/>
                </a:solidFill>
              </a:rPr>
              <a:t>learn from mistakes</a:t>
            </a:r>
          </a:p>
          <a:p>
            <a:pPr marL="342900" indent="-342900" fontAlgn="base">
              <a:lnSpc>
                <a:spcPct val="150000"/>
              </a:lnSpc>
              <a:spcBef>
                <a:spcPct val="20000"/>
              </a:spcBef>
              <a:spcAft>
                <a:spcPct val="0"/>
              </a:spcAft>
              <a:buFont typeface="Arial" panose="020B0604020202020204" pitchFamily="34" charset="0"/>
              <a:buChar char="•"/>
              <a:defRPr/>
            </a:pPr>
            <a:r>
              <a:rPr lang="en-US" sz="2400" dirty="0">
                <a:solidFill>
                  <a:prstClr val="black"/>
                </a:solidFill>
              </a:rPr>
              <a:t>people are always </a:t>
            </a:r>
            <a:r>
              <a:rPr lang="en-US" sz="2400" b="1" dirty="0">
                <a:solidFill>
                  <a:prstClr val="black"/>
                </a:solidFill>
              </a:rPr>
              <a:t>working to improve</a:t>
            </a:r>
          </a:p>
          <a:p>
            <a:pPr marL="342900" indent="-342900" fontAlgn="base">
              <a:lnSpc>
                <a:spcPct val="150000"/>
              </a:lnSpc>
              <a:spcBef>
                <a:spcPct val="20000"/>
              </a:spcBef>
              <a:spcAft>
                <a:spcPct val="0"/>
              </a:spcAft>
              <a:buFont typeface="Arial" panose="020B0604020202020204" pitchFamily="34" charset="0"/>
              <a:buChar char="•"/>
              <a:defRPr/>
            </a:pPr>
            <a:r>
              <a:rPr lang="en-US" sz="2400" dirty="0">
                <a:solidFill>
                  <a:prstClr val="black"/>
                </a:solidFill>
              </a:rPr>
              <a:t>people can have </a:t>
            </a:r>
            <a:r>
              <a:rPr lang="en-US" sz="2400" b="1" dirty="0">
                <a:solidFill>
                  <a:prstClr val="black"/>
                </a:solidFill>
              </a:rPr>
              <a:t>fun while learning</a:t>
            </a:r>
          </a:p>
          <a:p>
            <a:pPr marL="342900" indent="-342900" fontAlgn="base">
              <a:lnSpc>
                <a:spcPct val="150000"/>
              </a:lnSpc>
              <a:spcBef>
                <a:spcPct val="0"/>
              </a:spcBef>
              <a:spcAft>
                <a:spcPct val="0"/>
              </a:spcAft>
              <a:buFont typeface="Arial" panose="020B0604020202020204" pitchFamily="34" charset="0"/>
              <a:buChar char="•"/>
              <a:defRPr/>
            </a:pPr>
            <a:r>
              <a:rPr lang="en-US" sz="2400" b="1" dirty="0">
                <a:solidFill>
                  <a:prstClr val="black"/>
                </a:solidFill>
              </a:rPr>
              <a:t>d</a:t>
            </a:r>
            <a:r>
              <a:rPr lang="en-US" sz="2400" b="1" dirty="0" err="1">
                <a:solidFill>
                  <a:prstClr val="black"/>
                </a:solidFill>
              </a:rPr>
              <a:t>ifferences</a:t>
            </a:r>
            <a:r>
              <a:rPr lang="en-US" sz="2400" dirty="0">
                <a:solidFill>
                  <a:prstClr val="black"/>
                </a:solidFill>
              </a:rPr>
              <a:t> are appreciated</a:t>
            </a:r>
          </a:p>
          <a:p>
            <a:pPr marL="342900" indent="-342900" fontAlgn="base">
              <a:lnSpc>
                <a:spcPct val="150000"/>
              </a:lnSpc>
              <a:spcAft>
                <a:spcPct val="0"/>
              </a:spcAft>
              <a:buFont typeface="Arial" panose="020B0604020202020204" pitchFamily="34" charset="0"/>
              <a:buChar char="•"/>
              <a:defRPr/>
            </a:pPr>
            <a:r>
              <a:rPr lang="en-US" sz="2400" dirty="0">
                <a:solidFill>
                  <a:prstClr val="black"/>
                </a:solidFill>
              </a:rPr>
              <a:t>leaders are </a:t>
            </a:r>
            <a:r>
              <a:rPr lang="en-US" sz="2400" b="1" dirty="0">
                <a:solidFill>
                  <a:prstClr val="black"/>
                </a:solidFill>
              </a:rPr>
              <a:t>open</a:t>
            </a:r>
            <a:r>
              <a:rPr lang="en-US" sz="2400" dirty="0">
                <a:solidFill>
                  <a:prstClr val="black"/>
                </a:solidFill>
              </a:rPr>
              <a:t> to new ideas</a:t>
            </a:r>
          </a:p>
          <a:p>
            <a:pPr marL="342900" indent="-342900" fontAlgn="base">
              <a:lnSpc>
                <a:spcPct val="150000"/>
              </a:lnSpc>
              <a:spcAft>
                <a:spcPct val="0"/>
              </a:spcAft>
              <a:buFont typeface="Arial" panose="020B0604020202020204" pitchFamily="34" charset="0"/>
              <a:buChar char="•"/>
              <a:defRPr/>
            </a:pPr>
            <a:r>
              <a:rPr lang="en-US" sz="2400" dirty="0">
                <a:solidFill>
                  <a:prstClr val="black"/>
                </a:solidFill>
              </a:rPr>
              <a:t>there is time for </a:t>
            </a:r>
            <a:r>
              <a:rPr lang="en-US" sz="2400" b="1" dirty="0">
                <a:solidFill>
                  <a:prstClr val="black"/>
                </a:solidFill>
              </a:rPr>
              <a:t>reflection</a:t>
            </a:r>
          </a:p>
          <a:p>
            <a:pPr marL="457200" indent="-457200" fontAlgn="base">
              <a:lnSpc>
                <a:spcPct val="150000"/>
              </a:lnSpc>
              <a:spcBef>
                <a:spcPct val="20000"/>
              </a:spcBef>
              <a:spcAft>
                <a:spcPct val="0"/>
              </a:spcAft>
              <a:buFont typeface="Arial" panose="020B0604020202020204"/>
              <a:buChar char="•"/>
              <a:defRPr/>
            </a:pPr>
            <a:endParaRPr lang="en-US" sz="2400" dirty="0">
              <a:solidFill>
                <a:prstClr val="black"/>
              </a:solidFill>
            </a:endParaRPr>
          </a:p>
          <a:p>
            <a:pPr fontAlgn="base">
              <a:lnSpc>
                <a:spcPct val="150000"/>
              </a:lnSpc>
              <a:spcBef>
                <a:spcPct val="20000"/>
              </a:spcBef>
              <a:spcAft>
                <a:spcPct val="0"/>
              </a:spcAft>
              <a:defRPr/>
            </a:pPr>
            <a:endParaRPr lang="en-US" sz="2400" dirty="0">
              <a:solidFill>
                <a:prstClr val="black"/>
              </a:solidFill>
            </a:endParaRPr>
          </a:p>
          <a:p>
            <a:pPr marL="457200" indent="-457200" fontAlgn="base">
              <a:lnSpc>
                <a:spcPct val="150000"/>
              </a:lnSpc>
              <a:spcBef>
                <a:spcPct val="20000"/>
              </a:spcBef>
              <a:spcAft>
                <a:spcPct val="0"/>
              </a:spcAft>
              <a:buFont typeface="Arial" panose="020B0604020202020204"/>
              <a:buChar char="•"/>
              <a:defRPr/>
            </a:pPr>
            <a:endParaRPr lang="en-US" sz="2800" dirty="0">
              <a:solidFill>
                <a:prstClr val="black"/>
              </a:solidFill>
            </a:endParaRPr>
          </a:p>
        </p:txBody>
      </p:sp>
      <p:sp>
        <p:nvSpPr>
          <p:cNvPr id="5" name="Title 1"/>
          <p:cNvSpPr txBox="1"/>
          <p:nvPr/>
        </p:nvSpPr>
        <p:spPr>
          <a:xfrm>
            <a:off x="0" y="0"/>
            <a:ext cx="9144000" cy="825382"/>
          </a:xfrm>
          <a:prstGeom prst="rect">
            <a:avLst/>
          </a:prstGeom>
          <a:solidFill>
            <a:srgbClr val="10253F"/>
          </a:solidFill>
        </p:spPr>
        <p:txBody>
          <a:bodyPr>
            <a:normAutofit fontScale="85000" lnSpcReduction="1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4300" dirty="0">
                <a:solidFill>
                  <a:srgbClr val="FFFFFF"/>
                </a:solidFill>
              </a:rPr>
              <a:t>4. Training</a:t>
            </a:r>
            <a:r>
              <a:rPr lang="en-US" dirty="0">
                <a:solidFill>
                  <a:srgbClr val="FFFFFF"/>
                </a:solidFill>
              </a:rPr>
              <a:t>, Education &amp; Staff Development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553645"/>
            <a:ext cx="9144000" cy="1362075"/>
          </a:xfrm>
          <a:solidFill>
            <a:schemeClr val="tx2">
              <a:lumMod val="50000"/>
            </a:schemeClr>
          </a:solidFill>
        </p:spPr>
        <p:txBody>
          <a:bodyPr/>
          <a:lstStyle/>
          <a:p>
            <a:pPr algn="ctr"/>
            <a:r>
              <a:rPr lang="en-US" dirty="0">
                <a:solidFill>
                  <a:srgbClr val="FFFFFF"/>
                </a:solidFill>
              </a:rPr>
              <a:t>5. Employee relations</a:t>
            </a:r>
          </a:p>
        </p:txBody>
      </p:sp>
      <p:sp>
        <p:nvSpPr>
          <p:cNvPr id="3" name="Text Placeholder 2"/>
          <p:cNvSpPr>
            <a:spLocks noGrp="1"/>
          </p:cNvSpPr>
          <p:nvPr>
            <p:ph type="body" idx="1"/>
          </p:nvPr>
        </p:nvSpPr>
        <p:spPr>
          <a:xfrm>
            <a:off x="722313" y="3915720"/>
            <a:ext cx="7772400" cy="491180"/>
          </a:xfrm>
        </p:spPr>
        <p:txBody>
          <a:bodyPr>
            <a:normAutofit lnSpcReduction="10000"/>
          </a:bodyPr>
          <a:lstStyle/>
          <a:p>
            <a:r>
              <a:rPr lang="en-US" sz="2800" b="1" dirty="0"/>
              <a:t>Basic Functions of Human Resource Management</a:t>
            </a:r>
          </a:p>
        </p:txBody>
      </p:sp>
      <p:sp>
        <p:nvSpPr>
          <p:cNvPr id="5" name="Slide Number Placeholder 4"/>
          <p:cNvSpPr>
            <a:spLocks noGrp="1"/>
          </p:cNvSpPr>
          <p:nvPr>
            <p:ph type="sldNum" sz="quarter" idx="12"/>
          </p:nvPr>
        </p:nvSpPr>
        <p:spPr/>
        <p:txBody>
          <a:bodyPr/>
          <a:lstStyle/>
          <a:p>
            <a:fld id="{36A94550-0172-2A4E-BEEB-6BE00EB0E97C}" type="slidenum">
              <a:rPr lang="en-US" smtClean="0">
                <a:solidFill>
                  <a:prstClr val="black">
                    <a:tint val="75000"/>
                  </a:prstClr>
                </a:solidFill>
              </a:rPr>
              <a:t>36</a:t>
            </a:fld>
            <a:endParaRPr lang="en-US" dirty="0">
              <a:solidFill>
                <a:prstClr val="black">
                  <a:tint val="75000"/>
                </a:prstClr>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5. Employee Relations</a:t>
            </a:r>
          </a:p>
        </p:txBody>
      </p:sp>
      <p:sp>
        <p:nvSpPr>
          <p:cNvPr id="3" name="Content Placeholder 2"/>
          <p:cNvSpPr>
            <a:spLocks noGrp="1"/>
          </p:cNvSpPr>
          <p:nvPr>
            <p:ph idx="1"/>
          </p:nvPr>
        </p:nvSpPr>
        <p:spPr>
          <a:xfrm>
            <a:off x="261004" y="1183284"/>
            <a:ext cx="8378497" cy="4787899"/>
          </a:xfrm>
        </p:spPr>
        <p:txBody>
          <a:bodyPr>
            <a:noAutofit/>
          </a:bodyPr>
          <a:lstStyle/>
          <a:p>
            <a:pPr marL="0" indent="0" defTabSz="914400" fontAlgn="base">
              <a:lnSpc>
                <a:spcPct val="170000"/>
              </a:lnSpc>
              <a:spcAft>
                <a:spcPct val="0"/>
              </a:spcAft>
              <a:buNone/>
              <a:defRPr/>
            </a:pPr>
            <a:r>
              <a:rPr lang="en-US" sz="2800" b="1" dirty="0"/>
              <a:t>What you will learn:</a:t>
            </a:r>
          </a:p>
          <a:p>
            <a:pPr defTabSz="914400" fontAlgn="base">
              <a:lnSpc>
                <a:spcPct val="150000"/>
              </a:lnSpc>
              <a:spcBef>
                <a:spcPts val="0"/>
              </a:spcBef>
              <a:spcAft>
                <a:spcPct val="0"/>
              </a:spcAft>
              <a:defRPr/>
            </a:pPr>
            <a:r>
              <a:rPr lang="en-US" sz="2800" dirty="0"/>
              <a:t>Role of Employee Relations</a:t>
            </a:r>
          </a:p>
          <a:p>
            <a:pPr defTabSz="914400" fontAlgn="base">
              <a:lnSpc>
                <a:spcPct val="150000"/>
              </a:lnSpc>
              <a:spcBef>
                <a:spcPts val="0"/>
              </a:spcBef>
              <a:spcAft>
                <a:spcPct val="0"/>
              </a:spcAft>
              <a:defRPr/>
            </a:pPr>
            <a:r>
              <a:rPr lang="en-US" sz="2800" dirty="0"/>
              <a:t>6-Step Conflict Resolution Process</a:t>
            </a:r>
          </a:p>
          <a:p>
            <a:pPr marL="0" indent="0" defTabSz="914400" fontAlgn="base">
              <a:lnSpc>
                <a:spcPct val="170000"/>
              </a:lnSpc>
              <a:spcAft>
                <a:spcPct val="0"/>
              </a:spcAft>
              <a:buNone/>
              <a:defRPr/>
            </a:pPr>
            <a:endParaRPr lang="en-US" sz="2800" dirty="0"/>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37</a:t>
            </a:fld>
            <a:endParaRPr lang="en-US" dirty="0">
              <a:solidFill>
                <a:prstClr val="black">
                  <a:tint val="75000"/>
                </a:prstClr>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9392" y="1348476"/>
            <a:ext cx="8994608" cy="5372999"/>
          </a:xfrm>
        </p:spPr>
        <p:txBody>
          <a:bodyPr>
            <a:noAutofit/>
          </a:bodyPr>
          <a:lstStyle/>
          <a:p>
            <a:pPr marL="0" indent="0">
              <a:spcBef>
                <a:spcPts val="0"/>
              </a:spcBef>
              <a:buNone/>
            </a:pPr>
            <a:r>
              <a:rPr lang="en-US" sz="2800" b="1" dirty="0"/>
              <a:t>Employee Relations</a:t>
            </a:r>
          </a:p>
          <a:p>
            <a:pPr marL="0" indent="0">
              <a:spcBef>
                <a:spcPts val="0"/>
              </a:spcBef>
              <a:buNone/>
            </a:pPr>
            <a:r>
              <a:rPr lang="en-US" sz="2800" b="1" dirty="0"/>
              <a:t>Definition:</a:t>
            </a:r>
          </a:p>
          <a:p>
            <a:pPr marL="0" indent="0">
              <a:lnSpc>
                <a:spcPct val="150000"/>
              </a:lnSpc>
              <a:buNone/>
            </a:pPr>
            <a:r>
              <a:rPr lang="en-US" sz="2400" dirty="0"/>
              <a:t>The prevention and resolution of work-related problems involving staff.</a:t>
            </a:r>
          </a:p>
          <a:p>
            <a:pPr marL="0" indent="0">
              <a:buNone/>
            </a:pPr>
            <a:r>
              <a:rPr lang="en-US" sz="2800" b="1" dirty="0"/>
              <a:t>Why important?</a:t>
            </a:r>
            <a:endParaRPr lang="en-US" sz="2400" i="1" dirty="0"/>
          </a:p>
          <a:p>
            <a:r>
              <a:rPr lang="en-US" sz="2400" dirty="0"/>
              <a:t>Assists managers to address employee performance problems</a:t>
            </a:r>
          </a:p>
          <a:p>
            <a:r>
              <a:rPr lang="en-US" sz="2400" dirty="0"/>
              <a:t>Ensures the manager follows laws, MOH and hospital policies</a:t>
            </a:r>
          </a:p>
          <a:p>
            <a:r>
              <a:rPr lang="en-US" sz="2400" dirty="0"/>
              <a:t>Helps managers and employees to be treated fairly</a:t>
            </a:r>
          </a:p>
          <a:p>
            <a:r>
              <a:rPr lang="en-US" sz="2400" dirty="0"/>
              <a:t>Helps managers and staff members to resolve conflicts so that employees can continue to work productively</a:t>
            </a:r>
          </a:p>
          <a:p>
            <a:pPr marL="457200" lvl="1" indent="0">
              <a:buNone/>
            </a:pPr>
            <a:endParaRPr lang="en-US" sz="2400" i="1" dirty="0"/>
          </a:p>
        </p:txBody>
      </p:sp>
      <p:sp>
        <p:nvSpPr>
          <p:cNvPr id="4"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5. Employee Relations</a:t>
            </a:r>
          </a:p>
        </p:txBody>
      </p:sp>
      <p:sp>
        <p:nvSpPr>
          <p:cNvPr id="2" name="Slide Number Placeholder 1"/>
          <p:cNvSpPr>
            <a:spLocks noGrp="1"/>
          </p:cNvSpPr>
          <p:nvPr>
            <p:ph type="sldNum" sz="quarter" idx="12"/>
          </p:nvPr>
        </p:nvSpPr>
        <p:spPr/>
        <p:txBody>
          <a:bodyPr/>
          <a:lstStyle/>
          <a:p>
            <a:fld id="{36A94550-0172-2A4E-BEEB-6BE00EB0E97C}" type="slidenum">
              <a:rPr lang="en-US" smtClean="0">
                <a:solidFill>
                  <a:prstClr val="black">
                    <a:tint val="75000"/>
                  </a:prstClr>
                </a:solidFill>
              </a:rPr>
              <a:t>38</a:t>
            </a:fld>
            <a:endParaRPr lang="en-US" dirty="0">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9400" y="2317855"/>
            <a:ext cx="8686800" cy="2903850"/>
          </a:xfrm>
          <a:solidFill>
            <a:schemeClr val="tx2">
              <a:lumMod val="20000"/>
              <a:lumOff val="80000"/>
            </a:schemeClr>
          </a:solidFill>
        </p:spPr>
        <p:txBody>
          <a:bodyPr>
            <a:noAutofit/>
          </a:bodyPr>
          <a:lstStyle/>
          <a:p>
            <a:r>
              <a:rPr lang="en-US" dirty="0"/>
              <a:t>Observe the scenario </a:t>
            </a:r>
          </a:p>
          <a:p>
            <a:r>
              <a:rPr lang="en-US" dirty="0"/>
              <a:t>Use the observation sheet to write down </a:t>
            </a:r>
          </a:p>
          <a:p>
            <a:pPr lvl="1"/>
            <a:r>
              <a:rPr lang="en-US" sz="3200" dirty="0"/>
              <a:t>what is done well</a:t>
            </a:r>
          </a:p>
          <a:p>
            <a:pPr lvl="1"/>
            <a:r>
              <a:rPr lang="en-US" sz="3200" dirty="0"/>
              <a:t>what is done poorly</a:t>
            </a:r>
          </a:p>
        </p:txBody>
      </p:sp>
      <p:sp>
        <p:nvSpPr>
          <p:cNvPr id="4" name="Title 1"/>
          <p:cNvSpPr>
            <a:spLocks noGrp="1"/>
          </p:cNvSpPr>
          <p:nvPr>
            <p:ph type="title"/>
          </p:nvPr>
        </p:nvSpPr>
        <p:spPr>
          <a:xfrm>
            <a:off x="0" y="0"/>
            <a:ext cx="9144000" cy="1143000"/>
          </a:xfrm>
          <a:solidFill>
            <a:schemeClr val="accent1">
              <a:lumMod val="40000"/>
              <a:lumOff val="60000"/>
            </a:schemeClr>
          </a:solidFill>
        </p:spPr>
        <p:txBody>
          <a:bodyPr>
            <a:normAutofit/>
          </a:bodyPr>
          <a:lstStyle/>
          <a:p>
            <a:r>
              <a:rPr lang="en-US" dirty="0"/>
              <a:t>Exercise 11: Conflict Resolution</a:t>
            </a:r>
          </a:p>
        </p:txBody>
      </p:sp>
      <p:sp>
        <p:nvSpPr>
          <p:cNvPr id="2" name="Slide Number Placeholder 1"/>
          <p:cNvSpPr>
            <a:spLocks noGrp="1"/>
          </p:cNvSpPr>
          <p:nvPr>
            <p:ph type="sldNum" sz="quarter" idx="12"/>
          </p:nvPr>
        </p:nvSpPr>
        <p:spPr/>
        <p:txBody>
          <a:bodyPr/>
          <a:lstStyle/>
          <a:p>
            <a:fld id="{36A94550-0172-2A4E-BEEB-6BE00EB0E97C}" type="slidenum">
              <a:rPr lang="en-US" smtClean="0">
                <a:solidFill>
                  <a:prstClr val="black">
                    <a:tint val="75000"/>
                  </a:prstClr>
                </a:solidFill>
              </a:rPr>
              <a:t>39</a:t>
            </a:fld>
            <a:endParaRPr lang="en-US" dirty="0">
              <a:solidFill>
                <a:prstClr val="black">
                  <a:tint val="75000"/>
                </a:prstClr>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2242" y="1100369"/>
            <a:ext cx="8686800" cy="5621106"/>
          </a:xfrm>
        </p:spPr>
        <p:txBody>
          <a:bodyPr>
            <a:noAutofit/>
          </a:bodyPr>
          <a:lstStyle/>
          <a:p>
            <a:pPr marL="0" indent="0">
              <a:spcBef>
                <a:spcPts val="0"/>
              </a:spcBef>
              <a:buNone/>
            </a:pPr>
            <a:r>
              <a:rPr lang="en-US" sz="2800" b="1" dirty="0"/>
              <a:t>Conflict Resolution</a:t>
            </a:r>
          </a:p>
          <a:p>
            <a:pPr marL="0" indent="0">
              <a:spcBef>
                <a:spcPts val="0"/>
              </a:spcBef>
              <a:buNone/>
            </a:pPr>
            <a:r>
              <a:rPr lang="en-US" sz="2800" b="1" dirty="0"/>
              <a:t>Definition:</a:t>
            </a:r>
          </a:p>
          <a:p>
            <a:pPr marL="0" indent="0">
              <a:buNone/>
            </a:pPr>
            <a:r>
              <a:rPr lang="en-US" sz="2400" dirty="0"/>
              <a:t>The process that helps people in conflict work together to understand and resolve the conflict in a professional manner</a:t>
            </a:r>
          </a:p>
          <a:p>
            <a:pPr marL="0" indent="0">
              <a:buNone/>
            </a:pPr>
            <a:r>
              <a:rPr lang="en-US" sz="2400" dirty="0">
                <a:solidFill>
                  <a:prstClr val="black"/>
                </a:solidFill>
                <a:latin typeface="Calibri" panose="020F0502020204030204" charset="0"/>
              </a:rPr>
              <a:t>(Conflict: </a:t>
            </a:r>
            <a:r>
              <a:rPr lang="en-US" sz="2400" dirty="0"/>
              <a:t>interaction among parties that differ in interest, perceptions and preferences)</a:t>
            </a:r>
          </a:p>
          <a:p>
            <a:pPr marL="0" indent="0">
              <a:buNone/>
            </a:pPr>
            <a:endParaRPr lang="en-US" sz="2400" dirty="0"/>
          </a:p>
          <a:p>
            <a:pPr marL="0" indent="0">
              <a:buNone/>
            </a:pPr>
            <a:r>
              <a:rPr lang="en-US" sz="2800" b="1" dirty="0"/>
              <a:t>Why important?</a:t>
            </a:r>
          </a:p>
          <a:p>
            <a:r>
              <a:rPr lang="en-US" sz="2400" dirty="0"/>
              <a:t>Conflict is normal</a:t>
            </a:r>
          </a:p>
          <a:p>
            <a:r>
              <a:rPr lang="en-US" sz="2400" dirty="0"/>
              <a:t>Conflict is often not well managed</a:t>
            </a:r>
          </a:p>
          <a:p>
            <a:r>
              <a:rPr lang="en-US" sz="2400" dirty="0"/>
              <a:t>Conflict disrupts work and limits productivity</a:t>
            </a:r>
          </a:p>
          <a:p>
            <a:r>
              <a:rPr lang="en-US" sz="2400" dirty="0"/>
              <a:t>Can bring the needed change that helps organization</a:t>
            </a:r>
          </a:p>
        </p:txBody>
      </p:sp>
      <p:sp>
        <p:nvSpPr>
          <p:cNvPr id="4"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5. Employee Relations</a:t>
            </a:r>
          </a:p>
        </p:txBody>
      </p:sp>
      <p:sp>
        <p:nvSpPr>
          <p:cNvPr id="2" name="Slide Number Placeholder 1"/>
          <p:cNvSpPr>
            <a:spLocks noGrp="1"/>
          </p:cNvSpPr>
          <p:nvPr>
            <p:ph type="sldNum" sz="quarter" idx="12"/>
          </p:nvPr>
        </p:nvSpPr>
        <p:spPr/>
        <p:txBody>
          <a:bodyPr/>
          <a:lstStyle/>
          <a:p>
            <a:fld id="{36A94550-0172-2A4E-BEEB-6BE00EB0E97C}" type="slidenum">
              <a:rPr lang="en-US" smtClean="0">
                <a:solidFill>
                  <a:prstClr val="black">
                    <a:tint val="75000"/>
                  </a:prstClr>
                </a:solidFill>
              </a:rPr>
              <a:t>40</a:t>
            </a:fld>
            <a:endParaRPr lang="en-US" dirty="0">
              <a:solidFill>
                <a:prstClr val="black">
                  <a:tint val="75000"/>
                </a:prstClr>
              </a:solidFill>
            </a:endParaRPr>
          </a:p>
        </p:txBody>
      </p:sp>
      <p:pic>
        <p:nvPicPr>
          <p:cNvPr id="5" name="Picture 5" descr="Employee%20Conflict"/>
          <p:cNvPicPr>
            <a:picLocks noChangeAspect="1" noChangeArrowheads="1"/>
          </p:cNvPicPr>
          <p:nvPr/>
        </p:nvPicPr>
        <p:blipFill>
          <a:blip r:embed="rId3" cstate="print"/>
          <a:srcRect/>
          <a:stretch>
            <a:fillRect/>
          </a:stretch>
        </p:blipFill>
        <p:spPr bwMode="auto">
          <a:xfrm>
            <a:off x="5457825" y="3309257"/>
            <a:ext cx="3305175" cy="2278743"/>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None/>
            </a:pPr>
            <a:r>
              <a:rPr lang="en-US" b="1" dirty="0"/>
              <a:t>Conflict resolution</a:t>
            </a:r>
            <a:endParaRPr lang="en-US" dirty="0"/>
          </a:p>
          <a:p>
            <a:pPr>
              <a:buNone/>
            </a:pPr>
            <a:r>
              <a:rPr lang="en-US" b="1" dirty="0"/>
              <a:t>Objectives</a:t>
            </a:r>
          </a:p>
          <a:p>
            <a:r>
              <a:rPr lang="en-US" dirty="0"/>
              <a:t>Upon the completion of this unit, you will be able to…</a:t>
            </a:r>
          </a:p>
          <a:p>
            <a:pPr lvl="1"/>
            <a:r>
              <a:rPr lang="en-US" dirty="0"/>
              <a:t>Understand workplace conflict</a:t>
            </a:r>
          </a:p>
          <a:p>
            <a:pPr lvl="1"/>
            <a:r>
              <a:rPr lang="en-US" dirty="0"/>
              <a:t>Understand why conflict resolution is important</a:t>
            </a:r>
          </a:p>
          <a:p>
            <a:pPr lvl="1"/>
            <a:r>
              <a:rPr lang="en-US" dirty="0"/>
              <a:t>Identify the 6 Steps to Conflict Resolution</a:t>
            </a:r>
          </a:p>
          <a:p>
            <a:pPr lvl="1"/>
            <a:r>
              <a:rPr lang="en-US" dirty="0"/>
              <a:t>Effectively utilize the 6 steps to bring resolution to conflict in the workplace</a:t>
            </a:r>
          </a:p>
          <a:p>
            <a:endParaRPr lang="en-US" dirty="0"/>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41</a:t>
            </a:fld>
            <a:endParaRPr lang="en-US" dirty="0">
              <a:solidFill>
                <a:prstClr val="black">
                  <a:tint val="75000"/>
                </a:prstClr>
              </a:solidFill>
            </a:endParaRPr>
          </a:p>
        </p:txBody>
      </p:sp>
      <p:sp>
        <p:nvSpPr>
          <p:cNvPr id="5" name="Title 1"/>
          <p:cNvSpPr txBox="1"/>
          <p:nvPr/>
        </p:nvSpPr>
        <p:spPr>
          <a:xfrm>
            <a:off x="0" y="0"/>
            <a:ext cx="9144000" cy="1143000"/>
          </a:xfrm>
          <a:prstGeom prst="rect">
            <a:avLst/>
          </a:prstGeom>
          <a:solidFill>
            <a:srgbClr val="10253F"/>
          </a:solidFill>
        </p:spPr>
        <p:txBody>
          <a:bodyPr vert="horz" lIns="91440" tIns="45720" rIns="91440" bIns="45720" rtlCol="0" anchor="ctr">
            <a:normAutofit/>
          </a:bodyPr>
          <a:lstStyle/>
          <a:p>
            <a:pPr algn="ctr" defTabSz="457200">
              <a:spcBef>
                <a:spcPct val="0"/>
              </a:spcBef>
              <a:defRPr/>
            </a:pPr>
            <a:r>
              <a:rPr lang="en-US" sz="4400">
                <a:solidFill>
                  <a:srgbClr val="FFFFFF"/>
                </a:solidFill>
              </a:rPr>
              <a:t>5. Employee Relations</a:t>
            </a:r>
            <a:endParaRPr lang="en-US" sz="4400" dirty="0">
              <a:solidFill>
                <a:srgbClr val="FFFFFF"/>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a:xfrm>
            <a:off x="292972" y="1929965"/>
            <a:ext cx="8724900" cy="4996468"/>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a:lnSpc>
                <a:spcPct val="150000"/>
              </a:lnSpc>
              <a:buFontTx/>
              <a:buAutoNum type="arabicPeriod"/>
              <a:defRPr/>
            </a:pPr>
            <a:r>
              <a:rPr lang="en-US" sz="2400" dirty="0">
                <a:solidFill>
                  <a:prstClr val="black"/>
                </a:solidFill>
              </a:rPr>
              <a:t>Define the disagreement (Why are people in conflict?)</a:t>
            </a:r>
          </a:p>
          <a:p>
            <a:pPr>
              <a:lnSpc>
                <a:spcPct val="150000"/>
              </a:lnSpc>
              <a:buFontTx/>
              <a:buAutoNum type="arabicPeriod"/>
              <a:defRPr/>
            </a:pPr>
            <a:r>
              <a:rPr lang="en-US" sz="2400" dirty="0">
                <a:solidFill>
                  <a:prstClr val="black"/>
                </a:solidFill>
              </a:rPr>
              <a:t>Establish a common goal and why the goal is important</a:t>
            </a:r>
          </a:p>
          <a:p>
            <a:pPr>
              <a:lnSpc>
                <a:spcPct val="150000"/>
              </a:lnSpc>
              <a:buFontTx/>
              <a:buAutoNum type="arabicPeriod"/>
              <a:defRPr/>
            </a:pPr>
            <a:r>
              <a:rPr lang="en-US" sz="2400" dirty="0">
                <a:solidFill>
                  <a:prstClr val="black"/>
                </a:solidFill>
              </a:rPr>
              <a:t>Discuss how to meet the common goal</a:t>
            </a:r>
          </a:p>
          <a:p>
            <a:pPr>
              <a:lnSpc>
                <a:spcPct val="150000"/>
              </a:lnSpc>
              <a:buFontTx/>
              <a:buAutoNum type="arabicPeriod"/>
              <a:defRPr/>
            </a:pPr>
            <a:r>
              <a:rPr lang="en-US" sz="2400" dirty="0">
                <a:solidFill>
                  <a:prstClr val="black"/>
                </a:solidFill>
              </a:rPr>
              <a:t>Determine the barriers to the common goal</a:t>
            </a:r>
          </a:p>
          <a:p>
            <a:pPr>
              <a:lnSpc>
                <a:spcPct val="150000"/>
              </a:lnSpc>
              <a:buFontTx/>
              <a:buAutoNum type="arabicPeriod"/>
              <a:defRPr/>
            </a:pPr>
            <a:r>
              <a:rPr lang="en-US" sz="2400" dirty="0">
                <a:solidFill>
                  <a:prstClr val="black"/>
                </a:solidFill>
              </a:rPr>
              <a:t>Agree on the best way to resolve the conflict</a:t>
            </a:r>
          </a:p>
          <a:p>
            <a:pPr>
              <a:lnSpc>
                <a:spcPct val="150000"/>
              </a:lnSpc>
              <a:buFontTx/>
              <a:buAutoNum type="arabicPeriod"/>
              <a:defRPr/>
            </a:pPr>
            <a:r>
              <a:rPr lang="en-US" sz="2400" dirty="0">
                <a:solidFill>
                  <a:prstClr val="black"/>
                </a:solidFill>
              </a:rPr>
              <a:t>Determine what each person must do to implement the resolution</a:t>
            </a:r>
          </a:p>
          <a:p>
            <a:pPr>
              <a:lnSpc>
                <a:spcPct val="150000"/>
              </a:lnSpc>
              <a:buFontTx/>
              <a:buNone/>
              <a:defRPr/>
            </a:pPr>
            <a:r>
              <a:rPr lang="en-US" sz="2200" b="1" dirty="0">
                <a:solidFill>
                  <a:prstClr val="black"/>
                </a:solidFill>
              </a:rPr>
              <a:t>This process should be completed by </a:t>
            </a:r>
            <a:r>
              <a:rPr lang="en-US" sz="2200" b="1" i="1" dirty="0">
                <a:solidFill>
                  <a:prstClr val="black"/>
                </a:solidFill>
              </a:rPr>
              <a:t>all </a:t>
            </a:r>
            <a:r>
              <a:rPr lang="en-US" sz="2200" b="1" dirty="0">
                <a:solidFill>
                  <a:prstClr val="black"/>
                </a:solidFill>
              </a:rPr>
              <a:t>people involved in the conflict.</a:t>
            </a:r>
            <a:br>
              <a:rPr lang="en-US" sz="2400" b="1" dirty="0">
                <a:solidFill>
                  <a:prstClr val="black"/>
                </a:solidFill>
              </a:rPr>
            </a:br>
            <a:endParaRPr lang="en-US" sz="2400" b="1" dirty="0">
              <a:solidFill>
                <a:prstClr val="black"/>
              </a:solidFill>
            </a:endParaRPr>
          </a:p>
        </p:txBody>
      </p:sp>
      <p:sp>
        <p:nvSpPr>
          <p:cNvPr id="3" name="Content Placeholder 2"/>
          <p:cNvSpPr>
            <a:spLocks noGrp="1"/>
          </p:cNvSpPr>
          <p:nvPr>
            <p:ph idx="1"/>
          </p:nvPr>
        </p:nvSpPr>
        <p:spPr>
          <a:xfrm>
            <a:off x="279400" y="1138273"/>
            <a:ext cx="8686800" cy="728628"/>
          </a:xfrm>
        </p:spPr>
        <p:txBody>
          <a:bodyPr>
            <a:noAutofit/>
          </a:bodyPr>
          <a:lstStyle/>
          <a:p>
            <a:pPr marL="0" indent="0">
              <a:spcBef>
                <a:spcPts val="0"/>
              </a:spcBef>
              <a:buNone/>
            </a:pPr>
            <a:r>
              <a:rPr lang="en-US" sz="2800" b="1" dirty="0"/>
              <a:t>Conflict Resolution</a:t>
            </a:r>
          </a:p>
          <a:p>
            <a:pPr marL="0" indent="0">
              <a:spcBef>
                <a:spcPts val="0"/>
              </a:spcBef>
              <a:buNone/>
            </a:pPr>
            <a:r>
              <a:rPr lang="en-US" sz="2800" b="1" dirty="0"/>
              <a:t>6-Step Process</a:t>
            </a:r>
            <a:endParaRPr lang="en-US" sz="2800" dirty="0"/>
          </a:p>
        </p:txBody>
      </p:sp>
      <p:sp>
        <p:nvSpPr>
          <p:cNvPr id="4"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5. Employee Relations</a:t>
            </a:r>
          </a:p>
        </p:txBody>
      </p:sp>
      <p:sp>
        <p:nvSpPr>
          <p:cNvPr id="2" name="Slide Number Placeholder 1"/>
          <p:cNvSpPr>
            <a:spLocks noGrp="1"/>
          </p:cNvSpPr>
          <p:nvPr>
            <p:ph type="sldNum" sz="quarter" idx="12"/>
          </p:nvPr>
        </p:nvSpPr>
        <p:spPr>
          <a:xfrm>
            <a:off x="6900038" y="6466712"/>
            <a:ext cx="2133600" cy="365125"/>
          </a:xfrm>
        </p:spPr>
        <p:txBody>
          <a:bodyPr/>
          <a:lstStyle/>
          <a:p>
            <a:fld id="{36A94550-0172-2A4E-BEEB-6BE00EB0E97C}" type="slidenum">
              <a:rPr lang="en-US" smtClean="0">
                <a:solidFill>
                  <a:prstClr val="black">
                    <a:tint val="75000"/>
                  </a:prstClr>
                </a:solidFill>
              </a:rPr>
              <a:t>42</a:t>
            </a:fld>
            <a:endParaRPr lang="en-US" dirty="0">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5196"/>
            <a:ext cx="8229600" cy="538162"/>
          </a:xfrm>
        </p:spPr>
        <p:txBody>
          <a:bodyPr>
            <a:normAutofit fontScale="90000"/>
          </a:bodyPr>
          <a:lstStyle/>
          <a:p>
            <a:br>
              <a:rPr lang="en-US" dirty="0"/>
            </a:br>
            <a:r>
              <a:rPr lang="en-US" sz="3600" dirty="0"/>
              <a:t>Define the disagreement </a:t>
            </a:r>
            <a:r>
              <a:rPr lang="en-US" sz="3100" dirty="0"/>
              <a:t>(Why are people in conflict?)</a:t>
            </a:r>
            <a:br>
              <a:rPr lang="en-US" dirty="0"/>
            </a:br>
            <a:endParaRPr lang="en-US" dirty="0"/>
          </a:p>
        </p:txBody>
      </p:sp>
      <p:sp>
        <p:nvSpPr>
          <p:cNvPr id="3" name="Content Placeholder 2"/>
          <p:cNvSpPr>
            <a:spLocks noGrp="1"/>
          </p:cNvSpPr>
          <p:nvPr>
            <p:ph idx="1"/>
          </p:nvPr>
        </p:nvSpPr>
        <p:spPr>
          <a:xfrm>
            <a:off x="457200" y="1843314"/>
            <a:ext cx="8229600" cy="4282849"/>
          </a:xfrm>
        </p:spPr>
        <p:txBody>
          <a:bodyPr>
            <a:normAutofit fontScale="85000" lnSpcReduction="20000"/>
          </a:bodyPr>
          <a:lstStyle/>
          <a:p>
            <a:pPr>
              <a:lnSpc>
                <a:spcPct val="80000"/>
              </a:lnSpc>
              <a:buFont typeface="Wingdings" panose="05000000000000000000" pitchFamily="2" charset="2"/>
              <a:buNone/>
            </a:pPr>
            <a:r>
              <a:rPr lang="en-US" b="1" dirty="0"/>
              <a:t>1. </a:t>
            </a:r>
            <a:r>
              <a:rPr lang="en-US" b="1" u="sng" dirty="0"/>
              <a:t>Clarify what the disagreement is.</a:t>
            </a:r>
          </a:p>
          <a:p>
            <a:pPr>
              <a:lnSpc>
                <a:spcPct val="80000"/>
              </a:lnSpc>
            </a:pPr>
            <a:endParaRPr lang="en-US" dirty="0"/>
          </a:p>
          <a:p>
            <a:pPr>
              <a:lnSpc>
                <a:spcPct val="80000"/>
              </a:lnSpc>
            </a:pPr>
            <a:r>
              <a:rPr lang="en-US" dirty="0"/>
              <a:t>Clarifying involves getting to the heart of the conflict. </a:t>
            </a:r>
          </a:p>
          <a:p>
            <a:pPr>
              <a:lnSpc>
                <a:spcPct val="80000"/>
              </a:lnSpc>
            </a:pPr>
            <a:r>
              <a:rPr lang="en-US" dirty="0"/>
              <a:t>The goal of this step is to get both sides to agree on what the disagreement is.</a:t>
            </a:r>
          </a:p>
          <a:p>
            <a:pPr>
              <a:lnSpc>
                <a:spcPct val="80000"/>
              </a:lnSpc>
              <a:buFont typeface="Wingdings" panose="05000000000000000000" pitchFamily="2" charset="2"/>
              <a:buNone/>
            </a:pPr>
            <a:endParaRPr lang="en-US" dirty="0"/>
          </a:p>
          <a:p>
            <a:pPr>
              <a:lnSpc>
                <a:spcPct val="80000"/>
              </a:lnSpc>
              <a:buFont typeface="Wingdings" panose="05000000000000000000" pitchFamily="2" charset="2"/>
              <a:buNone/>
            </a:pPr>
            <a:r>
              <a:rPr lang="en-US" dirty="0"/>
              <a:t>Tips:</a:t>
            </a:r>
          </a:p>
          <a:p>
            <a:pPr>
              <a:lnSpc>
                <a:spcPct val="80000"/>
              </a:lnSpc>
            </a:pPr>
            <a:r>
              <a:rPr lang="en-US" dirty="0"/>
              <a:t>Discuss what needs are not being met on both sides of the conflict.  Ensure mutual understanding.</a:t>
            </a:r>
          </a:p>
          <a:p>
            <a:pPr>
              <a:lnSpc>
                <a:spcPct val="80000"/>
              </a:lnSpc>
            </a:pPr>
            <a:r>
              <a:rPr lang="en-US" dirty="0"/>
              <a:t>Obtain as much information as possible on each side’s point of view.</a:t>
            </a:r>
          </a:p>
          <a:p>
            <a:pPr>
              <a:lnSpc>
                <a:spcPct val="80000"/>
              </a:lnSpc>
            </a:pPr>
            <a:r>
              <a:rPr lang="en-US" dirty="0"/>
              <a:t>Continue to ask questions until you are certain that you, and each side of the conflict understand the issue.</a:t>
            </a:r>
          </a:p>
          <a:p>
            <a:endParaRPr lang="en-US" dirty="0"/>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43</a:t>
            </a:fld>
            <a:endParaRPr lang="en-US" dirty="0">
              <a:solidFill>
                <a:prstClr val="black">
                  <a:tint val="75000"/>
                </a:prstClr>
              </a:solidFill>
            </a:endParaRPr>
          </a:p>
        </p:txBody>
      </p:sp>
      <p:pic>
        <p:nvPicPr>
          <p:cNvPr id="5" name="Picture 6" descr="MBA_WorkConflictManage_banner"/>
          <p:cNvPicPr>
            <a:picLocks noChangeAspect="1" noChangeArrowheads="1"/>
          </p:cNvPicPr>
          <p:nvPr/>
        </p:nvPicPr>
        <p:blipFill>
          <a:blip r:embed="rId2" cstate="print"/>
          <a:srcRect/>
          <a:stretch>
            <a:fillRect/>
          </a:stretch>
        </p:blipFill>
        <p:spPr bwMode="auto">
          <a:xfrm>
            <a:off x="5825671" y="749187"/>
            <a:ext cx="3124200" cy="1384413"/>
          </a:xfrm>
          <a:prstGeom prst="rect">
            <a:avLst/>
          </a:prstGeom>
          <a:noFill/>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12800"/>
            <a:ext cx="8229600" cy="4525963"/>
          </a:xfrm>
        </p:spPr>
        <p:txBody>
          <a:bodyPr>
            <a:normAutofit fontScale="92500" lnSpcReduction="20000"/>
          </a:bodyPr>
          <a:lstStyle/>
          <a:p>
            <a:pPr>
              <a:lnSpc>
                <a:spcPct val="90000"/>
              </a:lnSpc>
              <a:buFont typeface="Wingdings" panose="05000000000000000000" pitchFamily="2" charset="2"/>
              <a:buNone/>
            </a:pPr>
            <a:r>
              <a:rPr lang="en-US" b="1" dirty="0"/>
              <a:t>2. </a:t>
            </a:r>
            <a:r>
              <a:rPr lang="en-US" b="1" u="sng" dirty="0"/>
              <a:t>Establish a common goal for both parties.</a:t>
            </a:r>
          </a:p>
          <a:p>
            <a:pPr>
              <a:lnSpc>
                <a:spcPct val="90000"/>
              </a:lnSpc>
            </a:pPr>
            <a:r>
              <a:rPr lang="en-US" dirty="0"/>
              <a:t>In this step of the process, both sides agree on the desired outcome of the conflict.</a:t>
            </a:r>
          </a:p>
          <a:p>
            <a:pPr>
              <a:lnSpc>
                <a:spcPct val="90000"/>
              </a:lnSpc>
              <a:buFont typeface="Wingdings" panose="05000000000000000000" pitchFamily="2" charset="2"/>
              <a:buNone/>
            </a:pPr>
            <a:endParaRPr lang="en-US" dirty="0"/>
          </a:p>
          <a:p>
            <a:pPr>
              <a:lnSpc>
                <a:spcPct val="90000"/>
              </a:lnSpc>
              <a:buFont typeface="Wingdings" panose="05000000000000000000" pitchFamily="2" charset="2"/>
              <a:buNone/>
            </a:pPr>
            <a:r>
              <a:rPr lang="en-US" dirty="0"/>
              <a:t>Tips:</a:t>
            </a:r>
          </a:p>
          <a:p>
            <a:pPr>
              <a:lnSpc>
                <a:spcPct val="90000"/>
              </a:lnSpc>
            </a:pPr>
            <a:r>
              <a:rPr lang="en-US" dirty="0"/>
              <a:t>Discuss what each party would like to see happen.</a:t>
            </a:r>
          </a:p>
          <a:p>
            <a:pPr>
              <a:lnSpc>
                <a:spcPct val="90000"/>
              </a:lnSpc>
            </a:pPr>
            <a:r>
              <a:rPr lang="en-US" dirty="0"/>
              <a:t>Find a commonality in both sides as a starting point for a shared outcome.  That commonality can be as simple as “both sides want to end the conflict.”</a:t>
            </a:r>
          </a:p>
          <a:p>
            <a:endParaRPr lang="en-US" dirty="0"/>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44</a:t>
            </a:fld>
            <a:endParaRPr lang="en-US" dirty="0">
              <a:solidFill>
                <a:prstClr val="black">
                  <a:tint val="75000"/>
                </a:prstClr>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56343"/>
            <a:ext cx="8229600" cy="4525963"/>
          </a:xfrm>
        </p:spPr>
        <p:txBody>
          <a:bodyPr>
            <a:normAutofit lnSpcReduction="10000"/>
          </a:bodyPr>
          <a:lstStyle/>
          <a:p>
            <a:pPr>
              <a:lnSpc>
                <a:spcPct val="90000"/>
              </a:lnSpc>
              <a:buFont typeface="Wingdings" panose="05000000000000000000" pitchFamily="2" charset="2"/>
              <a:buNone/>
            </a:pPr>
            <a:r>
              <a:rPr lang="en-US" b="1" dirty="0"/>
              <a:t>3. </a:t>
            </a:r>
            <a:r>
              <a:rPr lang="en-US" b="1" u="sng" dirty="0"/>
              <a:t>Discuss ways to meet the common goal.</a:t>
            </a:r>
          </a:p>
          <a:p>
            <a:pPr>
              <a:lnSpc>
                <a:spcPct val="90000"/>
              </a:lnSpc>
            </a:pPr>
            <a:r>
              <a:rPr lang="en-US" dirty="0"/>
              <a:t>Both sides work together to discuss ways that they can meet the goal they agreed upon in step 2.</a:t>
            </a:r>
          </a:p>
          <a:p>
            <a:pPr>
              <a:lnSpc>
                <a:spcPct val="90000"/>
              </a:lnSpc>
              <a:buFont typeface="Wingdings" panose="05000000000000000000" pitchFamily="2" charset="2"/>
              <a:buNone/>
            </a:pPr>
            <a:endParaRPr lang="en-US" dirty="0"/>
          </a:p>
          <a:p>
            <a:pPr>
              <a:lnSpc>
                <a:spcPct val="90000"/>
              </a:lnSpc>
              <a:buFont typeface="Wingdings" panose="05000000000000000000" pitchFamily="2" charset="2"/>
              <a:buNone/>
            </a:pPr>
            <a:r>
              <a:rPr lang="en-US" dirty="0"/>
              <a:t>Tips:</a:t>
            </a:r>
          </a:p>
          <a:p>
            <a:pPr>
              <a:lnSpc>
                <a:spcPct val="90000"/>
              </a:lnSpc>
            </a:pPr>
            <a:r>
              <a:rPr lang="en-US" dirty="0"/>
              <a:t>Brainstorm different approaches to meet the goal.</a:t>
            </a:r>
          </a:p>
          <a:p>
            <a:pPr>
              <a:lnSpc>
                <a:spcPct val="90000"/>
              </a:lnSpc>
            </a:pPr>
            <a:r>
              <a:rPr lang="en-US" dirty="0"/>
              <a:t>Discuss until all the options are exhausted.</a:t>
            </a:r>
          </a:p>
          <a:p>
            <a:endParaRPr lang="en-US" dirty="0"/>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45</a:t>
            </a:fld>
            <a:endParaRPr lang="en-US" dirty="0">
              <a:solidFill>
                <a:prstClr val="black">
                  <a:tint val="75000"/>
                </a:prstClr>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76400"/>
            <a:ext cx="8229600" cy="4449763"/>
          </a:xfrm>
        </p:spPr>
        <p:txBody>
          <a:bodyPr>
            <a:normAutofit fontScale="92500" lnSpcReduction="20000"/>
          </a:bodyPr>
          <a:lstStyle/>
          <a:p>
            <a:pPr>
              <a:lnSpc>
                <a:spcPct val="90000"/>
              </a:lnSpc>
              <a:spcBef>
                <a:spcPct val="0"/>
              </a:spcBef>
              <a:buFont typeface="Wingdings" panose="05000000000000000000" pitchFamily="2" charset="2"/>
              <a:buNone/>
            </a:pPr>
            <a:r>
              <a:rPr lang="en-US" b="1" dirty="0"/>
              <a:t>4. </a:t>
            </a:r>
            <a:r>
              <a:rPr lang="en-US" b="1" u="sng" dirty="0"/>
              <a:t>Determine the barriers to the common goal.</a:t>
            </a:r>
            <a:r>
              <a:rPr lang="en-US" dirty="0"/>
              <a:t> </a:t>
            </a:r>
          </a:p>
          <a:p>
            <a:pPr>
              <a:lnSpc>
                <a:spcPct val="90000"/>
              </a:lnSpc>
              <a:spcBef>
                <a:spcPct val="0"/>
              </a:spcBef>
            </a:pPr>
            <a:r>
              <a:rPr lang="en-US" dirty="0"/>
              <a:t>In this step of the process, the two parties acknowledge what has brought them into the conflict.  </a:t>
            </a:r>
          </a:p>
          <a:p>
            <a:pPr>
              <a:lnSpc>
                <a:spcPct val="90000"/>
              </a:lnSpc>
              <a:buFont typeface="Wingdings" panose="05000000000000000000" pitchFamily="2" charset="2"/>
              <a:buNone/>
            </a:pPr>
            <a:r>
              <a:rPr lang="en-US" dirty="0"/>
              <a:t>Tips:</a:t>
            </a:r>
          </a:p>
          <a:p>
            <a:pPr>
              <a:lnSpc>
                <a:spcPct val="90000"/>
              </a:lnSpc>
            </a:pPr>
            <a:r>
              <a:rPr lang="en-US" dirty="0"/>
              <a:t>Ask: “If we could have the outcome that we both wanted, how would that look?”</a:t>
            </a:r>
          </a:p>
          <a:p>
            <a:pPr>
              <a:lnSpc>
                <a:spcPct val="90000"/>
              </a:lnSpc>
            </a:pPr>
            <a:r>
              <a:rPr lang="en-US" dirty="0"/>
              <a:t>Define what can and cannot be changed about the situation.</a:t>
            </a:r>
          </a:p>
          <a:p>
            <a:pPr>
              <a:lnSpc>
                <a:spcPct val="90000"/>
              </a:lnSpc>
            </a:pPr>
            <a:r>
              <a:rPr lang="en-US" dirty="0"/>
              <a:t>For the items that cannot be changed, discuss ways of getting around those road blocks.</a:t>
            </a:r>
          </a:p>
          <a:p>
            <a:endParaRPr lang="en-US" dirty="0"/>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46</a:t>
            </a:fld>
            <a:endParaRPr lang="en-US" dirty="0">
              <a:solidFill>
                <a:prstClr val="black">
                  <a:tint val="75000"/>
                </a:prstClr>
              </a:solidFill>
            </a:endParaRPr>
          </a:p>
        </p:txBody>
      </p:sp>
      <p:pic>
        <p:nvPicPr>
          <p:cNvPr id="5" name="Picture 5" descr="Barrier"/>
          <p:cNvPicPr>
            <a:picLocks noChangeAspect="1" noChangeArrowheads="1"/>
          </p:cNvPicPr>
          <p:nvPr/>
        </p:nvPicPr>
        <p:blipFill>
          <a:blip r:embed="rId2" cstate="print"/>
          <a:srcRect/>
          <a:stretch>
            <a:fillRect/>
          </a:stretch>
        </p:blipFill>
        <p:spPr bwMode="auto">
          <a:xfrm>
            <a:off x="7032625" y="304800"/>
            <a:ext cx="1243013" cy="1371600"/>
          </a:xfrm>
          <a:prstGeom prst="rect">
            <a:avLst/>
          </a:prstGeom>
          <a:noFill/>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lnSpc>
                <a:spcPct val="90000"/>
              </a:lnSpc>
              <a:spcBef>
                <a:spcPct val="0"/>
              </a:spcBef>
              <a:buFont typeface="Wingdings" panose="05000000000000000000" pitchFamily="2" charset="2"/>
              <a:buNone/>
            </a:pPr>
            <a:r>
              <a:rPr lang="en-US" b="1" dirty="0"/>
              <a:t>5. </a:t>
            </a:r>
            <a:r>
              <a:rPr lang="en-US" b="1" u="sng" dirty="0"/>
              <a:t>Agree on the best way to resolve the conflict.</a:t>
            </a:r>
            <a:r>
              <a:rPr lang="en-US" dirty="0"/>
              <a:t> </a:t>
            </a:r>
          </a:p>
          <a:p>
            <a:pPr>
              <a:lnSpc>
                <a:spcPct val="90000"/>
              </a:lnSpc>
              <a:spcBef>
                <a:spcPct val="0"/>
              </a:spcBef>
            </a:pPr>
            <a:r>
              <a:rPr lang="en-US" dirty="0"/>
              <a:t>Both parties come to a conclusion on the best resolution.  </a:t>
            </a:r>
          </a:p>
          <a:p>
            <a:pPr>
              <a:lnSpc>
                <a:spcPct val="90000"/>
              </a:lnSpc>
              <a:buFont typeface="Wingdings" panose="05000000000000000000" pitchFamily="2" charset="2"/>
              <a:buNone/>
            </a:pPr>
            <a:endParaRPr lang="en-US" dirty="0"/>
          </a:p>
          <a:p>
            <a:pPr>
              <a:lnSpc>
                <a:spcPct val="90000"/>
              </a:lnSpc>
              <a:buFont typeface="Wingdings" panose="05000000000000000000" pitchFamily="2" charset="2"/>
              <a:buNone/>
            </a:pPr>
            <a:r>
              <a:rPr lang="en-US" dirty="0"/>
              <a:t>Tips:</a:t>
            </a:r>
          </a:p>
          <a:p>
            <a:pPr>
              <a:lnSpc>
                <a:spcPct val="90000"/>
              </a:lnSpc>
            </a:pPr>
            <a:r>
              <a:rPr lang="en-US" dirty="0"/>
              <a:t>Determine a solution that both sides can live with.</a:t>
            </a:r>
          </a:p>
          <a:p>
            <a:pPr>
              <a:lnSpc>
                <a:spcPct val="90000"/>
              </a:lnSpc>
            </a:pPr>
            <a:r>
              <a:rPr lang="en-US" dirty="0"/>
              <a:t>Discuss the responsibility each party has in maintaining the solution.</a:t>
            </a:r>
          </a:p>
          <a:p>
            <a:pPr>
              <a:lnSpc>
                <a:spcPct val="90000"/>
              </a:lnSpc>
            </a:pPr>
            <a:r>
              <a:rPr lang="en-US" dirty="0"/>
              <a:t>Settle on a means of ensuring that this conflict does not arise again.</a:t>
            </a:r>
          </a:p>
          <a:p>
            <a:endParaRPr lang="en-US" dirty="0"/>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47</a:t>
            </a:fld>
            <a:endParaRPr lang="en-US" dirty="0">
              <a:solidFill>
                <a:prstClr val="black">
                  <a:tint val="75000"/>
                </a:prstClr>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86857"/>
            <a:ext cx="8229600" cy="4239306"/>
          </a:xfrm>
        </p:spPr>
        <p:txBody>
          <a:bodyPr>
            <a:normAutofit fontScale="85000" lnSpcReduction="10000"/>
          </a:bodyPr>
          <a:lstStyle/>
          <a:p>
            <a:pPr>
              <a:lnSpc>
                <a:spcPct val="90000"/>
              </a:lnSpc>
              <a:spcBef>
                <a:spcPct val="0"/>
              </a:spcBef>
              <a:buFont typeface="Wingdings" panose="05000000000000000000" pitchFamily="2" charset="2"/>
              <a:buNone/>
            </a:pPr>
            <a:r>
              <a:rPr lang="en-US" dirty="0"/>
              <a:t>6.</a:t>
            </a:r>
            <a:r>
              <a:rPr lang="en-US" b="1" u="sng" dirty="0"/>
              <a:t> Acknowledge the agreed solution and determine the responsibilities each party has in the resolution.</a:t>
            </a:r>
            <a:r>
              <a:rPr lang="en-US" dirty="0"/>
              <a:t> </a:t>
            </a:r>
          </a:p>
          <a:p>
            <a:pPr>
              <a:lnSpc>
                <a:spcPct val="90000"/>
              </a:lnSpc>
              <a:spcBef>
                <a:spcPct val="0"/>
              </a:spcBef>
            </a:pPr>
            <a:r>
              <a:rPr lang="en-US" dirty="0"/>
              <a:t>Both sides own their responsibility in the resolution of the conflict and express aloud what they have agreed to.  </a:t>
            </a:r>
          </a:p>
          <a:p>
            <a:pPr>
              <a:lnSpc>
                <a:spcPct val="90000"/>
              </a:lnSpc>
              <a:buFont typeface="Wingdings" panose="05000000000000000000" pitchFamily="2" charset="2"/>
              <a:buNone/>
            </a:pPr>
            <a:endParaRPr lang="en-US" dirty="0"/>
          </a:p>
          <a:p>
            <a:pPr>
              <a:lnSpc>
                <a:spcPct val="90000"/>
              </a:lnSpc>
              <a:buFont typeface="Wingdings" panose="05000000000000000000" pitchFamily="2" charset="2"/>
              <a:buNone/>
            </a:pPr>
            <a:r>
              <a:rPr lang="en-US" dirty="0"/>
              <a:t>Tips:</a:t>
            </a:r>
          </a:p>
          <a:p>
            <a:pPr>
              <a:lnSpc>
                <a:spcPct val="90000"/>
              </a:lnSpc>
            </a:pPr>
            <a:r>
              <a:rPr lang="en-US" dirty="0"/>
              <a:t>Get both parties to acknowledge a win-win situation.</a:t>
            </a:r>
          </a:p>
          <a:p>
            <a:pPr>
              <a:lnSpc>
                <a:spcPct val="90000"/>
              </a:lnSpc>
            </a:pPr>
            <a:r>
              <a:rPr lang="en-US" dirty="0"/>
              <a:t>Ask both parties to use phrases such as “I agree to…” and “I acknowledge that I have responsibility for…”</a:t>
            </a:r>
          </a:p>
          <a:p>
            <a:r>
              <a:rPr lang="en-US" dirty="0"/>
              <a:t> </a:t>
            </a:r>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48</a:t>
            </a:fld>
            <a:endParaRPr lang="en-US" dirty="0">
              <a:solidFill>
                <a:prstClr val="black">
                  <a:tint val="75000"/>
                </a:prstClr>
              </a:solidFill>
            </a:endParaRPr>
          </a:p>
        </p:txBody>
      </p:sp>
      <p:pic>
        <p:nvPicPr>
          <p:cNvPr id="5" name="Picture 5" descr="ConflictResolution"/>
          <p:cNvPicPr>
            <a:picLocks noChangeAspect="1" noChangeArrowheads="1"/>
          </p:cNvPicPr>
          <p:nvPr/>
        </p:nvPicPr>
        <p:blipFill>
          <a:blip r:embed="rId3" cstate="print"/>
          <a:srcRect/>
          <a:stretch>
            <a:fillRect/>
          </a:stretch>
        </p:blipFill>
        <p:spPr bwMode="auto">
          <a:xfrm>
            <a:off x="6477000" y="280988"/>
            <a:ext cx="1981200" cy="1395412"/>
          </a:xfrm>
          <a:prstGeom prst="rect">
            <a:avLst/>
          </a:prstGeom>
          <a:noFill/>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Styles of Conflicts management </a:t>
            </a:r>
            <a:endParaRPr lang="fr-FR" b="1" dirty="0"/>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49</a:t>
            </a:fld>
            <a:endParaRPr lang="en-US" dirty="0">
              <a:solidFill>
                <a:prstClr val="black">
                  <a:tint val="75000"/>
                </a:prstClr>
              </a:solidFill>
            </a:endParaRPr>
          </a:p>
        </p:txBody>
      </p:sp>
      <p:pic>
        <p:nvPicPr>
          <p:cNvPr id="1026" name="Picture 2" descr="conflict management styles graph"/>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6045" y="1279525"/>
            <a:ext cx="8591910" cy="53038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fr-FR" dirty="0"/>
          </a:p>
        </p:txBody>
      </p:sp>
      <p:sp>
        <p:nvSpPr>
          <p:cNvPr id="3" name="Content Placeholder 2"/>
          <p:cNvSpPr>
            <a:spLocks noGrp="1"/>
          </p:cNvSpPr>
          <p:nvPr>
            <p:ph idx="1"/>
          </p:nvPr>
        </p:nvSpPr>
        <p:spPr/>
        <p:txBody>
          <a:bodyPr/>
          <a:lstStyle/>
          <a:p>
            <a:r>
              <a:rPr lang="en-US" b="1" dirty="0">
                <a:solidFill>
                  <a:srgbClr val="222222"/>
                </a:solidFill>
                <a:latin typeface="Barlow"/>
              </a:rPr>
              <a:t>Accommodating</a:t>
            </a:r>
          </a:p>
          <a:p>
            <a:r>
              <a:rPr lang="en-US" dirty="0">
                <a:solidFill>
                  <a:srgbClr val="222222"/>
                </a:solidFill>
                <a:latin typeface="Barlow"/>
              </a:rPr>
              <a:t>An accommodating conflict management style is used when you set aside your own wants or needs and focus on those of others. You leave your own concerns behind and accommodate for those of someone else.</a:t>
            </a:r>
          </a:p>
          <a:p>
            <a:endParaRPr lang="fr-FR" dirty="0"/>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50</a:t>
            </a:fld>
            <a:endParaRPr lang="en-US" dirty="0">
              <a:solidFill>
                <a:prstClr val="black">
                  <a:tint val="75000"/>
                </a:prstClr>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Accommodating cont’d</a:t>
            </a:r>
            <a:endParaRPr lang="fr-FR" b="1" dirty="0"/>
          </a:p>
        </p:txBody>
      </p:sp>
      <p:sp>
        <p:nvSpPr>
          <p:cNvPr id="3" name="Content Placeholder 2"/>
          <p:cNvSpPr>
            <a:spLocks noGrp="1"/>
          </p:cNvSpPr>
          <p:nvPr>
            <p:ph idx="1"/>
          </p:nvPr>
        </p:nvSpPr>
        <p:spPr/>
        <p:txBody>
          <a:bodyPr/>
          <a:lstStyle/>
          <a:p>
            <a:r>
              <a:rPr lang="en-US" b="1" dirty="0"/>
              <a:t>When to use it: </a:t>
            </a:r>
          </a:p>
          <a:p>
            <a:r>
              <a:rPr lang="en-US" dirty="0"/>
              <a:t>When you are wrong</a:t>
            </a:r>
          </a:p>
          <a:p>
            <a:r>
              <a:rPr lang="en-US" dirty="0"/>
              <a:t>When you don’t care about the issue as much as the other person</a:t>
            </a:r>
          </a:p>
          <a:p>
            <a:r>
              <a:rPr lang="en-US" dirty="0"/>
              <a:t> When you want the workplace to be peaceful</a:t>
            </a:r>
          </a:p>
          <a:p>
            <a:r>
              <a:rPr lang="en-US" dirty="0"/>
              <a:t> When there is no point in arguing</a:t>
            </a:r>
            <a:endParaRPr lang="fr-FR" dirty="0"/>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51</a:t>
            </a:fld>
            <a:endParaRPr lang="en-US" dirty="0">
              <a:solidFill>
                <a:prstClr val="black">
                  <a:tint val="75000"/>
                </a:prstClr>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342900" lvl="0" indent="-342900">
              <a:spcBef>
                <a:spcPct val="20000"/>
              </a:spcBef>
            </a:pPr>
            <a:br>
              <a:rPr lang="en-US" sz="3200" b="1" dirty="0">
                <a:solidFill>
                  <a:srgbClr val="222222"/>
                </a:solidFill>
                <a:latin typeface="Barlow"/>
                <a:ea typeface="+mn-ea"/>
                <a:cs typeface="+mn-cs"/>
              </a:rPr>
            </a:br>
            <a:r>
              <a:rPr lang="en-US" sz="4000" b="1" dirty="0">
                <a:solidFill>
                  <a:srgbClr val="222222"/>
                </a:solidFill>
                <a:latin typeface="Barlow"/>
                <a:ea typeface="+mn-ea"/>
                <a:cs typeface="+mn-cs"/>
              </a:rPr>
              <a:t>Compromising</a:t>
            </a:r>
            <a:br>
              <a:rPr lang="en-US" sz="3200" b="1" dirty="0">
                <a:solidFill>
                  <a:srgbClr val="222222"/>
                </a:solidFill>
                <a:latin typeface="Barlow"/>
                <a:ea typeface="+mn-ea"/>
                <a:cs typeface="+mn-cs"/>
              </a:rPr>
            </a:br>
            <a:endParaRPr lang="fr-FR" dirty="0"/>
          </a:p>
        </p:txBody>
      </p:sp>
      <p:sp>
        <p:nvSpPr>
          <p:cNvPr id="3" name="Content Placeholder 2"/>
          <p:cNvSpPr>
            <a:spLocks noGrp="1"/>
          </p:cNvSpPr>
          <p:nvPr>
            <p:ph idx="1"/>
          </p:nvPr>
        </p:nvSpPr>
        <p:spPr/>
        <p:txBody>
          <a:bodyPr/>
          <a:lstStyle/>
          <a:p>
            <a:pPr>
              <a:lnSpc>
                <a:spcPct val="150000"/>
              </a:lnSpc>
            </a:pPr>
            <a:r>
              <a:rPr lang="en-US" dirty="0">
                <a:solidFill>
                  <a:srgbClr val="222222"/>
                </a:solidFill>
                <a:latin typeface="Barlow"/>
              </a:rPr>
              <a:t>A compromising conflict management style tries to find a way to partially satisfy people on both sides of the argument. Adjustments are made on both ends to resolve the conflict at hand.</a:t>
            </a:r>
          </a:p>
          <a:p>
            <a:endParaRPr lang="fr-FR" dirty="0"/>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52</a:t>
            </a:fld>
            <a:endParaRPr lang="en-US" dirty="0">
              <a:solidFill>
                <a:prstClr val="black">
                  <a:tint val="75000"/>
                </a:prstClr>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Compromising cont’d</a:t>
            </a:r>
            <a:endParaRPr lang="fr-FR" b="1" dirty="0"/>
          </a:p>
        </p:txBody>
      </p:sp>
      <p:sp>
        <p:nvSpPr>
          <p:cNvPr id="3" name="Content Placeholder 2"/>
          <p:cNvSpPr>
            <a:spLocks noGrp="1"/>
          </p:cNvSpPr>
          <p:nvPr>
            <p:ph idx="1"/>
          </p:nvPr>
        </p:nvSpPr>
        <p:spPr/>
        <p:txBody>
          <a:bodyPr/>
          <a:lstStyle/>
          <a:p>
            <a:r>
              <a:rPr lang="en-US" b="1" dirty="0"/>
              <a:t>When to use it: </a:t>
            </a:r>
          </a:p>
          <a:p>
            <a:r>
              <a:rPr lang="en-US" dirty="0"/>
              <a:t> When reaching a solution is more important than the solution itself</a:t>
            </a:r>
          </a:p>
          <a:p>
            <a:r>
              <a:rPr lang="en-US" dirty="0"/>
              <a:t> When you need a temporary solution</a:t>
            </a:r>
          </a:p>
          <a:p>
            <a:r>
              <a:rPr lang="en-US" dirty="0"/>
              <a:t>When you are at a standstill</a:t>
            </a:r>
            <a:endParaRPr lang="fr-FR" dirty="0"/>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53</a:t>
            </a:fld>
            <a:endParaRPr lang="en-US" dirty="0">
              <a:solidFill>
                <a:prstClr val="black">
                  <a:tint val="75000"/>
                </a:prstClr>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342900" lvl="0" indent="-342900">
              <a:spcBef>
                <a:spcPct val="20000"/>
              </a:spcBef>
            </a:pPr>
            <a:br>
              <a:rPr lang="en-US" sz="3200" b="1" dirty="0">
                <a:solidFill>
                  <a:srgbClr val="222222"/>
                </a:solidFill>
                <a:latin typeface="Barlow"/>
                <a:ea typeface="+mn-ea"/>
                <a:cs typeface="+mn-cs"/>
              </a:rPr>
            </a:br>
            <a:r>
              <a:rPr lang="en-US" sz="4000" b="1" dirty="0">
                <a:solidFill>
                  <a:srgbClr val="222222"/>
                </a:solidFill>
                <a:latin typeface="Barlow"/>
                <a:ea typeface="+mn-ea"/>
                <a:cs typeface="+mn-cs"/>
              </a:rPr>
              <a:t>Collaborating</a:t>
            </a:r>
            <a:br>
              <a:rPr lang="en-US" sz="3200" b="1" dirty="0">
                <a:solidFill>
                  <a:srgbClr val="222222"/>
                </a:solidFill>
                <a:latin typeface="Barlow"/>
                <a:ea typeface="+mn-ea"/>
                <a:cs typeface="+mn-cs"/>
              </a:rPr>
            </a:br>
            <a:endParaRPr lang="fr-FR" dirty="0"/>
          </a:p>
        </p:txBody>
      </p:sp>
      <p:sp>
        <p:nvSpPr>
          <p:cNvPr id="3" name="Content Placeholder 2"/>
          <p:cNvSpPr>
            <a:spLocks noGrp="1"/>
          </p:cNvSpPr>
          <p:nvPr>
            <p:ph idx="1"/>
          </p:nvPr>
        </p:nvSpPr>
        <p:spPr/>
        <p:txBody>
          <a:bodyPr/>
          <a:lstStyle/>
          <a:p>
            <a:pPr>
              <a:lnSpc>
                <a:spcPct val="150000"/>
              </a:lnSpc>
            </a:pPr>
            <a:r>
              <a:rPr lang="en-US" dirty="0">
                <a:solidFill>
                  <a:srgbClr val="222222"/>
                </a:solidFill>
                <a:latin typeface="Barlow"/>
              </a:rPr>
              <a:t>A collaborating style includes finding a solution that will completely appease all involved parties. A win-win situation, if you will.</a:t>
            </a:r>
            <a:endParaRPr lang="en-US" b="0" i="0" dirty="0">
              <a:solidFill>
                <a:srgbClr val="222222"/>
              </a:solidFill>
              <a:effectLst/>
              <a:latin typeface="Barlow"/>
            </a:endParaRPr>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54</a:t>
            </a:fld>
            <a:endParaRPr lang="en-US" dirty="0">
              <a:solidFill>
                <a:prstClr val="black">
                  <a:tint val="75000"/>
                </a:prstClr>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Collaborating cont’d</a:t>
            </a:r>
            <a:endParaRPr lang="fr-FR" b="1" dirty="0"/>
          </a:p>
        </p:txBody>
      </p:sp>
      <p:sp>
        <p:nvSpPr>
          <p:cNvPr id="3" name="Content Placeholder 2"/>
          <p:cNvSpPr>
            <a:spLocks noGrp="1"/>
          </p:cNvSpPr>
          <p:nvPr>
            <p:ph idx="1"/>
          </p:nvPr>
        </p:nvSpPr>
        <p:spPr/>
        <p:txBody>
          <a:bodyPr/>
          <a:lstStyle/>
          <a:p>
            <a:r>
              <a:rPr lang="en-US" dirty="0"/>
              <a:t>When to use it: </a:t>
            </a:r>
          </a:p>
          <a:p>
            <a:r>
              <a:rPr lang="en-US" dirty="0"/>
              <a:t> When the relationship is important.</a:t>
            </a:r>
          </a:p>
          <a:p>
            <a:r>
              <a:rPr lang="en-US" dirty="0"/>
              <a:t>When the final solution will have a significant impact.</a:t>
            </a:r>
          </a:p>
          <a:p>
            <a:r>
              <a:rPr lang="en-US" dirty="0"/>
              <a:t> When the interests, needs, and beliefs of all involved people need to be considered.</a:t>
            </a:r>
            <a:endParaRPr lang="fr-FR" dirty="0"/>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55</a:t>
            </a:fld>
            <a:endParaRPr lang="en-US" dirty="0">
              <a:solidFill>
                <a:prstClr val="black">
                  <a:tint val="75000"/>
                </a:prstClr>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342900" lvl="0" indent="-342900">
              <a:spcBef>
                <a:spcPct val="20000"/>
              </a:spcBef>
            </a:pPr>
            <a:br>
              <a:rPr lang="en-US" sz="3200" b="1" dirty="0">
                <a:solidFill>
                  <a:srgbClr val="222222"/>
                </a:solidFill>
                <a:latin typeface="Barlow"/>
                <a:ea typeface="+mn-ea"/>
                <a:cs typeface="+mn-cs"/>
              </a:rPr>
            </a:br>
            <a:r>
              <a:rPr lang="en-US" sz="3200" b="1" dirty="0">
                <a:solidFill>
                  <a:srgbClr val="222222"/>
                </a:solidFill>
                <a:latin typeface="Barlow"/>
                <a:ea typeface="+mn-ea"/>
                <a:cs typeface="+mn-cs"/>
              </a:rPr>
              <a:t>Competing</a:t>
            </a:r>
            <a:br>
              <a:rPr lang="en-US" sz="4000" b="1" dirty="0">
                <a:solidFill>
                  <a:srgbClr val="222222"/>
                </a:solidFill>
                <a:latin typeface="Barlow"/>
                <a:ea typeface="+mn-ea"/>
                <a:cs typeface="+mn-cs"/>
              </a:rPr>
            </a:br>
            <a:endParaRPr lang="fr-FR" sz="4000" dirty="0"/>
          </a:p>
        </p:txBody>
      </p:sp>
      <p:sp>
        <p:nvSpPr>
          <p:cNvPr id="3" name="Content Placeholder 2"/>
          <p:cNvSpPr>
            <a:spLocks noGrp="1"/>
          </p:cNvSpPr>
          <p:nvPr>
            <p:ph idx="1"/>
          </p:nvPr>
        </p:nvSpPr>
        <p:spPr>
          <a:xfrm>
            <a:off x="457200" y="1600200"/>
            <a:ext cx="8424545" cy="4975225"/>
          </a:xfrm>
        </p:spPr>
        <p:txBody>
          <a:bodyPr>
            <a:normAutofit/>
          </a:bodyPr>
          <a:lstStyle/>
          <a:p>
            <a:pPr>
              <a:lnSpc>
                <a:spcPct val="150000"/>
              </a:lnSpc>
              <a:buFont typeface="Arial" panose="020B0604020202020204" pitchFamily="34" charset="0"/>
              <a:buChar char="•"/>
            </a:pPr>
            <a:r>
              <a:rPr lang="en-US" dirty="0">
                <a:solidFill>
                  <a:srgbClr val="222222"/>
                </a:solidFill>
                <a:latin typeface="Barlow"/>
              </a:rPr>
              <a:t>A competing style is for all you headstrong folks. With this approach, you take a firm stance and refuse to budge until you get what you want</a:t>
            </a:r>
          </a:p>
          <a:p>
            <a:pPr>
              <a:lnSpc>
                <a:spcPct val="150000"/>
              </a:lnSpc>
              <a:buFont typeface="Arial" panose="020B0604020202020204" pitchFamily="34" charset="0"/>
              <a:buChar char="•"/>
            </a:pPr>
            <a:r>
              <a:rPr lang="en-US" dirty="0">
                <a:solidFill>
                  <a:srgbClr val="222222"/>
                </a:solidFill>
                <a:latin typeface="Barlow"/>
              </a:rPr>
              <a:t> You are unmoved by the perspectives of the other parties involved in the conflict.</a:t>
            </a:r>
            <a:endParaRPr lang="en-US" b="0" i="0" dirty="0">
              <a:solidFill>
                <a:srgbClr val="222222"/>
              </a:solidFill>
              <a:effectLst/>
              <a:latin typeface="Barlow"/>
            </a:endParaRPr>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56</a:t>
            </a:fld>
            <a:endParaRPr lang="en-US" dirty="0">
              <a:solidFill>
                <a:prstClr val="black">
                  <a:tint val="75000"/>
                </a:prstClr>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Competing cont’d </a:t>
            </a:r>
            <a:endParaRPr lang="fr-FR" b="1" dirty="0"/>
          </a:p>
        </p:txBody>
      </p:sp>
      <p:sp>
        <p:nvSpPr>
          <p:cNvPr id="3" name="Content Placeholder 2"/>
          <p:cNvSpPr>
            <a:spLocks noGrp="1"/>
          </p:cNvSpPr>
          <p:nvPr>
            <p:ph idx="1"/>
          </p:nvPr>
        </p:nvSpPr>
        <p:spPr/>
        <p:txBody>
          <a:bodyPr/>
          <a:lstStyle/>
          <a:p>
            <a:r>
              <a:rPr lang="en-US" dirty="0"/>
              <a:t>When to use it: </a:t>
            </a:r>
          </a:p>
          <a:p>
            <a:r>
              <a:rPr lang="en-US" dirty="0"/>
              <a:t> When you have to stand up for yourself, your rights, or your morals.</a:t>
            </a:r>
          </a:p>
          <a:p>
            <a:r>
              <a:rPr lang="en-US" dirty="0"/>
              <a:t>When a less forceful conflict management style is ineffective</a:t>
            </a:r>
          </a:p>
          <a:p>
            <a:r>
              <a:rPr lang="en-US" dirty="0"/>
              <a:t>When nothing else is working and you have reached your last resort</a:t>
            </a:r>
            <a:endParaRPr lang="fr-FR" dirty="0"/>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57</a:t>
            </a:fld>
            <a:endParaRPr lang="en-US" dirty="0">
              <a:solidFill>
                <a:prstClr val="black">
                  <a:tint val="75000"/>
                </a:prstClr>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Avoiding</a:t>
            </a:r>
            <a:r>
              <a:rPr lang="en-US" dirty="0"/>
              <a:t> </a:t>
            </a:r>
            <a:endParaRPr lang="fr-FR" dirty="0"/>
          </a:p>
        </p:txBody>
      </p:sp>
      <p:sp>
        <p:nvSpPr>
          <p:cNvPr id="3" name="Content Placeholder 2"/>
          <p:cNvSpPr>
            <a:spLocks noGrp="1"/>
          </p:cNvSpPr>
          <p:nvPr>
            <p:ph idx="1"/>
          </p:nvPr>
        </p:nvSpPr>
        <p:spPr/>
        <p:txBody>
          <a:bodyPr>
            <a:normAutofit lnSpcReduction="10000"/>
          </a:bodyPr>
          <a:lstStyle/>
          <a:p>
            <a:pPr>
              <a:lnSpc>
                <a:spcPct val="150000"/>
              </a:lnSpc>
            </a:pPr>
            <a:r>
              <a:rPr lang="en-US" dirty="0"/>
              <a:t>You don’t deal with a conflict at all ,you avoid a confrontation and leave other party hanging </a:t>
            </a:r>
          </a:p>
          <a:p>
            <a:pPr>
              <a:lnSpc>
                <a:spcPct val="150000"/>
              </a:lnSpc>
            </a:pPr>
            <a:r>
              <a:rPr lang="en-US" dirty="0"/>
              <a:t>It is a risky approach because doing nothing doesn’t make the conflict go away </a:t>
            </a:r>
          </a:p>
          <a:p>
            <a:pPr>
              <a:lnSpc>
                <a:spcPct val="150000"/>
              </a:lnSpc>
            </a:pPr>
            <a:r>
              <a:rPr lang="en-US" dirty="0"/>
              <a:t>It can strain a relationship since it will seem as if you don’t care about outcome .</a:t>
            </a:r>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58</a:t>
            </a:fld>
            <a:endParaRPr lang="en-US" dirty="0">
              <a:solidFill>
                <a:prstClr val="black">
                  <a:tint val="75000"/>
                </a:prstClr>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59" y="2541528"/>
            <a:ext cx="9128016" cy="1362075"/>
          </a:xfrm>
          <a:solidFill>
            <a:schemeClr val="tx2">
              <a:lumMod val="50000"/>
            </a:schemeClr>
          </a:solidFill>
        </p:spPr>
        <p:txBody>
          <a:bodyPr/>
          <a:lstStyle/>
          <a:p>
            <a:pPr algn="ctr"/>
            <a:br>
              <a:rPr lang="en-US" dirty="0">
                <a:solidFill>
                  <a:srgbClr val="FFFFFF"/>
                </a:solidFill>
              </a:rPr>
            </a:br>
            <a:r>
              <a:rPr lang="en-US" dirty="0">
                <a:solidFill>
                  <a:srgbClr val="FFFFFF"/>
                </a:solidFill>
              </a:rPr>
              <a:t>6. Performance management</a:t>
            </a:r>
          </a:p>
        </p:txBody>
      </p:sp>
      <p:sp>
        <p:nvSpPr>
          <p:cNvPr id="3" name="Text Placeholder 2"/>
          <p:cNvSpPr>
            <a:spLocks noGrp="1"/>
          </p:cNvSpPr>
          <p:nvPr>
            <p:ph type="body" idx="1"/>
          </p:nvPr>
        </p:nvSpPr>
        <p:spPr>
          <a:xfrm>
            <a:off x="659249" y="3903603"/>
            <a:ext cx="7772400" cy="1500187"/>
          </a:xfrm>
        </p:spPr>
        <p:txBody>
          <a:bodyPr anchor="t">
            <a:normAutofit/>
          </a:bodyPr>
          <a:lstStyle/>
          <a:p>
            <a:r>
              <a:rPr lang="en-US" sz="2800" b="1" dirty="0"/>
              <a:t>Basic Functions of Human Resource Management</a:t>
            </a:r>
          </a:p>
        </p:txBody>
      </p:sp>
      <p:sp>
        <p:nvSpPr>
          <p:cNvPr id="6" name="Slide Number Placeholder 5"/>
          <p:cNvSpPr>
            <a:spLocks noGrp="1"/>
          </p:cNvSpPr>
          <p:nvPr>
            <p:ph type="sldNum" sz="quarter" idx="12"/>
          </p:nvPr>
        </p:nvSpPr>
        <p:spPr/>
        <p:txBody>
          <a:bodyPr/>
          <a:lstStyle/>
          <a:p>
            <a:fld id="{36A94550-0172-2A4E-BEEB-6BE00EB0E97C}" type="slidenum">
              <a:rPr lang="en-US" smtClean="0">
                <a:solidFill>
                  <a:prstClr val="black">
                    <a:tint val="75000"/>
                  </a:prstClr>
                </a:solidFill>
              </a:rPr>
              <a:t>59</a:t>
            </a:fld>
            <a:endParaRPr lang="en-US" dirty="0">
              <a:solidFill>
                <a:prstClr val="black">
                  <a:tint val="75000"/>
                </a:prstClr>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6. Performance Management</a:t>
            </a:r>
          </a:p>
        </p:txBody>
      </p:sp>
      <p:sp>
        <p:nvSpPr>
          <p:cNvPr id="4" name="TextBox 3"/>
          <p:cNvSpPr txBox="1"/>
          <p:nvPr/>
        </p:nvSpPr>
        <p:spPr>
          <a:xfrm>
            <a:off x="190635" y="1376020"/>
            <a:ext cx="8385806" cy="3108543"/>
          </a:xfrm>
          <a:prstGeom prst="rect">
            <a:avLst/>
          </a:prstGeom>
          <a:noFill/>
        </p:spPr>
        <p:txBody>
          <a:bodyPr wrap="square" rtlCol="0">
            <a:spAutoFit/>
          </a:bodyPr>
          <a:lstStyle/>
          <a:p>
            <a:pPr fontAlgn="base">
              <a:spcAft>
                <a:spcPct val="0"/>
              </a:spcAft>
              <a:defRPr/>
            </a:pPr>
            <a:r>
              <a:rPr lang="en-US" sz="2800" b="1" dirty="0">
                <a:solidFill>
                  <a:prstClr val="black"/>
                </a:solidFill>
              </a:rPr>
              <a:t>What you will learn:</a:t>
            </a:r>
            <a:endParaRPr lang="en-US" sz="1000" b="1" dirty="0">
              <a:solidFill>
                <a:prstClr val="black"/>
              </a:solidFill>
            </a:endParaRPr>
          </a:p>
          <a:p>
            <a:pPr marL="285750" indent="-285750" defTabSz="457200">
              <a:lnSpc>
                <a:spcPct val="150000"/>
              </a:lnSpc>
              <a:buFont typeface="Arial" panose="020B0604020202020204"/>
              <a:buChar char="•"/>
            </a:pPr>
            <a:r>
              <a:rPr lang="en-US" sz="2800" dirty="0">
                <a:solidFill>
                  <a:prstClr val="black"/>
                </a:solidFill>
              </a:rPr>
              <a:t>Expectation Setting</a:t>
            </a:r>
          </a:p>
          <a:p>
            <a:pPr marL="285750" indent="-285750" defTabSz="457200">
              <a:lnSpc>
                <a:spcPct val="150000"/>
              </a:lnSpc>
              <a:buFont typeface="Arial" panose="020B0604020202020204"/>
              <a:buChar char="•"/>
            </a:pPr>
            <a:r>
              <a:rPr lang="en-US" sz="2800" dirty="0">
                <a:solidFill>
                  <a:prstClr val="black"/>
                </a:solidFill>
              </a:rPr>
              <a:t>Employee Engagement</a:t>
            </a:r>
          </a:p>
          <a:p>
            <a:pPr marL="285750" indent="-285750" defTabSz="457200">
              <a:lnSpc>
                <a:spcPct val="150000"/>
              </a:lnSpc>
              <a:buFont typeface="Arial" panose="020B0604020202020204"/>
              <a:buChar char="•"/>
            </a:pPr>
            <a:r>
              <a:rPr lang="en-US" sz="2800" dirty="0">
                <a:solidFill>
                  <a:prstClr val="black"/>
                </a:solidFill>
              </a:rPr>
              <a:t>Performance Evaluation</a:t>
            </a:r>
            <a:endParaRPr lang="en-US" sz="2800" i="1" dirty="0">
              <a:solidFill>
                <a:prstClr val="black"/>
              </a:solidFill>
            </a:endParaRPr>
          </a:p>
          <a:p>
            <a:pPr marL="285750" indent="-285750" defTabSz="457200">
              <a:lnSpc>
                <a:spcPct val="150000"/>
              </a:lnSpc>
              <a:buFont typeface="Arial" panose="020B0604020202020204"/>
              <a:buChar char="•"/>
            </a:pPr>
            <a:r>
              <a:rPr lang="en-US" sz="2800" dirty="0">
                <a:solidFill>
                  <a:prstClr val="black"/>
                </a:solidFill>
              </a:rPr>
              <a:t>Performance Improvement Process</a:t>
            </a:r>
          </a:p>
        </p:txBody>
      </p:sp>
      <p:sp>
        <p:nvSpPr>
          <p:cNvPr id="3" name="Slide Number Placeholder 2"/>
          <p:cNvSpPr>
            <a:spLocks noGrp="1"/>
          </p:cNvSpPr>
          <p:nvPr>
            <p:ph type="sldNum" sz="quarter" idx="12"/>
          </p:nvPr>
        </p:nvSpPr>
        <p:spPr/>
        <p:txBody>
          <a:bodyPr/>
          <a:lstStyle/>
          <a:p>
            <a:fld id="{36A94550-0172-2A4E-BEEB-6BE00EB0E97C}" type="slidenum">
              <a:rPr lang="en-US" smtClean="0">
                <a:solidFill>
                  <a:prstClr val="black">
                    <a:tint val="75000"/>
                  </a:prstClr>
                </a:solidFill>
              </a:rPr>
              <a:t>60</a:t>
            </a:fld>
            <a:endParaRPr lang="en-US" dirty="0">
              <a:solidFill>
                <a:prstClr val="black">
                  <a:tint val="75000"/>
                </a:prstClr>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6. Performance Management</a:t>
            </a:r>
          </a:p>
        </p:txBody>
      </p:sp>
      <p:sp>
        <p:nvSpPr>
          <p:cNvPr id="4" name="TextBox 3"/>
          <p:cNvSpPr txBox="1"/>
          <p:nvPr/>
        </p:nvSpPr>
        <p:spPr>
          <a:xfrm>
            <a:off x="0" y="1164134"/>
            <a:ext cx="8747293" cy="4832092"/>
          </a:xfrm>
          <a:prstGeom prst="rect">
            <a:avLst/>
          </a:prstGeom>
          <a:noFill/>
        </p:spPr>
        <p:txBody>
          <a:bodyPr wrap="square" rtlCol="0">
            <a:spAutoFit/>
          </a:bodyPr>
          <a:lstStyle/>
          <a:p>
            <a:pPr fontAlgn="base">
              <a:spcAft>
                <a:spcPct val="0"/>
              </a:spcAft>
              <a:defRPr/>
            </a:pPr>
            <a:r>
              <a:rPr lang="en-US" sz="2800" b="1" dirty="0">
                <a:solidFill>
                  <a:prstClr val="black"/>
                </a:solidFill>
              </a:rPr>
              <a:t>Definition:</a:t>
            </a:r>
          </a:p>
          <a:p>
            <a:pPr defTabSz="457200"/>
            <a:r>
              <a:rPr lang="en-US" sz="2400" dirty="0">
                <a:solidFill>
                  <a:prstClr val="black"/>
                </a:solidFill>
              </a:rPr>
              <a:t>The process by which managers help employees perform well.</a:t>
            </a:r>
            <a:br>
              <a:rPr lang="en-US" sz="3200" dirty="0">
                <a:solidFill>
                  <a:prstClr val="black"/>
                </a:solidFill>
              </a:rPr>
            </a:br>
            <a:r>
              <a:rPr lang="en-US" sz="2400" dirty="0">
                <a:solidFill>
                  <a:prstClr val="black"/>
                </a:solidFill>
              </a:rPr>
              <a:t>(Remember: Your employees are your service and your product. </a:t>
            </a:r>
          </a:p>
          <a:p>
            <a:pPr defTabSz="457200"/>
            <a:r>
              <a:rPr lang="en-US" sz="2400" dirty="0">
                <a:solidFill>
                  <a:prstClr val="black"/>
                </a:solidFill>
              </a:rPr>
              <a:t>If they succeed, your organization will succeed)</a:t>
            </a:r>
          </a:p>
          <a:p>
            <a:pPr fontAlgn="base">
              <a:spcAft>
                <a:spcPct val="0"/>
              </a:spcAft>
              <a:defRPr/>
            </a:pPr>
            <a:endParaRPr lang="en-US" sz="3200" b="1" dirty="0">
              <a:solidFill>
                <a:schemeClr val="tx1"/>
              </a:solidFill>
            </a:endParaRPr>
          </a:p>
          <a:p>
            <a:pPr fontAlgn="base">
              <a:spcAft>
                <a:spcPct val="0"/>
              </a:spcAft>
              <a:defRPr/>
            </a:pPr>
            <a:r>
              <a:rPr lang="en-US" sz="2400" dirty="0">
                <a:solidFill>
                  <a:schemeClr val="tx1"/>
                </a:solidFill>
              </a:rPr>
              <a:t>Process by which </a:t>
            </a:r>
            <a:r>
              <a:rPr lang="en-US" sz="2400" b="1" dirty="0">
                <a:solidFill>
                  <a:schemeClr val="tx1"/>
                </a:solidFill>
              </a:rPr>
              <a:t>managers</a:t>
            </a:r>
            <a:r>
              <a:rPr lang="en-US" sz="2400" dirty="0">
                <a:solidFill>
                  <a:schemeClr val="tx1"/>
                </a:solidFill>
              </a:rPr>
              <a:t> and employees work together to plan, monitor and review an employee's work objectives and overall contribution to the organization.</a:t>
            </a:r>
            <a:endParaRPr lang="en-US" sz="2400" b="1" dirty="0">
              <a:solidFill>
                <a:schemeClr val="tx1"/>
              </a:solidFill>
            </a:endParaRPr>
          </a:p>
          <a:p>
            <a:pPr fontAlgn="base">
              <a:spcAft>
                <a:spcPct val="0"/>
              </a:spcAft>
              <a:defRPr/>
            </a:pPr>
            <a:endParaRPr lang="en-US" sz="2800" b="1" dirty="0">
              <a:solidFill>
                <a:prstClr val="black"/>
              </a:solidFill>
            </a:endParaRPr>
          </a:p>
          <a:p>
            <a:pPr fontAlgn="base">
              <a:spcAft>
                <a:spcPct val="0"/>
              </a:spcAft>
              <a:defRPr/>
            </a:pPr>
            <a:r>
              <a:rPr lang="en-US" sz="2800" b="1" dirty="0">
                <a:solidFill>
                  <a:prstClr val="black"/>
                </a:solidFill>
              </a:rPr>
              <a:t>Why important?</a:t>
            </a:r>
          </a:p>
          <a:p>
            <a:pPr fontAlgn="base">
              <a:spcAft>
                <a:spcPct val="0"/>
              </a:spcAft>
              <a:defRPr/>
            </a:pPr>
            <a:r>
              <a:rPr lang="en-US" sz="2400" dirty="0">
                <a:solidFill>
                  <a:prstClr val="black"/>
                </a:solidFill>
              </a:rPr>
              <a:t>When employees perform well, the organization will meet its desired goals. </a:t>
            </a:r>
            <a:r>
              <a:rPr lang="en-US" sz="2400" b="1" dirty="0">
                <a:solidFill>
                  <a:prstClr val="black"/>
                </a:solidFill>
              </a:rPr>
              <a:t> </a:t>
            </a:r>
            <a:endParaRPr lang="en-US" sz="2400" dirty="0">
              <a:solidFill>
                <a:prstClr val="black"/>
              </a:solidFill>
            </a:endParaRPr>
          </a:p>
        </p:txBody>
      </p:sp>
      <p:sp>
        <p:nvSpPr>
          <p:cNvPr id="3" name="Slide Number Placeholder 2"/>
          <p:cNvSpPr>
            <a:spLocks noGrp="1"/>
          </p:cNvSpPr>
          <p:nvPr>
            <p:ph type="sldNum" sz="quarter" idx="12"/>
          </p:nvPr>
        </p:nvSpPr>
        <p:spPr/>
        <p:txBody>
          <a:bodyPr/>
          <a:lstStyle/>
          <a:p>
            <a:fld id="{36A94550-0172-2A4E-BEEB-6BE00EB0E97C}" type="slidenum">
              <a:rPr lang="en-US" smtClean="0">
                <a:solidFill>
                  <a:prstClr val="black">
                    <a:tint val="75000"/>
                  </a:prstClr>
                </a:solidFill>
              </a:rPr>
              <a:t>61</a:t>
            </a:fld>
            <a:endParaRPr lang="en-US" dirty="0">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6. Performance Management</a:t>
            </a:r>
          </a:p>
        </p:txBody>
      </p:sp>
      <p:sp>
        <p:nvSpPr>
          <p:cNvPr id="5" name="TextBox 4"/>
          <p:cNvSpPr txBox="1"/>
          <p:nvPr/>
        </p:nvSpPr>
        <p:spPr>
          <a:xfrm>
            <a:off x="220718" y="1368652"/>
            <a:ext cx="8844452" cy="5078313"/>
          </a:xfrm>
          <a:prstGeom prst="rect">
            <a:avLst/>
          </a:prstGeom>
          <a:noFill/>
        </p:spPr>
        <p:txBody>
          <a:bodyPr wrap="square" rtlCol="0">
            <a:spAutoFit/>
          </a:bodyPr>
          <a:lstStyle/>
          <a:p>
            <a:pPr defTabSz="457200"/>
            <a:r>
              <a:rPr lang="en-US" sz="2800" b="1" dirty="0">
                <a:solidFill>
                  <a:prstClr val="black"/>
                </a:solidFill>
              </a:rPr>
              <a:t>Expectation Setting</a:t>
            </a:r>
          </a:p>
          <a:p>
            <a:pPr defTabSz="457200"/>
            <a:r>
              <a:rPr lang="en-US" sz="2800" b="1" dirty="0">
                <a:solidFill>
                  <a:prstClr val="black"/>
                </a:solidFill>
              </a:rPr>
              <a:t>Definition:</a:t>
            </a:r>
          </a:p>
          <a:p>
            <a:pPr defTabSz="457200"/>
            <a:r>
              <a:rPr lang="en-US" sz="2400" dirty="0">
                <a:solidFill>
                  <a:prstClr val="black"/>
                </a:solidFill>
              </a:rPr>
              <a:t>The way to communicate to your employees how the organization works and what the job requires them to do.</a:t>
            </a:r>
          </a:p>
          <a:p>
            <a:pPr defTabSz="457200"/>
            <a:endParaRPr lang="en-US" sz="2800" b="1" dirty="0">
              <a:solidFill>
                <a:prstClr val="black"/>
              </a:solidFill>
            </a:endParaRPr>
          </a:p>
          <a:p>
            <a:pPr defTabSz="457200"/>
            <a:r>
              <a:rPr lang="en-US" sz="2800" b="1" dirty="0">
                <a:solidFill>
                  <a:prstClr val="black"/>
                </a:solidFill>
              </a:rPr>
              <a:t>Why important?</a:t>
            </a:r>
            <a:endParaRPr lang="en-US" sz="2400" dirty="0">
              <a:solidFill>
                <a:prstClr val="black"/>
              </a:solidFill>
            </a:endParaRPr>
          </a:p>
          <a:p>
            <a:pPr marL="342900" indent="-342900" defTabSz="457200">
              <a:buFont typeface="Arial" panose="020B0604020202020204" pitchFamily="34" charset="0"/>
              <a:buChar char="•"/>
            </a:pPr>
            <a:r>
              <a:rPr lang="en-US" sz="2400" dirty="0">
                <a:solidFill>
                  <a:prstClr val="black"/>
                </a:solidFill>
              </a:rPr>
              <a:t>Setting expectations early will help to avoid failures</a:t>
            </a:r>
          </a:p>
          <a:p>
            <a:pPr defTabSz="457200"/>
            <a:endParaRPr lang="en-US" sz="1000" dirty="0">
              <a:solidFill>
                <a:prstClr val="black"/>
              </a:solidFill>
            </a:endParaRPr>
          </a:p>
          <a:p>
            <a:pPr marL="342900" indent="-342900" defTabSz="457200">
              <a:buFont typeface="Arial" panose="020B0604020202020204" pitchFamily="34" charset="0"/>
              <a:buChar char="•"/>
            </a:pPr>
            <a:r>
              <a:rPr lang="en-US" sz="2400" dirty="0">
                <a:solidFill>
                  <a:prstClr val="black"/>
                </a:solidFill>
              </a:rPr>
              <a:t>People don’t know what they don’t know</a:t>
            </a:r>
          </a:p>
          <a:p>
            <a:pPr marL="800100" lvl="1" indent="-342900" defTabSz="457200">
              <a:buFont typeface="Arial" panose="020B0604020202020204" pitchFamily="34" charset="0"/>
              <a:buChar char="•"/>
            </a:pPr>
            <a:r>
              <a:rPr lang="en-US" sz="2400" dirty="0">
                <a:solidFill>
                  <a:prstClr val="black"/>
                </a:solidFill>
              </a:rPr>
              <a:t>You must tell them the information needed to do their job well</a:t>
            </a:r>
          </a:p>
          <a:p>
            <a:pPr defTabSz="457200"/>
            <a:endParaRPr lang="en-US" sz="1000" dirty="0">
              <a:solidFill>
                <a:prstClr val="black"/>
              </a:solidFill>
            </a:endParaRPr>
          </a:p>
          <a:p>
            <a:pPr marL="342900" indent="-342900" defTabSz="457200">
              <a:buFont typeface="Arial" panose="020B0604020202020204" pitchFamily="34" charset="0"/>
              <a:buChar char="•"/>
            </a:pPr>
            <a:r>
              <a:rPr lang="en-US" sz="2400" dirty="0">
                <a:solidFill>
                  <a:prstClr val="black"/>
                </a:solidFill>
              </a:rPr>
              <a:t>It will guide the employee on how to complete job tasks properly</a:t>
            </a:r>
          </a:p>
          <a:p>
            <a:pPr marL="800100" lvl="1" indent="-342900" defTabSz="457200">
              <a:buFont typeface="Arial" panose="020B0604020202020204" pitchFamily="34" charset="0"/>
              <a:buChar char="•"/>
            </a:pPr>
            <a:r>
              <a:rPr lang="en-US" sz="2400" dirty="0">
                <a:solidFill>
                  <a:prstClr val="black"/>
                </a:solidFill>
              </a:rPr>
              <a:t>Avoids double work</a:t>
            </a:r>
          </a:p>
          <a:p>
            <a:pPr marL="800100" lvl="1" indent="-342900" defTabSz="457200">
              <a:buFont typeface="Arial" panose="020B0604020202020204" pitchFamily="34" charset="0"/>
              <a:buChar char="•"/>
            </a:pPr>
            <a:endParaRPr lang="en-US" sz="2400" dirty="0">
              <a:solidFill>
                <a:prstClr val="black"/>
              </a:solidFill>
            </a:endParaRPr>
          </a:p>
        </p:txBody>
      </p:sp>
      <p:sp>
        <p:nvSpPr>
          <p:cNvPr id="3" name="Slide Number Placeholder 2"/>
          <p:cNvSpPr>
            <a:spLocks noGrp="1"/>
          </p:cNvSpPr>
          <p:nvPr>
            <p:ph type="sldNum" sz="quarter" idx="12"/>
          </p:nvPr>
        </p:nvSpPr>
        <p:spPr/>
        <p:txBody>
          <a:bodyPr/>
          <a:lstStyle/>
          <a:p>
            <a:fld id="{36A94550-0172-2A4E-BEEB-6BE00EB0E97C}" type="slidenum">
              <a:rPr lang="en-US" smtClean="0">
                <a:solidFill>
                  <a:prstClr val="black">
                    <a:tint val="75000"/>
                  </a:prstClr>
                </a:solidFill>
              </a:rPr>
              <a:t>62</a:t>
            </a:fld>
            <a:endParaRPr lang="en-US" dirty="0">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63</a:t>
            </a:fld>
            <a:endParaRPr lang="en-US" dirty="0">
              <a:solidFill>
                <a:prstClr val="black">
                  <a:tint val="75000"/>
                </a:prstClr>
              </a:solidFill>
            </a:endParaRPr>
          </a:p>
        </p:txBody>
      </p:sp>
      <p:pic>
        <p:nvPicPr>
          <p:cNvPr id="1026" name="Picture 2" descr="See original image"/>
          <p:cNvPicPr>
            <a:picLocks noChangeAspect="1" noChangeArrowheads="1"/>
          </p:cNvPicPr>
          <p:nvPr/>
        </p:nvPicPr>
        <p:blipFill>
          <a:blip r:embed="rId2"/>
          <a:srcRect/>
          <a:stretch>
            <a:fillRect/>
          </a:stretch>
        </p:blipFill>
        <p:spPr bwMode="auto">
          <a:xfrm>
            <a:off x="609600" y="1142999"/>
            <a:ext cx="8077199" cy="5715001"/>
          </a:xfrm>
          <a:prstGeom prst="rect">
            <a:avLst/>
          </a:prstGeom>
          <a:noFill/>
        </p:spPr>
      </p:pic>
      <p:sp>
        <p:nvSpPr>
          <p:cNvPr id="6"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0000"/>
                </a:solidFill>
              </a:rPr>
              <a:t>6. Performance Management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6. Performance Management</a:t>
            </a:r>
          </a:p>
        </p:txBody>
      </p:sp>
      <p:sp>
        <p:nvSpPr>
          <p:cNvPr id="5" name="TextBox 4"/>
          <p:cNvSpPr txBox="1"/>
          <p:nvPr/>
        </p:nvSpPr>
        <p:spPr>
          <a:xfrm>
            <a:off x="299548" y="1431716"/>
            <a:ext cx="8513379" cy="5386090"/>
          </a:xfrm>
          <a:prstGeom prst="rect">
            <a:avLst/>
          </a:prstGeom>
          <a:noFill/>
        </p:spPr>
        <p:txBody>
          <a:bodyPr wrap="square" rtlCol="0">
            <a:spAutoFit/>
          </a:bodyPr>
          <a:lstStyle/>
          <a:p>
            <a:pPr defTabSz="457200"/>
            <a:r>
              <a:rPr lang="en-US" sz="2800" b="1" dirty="0">
                <a:solidFill>
                  <a:prstClr val="black"/>
                </a:solidFill>
              </a:rPr>
              <a:t>Expectation Setting</a:t>
            </a:r>
          </a:p>
          <a:p>
            <a:pPr defTabSz="457200"/>
            <a:r>
              <a:rPr lang="en-US" sz="2800" b="1" dirty="0">
                <a:solidFill>
                  <a:prstClr val="black"/>
                </a:solidFill>
              </a:rPr>
              <a:t>How can you set expectations for a new employee?</a:t>
            </a:r>
          </a:p>
          <a:p>
            <a:pPr marL="285750" indent="-285750" defTabSz="457200">
              <a:lnSpc>
                <a:spcPct val="150000"/>
              </a:lnSpc>
              <a:buFont typeface="Arial" panose="020B0604020202020204"/>
              <a:buChar char="•"/>
            </a:pPr>
            <a:r>
              <a:rPr lang="en-US" sz="2400" dirty="0">
                <a:solidFill>
                  <a:prstClr val="black"/>
                </a:solidFill>
              </a:rPr>
              <a:t>Provide a job description</a:t>
            </a:r>
          </a:p>
          <a:p>
            <a:pPr marL="285750" indent="-285750" defTabSz="457200">
              <a:lnSpc>
                <a:spcPct val="150000"/>
              </a:lnSpc>
              <a:buFont typeface="Arial" panose="020B0604020202020204"/>
              <a:buChar char="•"/>
            </a:pPr>
            <a:r>
              <a:rPr lang="en-US" sz="2400" dirty="0">
                <a:solidFill>
                  <a:prstClr val="black"/>
                </a:solidFill>
              </a:rPr>
              <a:t>Delegate assignments</a:t>
            </a:r>
          </a:p>
          <a:p>
            <a:pPr marL="285750" indent="-285750" defTabSz="457200">
              <a:lnSpc>
                <a:spcPct val="150000"/>
              </a:lnSpc>
              <a:buFont typeface="Arial" panose="020B0604020202020204"/>
              <a:buChar char="•"/>
            </a:pPr>
            <a:r>
              <a:rPr lang="en-US" sz="2400" dirty="0">
                <a:solidFill>
                  <a:prstClr val="black"/>
                </a:solidFill>
              </a:rPr>
              <a:t>Set deadlines</a:t>
            </a:r>
          </a:p>
          <a:p>
            <a:pPr marL="285750" indent="-285750" defTabSz="457200">
              <a:lnSpc>
                <a:spcPct val="150000"/>
              </a:lnSpc>
              <a:buFont typeface="Arial" panose="020B0604020202020204"/>
              <a:buChar char="•"/>
            </a:pPr>
            <a:r>
              <a:rPr lang="en-US" sz="2400" dirty="0">
                <a:solidFill>
                  <a:prstClr val="black"/>
                </a:solidFill>
              </a:rPr>
              <a:t>Provide daily communication/direction</a:t>
            </a:r>
          </a:p>
          <a:p>
            <a:pPr marL="342900" indent="-342900" defTabSz="457200">
              <a:lnSpc>
                <a:spcPct val="150000"/>
              </a:lnSpc>
              <a:buFont typeface="Arial" panose="020B0604020202020204"/>
              <a:buChar char="•"/>
            </a:pPr>
            <a:r>
              <a:rPr lang="en-US" sz="2400" b="1" i="1" dirty="0">
                <a:solidFill>
                  <a:prstClr val="black"/>
                </a:solidFill>
              </a:rPr>
              <a:t>Other? </a:t>
            </a:r>
            <a:r>
              <a:rPr lang="en-US" sz="2400" b="1" i="1" dirty="0">
                <a:solidFill>
                  <a:schemeClr val="tx1"/>
                </a:solidFill>
              </a:rPr>
              <a:t> </a:t>
            </a:r>
            <a:r>
              <a:rPr lang="en-US" sz="2400" b="1" i="1" dirty="0" err="1">
                <a:solidFill>
                  <a:schemeClr val="tx1"/>
                </a:solidFill>
              </a:rPr>
              <a:t>e.g</a:t>
            </a:r>
            <a:r>
              <a:rPr lang="en-US" sz="2400" b="1" i="1" dirty="0">
                <a:solidFill>
                  <a:schemeClr val="tx1"/>
                </a:solidFill>
              </a:rPr>
              <a:t> </a:t>
            </a:r>
            <a:r>
              <a:rPr lang="en-US" sz="2400" dirty="0">
                <a:solidFill>
                  <a:schemeClr val="tx1"/>
                </a:solidFill>
              </a:rPr>
              <a:t>Some core principles of our organizational culture: Mission focus and dedication,    Professionalism, Welcome feedback, and offer it responsibly, Highly Collaborative Culture, Implement Decisions Excellently, etc…..; </a:t>
            </a:r>
            <a:endParaRPr lang="en-US" sz="2400" i="1" dirty="0">
              <a:solidFill>
                <a:schemeClr val="tx1"/>
              </a:solidFill>
            </a:endParaRPr>
          </a:p>
        </p:txBody>
      </p:sp>
      <p:sp>
        <p:nvSpPr>
          <p:cNvPr id="3" name="Slide Number Placeholder 2"/>
          <p:cNvSpPr>
            <a:spLocks noGrp="1"/>
          </p:cNvSpPr>
          <p:nvPr>
            <p:ph type="sldNum" sz="quarter" idx="12"/>
          </p:nvPr>
        </p:nvSpPr>
        <p:spPr/>
        <p:txBody>
          <a:bodyPr/>
          <a:lstStyle/>
          <a:p>
            <a:fld id="{36A94550-0172-2A4E-BEEB-6BE00EB0E97C}" type="slidenum">
              <a:rPr lang="en-US" smtClean="0">
                <a:solidFill>
                  <a:prstClr val="black">
                    <a:tint val="75000"/>
                  </a:prstClr>
                </a:solidFill>
              </a:rPr>
              <a:t>64</a:t>
            </a:fld>
            <a:endParaRPr lang="en-US" dirty="0">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6. Performance Management</a:t>
            </a:r>
          </a:p>
        </p:txBody>
      </p:sp>
      <p:sp>
        <p:nvSpPr>
          <p:cNvPr id="3" name="Content Placeholder 2"/>
          <p:cNvSpPr>
            <a:spLocks noGrp="1"/>
          </p:cNvSpPr>
          <p:nvPr>
            <p:ph idx="1"/>
          </p:nvPr>
        </p:nvSpPr>
        <p:spPr>
          <a:xfrm>
            <a:off x="228526" y="1295234"/>
            <a:ext cx="8666282" cy="5521491"/>
          </a:xfrm>
        </p:spPr>
        <p:txBody>
          <a:bodyPr>
            <a:noAutofit/>
          </a:bodyPr>
          <a:lstStyle/>
          <a:p>
            <a:pPr marL="0" indent="0" defTabSz="914400" fontAlgn="base">
              <a:spcBef>
                <a:spcPts val="0"/>
              </a:spcBef>
              <a:spcAft>
                <a:spcPct val="0"/>
              </a:spcAft>
              <a:buNone/>
              <a:defRPr/>
            </a:pPr>
            <a:r>
              <a:rPr lang="en-US" sz="2800" b="1" dirty="0"/>
              <a:t>Employee Engagement</a:t>
            </a:r>
          </a:p>
          <a:p>
            <a:pPr marL="0" indent="0" defTabSz="914400" fontAlgn="base">
              <a:spcBef>
                <a:spcPts val="0"/>
              </a:spcBef>
              <a:spcAft>
                <a:spcPct val="0"/>
              </a:spcAft>
              <a:buNone/>
              <a:defRPr/>
            </a:pPr>
            <a:r>
              <a:rPr lang="en-US" sz="2800" b="1" dirty="0"/>
              <a:t>Definition:</a:t>
            </a:r>
            <a:endParaRPr lang="en-US" sz="2800" dirty="0"/>
          </a:p>
          <a:p>
            <a:pPr marL="0" lvl="0" indent="0" defTabSz="914400" fontAlgn="base">
              <a:lnSpc>
                <a:spcPct val="150000"/>
              </a:lnSpc>
              <a:spcAft>
                <a:spcPct val="0"/>
              </a:spcAft>
              <a:buNone/>
              <a:defRPr/>
            </a:pPr>
            <a:r>
              <a:rPr lang="en-US" sz="2400" dirty="0"/>
              <a:t>When employees are fully </a:t>
            </a:r>
            <a:r>
              <a:rPr lang="en-US" sz="2400" b="1" dirty="0"/>
              <a:t>involved</a:t>
            </a:r>
            <a:r>
              <a:rPr lang="en-US" sz="2400" dirty="0"/>
              <a:t> in, </a:t>
            </a:r>
            <a:r>
              <a:rPr lang="en-US" sz="2400" b="1" dirty="0"/>
              <a:t>interested</a:t>
            </a:r>
            <a:r>
              <a:rPr lang="en-US" sz="2400" dirty="0"/>
              <a:t> in, and </a:t>
            </a:r>
            <a:r>
              <a:rPr lang="en-US" sz="2400" b="1" dirty="0"/>
              <a:t>focused</a:t>
            </a:r>
            <a:r>
              <a:rPr lang="en-US" sz="2400" dirty="0"/>
              <a:t> on helping the organization achieve its mission and desired goals.</a:t>
            </a:r>
            <a:r>
              <a:rPr lang="en-US" sz="2400" b="1" dirty="0"/>
              <a:t> </a:t>
            </a:r>
          </a:p>
          <a:p>
            <a:pPr marL="0" lvl="0" indent="0" defTabSz="914400" fontAlgn="base">
              <a:lnSpc>
                <a:spcPct val="150000"/>
              </a:lnSpc>
              <a:spcAft>
                <a:spcPct val="0"/>
              </a:spcAft>
              <a:buNone/>
              <a:defRPr/>
            </a:pPr>
            <a:endParaRPr lang="en-US" sz="2400" b="1" dirty="0">
              <a:solidFill>
                <a:srgbClr val="FF0000"/>
              </a:solidFill>
            </a:endParaRPr>
          </a:p>
          <a:p>
            <a:pPr marL="0" lvl="0" indent="0" defTabSz="914400" fontAlgn="base">
              <a:lnSpc>
                <a:spcPct val="150000"/>
              </a:lnSpc>
              <a:spcAft>
                <a:spcPct val="0"/>
              </a:spcAft>
              <a:buNone/>
              <a:defRPr/>
            </a:pPr>
            <a:r>
              <a:rPr lang="en-US" sz="2400" b="1" dirty="0">
                <a:solidFill>
                  <a:schemeClr val="tx1"/>
                </a:solidFill>
              </a:rPr>
              <a:t>Employee engagement</a:t>
            </a:r>
            <a:r>
              <a:rPr lang="en-US" sz="2400" dirty="0">
                <a:solidFill>
                  <a:schemeClr val="tx1"/>
                </a:solidFill>
              </a:rPr>
              <a:t> is a property of the relationship between an organization and its </a:t>
            </a:r>
            <a:r>
              <a:rPr lang="en-US" sz="2400" b="1" dirty="0">
                <a:solidFill>
                  <a:schemeClr val="tx1"/>
                </a:solidFill>
              </a:rPr>
              <a:t>employees</a:t>
            </a:r>
            <a:r>
              <a:rPr lang="en-US" sz="2400" dirty="0">
                <a:solidFill>
                  <a:schemeClr val="tx1"/>
                </a:solidFill>
              </a:rPr>
              <a:t>. An "engaged </a:t>
            </a:r>
            <a:r>
              <a:rPr lang="en-US" sz="2400" b="1" dirty="0">
                <a:solidFill>
                  <a:schemeClr val="tx1"/>
                </a:solidFill>
              </a:rPr>
              <a:t>employee</a:t>
            </a:r>
            <a:r>
              <a:rPr lang="en-US" sz="2400" dirty="0">
                <a:solidFill>
                  <a:schemeClr val="tx1"/>
                </a:solidFill>
              </a:rPr>
              <a:t>" is defined as one who is fully absorbed by and enthusiastic about their work and so takes positive action to further the organization's reputation and interests.</a:t>
            </a:r>
          </a:p>
          <a:p>
            <a:pPr marL="0" lvl="0" indent="0" defTabSz="914400" fontAlgn="base">
              <a:lnSpc>
                <a:spcPct val="150000"/>
              </a:lnSpc>
              <a:spcAft>
                <a:spcPct val="0"/>
              </a:spcAft>
              <a:buNone/>
              <a:defRPr/>
            </a:pPr>
            <a:endParaRPr lang="en-US" sz="2400" dirty="0"/>
          </a:p>
          <a:p>
            <a:pPr marL="0" indent="0" defTabSz="914400" fontAlgn="base">
              <a:lnSpc>
                <a:spcPct val="150000"/>
              </a:lnSpc>
              <a:spcAft>
                <a:spcPct val="0"/>
              </a:spcAft>
              <a:buNone/>
              <a:defRPr/>
            </a:pPr>
            <a:endParaRPr lang="en-US" sz="2400" dirty="0"/>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65</a:t>
            </a:fld>
            <a:endParaRPr lang="en-US" dirty="0">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marL="0" lvl="0" indent="0" defTabSz="914400" fontAlgn="base">
              <a:lnSpc>
                <a:spcPct val="150000"/>
              </a:lnSpc>
              <a:spcAft>
                <a:spcPct val="0"/>
              </a:spcAft>
              <a:buNone/>
              <a:defRPr/>
            </a:pPr>
            <a:r>
              <a:rPr lang="en-US" sz="3600" b="1" dirty="0"/>
              <a:t>Why important?</a:t>
            </a:r>
            <a:endParaRPr lang="en-US" b="1" dirty="0"/>
          </a:p>
          <a:p>
            <a:pPr defTabSz="914400" fontAlgn="base">
              <a:lnSpc>
                <a:spcPct val="150000"/>
              </a:lnSpc>
              <a:spcAft>
                <a:spcPct val="0"/>
              </a:spcAft>
              <a:defRPr/>
            </a:pPr>
            <a:r>
              <a:rPr lang="en-US" dirty="0"/>
              <a:t>It influences the attitude and behavior of employees</a:t>
            </a:r>
          </a:p>
          <a:p>
            <a:pPr defTabSz="914400" fontAlgn="base">
              <a:lnSpc>
                <a:spcPct val="150000"/>
              </a:lnSpc>
              <a:spcAft>
                <a:spcPct val="0"/>
              </a:spcAft>
              <a:defRPr/>
            </a:pPr>
            <a:r>
              <a:rPr lang="en-US" dirty="0"/>
              <a:t>It impacts the productivity of employees</a:t>
            </a:r>
          </a:p>
          <a:p>
            <a:pPr defTabSz="914400" fontAlgn="base">
              <a:lnSpc>
                <a:spcPct val="150000"/>
              </a:lnSpc>
              <a:spcAft>
                <a:spcPct val="0"/>
              </a:spcAft>
              <a:defRPr/>
            </a:pPr>
            <a:r>
              <a:rPr lang="en-US" dirty="0"/>
              <a:t>It increase employee morale and satisfaction</a:t>
            </a:r>
          </a:p>
          <a:p>
            <a:pPr defTabSz="914400" fontAlgn="base">
              <a:lnSpc>
                <a:spcPct val="150000"/>
              </a:lnSpc>
              <a:spcAft>
                <a:spcPct val="0"/>
              </a:spcAft>
              <a:defRPr/>
            </a:pPr>
            <a:r>
              <a:rPr lang="en-US" dirty="0"/>
              <a:t>It improves retention of good employees</a:t>
            </a:r>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66</a:t>
            </a:fld>
            <a:endParaRPr lang="en-US" dirty="0">
              <a:solidFill>
                <a:prstClr val="black">
                  <a:tint val="75000"/>
                </a:prstClr>
              </a:solidFill>
            </a:endParaRPr>
          </a:p>
        </p:txBody>
      </p:sp>
      <p:sp>
        <p:nvSpPr>
          <p:cNvPr id="5" name="Title 1"/>
          <p:cNvSpPr>
            <a:spLocks noGrp="1"/>
          </p:cNvSpPr>
          <p:nvPr>
            <p:ph type="title"/>
          </p:nvPr>
        </p:nvSpPr>
        <p:spPr>
          <a:xfrm>
            <a:off x="0" y="0"/>
            <a:ext cx="9144000" cy="1417638"/>
          </a:xfrm>
          <a:solidFill>
            <a:srgbClr val="10253F"/>
          </a:solidFill>
        </p:spPr>
        <p:txBody>
          <a:bodyPr>
            <a:normAutofit/>
          </a:bodyPr>
          <a:lstStyle/>
          <a:p>
            <a:r>
              <a:rPr lang="en-US" dirty="0">
                <a:solidFill>
                  <a:srgbClr val="FFFFFF"/>
                </a:solidFill>
              </a:rPr>
              <a:t>6. Performance Management</a:t>
            </a:r>
            <a:endParaRPr lang="en-US" dirty="0">
              <a:solidFill>
                <a:schemeClr val="bg1"/>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6. Performance Management</a:t>
            </a:r>
          </a:p>
        </p:txBody>
      </p:sp>
      <p:sp>
        <p:nvSpPr>
          <p:cNvPr id="3" name="Content Placeholder 2"/>
          <p:cNvSpPr>
            <a:spLocks noGrp="1"/>
          </p:cNvSpPr>
          <p:nvPr>
            <p:ph idx="1"/>
          </p:nvPr>
        </p:nvSpPr>
        <p:spPr>
          <a:xfrm>
            <a:off x="172662" y="1898127"/>
            <a:ext cx="9291139" cy="609845"/>
          </a:xfrm>
        </p:spPr>
        <p:txBody>
          <a:bodyPr>
            <a:noAutofit/>
          </a:bodyPr>
          <a:lstStyle/>
          <a:p>
            <a:pPr marL="0" lvl="0" indent="0" defTabSz="914400" fontAlgn="base">
              <a:spcAft>
                <a:spcPct val="0"/>
              </a:spcAft>
              <a:buNone/>
              <a:defRPr/>
            </a:pPr>
            <a:r>
              <a:rPr lang="en-US" sz="2800" dirty="0"/>
              <a:t>Three ways to engage employees to improve and retain them </a:t>
            </a:r>
          </a:p>
        </p:txBody>
      </p:sp>
      <p:sp>
        <p:nvSpPr>
          <p:cNvPr id="4" name="Slide Number Placeholder 3"/>
          <p:cNvSpPr>
            <a:spLocks noGrp="1"/>
          </p:cNvSpPr>
          <p:nvPr>
            <p:ph type="sldNum" sz="quarter" idx="12"/>
          </p:nvPr>
        </p:nvSpPr>
        <p:spPr>
          <a:xfrm>
            <a:off x="6553200" y="6443434"/>
            <a:ext cx="2133600" cy="365125"/>
          </a:xfrm>
        </p:spPr>
        <p:txBody>
          <a:bodyPr/>
          <a:lstStyle/>
          <a:p>
            <a:fld id="{36A94550-0172-2A4E-BEEB-6BE00EB0E97C}" type="slidenum">
              <a:rPr lang="en-US" smtClean="0">
                <a:solidFill>
                  <a:prstClr val="black">
                    <a:tint val="75000"/>
                  </a:prstClr>
                </a:solidFill>
              </a:rPr>
              <a:t>67</a:t>
            </a:fld>
            <a:endParaRPr lang="en-US" dirty="0">
              <a:solidFill>
                <a:prstClr val="black">
                  <a:tint val="75000"/>
                </a:prstClr>
              </a:solidFill>
            </a:endParaRPr>
          </a:p>
        </p:txBody>
      </p:sp>
      <p:sp>
        <p:nvSpPr>
          <p:cNvPr id="5" name="Rectangle 4"/>
          <p:cNvSpPr/>
          <p:nvPr/>
        </p:nvSpPr>
        <p:spPr>
          <a:xfrm>
            <a:off x="234457" y="2692600"/>
            <a:ext cx="2741263" cy="922090"/>
          </a:xfrm>
          <a:prstGeom prst="rect">
            <a:avLst/>
          </a:prstGeom>
          <a:solidFill>
            <a:schemeClr val="accent1">
              <a:lumMod val="40000"/>
              <a:lumOff val="60000"/>
            </a:schemeClr>
          </a:solidFill>
          <a:ln>
            <a:solidFill>
              <a:schemeClr val="accent1">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defTabSz="457200"/>
            <a:r>
              <a:rPr lang="en-US" sz="2600" b="1" dirty="0">
                <a:solidFill>
                  <a:prstClr val="black"/>
                </a:solidFill>
              </a:rPr>
              <a:t>Motivation</a:t>
            </a:r>
          </a:p>
        </p:txBody>
      </p:sp>
      <p:sp>
        <p:nvSpPr>
          <p:cNvPr id="6" name="Rectangle 5"/>
          <p:cNvSpPr/>
          <p:nvPr/>
        </p:nvSpPr>
        <p:spPr>
          <a:xfrm>
            <a:off x="234457" y="5046860"/>
            <a:ext cx="2736578" cy="1426171"/>
          </a:xfrm>
          <a:prstGeom prst="rect">
            <a:avLst/>
          </a:prstGeom>
          <a:solidFill>
            <a:schemeClr val="accent1">
              <a:lumMod val="40000"/>
              <a:lumOff val="60000"/>
            </a:schemeClr>
          </a:solidFill>
          <a:ln>
            <a:solidFill>
              <a:schemeClr val="accent1">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defTabSz="457200"/>
            <a:r>
              <a:rPr lang="en-US" sz="2600" b="1" dirty="0">
                <a:solidFill>
                  <a:prstClr val="black"/>
                </a:solidFill>
              </a:rPr>
              <a:t>Organizational Communication</a:t>
            </a:r>
          </a:p>
        </p:txBody>
      </p:sp>
      <p:sp>
        <p:nvSpPr>
          <p:cNvPr id="7" name="Rectangle 6"/>
          <p:cNvSpPr/>
          <p:nvPr/>
        </p:nvSpPr>
        <p:spPr>
          <a:xfrm>
            <a:off x="234457" y="3703024"/>
            <a:ext cx="2736578" cy="1261905"/>
          </a:xfrm>
          <a:prstGeom prst="rect">
            <a:avLst/>
          </a:prstGeom>
          <a:solidFill>
            <a:schemeClr val="accent1">
              <a:lumMod val="40000"/>
              <a:lumOff val="60000"/>
            </a:schemeClr>
          </a:solidFill>
          <a:ln>
            <a:solidFill>
              <a:schemeClr val="accent1">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defTabSz="457200"/>
            <a:r>
              <a:rPr lang="en-US" sz="2600" b="1" dirty="0">
                <a:solidFill>
                  <a:prstClr val="black"/>
                </a:solidFill>
              </a:rPr>
              <a:t>Feedback</a:t>
            </a:r>
          </a:p>
        </p:txBody>
      </p:sp>
      <p:sp>
        <p:nvSpPr>
          <p:cNvPr id="11" name="TextBox 10"/>
          <p:cNvSpPr txBox="1"/>
          <p:nvPr/>
        </p:nvSpPr>
        <p:spPr>
          <a:xfrm>
            <a:off x="180036" y="1289845"/>
            <a:ext cx="4209393" cy="523220"/>
          </a:xfrm>
          <a:prstGeom prst="rect">
            <a:avLst/>
          </a:prstGeom>
          <a:noFill/>
        </p:spPr>
        <p:txBody>
          <a:bodyPr wrap="square" rtlCol="0">
            <a:spAutoFit/>
          </a:bodyPr>
          <a:lstStyle/>
          <a:p>
            <a:pPr defTabSz="457200"/>
            <a:r>
              <a:rPr lang="en-US" sz="2800" b="1" dirty="0">
                <a:solidFill>
                  <a:prstClr val="black"/>
                </a:solidFill>
              </a:rPr>
              <a:t>Employee Engagement</a:t>
            </a:r>
          </a:p>
        </p:txBody>
      </p:sp>
      <p:sp>
        <p:nvSpPr>
          <p:cNvPr id="13" name="Rectangle 12"/>
          <p:cNvSpPr/>
          <p:nvPr/>
        </p:nvSpPr>
        <p:spPr>
          <a:xfrm>
            <a:off x="3035000" y="2692600"/>
            <a:ext cx="6138034" cy="922090"/>
          </a:xfrm>
          <a:prstGeom prst="rect">
            <a:avLst/>
          </a:prstGeom>
          <a:solidFill>
            <a:schemeClr val="bg1"/>
          </a:solidFill>
          <a:ln>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defTabSz="457200"/>
            <a:r>
              <a:rPr lang="en-US" sz="2800" dirty="0">
                <a:solidFill>
                  <a:prstClr val="black"/>
                </a:solidFill>
              </a:rPr>
              <a:t>The process of giving someone a reason for doing something</a:t>
            </a:r>
          </a:p>
        </p:txBody>
      </p:sp>
      <p:sp>
        <p:nvSpPr>
          <p:cNvPr id="14" name="Rectangle 13"/>
          <p:cNvSpPr/>
          <p:nvPr/>
        </p:nvSpPr>
        <p:spPr>
          <a:xfrm>
            <a:off x="3035000" y="3699136"/>
            <a:ext cx="6138034" cy="1229697"/>
          </a:xfrm>
          <a:prstGeom prst="rect">
            <a:avLst/>
          </a:prstGeom>
          <a:solidFill>
            <a:schemeClr val="bg1"/>
          </a:solidFill>
          <a:ln>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defTabSz="457200"/>
            <a:r>
              <a:rPr lang="en-US" sz="2800" dirty="0">
                <a:solidFill>
                  <a:prstClr val="black"/>
                </a:solidFill>
              </a:rPr>
              <a:t>Giving evaluative or corrective information about an action, event, or process to the original source</a:t>
            </a:r>
          </a:p>
        </p:txBody>
      </p:sp>
      <p:sp>
        <p:nvSpPr>
          <p:cNvPr id="15" name="Rectangle 14"/>
          <p:cNvSpPr/>
          <p:nvPr/>
        </p:nvSpPr>
        <p:spPr>
          <a:xfrm>
            <a:off x="3035000" y="5022796"/>
            <a:ext cx="6138034" cy="1426171"/>
          </a:xfrm>
          <a:prstGeom prst="rect">
            <a:avLst/>
          </a:prstGeom>
          <a:solidFill>
            <a:schemeClr val="bg1"/>
          </a:solidFill>
          <a:ln>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defTabSz="457200"/>
            <a:r>
              <a:rPr lang="en-US" sz="2800" dirty="0">
                <a:solidFill>
                  <a:prstClr val="black"/>
                </a:solidFill>
              </a:rPr>
              <a:t>Information you give to and receive from employees, patients, board and other stakeholders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0-#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left)">
                                      <p:cBhvr>
                                        <p:cTn id="21" dur="500"/>
                                        <p:tgtEl>
                                          <p:spTgt spid="13"/>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left)">
                                      <p:cBhvr>
                                        <p:cTn id="24" dur="500"/>
                                        <p:tgtEl>
                                          <p:spTgt spid="14"/>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3" grpId="0" animBg="1"/>
      <p:bldP spid="14" grpId="0" animBg="1"/>
      <p:bldP spid="15"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6. Performance Management</a:t>
            </a:r>
            <a:endParaRPr lang="en-US" dirty="0">
              <a:solidFill>
                <a:schemeClr val="bg1"/>
              </a:solidFill>
            </a:endParaRPr>
          </a:p>
        </p:txBody>
      </p:sp>
      <p:sp>
        <p:nvSpPr>
          <p:cNvPr id="3" name="Content Placeholder 2"/>
          <p:cNvSpPr>
            <a:spLocks noGrp="1"/>
          </p:cNvSpPr>
          <p:nvPr>
            <p:ph idx="1"/>
          </p:nvPr>
        </p:nvSpPr>
        <p:spPr>
          <a:xfrm>
            <a:off x="180035" y="1475881"/>
            <a:ext cx="8717221" cy="5382119"/>
          </a:xfrm>
        </p:spPr>
        <p:txBody>
          <a:bodyPr>
            <a:noAutofit/>
          </a:bodyPr>
          <a:lstStyle/>
          <a:p>
            <a:pPr marL="0" indent="0">
              <a:buNone/>
            </a:pPr>
            <a:r>
              <a:rPr lang="en-US" sz="2800" b="1" dirty="0"/>
              <a:t>Motivation</a:t>
            </a:r>
          </a:p>
          <a:p>
            <a:pPr marL="0" indent="0">
              <a:buNone/>
            </a:pPr>
            <a:r>
              <a:rPr lang="en-US" sz="2800" b="1" dirty="0"/>
              <a:t>Definition:</a:t>
            </a:r>
          </a:p>
          <a:p>
            <a:pPr marL="0" indent="0">
              <a:buNone/>
            </a:pPr>
            <a:r>
              <a:rPr lang="en-US" sz="2400" dirty="0"/>
              <a:t>The process of giving someone a reason for doing something.</a:t>
            </a:r>
          </a:p>
          <a:p>
            <a:pPr marL="0" indent="0">
              <a:buNone/>
            </a:pPr>
            <a:endParaRPr lang="en-US" sz="1000" dirty="0"/>
          </a:p>
          <a:p>
            <a:pPr marL="0" indent="0">
              <a:buNone/>
            </a:pPr>
            <a:r>
              <a:rPr lang="en-US" sz="2800" b="1" dirty="0"/>
              <a:t>Why important?</a:t>
            </a:r>
          </a:p>
          <a:p>
            <a:r>
              <a:rPr lang="en-US" sz="2400" dirty="0"/>
              <a:t>People are motivated by several differing forces</a:t>
            </a:r>
          </a:p>
          <a:p>
            <a:endParaRPr lang="en-US" sz="1000" b="1" dirty="0"/>
          </a:p>
          <a:p>
            <a:r>
              <a:rPr lang="en-US" sz="2400" dirty="0"/>
              <a:t>You can influence staff to align their own motivations with the needs of the organization</a:t>
            </a:r>
          </a:p>
          <a:p>
            <a:endParaRPr lang="en-US" sz="1000" dirty="0"/>
          </a:p>
          <a:p>
            <a:r>
              <a:rPr lang="en-US" sz="2400" dirty="0"/>
              <a:t>Establishing the needs of your staff and assisting to  meet them will create trust</a:t>
            </a:r>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68</a:t>
            </a:fld>
            <a:endParaRPr lang="en-US" dirty="0">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6. Performance Management</a:t>
            </a:r>
            <a:endParaRPr lang="en-US" dirty="0">
              <a:solidFill>
                <a:schemeClr val="bg1"/>
              </a:solidFill>
            </a:endParaRPr>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69</a:t>
            </a:fld>
            <a:endParaRPr lang="en-US" dirty="0">
              <a:solidFill>
                <a:prstClr val="black">
                  <a:tint val="75000"/>
                </a:prstClr>
              </a:solidFill>
            </a:endParaRPr>
          </a:p>
        </p:txBody>
      </p:sp>
      <p:sp>
        <p:nvSpPr>
          <p:cNvPr id="5" name="TextBox 4"/>
          <p:cNvSpPr txBox="1"/>
          <p:nvPr/>
        </p:nvSpPr>
        <p:spPr>
          <a:xfrm>
            <a:off x="180036" y="1289845"/>
            <a:ext cx="7678861" cy="523220"/>
          </a:xfrm>
          <a:prstGeom prst="rect">
            <a:avLst/>
          </a:prstGeom>
          <a:noFill/>
        </p:spPr>
        <p:txBody>
          <a:bodyPr wrap="square" rtlCol="0">
            <a:spAutoFit/>
          </a:bodyPr>
          <a:lstStyle/>
          <a:p>
            <a:pPr defTabSz="457200"/>
            <a:r>
              <a:rPr lang="en-US" sz="2800" b="1" dirty="0">
                <a:solidFill>
                  <a:prstClr val="black"/>
                </a:solidFill>
              </a:rPr>
              <a:t>Motivation - The Maslow Hierarchy</a:t>
            </a:r>
          </a:p>
        </p:txBody>
      </p:sp>
      <p:graphicFrame>
        <p:nvGraphicFramePr>
          <p:cNvPr id="7" name="Content Placeholder 3"/>
          <p:cNvGraphicFramePr>
            <a:graphicFrameLocks noGrp="1"/>
          </p:cNvGraphicFramePr>
          <p:nvPr>
            <p:ph idx="1"/>
            <p:extLst>
              <p:ext uri="{D42A27DB-BD31-4B8C-83A1-F6EECF244321}">
                <p14:modId xmlns:p14="http://schemas.microsoft.com/office/powerpoint/2010/main" val="1383824114"/>
              </p:ext>
            </p:extLst>
          </p:nvPr>
        </p:nvGraphicFramePr>
        <p:xfrm>
          <a:off x="457200" y="1904994"/>
          <a:ext cx="85344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6. Performance Management</a:t>
            </a:r>
            <a:endParaRPr lang="en-US" dirty="0">
              <a:solidFill>
                <a:schemeClr val="bg1"/>
              </a:solidFill>
            </a:endParaRPr>
          </a:p>
        </p:txBody>
      </p:sp>
      <p:sp>
        <p:nvSpPr>
          <p:cNvPr id="4" name="Slide Number Placeholder 3"/>
          <p:cNvSpPr>
            <a:spLocks noGrp="1"/>
          </p:cNvSpPr>
          <p:nvPr>
            <p:ph type="sldNum" sz="quarter" idx="12"/>
          </p:nvPr>
        </p:nvSpPr>
        <p:spPr>
          <a:xfrm>
            <a:off x="7010400" y="6487195"/>
            <a:ext cx="2133600" cy="365125"/>
          </a:xfrm>
        </p:spPr>
        <p:txBody>
          <a:bodyPr/>
          <a:lstStyle/>
          <a:p>
            <a:fld id="{36A94550-0172-2A4E-BEEB-6BE00EB0E97C}" type="slidenum">
              <a:rPr lang="en-US" smtClean="0">
                <a:solidFill>
                  <a:prstClr val="black">
                    <a:tint val="75000"/>
                  </a:prstClr>
                </a:solidFill>
              </a:rPr>
              <a:t>70</a:t>
            </a:fld>
            <a:endParaRPr lang="en-US" dirty="0">
              <a:solidFill>
                <a:prstClr val="black">
                  <a:tint val="75000"/>
                </a:prstClr>
              </a:solidFill>
            </a:endParaRPr>
          </a:p>
        </p:txBody>
      </p:sp>
      <p:sp>
        <p:nvSpPr>
          <p:cNvPr id="5" name="TextBox 4"/>
          <p:cNvSpPr txBox="1"/>
          <p:nvPr/>
        </p:nvSpPr>
        <p:spPr>
          <a:xfrm>
            <a:off x="151148" y="1215702"/>
            <a:ext cx="8803660" cy="3354765"/>
          </a:xfrm>
          <a:prstGeom prst="rect">
            <a:avLst/>
          </a:prstGeom>
          <a:noFill/>
        </p:spPr>
        <p:txBody>
          <a:bodyPr wrap="square" rtlCol="0">
            <a:spAutoFit/>
          </a:bodyPr>
          <a:lstStyle/>
          <a:p>
            <a:pPr defTabSz="457200"/>
            <a:r>
              <a:rPr lang="en-US" sz="2400" b="1" dirty="0">
                <a:solidFill>
                  <a:prstClr val="black"/>
                </a:solidFill>
              </a:rPr>
              <a:t>What motivates people?</a:t>
            </a:r>
          </a:p>
          <a:p>
            <a:pPr defTabSz="457200"/>
            <a:endParaRPr lang="en-US" sz="1000" b="1" dirty="0">
              <a:solidFill>
                <a:prstClr val="black"/>
              </a:solidFill>
            </a:endParaRPr>
          </a:p>
          <a:p>
            <a:pPr defTabSz="457200"/>
            <a:r>
              <a:rPr lang="en-US" sz="2400" b="1" dirty="0">
                <a:solidFill>
                  <a:prstClr val="black"/>
                </a:solidFill>
              </a:rPr>
              <a:t>External motivation</a:t>
            </a:r>
            <a:r>
              <a:rPr lang="en-US" sz="2400" dirty="0">
                <a:solidFill>
                  <a:prstClr val="black"/>
                </a:solidFill>
              </a:rPr>
              <a:t>: </a:t>
            </a:r>
          </a:p>
          <a:p>
            <a:pPr defTabSz="457200"/>
            <a:r>
              <a:rPr lang="en-US" sz="2400" dirty="0">
                <a:solidFill>
                  <a:prstClr val="black"/>
                </a:solidFill>
              </a:rPr>
              <a:t>doing an activity in order to obtain a benefit or reward from someone else or to avoid punishment</a:t>
            </a:r>
            <a:br>
              <a:rPr lang="en-US" sz="2400" dirty="0">
                <a:solidFill>
                  <a:prstClr val="black"/>
                </a:solidFill>
              </a:rPr>
            </a:br>
            <a:endParaRPr lang="en-US" sz="2400" dirty="0">
              <a:solidFill>
                <a:prstClr val="black"/>
              </a:solidFill>
            </a:endParaRPr>
          </a:p>
          <a:p>
            <a:pPr defTabSz="457200"/>
            <a:endParaRPr lang="en-US" sz="1000" i="1" dirty="0">
              <a:solidFill>
                <a:prstClr val="black"/>
              </a:solidFill>
            </a:endParaRPr>
          </a:p>
          <a:p>
            <a:pPr defTabSz="457200"/>
            <a:r>
              <a:rPr lang="en-US" sz="2400" b="1" dirty="0">
                <a:solidFill>
                  <a:prstClr val="black"/>
                </a:solidFill>
              </a:rPr>
              <a:t>Internal motivation</a:t>
            </a:r>
            <a:r>
              <a:rPr lang="en-US" sz="2400" dirty="0">
                <a:solidFill>
                  <a:prstClr val="black"/>
                </a:solidFill>
              </a:rPr>
              <a:t>: </a:t>
            </a:r>
          </a:p>
          <a:p>
            <a:pPr defTabSz="457200"/>
            <a:r>
              <a:rPr lang="en-US" sz="2400" dirty="0">
                <a:solidFill>
                  <a:prstClr val="black"/>
                </a:solidFill>
              </a:rPr>
              <a:t>doing an activity for the personal satisfaction received from it</a:t>
            </a:r>
            <a:br>
              <a:rPr lang="en-US" sz="2400" dirty="0">
                <a:solidFill>
                  <a:prstClr val="black"/>
                </a:solidFill>
              </a:rPr>
            </a:br>
            <a:endParaRPr lang="en-US" sz="2400" dirty="0">
              <a:solidFill>
                <a:prstClr val="black"/>
              </a:solidFill>
            </a:endParaRPr>
          </a:p>
        </p:txBody>
      </p:sp>
      <p:sp>
        <p:nvSpPr>
          <p:cNvPr id="6" name="Rectangle 5"/>
          <p:cNvSpPr/>
          <p:nvPr/>
        </p:nvSpPr>
        <p:spPr>
          <a:xfrm>
            <a:off x="8126" y="5291775"/>
            <a:ext cx="9144000" cy="1549185"/>
          </a:xfrm>
          <a:prstGeom prst="rect">
            <a:avLst/>
          </a:prstGeom>
          <a:solidFill>
            <a:schemeClr val="accent1">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r>
              <a:rPr lang="en-US" sz="2400" b="1" dirty="0">
                <a:solidFill>
                  <a:prstClr val="black"/>
                </a:solidFill>
              </a:rPr>
              <a:t>What Works? </a:t>
            </a:r>
            <a:r>
              <a:rPr lang="en-US" sz="2400" dirty="0">
                <a:solidFill>
                  <a:prstClr val="black"/>
                </a:solidFill>
              </a:rPr>
              <a:t>Address the basic needs &amp; focus on </a:t>
            </a:r>
            <a:r>
              <a:rPr lang="en-US" sz="2400" b="1" dirty="0">
                <a:solidFill>
                  <a:prstClr val="black"/>
                </a:solidFill>
              </a:rPr>
              <a:t>internal motivators</a:t>
            </a:r>
            <a:br>
              <a:rPr lang="en-US" sz="2400" b="1" dirty="0">
                <a:solidFill>
                  <a:prstClr val="black"/>
                </a:solidFill>
              </a:rPr>
            </a:br>
            <a:endParaRPr lang="en-US" sz="1000" b="1" dirty="0">
              <a:solidFill>
                <a:prstClr val="black"/>
              </a:solidFill>
            </a:endParaRPr>
          </a:p>
          <a:p>
            <a:pPr marL="342900" indent="-342900" algn="ctr" defTabSz="457200">
              <a:buFont typeface="Arial" panose="020B0604020202020204" pitchFamily="34" charset="0"/>
              <a:buChar char="•"/>
            </a:pPr>
            <a:r>
              <a:rPr lang="en-US" sz="2400" dirty="0">
                <a:solidFill>
                  <a:prstClr val="black"/>
                </a:solidFill>
              </a:rPr>
              <a:t>Give more choice in what they work on and how they work on it</a:t>
            </a:r>
          </a:p>
          <a:p>
            <a:pPr marL="342900" indent="-342900" algn="ctr" defTabSz="457200">
              <a:buFont typeface="Arial" panose="020B0604020202020204" pitchFamily="34" charset="0"/>
              <a:buChar char="•"/>
            </a:pPr>
            <a:r>
              <a:rPr lang="en-US" sz="2400" dirty="0">
                <a:solidFill>
                  <a:prstClr val="black"/>
                </a:solidFill>
              </a:rPr>
              <a:t>Encourage the pursuit of their interests and passions</a:t>
            </a:r>
          </a:p>
        </p:txBody>
      </p:sp>
      <p:sp>
        <p:nvSpPr>
          <p:cNvPr id="7" name="TextBox 6"/>
          <p:cNvSpPr txBox="1"/>
          <p:nvPr/>
        </p:nvSpPr>
        <p:spPr>
          <a:xfrm>
            <a:off x="285750" y="2926941"/>
            <a:ext cx="8611908" cy="461665"/>
          </a:xfrm>
          <a:prstGeom prst="rect">
            <a:avLst/>
          </a:prstGeom>
          <a:noFill/>
          <a:ln>
            <a:solidFill>
              <a:schemeClr val="tx1"/>
            </a:solidFill>
          </a:ln>
        </p:spPr>
        <p:txBody>
          <a:bodyPr wrap="square" rtlCol="0">
            <a:spAutoFit/>
          </a:bodyPr>
          <a:lstStyle/>
          <a:p>
            <a:pPr defTabSz="457200"/>
            <a:r>
              <a:rPr lang="en-US" sz="2400" i="1" dirty="0">
                <a:solidFill>
                  <a:prstClr val="black"/>
                </a:solidFill>
              </a:rPr>
              <a:t>Ex:  money, praise, grades, titles, fear of punishment</a:t>
            </a:r>
          </a:p>
        </p:txBody>
      </p:sp>
      <p:sp>
        <p:nvSpPr>
          <p:cNvPr id="8" name="TextBox 7"/>
          <p:cNvSpPr txBox="1"/>
          <p:nvPr/>
        </p:nvSpPr>
        <p:spPr>
          <a:xfrm>
            <a:off x="285750" y="4263159"/>
            <a:ext cx="8611908" cy="830997"/>
          </a:xfrm>
          <a:prstGeom prst="rect">
            <a:avLst/>
          </a:prstGeom>
          <a:noFill/>
          <a:ln>
            <a:solidFill>
              <a:schemeClr val="tx1"/>
            </a:solidFill>
          </a:ln>
        </p:spPr>
        <p:txBody>
          <a:bodyPr wrap="square" rtlCol="0">
            <a:spAutoFit/>
          </a:bodyPr>
          <a:lstStyle/>
          <a:p>
            <a:pPr defTabSz="457200"/>
            <a:r>
              <a:rPr lang="en-US" sz="2400" i="1" dirty="0">
                <a:solidFill>
                  <a:prstClr val="black"/>
                </a:solidFill>
              </a:rPr>
              <a:t>Ex:  Personal joy in learning, desire to help, interest in a subject, desire to learn, sense of achievement, sense of purpose</a:t>
            </a:r>
            <a:endParaRPr lang="en-US" sz="2400"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1+#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1+#ppt_w/2"/>
                                          </p:val>
                                        </p:tav>
                                        <p:tav tm="100000">
                                          <p:val>
                                            <p:strVal val="#ppt_x"/>
                                          </p:val>
                                        </p:tav>
                                      </p:tavLst>
                                    </p:anim>
                                    <p:anim calcmode="lin" valueType="num">
                                      <p:cBhvr additive="base">
                                        <p:cTn id="26"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239489" y="2115050"/>
          <a:ext cx="8599714" cy="4408407"/>
        </p:xfrm>
        <a:graphic>
          <a:graphicData uri="http://schemas.openxmlformats.org/drawingml/2006/table">
            <a:tbl>
              <a:tblPr firstRow="1" bandRow="1">
                <a:tableStyleId>{5C22544A-7EE6-4342-B048-85BDC9FD1C3A}</a:tableStyleId>
              </a:tblPr>
              <a:tblGrid>
                <a:gridCol w="2503714">
                  <a:extLst>
                    <a:ext uri="{9D8B030D-6E8A-4147-A177-3AD203B41FA5}">
                      <a16:colId xmlns:a16="http://schemas.microsoft.com/office/drawing/2014/main" val="20000"/>
                    </a:ext>
                  </a:extLst>
                </a:gridCol>
                <a:gridCol w="6096000">
                  <a:extLst>
                    <a:ext uri="{9D8B030D-6E8A-4147-A177-3AD203B41FA5}">
                      <a16:colId xmlns:a16="http://schemas.microsoft.com/office/drawing/2014/main" val="20001"/>
                    </a:ext>
                  </a:extLst>
                </a:gridCol>
              </a:tblGrid>
              <a:tr h="444373">
                <a:tc>
                  <a:txBody>
                    <a:bodyPr/>
                    <a:lstStyle/>
                    <a:p>
                      <a:r>
                        <a:rPr lang="en-US" sz="2000" b="0" dirty="0">
                          <a:solidFill>
                            <a:schemeClr val="tx1"/>
                          </a:solidFill>
                        </a:rPr>
                        <a:t>Salary and benefits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solidFill>
                            <a:schemeClr val="tx1"/>
                          </a:solidFill>
                        </a:rPr>
                        <a:t>Basic income, benefits, bonuses, holidays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6122">
                <a:tc>
                  <a:txBody>
                    <a:bodyPr/>
                    <a:lstStyle/>
                    <a:p>
                      <a:r>
                        <a:rPr lang="en-US" sz="2000" b="0" dirty="0">
                          <a:solidFill>
                            <a:schemeClr val="tx1"/>
                          </a:solidFill>
                        </a:rPr>
                        <a:t>Working conditions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solidFill>
                            <a:schemeClr val="tx1"/>
                          </a:solidFill>
                        </a:rPr>
                        <a:t>Working hours, workplace layout, facilities, and</a:t>
                      </a:r>
                      <a:r>
                        <a:rPr lang="en-US" sz="2000" b="0" baseline="0" dirty="0">
                          <a:solidFill>
                            <a:schemeClr val="tx1"/>
                          </a:solidFill>
                        </a:rPr>
                        <a:t> </a:t>
                      </a:r>
                      <a:r>
                        <a:rPr lang="en-US" sz="2000" b="0" dirty="0">
                          <a:solidFill>
                            <a:schemeClr val="tx1"/>
                          </a:solidFill>
                        </a:rPr>
                        <a:t>equipment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73257">
                <a:tc>
                  <a:txBody>
                    <a:bodyPr/>
                    <a:lstStyle/>
                    <a:p>
                      <a:r>
                        <a:rPr lang="en-US" sz="2000" b="0" dirty="0">
                          <a:solidFill>
                            <a:schemeClr val="tx1"/>
                          </a:solidFill>
                        </a:rPr>
                        <a:t>Company policy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solidFill>
                            <a:schemeClr val="tx1"/>
                          </a:solidFill>
                        </a:rPr>
                        <a:t>Rules and regulations, formal and informal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73257">
                <a:tc>
                  <a:txBody>
                    <a:bodyPr/>
                    <a:lstStyle/>
                    <a:p>
                      <a:r>
                        <a:rPr lang="en-US" sz="2000" b="0" dirty="0">
                          <a:solidFill>
                            <a:schemeClr val="tx1"/>
                          </a:solidFill>
                        </a:rPr>
                        <a:t>Status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solidFill>
                            <a:schemeClr val="tx1"/>
                          </a:solidFill>
                        </a:rPr>
                        <a:t>Rank,</a:t>
                      </a:r>
                      <a:r>
                        <a:rPr lang="en-US" sz="2000" b="0" baseline="0" dirty="0">
                          <a:solidFill>
                            <a:schemeClr val="tx1"/>
                          </a:solidFill>
                        </a:rPr>
                        <a:t> authority </a:t>
                      </a:r>
                      <a:endParaRPr lang="en-US"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503914">
                <a:tc>
                  <a:txBody>
                    <a:bodyPr/>
                    <a:lstStyle/>
                    <a:p>
                      <a:r>
                        <a:rPr lang="en-US" sz="2000" b="0" dirty="0">
                          <a:solidFill>
                            <a:schemeClr val="tx1"/>
                          </a:solidFill>
                        </a:rPr>
                        <a:t>Job security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solidFill>
                            <a:schemeClr val="tx1"/>
                          </a:solidFill>
                        </a:rPr>
                        <a:t>Confidence in regards to continued employment in an organization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687241">
                <a:tc>
                  <a:txBody>
                    <a:bodyPr/>
                    <a:lstStyle/>
                    <a:p>
                      <a:r>
                        <a:rPr lang="en-US" sz="2000" b="0" dirty="0">
                          <a:solidFill>
                            <a:schemeClr val="tx1"/>
                          </a:solidFill>
                        </a:rPr>
                        <a:t>Supervision &amp; autonomy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solidFill>
                            <a:schemeClr val="tx1"/>
                          </a:solidFill>
                        </a:rPr>
                        <a:t>Extent of control over the</a:t>
                      </a:r>
                      <a:r>
                        <a:rPr lang="en-US" sz="2000" b="0" baseline="0" dirty="0">
                          <a:solidFill>
                            <a:schemeClr val="tx1"/>
                          </a:solidFill>
                        </a:rPr>
                        <a:t> content and execution of a job</a:t>
                      </a:r>
                      <a:endParaRPr lang="en-US"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47741">
                <a:tc>
                  <a:txBody>
                    <a:bodyPr/>
                    <a:lstStyle/>
                    <a:p>
                      <a:r>
                        <a:rPr lang="en-US" sz="2000" b="0" dirty="0">
                          <a:solidFill>
                            <a:schemeClr val="tx1"/>
                          </a:solidFill>
                        </a:rPr>
                        <a:t>Office life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solidFill>
                            <a:schemeClr val="tx1"/>
                          </a:solidFill>
                        </a:rPr>
                        <a:t>Level and type of interpersonal</a:t>
                      </a:r>
                      <a:r>
                        <a:rPr lang="en-US" sz="2000" b="0" baseline="0" dirty="0">
                          <a:solidFill>
                            <a:schemeClr val="tx1"/>
                          </a:solidFill>
                        </a:rPr>
                        <a:t> relations with workmates</a:t>
                      </a:r>
                      <a:endParaRPr lang="en-US"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466659">
                <a:tc>
                  <a:txBody>
                    <a:bodyPr/>
                    <a:lstStyle/>
                    <a:p>
                      <a:r>
                        <a:rPr lang="en-US" sz="2000" b="0" dirty="0">
                          <a:solidFill>
                            <a:schemeClr val="tx1"/>
                          </a:solidFill>
                        </a:rPr>
                        <a:t>Personal life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solidFill>
                            <a:schemeClr val="tx1"/>
                          </a:solidFill>
                        </a:rPr>
                        <a:t>Time</a:t>
                      </a:r>
                      <a:r>
                        <a:rPr lang="en-US" sz="2000" b="0" baseline="0" dirty="0">
                          <a:solidFill>
                            <a:schemeClr val="tx1"/>
                          </a:solidFill>
                        </a:rPr>
                        <a:t> for family, friends and interests</a:t>
                      </a:r>
                      <a:endParaRPr lang="en-US"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
        <p:nvSpPr>
          <p:cNvPr id="5" name="Title 1"/>
          <p:cNvSpPr txBox="1"/>
          <p:nvPr/>
        </p:nvSpPr>
        <p:spPr>
          <a:xfrm>
            <a:off x="0" y="0"/>
            <a:ext cx="9144000" cy="1143000"/>
          </a:xfrm>
          <a:prstGeom prst="rect">
            <a:avLst/>
          </a:prstGeom>
          <a:solidFill>
            <a:srgbClr val="10253F"/>
          </a:solid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solidFill>
                  <a:srgbClr val="FFFFFF"/>
                </a:solidFill>
              </a:rPr>
              <a:t>6. Performance Management</a:t>
            </a:r>
            <a:endParaRPr lang="en-US" dirty="0">
              <a:solidFill>
                <a:prstClr val="white"/>
              </a:solidFill>
            </a:endParaRPr>
          </a:p>
        </p:txBody>
      </p:sp>
      <p:sp>
        <p:nvSpPr>
          <p:cNvPr id="2" name="Title 1"/>
          <p:cNvSpPr>
            <a:spLocks noGrp="1"/>
          </p:cNvSpPr>
          <p:nvPr>
            <p:ph type="title"/>
          </p:nvPr>
        </p:nvSpPr>
        <p:spPr>
          <a:xfrm>
            <a:off x="133253" y="1176016"/>
            <a:ext cx="8229600" cy="665162"/>
          </a:xfrm>
        </p:spPr>
        <p:txBody>
          <a:bodyPr>
            <a:normAutofit/>
          </a:bodyPr>
          <a:lstStyle/>
          <a:p>
            <a:pPr marL="0" indent="0" algn="l" defTabSz="914400" fontAlgn="base">
              <a:spcBef>
                <a:spcPts val="0"/>
              </a:spcBef>
              <a:spcAft>
                <a:spcPct val="0"/>
              </a:spcAft>
              <a:defRPr/>
            </a:pPr>
            <a:r>
              <a:rPr lang="en-US" sz="2800" b="1" dirty="0"/>
              <a:t>Motivation – basic needs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0" y="0"/>
            <a:ext cx="9144000" cy="1143000"/>
          </a:xfrm>
          <a:prstGeom prst="rect">
            <a:avLst/>
          </a:prstGeom>
          <a:solidFill>
            <a:srgbClr val="10253F"/>
          </a:solid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solidFill>
                  <a:srgbClr val="FFFFFF"/>
                </a:solidFill>
              </a:rPr>
              <a:t>6. Performance Management</a:t>
            </a:r>
            <a:endParaRPr lang="en-US" dirty="0">
              <a:solidFill>
                <a:prstClr val="white"/>
              </a:solidFill>
            </a:endParaRPr>
          </a:p>
        </p:txBody>
      </p:sp>
      <p:sp>
        <p:nvSpPr>
          <p:cNvPr id="2" name="Title 1"/>
          <p:cNvSpPr>
            <a:spLocks noGrp="1"/>
          </p:cNvSpPr>
          <p:nvPr>
            <p:ph type="title"/>
          </p:nvPr>
        </p:nvSpPr>
        <p:spPr>
          <a:xfrm>
            <a:off x="133253" y="1176016"/>
            <a:ext cx="8229600" cy="665162"/>
          </a:xfrm>
        </p:spPr>
        <p:txBody>
          <a:bodyPr>
            <a:normAutofit/>
          </a:bodyPr>
          <a:lstStyle/>
          <a:p>
            <a:pPr marL="0" indent="0" algn="l" defTabSz="914400" fontAlgn="base">
              <a:spcBef>
                <a:spcPts val="0"/>
              </a:spcBef>
              <a:spcAft>
                <a:spcPct val="0"/>
              </a:spcAft>
              <a:defRPr/>
            </a:pPr>
            <a:r>
              <a:rPr lang="en-US" sz="2800" b="1" dirty="0"/>
              <a:t>Motivation – Internal motivators</a:t>
            </a:r>
          </a:p>
        </p:txBody>
      </p:sp>
      <p:graphicFrame>
        <p:nvGraphicFramePr>
          <p:cNvPr id="6" name="Content Placeholder 3"/>
          <p:cNvGraphicFramePr>
            <a:graphicFrameLocks noGrp="1"/>
          </p:cNvGraphicFramePr>
          <p:nvPr>
            <p:ph idx="1"/>
          </p:nvPr>
        </p:nvGraphicFramePr>
        <p:xfrm>
          <a:off x="346837" y="2129606"/>
          <a:ext cx="8339959" cy="4114800"/>
        </p:xfrm>
        <a:graphic>
          <a:graphicData uri="http://schemas.openxmlformats.org/drawingml/2006/table">
            <a:tbl>
              <a:tblPr firstRow="1" bandRow="1">
                <a:tableStyleId>{5C22544A-7EE6-4342-B048-85BDC9FD1C3A}</a:tableStyleId>
              </a:tblPr>
              <a:tblGrid>
                <a:gridCol w="2199094">
                  <a:extLst>
                    <a:ext uri="{9D8B030D-6E8A-4147-A177-3AD203B41FA5}">
                      <a16:colId xmlns:a16="http://schemas.microsoft.com/office/drawing/2014/main" val="20000"/>
                    </a:ext>
                  </a:extLst>
                </a:gridCol>
                <a:gridCol w="6140865">
                  <a:extLst>
                    <a:ext uri="{9D8B030D-6E8A-4147-A177-3AD203B41FA5}">
                      <a16:colId xmlns:a16="http://schemas.microsoft.com/office/drawing/2014/main" val="20001"/>
                    </a:ext>
                  </a:extLst>
                </a:gridCol>
              </a:tblGrid>
              <a:tr h="370840">
                <a:tc>
                  <a:txBody>
                    <a:bodyPr/>
                    <a:lstStyle/>
                    <a:p>
                      <a:r>
                        <a:rPr lang="en-US" sz="2000" b="0" dirty="0">
                          <a:solidFill>
                            <a:schemeClr val="tx1"/>
                          </a:solidFill>
                        </a:rPr>
                        <a:t>Achievement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solidFill>
                            <a:schemeClr val="tx1"/>
                          </a:solidFill>
                        </a:rPr>
                        <a:t>Reaching</a:t>
                      </a:r>
                      <a:r>
                        <a:rPr lang="en-US" sz="2000" b="0" baseline="0" dirty="0">
                          <a:solidFill>
                            <a:schemeClr val="tx1"/>
                          </a:solidFill>
                        </a:rPr>
                        <a:t> or exceeding task objectives (urge to achieve is basic human drive). </a:t>
                      </a:r>
                      <a:endParaRPr lang="en-US"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r>
                        <a:rPr lang="en-US" sz="2000" b="0" dirty="0">
                          <a:solidFill>
                            <a:schemeClr val="tx1"/>
                          </a:solidFill>
                        </a:rPr>
                        <a:t>Recognition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solidFill>
                            <a:schemeClr val="tx1"/>
                          </a:solidFill>
                        </a:rPr>
                        <a:t>The acknowledgment of achievements by senior staff is motivational because it helps to enhance self-esteem.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r>
                        <a:rPr lang="en-US" sz="2000" b="0" dirty="0">
                          <a:solidFill>
                            <a:schemeClr val="tx1"/>
                          </a:solidFill>
                        </a:rPr>
                        <a:t>Job Interest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solidFill>
                            <a:schemeClr val="tx1"/>
                          </a:solidFill>
                        </a:rPr>
                        <a:t>A job that provides positive, satisfying pleasure to individuals. Responsibilities should be matched with individuals interests.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r>
                        <a:rPr lang="en-US" sz="2000" b="0" dirty="0">
                          <a:solidFill>
                            <a:schemeClr val="tx1"/>
                          </a:solidFill>
                        </a:rPr>
                        <a:t>Responsibility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solidFill>
                            <a:schemeClr val="tx1"/>
                          </a:solidFill>
                        </a:rPr>
                        <a:t>Opportunity to exercise authority and power; leadership skills, risk-taking, decision making and self-direction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r>
                        <a:rPr lang="en-US" sz="2000" b="0" dirty="0">
                          <a:solidFill>
                            <a:schemeClr val="tx1"/>
                          </a:solidFill>
                        </a:rPr>
                        <a:t>Advancement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solidFill>
                            <a:schemeClr val="tx1"/>
                          </a:solidFill>
                        </a:rPr>
                        <a:t>Promotion, progress and rising rewards for achievement are important.</a:t>
                      </a:r>
                      <a:r>
                        <a:rPr lang="en-US" sz="2000" b="0" baseline="0" dirty="0">
                          <a:solidFill>
                            <a:schemeClr val="tx1"/>
                          </a:solidFill>
                        </a:rPr>
                        <a:t> Be honest about promotion prospects and the likely timescale involved.</a:t>
                      </a:r>
                      <a:endParaRPr lang="en-US"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6. Performance Management</a:t>
            </a:r>
            <a:endParaRPr lang="en-US" dirty="0">
              <a:solidFill>
                <a:schemeClr val="bg1"/>
              </a:solidFill>
            </a:endParaRPr>
          </a:p>
        </p:txBody>
      </p:sp>
      <p:sp>
        <p:nvSpPr>
          <p:cNvPr id="4" name="Slide Number Placeholder 3"/>
          <p:cNvSpPr>
            <a:spLocks noGrp="1"/>
          </p:cNvSpPr>
          <p:nvPr>
            <p:ph type="sldNum" sz="quarter" idx="12"/>
          </p:nvPr>
        </p:nvSpPr>
        <p:spPr>
          <a:xfrm>
            <a:off x="7010400" y="6487195"/>
            <a:ext cx="2133600" cy="365125"/>
          </a:xfrm>
        </p:spPr>
        <p:txBody>
          <a:bodyPr/>
          <a:lstStyle/>
          <a:p>
            <a:fld id="{36A94550-0172-2A4E-BEEB-6BE00EB0E97C}" type="slidenum">
              <a:rPr lang="en-US" smtClean="0">
                <a:solidFill>
                  <a:prstClr val="black">
                    <a:tint val="75000"/>
                  </a:prstClr>
                </a:solidFill>
              </a:rPr>
              <a:t>73</a:t>
            </a:fld>
            <a:endParaRPr lang="en-US" dirty="0">
              <a:solidFill>
                <a:prstClr val="black">
                  <a:tint val="75000"/>
                </a:prstClr>
              </a:solidFill>
            </a:endParaRPr>
          </a:p>
        </p:txBody>
      </p:sp>
      <p:sp>
        <p:nvSpPr>
          <p:cNvPr id="5" name="TextBox 4"/>
          <p:cNvSpPr txBox="1"/>
          <p:nvPr/>
        </p:nvSpPr>
        <p:spPr>
          <a:xfrm>
            <a:off x="151148" y="1215702"/>
            <a:ext cx="8803660" cy="3200876"/>
          </a:xfrm>
          <a:prstGeom prst="rect">
            <a:avLst/>
          </a:prstGeom>
          <a:noFill/>
        </p:spPr>
        <p:txBody>
          <a:bodyPr wrap="square" rtlCol="0">
            <a:spAutoFit/>
          </a:bodyPr>
          <a:lstStyle/>
          <a:p>
            <a:pPr defTabSz="457200"/>
            <a:r>
              <a:rPr lang="en-US" sz="2400" b="1" dirty="0">
                <a:solidFill>
                  <a:prstClr val="black"/>
                </a:solidFill>
              </a:rPr>
              <a:t>Where should we put our focus?</a:t>
            </a:r>
          </a:p>
          <a:p>
            <a:pPr defTabSz="457200"/>
            <a:endParaRPr lang="en-US" sz="1000" b="1" dirty="0">
              <a:solidFill>
                <a:prstClr val="black"/>
              </a:solidFill>
            </a:endParaRPr>
          </a:p>
          <a:p>
            <a:pPr defTabSz="457200"/>
            <a:r>
              <a:rPr lang="en-US" sz="2400" dirty="0">
                <a:solidFill>
                  <a:prstClr val="black"/>
                </a:solidFill>
              </a:rPr>
              <a:t>Internal motivators</a:t>
            </a:r>
          </a:p>
          <a:p>
            <a:pPr defTabSz="457200"/>
            <a:endParaRPr lang="en-US" sz="2400" dirty="0">
              <a:solidFill>
                <a:prstClr val="black"/>
              </a:solidFill>
            </a:endParaRPr>
          </a:p>
          <a:p>
            <a:pPr defTabSz="457200"/>
            <a:r>
              <a:rPr lang="en-US" sz="2400" b="1" dirty="0">
                <a:solidFill>
                  <a:prstClr val="black"/>
                </a:solidFill>
              </a:rPr>
              <a:t>How?</a:t>
            </a:r>
          </a:p>
          <a:p>
            <a:pPr defTabSz="457200"/>
            <a:endParaRPr lang="en-US" sz="2400" dirty="0">
              <a:solidFill>
                <a:prstClr val="black"/>
              </a:solidFill>
            </a:endParaRPr>
          </a:p>
          <a:p>
            <a:pPr marL="342900" indent="-342900" defTabSz="457200">
              <a:buFont typeface="Arial" panose="020B0604020202020204" pitchFamily="34" charset="0"/>
              <a:buChar char="•"/>
            </a:pPr>
            <a:r>
              <a:rPr lang="en-US" sz="2400" dirty="0">
                <a:solidFill>
                  <a:prstClr val="black"/>
                </a:solidFill>
              </a:rPr>
              <a:t>Address the basic needs &amp; focus on </a:t>
            </a:r>
            <a:r>
              <a:rPr lang="en-US" sz="2400" b="1" dirty="0">
                <a:solidFill>
                  <a:prstClr val="black"/>
                </a:solidFill>
              </a:rPr>
              <a:t>internal motivators</a:t>
            </a:r>
          </a:p>
          <a:p>
            <a:pPr marL="342900" indent="-342900" defTabSz="457200">
              <a:buFont typeface="Arial" panose="020B0604020202020204" pitchFamily="34" charset="0"/>
              <a:buChar char="•"/>
            </a:pPr>
            <a:r>
              <a:rPr lang="en-US" sz="2400" dirty="0">
                <a:solidFill>
                  <a:prstClr val="black"/>
                </a:solidFill>
              </a:rPr>
              <a:t>Give more choice in what they work on and how they work</a:t>
            </a:r>
          </a:p>
          <a:p>
            <a:pPr marL="342900" indent="-342900" defTabSz="457200">
              <a:buFont typeface="Arial" panose="020B0604020202020204" pitchFamily="34" charset="0"/>
              <a:buChar char="•"/>
            </a:pPr>
            <a:r>
              <a:rPr lang="en-US" sz="2400" dirty="0">
                <a:solidFill>
                  <a:prstClr val="black"/>
                </a:solidFill>
              </a:rPr>
              <a:t>Encourage the pursuit of their interests and passions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821" y="1074757"/>
            <a:ext cx="8744073" cy="860198"/>
          </a:xfrm>
        </p:spPr>
        <p:txBody>
          <a:bodyPr>
            <a:noAutofit/>
          </a:bodyPr>
          <a:lstStyle/>
          <a:p>
            <a:pPr marL="0" indent="0" defTabSz="914400" fontAlgn="base">
              <a:spcAft>
                <a:spcPct val="0"/>
              </a:spcAft>
              <a:buNone/>
              <a:defRPr/>
            </a:pPr>
            <a:r>
              <a:rPr lang="en-US" sz="3000" b="1" dirty="0"/>
              <a:t>Class exercise: </a:t>
            </a:r>
            <a:r>
              <a:rPr lang="en-US" sz="3000" dirty="0"/>
              <a:t>Observe the following conversations and discuss if the feedback was provided properly or not, why?</a:t>
            </a:r>
            <a:endParaRPr lang="en-US" sz="3000" dirty="0">
              <a:solidFill>
                <a:srgbClr val="000000"/>
              </a:solidFill>
            </a:endParaRPr>
          </a:p>
        </p:txBody>
      </p:sp>
      <p:sp>
        <p:nvSpPr>
          <p:cNvPr id="4" name="Slide Number Placeholder 3"/>
          <p:cNvSpPr>
            <a:spLocks noGrp="1"/>
          </p:cNvSpPr>
          <p:nvPr>
            <p:ph type="sldNum" sz="quarter" idx="12"/>
          </p:nvPr>
        </p:nvSpPr>
        <p:spPr>
          <a:xfrm>
            <a:off x="6553200" y="6462185"/>
            <a:ext cx="2133600" cy="365125"/>
          </a:xfrm>
        </p:spPr>
        <p:txBody>
          <a:bodyPr/>
          <a:lstStyle/>
          <a:p>
            <a:fld id="{36A94550-0172-2A4E-BEEB-6BE00EB0E97C}" type="slidenum">
              <a:rPr lang="en-US" smtClean="0">
                <a:solidFill>
                  <a:prstClr val="black">
                    <a:tint val="75000"/>
                  </a:prstClr>
                </a:solidFill>
              </a:rPr>
              <a:t>74</a:t>
            </a:fld>
            <a:endParaRPr lang="en-US" dirty="0">
              <a:solidFill>
                <a:prstClr val="black">
                  <a:tint val="75000"/>
                </a:prstClr>
              </a:solidFill>
            </a:endParaRPr>
          </a:p>
        </p:txBody>
      </p:sp>
      <p:sp>
        <p:nvSpPr>
          <p:cNvPr id="5" name="TextBox 4"/>
          <p:cNvSpPr txBox="1"/>
          <p:nvPr/>
        </p:nvSpPr>
        <p:spPr>
          <a:xfrm>
            <a:off x="663378" y="3188384"/>
            <a:ext cx="8023421" cy="769441"/>
          </a:xfrm>
          <a:prstGeom prst="rect">
            <a:avLst/>
          </a:prstGeom>
          <a:noFill/>
        </p:spPr>
        <p:txBody>
          <a:bodyPr wrap="square" rtlCol="0">
            <a:spAutoFit/>
          </a:bodyPr>
          <a:lstStyle/>
          <a:p>
            <a:pPr defTabSz="457200"/>
            <a:r>
              <a:rPr lang="en-US" sz="2200" dirty="0">
                <a:solidFill>
                  <a:prstClr val="black"/>
                </a:solidFill>
              </a:rPr>
              <a:t>“ This morning, I noticed you came to work 30 minutes late. This kept us from starting our meeting on time.</a:t>
            </a:r>
          </a:p>
        </p:txBody>
      </p:sp>
      <p:sp>
        <p:nvSpPr>
          <p:cNvPr id="7" name="TextBox 6"/>
          <p:cNvSpPr txBox="1"/>
          <p:nvPr/>
        </p:nvSpPr>
        <p:spPr>
          <a:xfrm>
            <a:off x="663379" y="2689414"/>
            <a:ext cx="7840109" cy="430887"/>
          </a:xfrm>
          <a:prstGeom prst="rect">
            <a:avLst/>
          </a:prstGeom>
          <a:noFill/>
        </p:spPr>
        <p:txBody>
          <a:bodyPr wrap="square" rtlCol="0">
            <a:spAutoFit/>
          </a:bodyPr>
          <a:lstStyle/>
          <a:p>
            <a:pPr defTabSz="457200"/>
            <a:r>
              <a:rPr lang="en-US" sz="2200" dirty="0">
                <a:solidFill>
                  <a:prstClr val="black"/>
                </a:solidFill>
              </a:rPr>
              <a:t>“You never come to work on time. You are lazy.”</a:t>
            </a:r>
          </a:p>
        </p:txBody>
      </p:sp>
      <p:sp>
        <p:nvSpPr>
          <p:cNvPr id="8" name="TextBox 7"/>
          <p:cNvSpPr txBox="1"/>
          <p:nvPr/>
        </p:nvSpPr>
        <p:spPr>
          <a:xfrm>
            <a:off x="651959" y="4649726"/>
            <a:ext cx="7862950" cy="1785104"/>
          </a:xfrm>
          <a:prstGeom prst="rect">
            <a:avLst/>
          </a:prstGeom>
          <a:noFill/>
        </p:spPr>
        <p:txBody>
          <a:bodyPr wrap="square" rtlCol="0">
            <a:spAutoFit/>
          </a:bodyPr>
          <a:lstStyle/>
          <a:p>
            <a:pPr defTabSz="457200"/>
            <a:r>
              <a:rPr lang="en-US" sz="2200" dirty="0">
                <a:solidFill>
                  <a:prstClr val="black"/>
                </a:solidFill>
              </a:rPr>
              <a:t>“ The last three times I came to your office, you were not there. I tried calling you and you didn’t answer. This made me frustrated because I needed your help and I couldn’t find you. As a result, I was not able to give the Medical Director the answer he needed in due time. </a:t>
            </a:r>
          </a:p>
        </p:txBody>
      </p:sp>
      <p:sp>
        <p:nvSpPr>
          <p:cNvPr id="10" name="TextBox 9"/>
          <p:cNvSpPr txBox="1"/>
          <p:nvPr/>
        </p:nvSpPr>
        <p:spPr>
          <a:xfrm>
            <a:off x="624887" y="4123452"/>
            <a:ext cx="7871412" cy="430887"/>
          </a:xfrm>
          <a:prstGeom prst="rect">
            <a:avLst/>
          </a:prstGeom>
          <a:noFill/>
        </p:spPr>
        <p:txBody>
          <a:bodyPr wrap="square" rtlCol="0">
            <a:spAutoFit/>
          </a:bodyPr>
          <a:lstStyle/>
          <a:p>
            <a:pPr defTabSz="457200"/>
            <a:r>
              <a:rPr lang="en-US" sz="2200" dirty="0">
                <a:solidFill>
                  <a:prstClr val="black"/>
                </a:solidFill>
              </a:rPr>
              <a:t>“I never see you at your desk. You are avoiding me.”</a:t>
            </a:r>
          </a:p>
        </p:txBody>
      </p:sp>
      <p:sp>
        <p:nvSpPr>
          <p:cNvPr id="18" name="Title 1"/>
          <p:cNvSpPr txBox="1"/>
          <p:nvPr/>
        </p:nvSpPr>
        <p:spPr>
          <a:xfrm>
            <a:off x="0" y="-7018"/>
            <a:ext cx="9144000" cy="952500"/>
          </a:xfrm>
          <a:prstGeom prst="rect">
            <a:avLst/>
          </a:prstGeom>
          <a:solidFill>
            <a:schemeClr val="tx2">
              <a:lumMod val="20000"/>
              <a:lumOff val="80000"/>
            </a:schemeClr>
          </a:solid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solidFill>
                  <a:prstClr val="black"/>
                </a:solidFill>
              </a:rPr>
              <a:t>Exercise 14: Feedback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10"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06" y="0"/>
            <a:ext cx="9133494" cy="1143000"/>
          </a:xfrm>
          <a:solidFill>
            <a:srgbClr val="10253F"/>
          </a:solidFill>
        </p:spPr>
        <p:txBody>
          <a:bodyPr>
            <a:normAutofit/>
          </a:bodyPr>
          <a:lstStyle/>
          <a:p>
            <a:r>
              <a:rPr lang="en-US" dirty="0">
                <a:solidFill>
                  <a:srgbClr val="FFFFFF"/>
                </a:solidFill>
              </a:rPr>
              <a:t>6. Performance Management</a:t>
            </a:r>
            <a:endParaRPr lang="en-US" dirty="0">
              <a:solidFill>
                <a:schemeClr val="bg1"/>
              </a:solidFill>
            </a:endParaRPr>
          </a:p>
        </p:txBody>
      </p:sp>
      <p:sp>
        <p:nvSpPr>
          <p:cNvPr id="4" name="Slide Number Placeholder 3"/>
          <p:cNvSpPr>
            <a:spLocks noGrp="1"/>
          </p:cNvSpPr>
          <p:nvPr>
            <p:ph type="sldNum" sz="quarter" idx="12"/>
          </p:nvPr>
        </p:nvSpPr>
        <p:spPr>
          <a:xfrm>
            <a:off x="6789690" y="6403648"/>
            <a:ext cx="2133600" cy="365125"/>
          </a:xfrm>
        </p:spPr>
        <p:txBody>
          <a:bodyPr/>
          <a:lstStyle/>
          <a:p>
            <a:fld id="{36A94550-0172-2A4E-BEEB-6BE00EB0E97C}" type="slidenum">
              <a:rPr lang="en-US" smtClean="0">
                <a:solidFill>
                  <a:prstClr val="black">
                    <a:tint val="75000"/>
                  </a:prstClr>
                </a:solidFill>
              </a:rPr>
              <a:t>75</a:t>
            </a:fld>
            <a:endParaRPr lang="en-US" dirty="0">
              <a:solidFill>
                <a:prstClr val="black">
                  <a:tint val="75000"/>
                </a:prstClr>
              </a:solidFill>
            </a:endParaRPr>
          </a:p>
        </p:txBody>
      </p:sp>
      <p:pic>
        <p:nvPicPr>
          <p:cNvPr id="5" name="Picture 4"/>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20809624">
            <a:off x="4630494" y="1848244"/>
            <a:ext cx="1428750" cy="142875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1843" y="2303630"/>
            <a:ext cx="1390520" cy="973364"/>
          </a:xfrm>
          <a:prstGeom prst="rect">
            <a:avLst/>
          </a:prstGeom>
        </p:spPr>
      </p:pic>
      <p:grpSp>
        <p:nvGrpSpPr>
          <p:cNvPr id="7" name="Group 6"/>
          <p:cNvGrpSpPr/>
          <p:nvPr/>
        </p:nvGrpSpPr>
        <p:grpSpPr>
          <a:xfrm>
            <a:off x="2536320" y="2536723"/>
            <a:ext cx="1178714" cy="721522"/>
            <a:chOff x="4495800" y="3559629"/>
            <a:chExt cx="1178714" cy="721522"/>
          </a:xfrm>
        </p:grpSpPr>
        <p:sp>
          <p:nvSpPr>
            <p:cNvPr id="8" name="Oval 7"/>
            <p:cNvSpPr/>
            <p:nvPr/>
          </p:nvSpPr>
          <p:spPr>
            <a:xfrm>
              <a:off x="4495800" y="3559629"/>
              <a:ext cx="772886" cy="438628"/>
            </a:xfrm>
            <a:prstGeom prst="ellips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defTabSz="457200"/>
              <a:endParaRPr lang="en-US">
                <a:solidFill>
                  <a:prstClr val="black"/>
                </a:solidFill>
              </a:endParaRPr>
            </a:p>
          </p:txBody>
        </p:sp>
        <p:sp>
          <p:nvSpPr>
            <p:cNvPr id="9" name="Arc 8"/>
            <p:cNvSpPr/>
            <p:nvPr/>
          </p:nvSpPr>
          <p:spPr>
            <a:xfrm rot="12533138" flipV="1">
              <a:off x="4508797" y="3693592"/>
              <a:ext cx="1165717" cy="587559"/>
            </a:xfrm>
            <a:prstGeom prst="arc">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defTabSz="457200"/>
              <a:endParaRPr lang="en-US">
                <a:solidFill>
                  <a:prstClr val="black"/>
                </a:solidFill>
              </a:endParaRPr>
            </a:p>
          </p:txBody>
        </p:sp>
      </p:grpSp>
      <p:grpSp>
        <p:nvGrpSpPr>
          <p:cNvPr id="10" name="Group 9"/>
          <p:cNvGrpSpPr/>
          <p:nvPr/>
        </p:nvGrpSpPr>
        <p:grpSpPr>
          <a:xfrm flipH="1">
            <a:off x="3015300" y="2536719"/>
            <a:ext cx="1178714" cy="721522"/>
            <a:chOff x="4495800" y="3559629"/>
            <a:chExt cx="1178714" cy="721522"/>
          </a:xfrm>
        </p:grpSpPr>
        <p:sp>
          <p:nvSpPr>
            <p:cNvPr id="11" name="Oval 10"/>
            <p:cNvSpPr/>
            <p:nvPr/>
          </p:nvSpPr>
          <p:spPr>
            <a:xfrm>
              <a:off x="4495800" y="3559629"/>
              <a:ext cx="772886" cy="438628"/>
            </a:xfrm>
            <a:prstGeom prst="ellips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defTabSz="457200"/>
              <a:endParaRPr lang="en-US">
                <a:solidFill>
                  <a:prstClr val="black"/>
                </a:solidFill>
              </a:endParaRPr>
            </a:p>
          </p:txBody>
        </p:sp>
        <p:sp>
          <p:nvSpPr>
            <p:cNvPr id="12" name="Arc 11"/>
            <p:cNvSpPr/>
            <p:nvPr/>
          </p:nvSpPr>
          <p:spPr>
            <a:xfrm rot="12533138" flipV="1">
              <a:off x="4508797" y="3693592"/>
              <a:ext cx="1165717" cy="587559"/>
            </a:xfrm>
            <a:prstGeom prst="arc">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defTabSz="457200"/>
              <a:endParaRPr lang="en-US">
                <a:solidFill>
                  <a:prstClr val="black"/>
                </a:solidFill>
              </a:endParaRPr>
            </a:p>
          </p:txBody>
        </p:sp>
      </p:grpSp>
      <p:sp>
        <p:nvSpPr>
          <p:cNvPr id="13" name="Oval 12"/>
          <p:cNvSpPr/>
          <p:nvPr/>
        </p:nvSpPr>
        <p:spPr>
          <a:xfrm>
            <a:off x="2919777" y="2642821"/>
            <a:ext cx="274320" cy="27432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dirty="0">
              <a:solidFill>
                <a:prstClr val="white"/>
              </a:solidFill>
            </a:endParaRPr>
          </a:p>
        </p:txBody>
      </p:sp>
      <p:sp>
        <p:nvSpPr>
          <p:cNvPr id="14" name="Oval 13"/>
          <p:cNvSpPr/>
          <p:nvPr/>
        </p:nvSpPr>
        <p:spPr>
          <a:xfrm>
            <a:off x="3779767" y="2631931"/>
            <a:ext cx="274320" cy="27432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dirty="0">
              <a:solidFill>
                <a:prstClr val="white"/>
              </a:solidFill>
            </a:endParaRPr>
          </a:p>
        </p:txBody>
      </p:sp>
      <p:pic>
        <p:nvPicPr>
          <p:cNvPr id="15" name="Picture 2" descr="http://cursa.ihmc.us/rid=1GKMN01YV-134SP10-DMP/paralanguage.jpg"/>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589768" y="1704242"/>
            <a:ext cx="2198178" cy="2275114"/>
          </a:xfrm>
          <a:prstGeom prst="rect">
            <a:avLst/>
          </a:prstGeom>
          <a:noFill/>
          <a:extLst>
            <a:ext uri="{909E8E84-426E-40DD-AFC4-6F175D3DCCD1}">
              <a14:hiddenFill xmlns:a14="http://schemas.microsoft.com/office/drawing/2010/main">
                <a:solidFill>
                  <a:srgbClr val="FFFFFF"/>
                </a:solidFill>
              </a14:hiddenFill>
            </a:ext>
          </a:extLst>
        </p:spPr>
      </p:pic>
      <p:sp>
        <p:nvSpPr>
          <p:cNvPr id="16" name="Teardrop 15"/>
          <p:cNvSpPr/>
          <p:nvPr/>
        </p:nvSpPr>
        <p:spPr>
          <a:xfrm rot="15360000">
            <a:off x="1806964" y="2801738"/>
            <a:ext cx="182880" cy="182880"/>
          </a:xfrm>
          <a:prstGeom prst="teardrop">
            <a:avLst>
              <a:gd name="adj" fmla="val 142045"/>
            </a:avLst>
          </a:prstGeom>
          <a:solidFill>
            <a:srgbClr val="00B0F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a:solidFill>
                <a:prstClr val="white"/>
              </a:solidFill>
            </a:endParaRPr>
          </a:p>
        </p:txBody>
      </p:sp>
      <p:sp>
        <p:nvSpPr>
          <p:cNvPr id="17" name="Teardrop 16"/>
          <p:cNvSpPr/>
          <p:nvPr/>
        </p:nvSpPr>
        <p:spPr>
          <a:xfrm rot="16200000">
            <a:off x="1763416" y="3141376"/>
            <a:ext cx="137160" cy="137160"/>
          </a:xfrm>
          <a:prstGeom prst="teardrop">
            <a:avLst>
              <a:gd name="adj" fmla="val 142045"/>
            </a:avLst>
          </a:prstGeom>
          <a:solidFill>
            <a:srgbClr val="00B0F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a:solidFill>
                <a:prstClr val="white"/>
              </a:solidFill>
            </a:endParaRPr>
          </a:p>
        </p:txBody>
      </p:sp>
      <p:sp>
        <p:nvSpPr>
          <p:cNvPr id="18" name="Teardrop 17"/>
          <p:cNvSpPr/>
          <p:nvPr/>
        </p:nvSpPr>
        <p:spPr>
          <a:xfrm rot="13500000">
            <a:off x="2092172" y="2629076"/>
            <a:ext cx="91440" cy="91440"/>
          </a:xfrm>
          <a:prstGeom prst="teardrop">
            <a:avLst>
              <a:gd name="adj" fmla="val 142045"/>
            </a:avLst>
          </a:prstGeom>
          <a:solidFill>
            <a:srgbClr val="00B0F0"/>
          </a:solid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a:solidFill>
                <a:prstClr val="white"/>
              </a:solidFill>
            </a:endParaRPr>
          </a:p>
        </p:txBody>
      </p:sp>
      <p:sp>
        <p:nvSpPr>
          <p:cNvPr id="19" name="Oval 18"/>
          <p:cNvSpPr/>
          <p:nvPr/>
        </p:nvSpPr>
        <p:spPr>
          <a:xfrm>
            <a:off x="7338578" y="3209955"/>
            <a:ext cx="182880" cy="182880"/>
          </a:xfrm>
          <a:prstGeom prst="ellipse">
            <a:avLst/>
          </a:prstGeom>
          <a:solidFill>
            <a:schemeClr val="accent3">
              <a:alpha val="50000"/>
            </a:schemeClr>
          </a:solidFill>
          <a:ln>
            <a:noFill/>
          </a:ln>
        </p:spPr>
        <p:style>
          <a:lnRef idx="1">
            <a:schemeClr val="accent3"/>
          </a:lnRef>
          <a:fillRef idx="3">
            <a:schemeClr val="accent3"/>
          </a:fillRef>
          <a:effectRef idx="2">
            <a:schemeClr val="accent3"/>
          </a:effectRef>
          <a:fontRef idx="minor">
            <a:schemeClr val="lt1"/>
          </a:fontRef>
        </p:style>
        <p:txBody>
          <a:bodyPr rtlCol="0" anchor="ctr"/>
          <a:lstStyle/>
          <a:p>
            <a:pPr algn="ctr" defTabSz="457200"/>
            <a:endParaRPr lang="en-US">
              <a:solidFill>
                <a:prstClr val="white"/>
              </a:solidFill>
            </a:endParaRPr>
          </a:p>
        </p:txBody>
      </p:sp>
      <p:sp>
        <p:nvSpPr>
          <p:cNvPr id="20" name="Oval 19"/>
          <p:cNvSpPr/>
          <p:nvPr/>
        </p:nvSpPr>
        <p:spPr>
          <a:xfrm>
            <a:off x="7850216" y="3199065"/>
            <a:ext cx="182880" cy="182880"/>
          </a:xfrm>
          <a:prstGeom prst="ellipse">
            <a:avLst/>
          </a:prstGeom>
          <a:solidFill>
            <a:schemeClr val="accent3">
              <a:alpha val="50000"/>
            </a:schemeClr>
          </a:solidFill>
          <a:ln>
            <a:noFill/>
          </a:ln>
        </p:spPr>
        <p:style>
          <a:lnRef idx="1">
            <a:schemeClr val="accent3"/>
          </a:lnRef>
          <a:fillRef idx="3">
            <a:schemeClr val="accent3"/>
          </a:fillRef>
          <a:effectRef idx="2">
            <a:schemeClr val="accent3"/>
          </a:effectRef>
          <a:fontRef idx="minor">
            <a:schemeClr val="lt1"/>
          </a:fontRef>
        </p:style>
        <p:txBody>
          <a:bodyPr rtlCol="0" anchor="ctr"/>
          <a:lstStyle/>
          <a:p>
            <a:pPr algn="ctr" defTabSz="457200"/>
            <a:endParaRPr lang="en-US">
              <a:solidFill>
                <a:prstClr val="white"/>
              </a:solidFill>
            </a:endParaRPr>
          </a:p>
        </p:txBody>
      </p:sp>
      <p:graphicFrame>
        <p:nvGraphicFramePr>
          <p:cNvPr id="21" name="Content Placeholder 3"/>
          <p:cNvGraphicFramePr/>
          <p:nvPr/>
        </p:nvGraphicFramePr>
        <p:xfrm>
          <a:off x="2221472" y="3198374"/>
          <a:ext cx="4267200" cy="4525963"/>
        </p:xfrm>
        <a:graphic>
          <a:graphicData uri="http://schemas.openxmlformats.org/drawingml/2006/chart">
            <c:chart xmlns:c="http://schemas.openxmlformats.org/drawingml/2006/chart" xmlns:r="http://schemas.openxmlformats.org/officeDocument/2006/relationships" r:id="rId6"/>
          </a:graphicData>
        </a:graphic>
      </p:graphicFrame>
      <p:grpSp>
        <p:nvGrpSpPr>
          <p:cNvPr id="26" name="Group 25"/>
          <p:cNvGrpSpPr/>
          <p:nvPr/>
        </p:nvGrpSpPr>
        <p:grpSpPr>
          <a:xfrm>
            <a:off x="10506" y="5959375"/>
            <a:ext cx="9128234" cy="905860"/>
            <a:chOff x="10506" y="5959375"/>
            <a:chExt cx="9128234" cy="905860"/>
          </a:xfrm>
        </p:grpSpPr>
        <p:sp>
          <p:nvSpPr>
            <p:cNvPr id="25" name="Content Placeholder 2"/>
            <p:cNvSpPr txBox="1"/>
            <p:nvPr/>
          </p:nvSpPr>
          <p:spPr>
            <a:xfrm>
              <a:off x="10506" y="6041810"/>
              <a:ext cx="9128234" cy="823425"/>
            </a:xfrm>
            <a:prstGeom prst="rect">
              <a:avLst/>
            </a:prstGeom>
            <a:solidFill>
              <a:schemeClr val="tx2">
                <a:lumMod val="20000"/>
                <a:lumOff val="80000"/>
              </a:schemeClr>
            </a:solidFill>
          </p:spPr>
          <p:txBody>
            <a:bodyPr vert="horz" lIns="91440" tIns="45720" rIns="91440" bIns="45720" rtlCol="0" anchor="ctr">
              <a:no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buFont typeface="Arial" panose="020B0604020202020204"/>
                <a:buNone/>
              </a:pPr>
              <a:endParaRPr lang="en-US" sz="2400" b="1" dirty="0">
                <a:solidFill>
                  <a:prstClr val="black"/>
                </a:solidFill>
              </a:endParaRPr>
            </a:p>
          </p:txBody>
        </p:sp>
        <p:sp>
          <p:nvSpPr>
            <p:cNvPr id="23" name="Content Placeholder 4"/>
            <p:cNvSpPr txBox="1"/>
            <p:nvPr/>
          </p:nvSpPr>
          <p:spPr>
            <a:xfrm>
              <a:off x="631373" y="5959375"/>
              <a:ext cx="8077200" cy="881377"/>
            </a:xfrm>
            <a:prstGeom prst="rect">
              <a:avLst/>
            </a:prstGeom>
          </p:spPr>
          <p:txBody>
            <a:bodyPr>
              <a:noAutofit/>
            </a:bodyPr>
            <a:lstStyle>
              <a:lvl1pPr marL="342900" indent="-342900" algn="l" defTabSz="914400" rtl="0" eaLnBrk="1" latinLnBrk="0" hangingPunct="1">
                <a:spcBef>
                  <a:spcPts val="2000"/>
                </a:spcBef>
                <a:buFont typeface="Wingdings 2" panose="05020102010507070707" pitchFamily="18" charset="2"/>
                <a:buChar char=""/>
                <a:defRPr sz="2400" kern="1200">
                  <a:solidFill>
                    <a:schemeClr val="bg1"/>
                  </a:solidFill>
                  <a:effectLst>
                    <a:outerShdw blurRad="63500" dist="50800" dir="2700000" algn="tl" rotWithShape="0">
                      <a:prstClr val="black">
                        <a:alpha val="50000"/>
                      </a:prstClr>
                    </a:outerShdw>
                  </a:effectLst>
                  <a:latin typeface="+mn-lt"/>
                  <a:ea typeface="+mn-ea"/>
                  <a:cs typeface="+mn-cs"/>
                </a:defRPr>
              </a:lvl1pPr>
              <a:lvl2pPr marL="685800" indent="-336550" algn="l" defTabSz="914400" rtl="0" eaLnBrk="1" latinLnBrk="0" hangingPunct="1">
                <a:spcBef>
                  <a:spcPts val="600"/>
                </a:spcBef>
                <a:buFont typeface="Wingdings 2" panose="05020102010507070707" pitchFamily="18" charset="2"/>
                <a:buChar char=""/>
                <a:defRPr sz="2200" kern="1200">
                  <a:solidFill>
                    <a:schemeClr val="bg1"/>
                  </a:solidFill>
                  <a:effectLst>
                    <a:outerShdw blurRad="63500" dist="50800" dir="2700000" algn="tl" rotWithShape="0">
                      <a:prstClr val="black">
                        <a:alpha val="50000"/>
                      </a:prstClr>
                    </a:outerShdw>
                  </a:effectLst>
                  <a:latin typeface="+mn-lt"/>
                  <a:ea typeface="+mn-ea"/>
                  <a:cs typeface="+mn-cs"/>
                </a:defRPr>
              </a:lvl2pPr>
              <a:lvl3pPr marL="1035050" indent="-349250" algn="l" defTabSz="914400" rtl="0" eaLnBrk="1" latinLnBrk="0" hangingPunct="1">
                <a:spcBef>
                  <a:spcPts val="600"/>
                </a:spcBef>
                <a:buFont typeface="Wingdings 2" panose="05020102010507070707" pitchFamily="18" charset="2"/>
                <a:buChar char=""/>
                <a:defRPr sz="2000" kern="1200">
                  <a:solidFill>
                    <a:schemeClr val="bg1"/>
                  </a:solidFill>
                  <a:effectLst>
                    <a:outerShdw blurRad="63500" dist="50800" dir="2700000" algn="tl" rotWithShape="0">
                      <a:prstClr val="black">
                        <a:alpha val="50000"/>
                      </a:prstClr>
                    </a:outerShdw>
                  </a:effectLst>
                  <a:latin typeface="+mn-lt"/>
                  <a:ea typeface="+mn-ea"/>
                  <a:cs typeface="+mn-cs"/>
                </a:defRPr>
              </a:lvl3pPr>
              <a:lvl4pPr marL="1371600" indent="-336550" algn="l" defTabSz="914400" rtl="0" eaLnBrk="1" latinLnBrk="0" hangingPunct="1">
                <a:spcBef>
                  <a:spcPts val="600"/>
                </a:spcBef>
                <a:buFont typeface="Wingdings 2" panose="05020102010507070707" pitchFamily="18" charset="2"/>
                <a:buChar char=""/>
                <a:defRPr sz="1800" kern="1200">
                  <a:solidFill>
                    <a:schemeClr val="bg1"/>
                  </a:solidFill>
                  <a:effectLst>
                    <a:outerShdw blurRad="63500" dist="50800" dir="2700000" algn="tl" rotWithShape="0">
                      <a:prstClr val="black">
                        <a:alpha val="50000"/>
                      </a:prstClr>
                    </a:outerShdw>
                  </a:effectLst>
                  <a:latin typeface="+mn-lt"/>
                  <a:ea typeface="+mn-ea"/>
                  <a:cs typeface="+mn-cs"/>
                </a:defRPr>
              </a:lvl4pPr>
              <a:lvl5pPr marL="1720850" indent="-349250" algn="l" defTabSz="914400" rtl="0" eaLnBrk="1" latinLnBrk="0" hangingPunct="1">
                <a:spcBef>
                  <a:spcPts val="600"/>
                </a:spcBef>
                <a:buFont typeface="Wingdings 2" panose="05020102010507070707" pitchFamily="18" charset="2"/>
                <a:buChar char=""/>
                <a:defRPr sz="1800" kern="1200">
                  <a:solidFill>
                    <a:schemeClr val="bg1"/>
                  </a:solidFill>
                  <a:effectLst>
                    <a:outerShdw blurRad="63500" dist="50800" dir="2700000" algn="tl" rotWithShape="0">
                      <a:prstClr val="black">
                        <a:alpha val="50000"/>
                      </a:prstClr>
                    </a:outerShdw>
                  </a:effectLst>
                  <a:latin typeface="+mn-lt"/>
                  <a:ea typeface="+mn-ea"/>
                  <a:cs typeface="+mn-cs"/>
                </a:defRPr>
              </a:lvl5pPr>
              <a:lvl6pPr marL="2056130" indent="-344805" algn="l" defTabSz="914400" rtl="0" eaLnBrk="1" latinLnBrk="0" hangingPunct="1">
                <a:spcBef>
                  <a:spcPct val="20000"/>
                </a:spcBef>
                <a:buFont typeface="Wingdings 2" panose="05020102010507070707" pitchFamily="18" charset="2"/>
                <a:buChar char=""/>
                <a:defRPr lang="en-US" sz="1800" kern="1200" dirty="0" smtClean="0">
                  <a:solidFill>
                    <a:schemeClr val="bg1"/>
                  </a:solidFill>
                  <a:effectLst>
                    <a:outerShdw blurRad="63500" dist="50800" dir="2700000" algn="tl" rotWithShape="0">
                      <a:prstClr val="black">
                        <a:alpha val="50000"/>
                      </a:prstClr>
                    </a:outerShdw>
                  </a:effectLst>
                  <a:latin typeface="+mn-lt"/>
                  <a:ea typeface="+mn-ea"/>
                  <a:cs typeface="+mn-cs"/>
                </a:defRPr>
              </a:lvl6pPr>
              <a:lvl7pPr marL="2399030" indent="-344805" algn="l" defTabSz="914400" rtl="0" eaLnBrk="1" latinLnBrk="0" hangingPunct="1">
                <a:spcBef>
                  <a:spcPct val="20000"/>
                </a:spcBef>
                <a:buFont typeface="Wingdings 2" panose="05020102010507070707" pitchFamily="18" charset="2"/>
                <a:buChar char=""/>
                <a:defRPr lang="en-US" sz="1800" kern="1200" dirty="0" smtClean="0">
                  <a:solidFill>
                    <a:schemeClr val="bg1"/>
                  </a:solidFill>
                  <a:effectLst>
                    <a:outerShdw blurRad="63500" dist="50800" dir="2700000" algn="tl" rotWithShape="0">
                      <a:prstClr val="black">
                        <a:alpha val="50000"/>
                      </a:prstClr>
                    </a:outerShdw>
                  </a:effectLst>
                  <a:latin typeface="+mn-lt"/>
                  <a:ea typeface="+mn-ea"/>
                  <a:cs typeface="+mn-cs"/>
                </a:defRPr>
              </a:lvl7pPr>
              <a:lvl8pPr marL="2743200" indent="-344805" algn="l" defTabSz="914400" rtl="0" eaLnBrk="1" latinLnBrk="0" hangingPunct="1">
                <a:spcBef>
                  <a:spcPct val="20000"/>
                </a:spcBef>
                <a:buFont typeface="Wingdings 2" panose="05020102010507070707" pitchFamily="18" charset="2"/>
                <a:buChar char=""/>
                <a:defRPr lang="en-US" sz="1800" kern="1200" dirty="0" smtClean="0">
                  <a:solidFill>
                    <a:schemeClr val="bg1"/>
                  </a:solidFill>
                  <a:effectLst>
                    <a:outerShdw blurRad="63500" dist="50800" dir="2700000" algn="tl" rotWithShape="0">
                      <a:prstClr val="black">
                        <a:alpha val="50000"/>
                      </a:prstClr>
                    </a:outerShdw>
                  </a:effectLst>
                  <a:latin typeface="+mn-lt"/>
                  <a:ea typeface="+mn-ea"/>
                  <a:cs typeface="+mn-cs"/>
                </a:defRPr>
              </a:lvl8pPr>
              <a:lvl9pPr marL="3088005" indent="-344805" algn="l" defTabSz="914400" rtl="0" eaLnBrk="1" latinLnBrk="0" hangingPunct="1">
                <a:spcBef>
                  <a:spcPct val="20000"/>
                </a:spcBef>
                <a:buFont typeface="Wingdings 2" panose="05020102010507070707" pitchFamily="18" charset="2"/>
                <a:buChar char=""/>
                <a:defRPr lang="en-US" sz="1800" kern="1200" dirty="0">
                  <a:solidFill>
                    <a:schemeClr val="bg1"/>
                  </a:solidFill>
                  <a:effectLst>
                    <a:outerShdw blurRad="63500" dist="50800" dir="2700000" algn="tl" rotWithShape="0">
                      <a:prstClr val="black">
                        <a:alpha val="50000"/>
                      </a:prstClr>
                    </a:outerShdw>
                  </a:effectLst>
                  <a:latin typeface="+mn-lt"/>
                  <a:ea typeface="+mn-ea"/>
                  <a:cs typeface="+mn-cs"/>
                </a:defRPr>
              </a:lvl9pPr>
            </a:lstStyle>
            <a:p>
              <a:pPr marL="0" indent="0" algn="ctr">
                <a:lnSpc>
                  <a:spcPct val="200000"/>
                </a:lnSpc>
                <a:buFont typeface="Wingdings 2" panose="05020102010507070707" pitchFamily="18" charset="2"/>
                <a:buNone/>
              </a:pPr>
              <a:r>
                <a:rPr lang="en-US" dirty="0">
                  <a:solidFill>
                    <a:prstClr val="black"/>
                  </a:solidFill>
                  <a:effectLst/>
                </a:rPr>
                <a:t>The majority of all communication is </a:t>
              </a:r>
              <a:r>
                <a:rPr lang="en-US" b="1" dirty="0">
                  <a:solidFill>
                    <a:prstClr val="black"/>
                  </a:solidFill>
                  <a:effectLst/>
                </a:rPr>
                <a:t>non-verbal.</a:t>
              </a:r>
            </a:p>
          </p:txBody>
        </p:sp>
      </p:grpSp>
      <p:sp>
        <p:nvSpPr>
          <p:cNvPr id="24" name="TextBox 23"/>
          <p:cNvSpPr txBox="1"/>
          <p:nvPr/>
        </p:nvSpPr>
        <p:spPr>
          <a:xfrm>
            <a:off x="14004" y="1249379"/>
            <a:ext cx="9129995" cy="523220"/>
          </a:xfrm>
          <a:prstGeom prst="rect">
            <a:avLst/>
          </a:prstGeom>
          <a:noFill/>
        </p:spPr>
        <p:txBody>
          <a:bodyPr wrap="square" rtlCol="0">
            <a:spAutoFit/>
          </a:bodyPr>
          <a:lstStyle/>
          <a:p>
            <a:pPr algn="ctr" defTabSz="457200"/>
            <a:r>
              <a:rPr lang="en-US" sz="2800" b="1" dirty="0">
                <a:solidFill>
                  <a:prstClr val="black"/>
                </a:solidFill>
              </a:rPr>
              <a:t>Effective feedback requires good communication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withEffect">
                                  <p:stCondLst>
                                    <p:cond delay="0"/>
                                  </p:stCondLst>
                                  <p:childTnLst>
                                    <p:animRot by="120000">
                                      <p:cBhvr>
                                        <p:cTn id="6" dur="100" fill="hold">
                                          <p:stCondLst>
                                            <p:cond delay="0"/>
                                          </p:stCondLst>
                                        </p:cTn>
                                        <p:tgtEl>
                                          <p:spTgt spid="5"/>
                                        </p:tgtEl>
                                        <p:attrNameLst>
                                          <p:attrName>r</p:attrName>
                                        </p:attrNameLst>
                                      </p:cBhvr>
                                    </p:animRot>
                                    <p:animRot by="-240000">
                                      <p:cBhvr>
                                        <p:cTn id="7" dur="200" fill="hold">
                                          <p:stCondLst>
                                            <p:cond delay="200"/>
                                          </p:stCondLst>
                                        </p:cTn>
                                        <p:tgtEl>
                                          <p:spTgt spid="5"/>
                                        </p:tgtEl>
                                        <p:attrNameLst>
                                          <p:attrName>r</p:attrName>
                                        </p:attrNameLst>
                                      </p:cBhvr>
                                    </p:animRot>
                                    <p:animRot by="240000">
                                      <p:cBhvr>
                                        <p:cTn id="8" dur="200" fill="hold">
                                          <p:stCondLst>
                                            <p:cond delay="400"/>
                                          </p:stCondLst>
                                        </p:cTn>
                                        <p:tgtEl>
                                          <p:spTgt spid="5"/>
                                        </p:tgtEl>
                                        <p:attrNameLst>
                                          <p:attrName>r</p:attrName>
                                        </p:attrNameLst>
                                      </p:cBhvr>
                                    </p:animRot>
                                    <p:animRot by="-240000">
                                      <p:cBhvr>
                                        <p:cTn id="9" dur="200" fill="hold">
                                          <p:stCondLst>
                                            <p:cond delay="600"/>
                                          </p:stCondLst>
                                        </p:cTn>
                                        <p:tgtEl>
                                          <p:spTgt spid="5"/>
                                        </p:tgtEl>
                                        <p:attrNameLst>
                                          <p:attrName>r</p:attrName>
                                        </p:attrNameLst>
                                      </p:cBhvr>
                                    </p:animRot>
                                    <p:animRot by="120000">
                                      <p:cBhvr>
                                        <p:cTn id="10" dur="200" fill="hold">
                                          <p:stCondLst>
                                            <p:cond delay="800"/>
                                          </p:stCondLst>
                                        </p:cTn>
                                        <p:tgtEl>
                                          <p:spTgt spid="5"/>
                                        </p:tgtEl>
                                        <p:attrNameLst>
                                          <p:attrName>r</p:attrName>
                                        </p:attrNameLst>
                                      </p:cBhvr>
                                    </p:animRot>
                                  </p:childTnLst>
                                </p:cTn>
                              </p:par>
                              <p:par>
                                <p:cTn id="11" presetID="35" presetClass="path" presetSubtype="0" repeatCount="indefinite" accel="50000" decel="50000" autoRev="1" fill="hold" grpId="0" nodeType="withEffect">
                                  <p:stCondLst>
                                    <p:cond delay="0"/>
                                  </p:stCondLst>
                                  <p:childTnLst>
                                    <p:animMotion origin="layout" path="M 0.00417 1.85185E-6 L -0.02309 1.85185E-6 " pathEditMode="relative" rAng="0" ptsTypes="AA">
                                      <p:cBhvr>
                                        <p:cTn id="12" dur="1000" fill="hold"/>
                                        <p:tgtEl>
                                          <p:spTgt spid="13"/>
                                        </p:tgtEl>
                                        <p:attrNameLst>
                                          <p:attrName>ppt_x</p:attrName>
                                          <p:attrName>ppt_y</p:attrName>
                                        </p:attrNameLst>
                                      </p:cBhvr>
                                      <p:rCtr x="-1372" y="0"/>
                                    </p:animMotion>
                                  </p:childTnLst>
                                </p:cTn>
                              </p:par>
                              <p:par>
                                <p:cTn id="13" presetID="35" presetClass="path" presetSubtype="0" repeatCount="indefinite" accel="50000" decel="50000" autoRev="1" fill="hold" grpId="0" nodeType="withEffect">
                                  <p:stCondLst>
                                    <p:cond delay="0"/>
                                  </p:stCondLst>
                                  <p:childTnLst>
                                    <p:animMotion origin="layout" path="M 0.00417 1.85185E-6 L -0.02309 1.85185E-6 " pathEditMode="relative" rAng="0" ptsTypes="AA">
                                      <p:cBhvr>
                                        <p:cTn id="14" dur="1000" fill="hold"/>
                                        <p:tgtEl>
                                          <p:spTgt spid="14"/>
                                        </p:tgtEl>
                                        <p:attrNameLst>
                                          <p:attrName>ppt_x</p:attrName>
                                          <p:attrName>ppt_y</p:attrName>
                                        </p:attrNameLst>
                                      </p:cBhvr>
                                      <p:rCtr x="-1372" y="0"/>
                                    </p:animMotion>
                                  </p:childTnLst>
                                </p:cTn>
                              </p:par>
                              <p:par>
                                <p:cTn id="15" presetID="22" presetClass="entr" presetSubtype="1" repeatCount="indefinite"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up)">
                                      <p:cBhvr>
                                        <p:cTn id="17" dur="1000"/>
                                        <p:tgtEl>
                                          <p:spTgt spid="16"/>
                                        </p:tgtEl>
                                      </p:cBhvr>
                                    </p:animEffect>
                                  </p:childTnLst>
                                </p:cTn>
                              </p:par>
                              <p:par>
                                <p:cTn id="18" presetID="22" presetClass="entr" presetSubtype="1" repeatCount="indefinite"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up)">
                                      <p:cBhvr>
                                        <p:cTn id="20" dur="500"/>
                                        <p:tgtEl>
                                          <p:spTgt spid="17"/>
                                        </p:tgtEl>
                                      </p:cBhvr>
                                    </p:animEffect>
                                  </p:childTnLst>
                                </p:cTn>
                              </p:par>
                              <p:par>
                                <p:cTn id="21" presetID="22" presetClass="entr" presetSubtype="1" repeatCount="indefinite"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wipe(up)">
                                      <p:cBhvr>
                                        <p:cTn id="23" dur="1000"/>
                                        <p:tgtEl>
                                          <p:spTgt spid="18"/>
                                        </p:tgtEl>
                                      </p:cBhvr>
                                    </p:animEffect>
                                  </p:childTnLst>
                                </p:cTn>
                              </p:par>
                              <p:par>
                                <p:cTn id="24" presetID="6" presetClass="emph" presetSubtype="0" repeatCount="indefinite" autoRev="1" fill="hold" grpId="0" nodeType="withEffect">
                                  <p:stCondLst>
                                    <p:cond delay="0"/>
                                  </p:stCondLst>
                                  <p:childTnLst>
                                    <p:animScale>
                                      <p:cBhvr>
                                        <p:cTn id="25" dur="1000" fill="hold"/>
                                        <p:tgtEl>
                                          <p:spTgt spid="19"/>
                                        </p:tgtEl>
                                      </p:cBhvr>
                                      <p:by x="150000" y="150000"/>
                                    </p:animScale>
                                  </p:childTnLst>
                                </p:cTn>
                              </p:par>
                              <p:par>
                                <p:cTn id="26" presetID="6" presetClass="emph" presetSubtype="0" repeatCount="indefinite" autoRev="1" fill="hold" grpId="0" nodeType="withEffect">
                                  <p:stCondLst>
                                    <p:cond delay="0"/>
                                  </p:stCondLst>
                                  <p:childTnLst>
                                    <p:animScale>
                                      <p:cBhvr>
                                        <p:cTn id="27" dur="1000" fill="hold"/>
                                        <p:tgtEl>
                                          <p:spTgt spid="20"/>
                                        </p:tgtEl>
                                      </p:cBhvr>
                                      <p:by x="150000" y="150000"/>
                                    </p:animScale>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1000"/>
                                        <p:tgtEl>
                                          <p:spTgt spid="26"/>
                                        </p:tgtEl>
                                      </p:cBhvr>
                                    </p:animEffect>
                                    <p:anim calcmode="lin" valueType="num">
                                      <p:cBhvr>
                                        <p:cTn id="38" dur="1000" fill="hold"/>
                                        <p:tgtEl>
                                          <p:spTgt spid="26"/>
                                        </p:tgtEl>
                                        <p:attrNameLst>
                                          <p:attrName>ppt_x</p:attrName>
                                        </p:attrNameLst>
                                      </p:cBhvr>
                                      <p:tavLst>
                                        <p:tav tm="0">
                                          <p:val>
                                            <p:strVal val="#ppt_x"/>
                                          </p:val>
                                        </p:tav>
                                        <p:tav tm="100000">
                                          <p:val>
                                            <p:strVal val="#ppt_x"/>
                                          </p:val>
                                        </p:tav>
                                      </p:tavLst>
                                    </p:anim>
                                    <p:anim calcmode="lin" valueType="num">
                                      <p:cBhvr>
                                        <p:cTn id="3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6" grpId="0" animBg="1"/>
      <p:bldP spid="17" grpId="0" animBg="1"/>
      <p:bldP spid="18" grpId="0" animBg="1"/>
      <p:bldP spid="19" grpId="0" animBg="1"/>
      <p:bldP spid="20" grpId="0" animBg="1"/>
      <p:bldGraphic spid="21" grpId="0">
        <p:bldAsOne/>
      </p:bldGraphic>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6. Performance Management</a:t>
            </a:r>
            <a:endParaRPr lang="en-US" dirty="0">
              <a:solidFill>
                <a:schemeClr val="bg1"/>
              </a:solidFill>
            </a:endParaRPr>
          </a:p>
        </p:txBody>
      </p:sp>
      <p:sp>
        <p:nvSpPr>
          <p:cNvPr id="3" name="Content Placeholder 2"/>
          <p:cNvSpPr>
            <a:spLocks noGrp="1"/>
          </p:cNvSpPr>
          <p:nvPr>
            <p:ph idx="1"/>
          </p:nvPr>
        </p:nvSpPr>
        <p:spPr>
          <a:xfrm>
            <a:off x="399927" y="1175536"/>
            <a:ext cx="8502177" cy="5536331"/>
          </a:xfrm>
        </p:spPr>
        <p:txBody>
          <a:bodyPr>
            <a:noAutofit/>
          </a:bodyPr>
          <a:lstStyle/>
          <a:p>
            <a:pPr marL="0" indent="0" defTabSz="914400" fontAlgn="base">
              <a:lnSpc>
                <a:spcPct val="150000"/>
              </a:lnSpc>
              <a:spcBef>
                <a:spcPts val="0"/>
              </a:spcBef>
              <a:spcAft>
                <a:spcPct val="0"/>
              </a:spcAft>
              <a:buNone/>
              <a:defRPr/>
            </a:pPr>
            <a:r>
              <a:rPr lang="en-US" sz="2800" b="1" dirty="0"/>
              <a:t>Feedback</a:t>
            </a:r>
          </a:p>
          <a:p>
            <a:pPr marL="0" indent="0" defTabSz="914400" fontAlgn="base">
              <a:lnSpc>
                <a:spcPct val="150000"/>
              </a:lnSpc>
              <a:spcBef>
                <a:spcPts val="0"/>
              </a:spcBef>
              <a:spcAft>
                <a:spcPct val="0"/>
              </a:spcAft>
              <a:buNone/>
              <a:defRPr/>
            </a:pPr>
            <a:r>
              <a:rPr lang="en-US" sz="2800" b="1" dirty="0"/>
              <a:t>Definition</a:t>
            </a:r>
            <a:r>
              <a:rPr lang="en-US" sz="2800" dirty="0"/>
              <a:t>: </a:t>
            </a:r>
            <a:r>
              <a:rPr lang="en-US" sz="2800" b="1" dirty="0"/>
              <a:t> </a:t>
            </a:r>
          </a:p>
          <a:p>
            <a:pPr marL="0" indent="0" defTabSz="914400" fontAlgn="base">
              <a:lnSpc>
                <a:spcPct val="150000"/>
              </a:lnSpc>
              <a:spcAft>
                <a:spcPct val="0"/>
              </a:spcAft>
              <a:buNone/>
              <a:defRPr/>
            </a:pPr>
            <a:r>
              <a:rPr lang="en-US" sz="2400" dirty="0"/>
              <a:t>The process of communicating information about reactions to a person’s performance of a task or a job</a:t>
            </a:r>
          </a:p>
          <a:p>
            <a:pPr defTabSz="914400" fontAlgn="base">
              <a:lnSpc>
                <a:spcPct val="150000"/>
              </a:lnSpc>
              <a:spcAft>
                <a:spcPct val="0"/>
              </a:spcAft>
              <a:defRPr/>
            </a:pPr>
            <a:r>
              <a:rPr lang="en-US" sz="2400" dirty="0"/>
              <a:t>Feedback can be positive or negative, or both</a:t>
            </a:r>
          </a:p>
          <a:p>
            <a:pPr marL="0" indent="0" defTabSz="914400" fontAlgn="base">
              <a:lnSpc>
                <a:spcPct val="150000"/>
              </a:lnSpc>
              <a:spcAft>
                <a:spcPct val="0"/>
              </a:spcAft>
              <a:buNone/>
              <a:defRPr/>
            </a:pPr>
            <a:r>
              <a:rPr lang="en-US" sz="2800" b="1" dirty="0"/>
              <a:t>Why important? </a:t>
            </a:r>
          </a:p>
          <a:p>
            <a:pPr defTabSz="914400" fontAlgn="base">
              <a:lnSpc>
                <a:spcPct val="150000"/>
              </a:lnSpc>
              <a:spcBef>
                <a:spcPts val="0"/>
              </a:spcBef>
              <a:spcAft>
                <a:spcPct val="0"/>
              </a:spcAft>
              <a:defRPr/>
            </a:pPr>
            <a:r>
              <a:rPr lang="en-US" sz="2400" dirty="0"/>
              <a:t>People need feedback to know how to do better</a:t>
            </a:r>
          </a:p>
          <a:p>
            <a:pPr defTabSz="914400" fontAlgn="base">
              <a:lnSpc>
                <a:spcPct val="150000"/>
              </a:lnSpc>
              <a:spcBef>
                <a:spcPts val="0"/>
              </a:spcBef>
              <a:spcAft>
                <a:spcPct val="0"/>
              </a:spcAft>
              <a:defRPr/>
            </a:pPr>
            <a:r>
              <a:rPr lang="en-US" sz="2400" dirty="0"/>
              <a:t>It is an important way to manage performance</a:t>
            </a:r>
          </a:p>
          <a:p>
            <a:pPr defTabSz="914400" fontAlgn="base">
              <a:lnSpc>
                <a:spcPct val="150000"/>
              </a:lnSpc>
              <a:spcBef>
                <a:spcPts val="0"/>
              </a:spcBef>
              <a:spcAft>
                <a:spcPct val="0"/>
              </a:spcAft>
              <a:defRPr/>
            </a:pPr>
            <a:r>
              <a:rPr lang="en-US" sz="2400" dirty="0"/>
              <a:t>Aids managers in helping employees to develop professionally</a:t>
            </a:r>
            <a:endParaRPr lang="en-US" sz="2400" b="1" dirty="0"/>
          </a:p>
        </p:txBody>
      </p:sp>
      <p:sp>
        <p:nvSpPr>
          <p:cNvPr id="4" name="Slide Number Placeholder 3"/>
          <p:cNvSpPr>
            <a:spLocks noGrp="1"/>
          </p:cNvSpPr>
          <p:nvPr>
            <p:ph type="sldNum" sz="quarter" idx="12"/>
          </p:nvPr>
        </p:nvSpPr>
        <p:spPr>
          <a:xfrm>
            <a:off x="6789690" y="6403648"/>
            <a:ext cx="2133600" cy="365125"/>
          </a:xfrm>
        </p:spPr>
        <p:txBody>
          <a:bodyPr/>
          <a:lstStyle/>
          <a:p>
            <a:fld id="{36A94550-0172-2A4E-BEEB-6BE00EB0E97C}" type="slidenum">
              <a:rPr lang="en-US" smtClean="0">
                <a:solidFill>
                  <a:prstClr val="black">
                    <a:tint val="75000"/>
                  </a:prstClr>
                </a:solidFill>
              </a:rPr>
              <a:t>76</a:t>
            </a:fld>
            <a:endParaRPr lang="en-US" dirty="0">
              <a:solidFill>
                <a:prstClr val="black">
                  <a:tint val="75000"/>
                </a:prstClr>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nvGrpSpPr>
        <p:grpSpPr>
          <a:xfrm>
            <a:off x="4390553" y="1801375"/>
            <a:ext cx="2255214" cy="730168"/>
            <a:chOff x="4674341" y="2416249"/>
            <a:chExt cx="2255214" cy="730168"/>
          </a:xfrm>
        </p:grpSpPr>
        <p:cxnSp>
          <p:nvCxnSpPr>
            <p:cNvPr id="11" name="Straight Connector 10"/>
            <p:cNvCxnSpPr>
              <a:stCxn id="9" idx="3"/>
              <a:endCxn id="9" idx="7"/>
            </p:cNvCxnSpPr>
            <p:nvPr/>
          </p:nvCxnSpPr>
          <p:spPr>
            <a:xfrm flipV="1">
              <a:off x="5004609" y="2523180"/>
              <a:ext cx="1594678" cy="516306"/>
            </a:xfrm>
            <a:prstGeom prst="line">
              <a:avLst/>
            </a:prstGeom>
            <a:ln w="57150" cmpd="sng">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4674341" y="2416249"/>
              <a:ext cx="2255214" cy="730168"/>
            </a:xfrm>
            <a:prstGeom prst="ellipse">
              <a:avLst/>
            </a:prstGeom>
            <a:noFill/>
            <a:ln w="76200"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dirty="0">
                <a:solidFill>
                  <a:prstClr val="white"/>
                </a:solidFill>
              </a:endParaRPr>
            </a:p>
          </p:txBody>
        </p:sp>
      </p:grpSp>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6. Performance Management</a:t>
            </a:r>
            <a:endParaRPr lang="en-US" dirty="0">
              <a:solidFill>
                <a:schemeClr val="bg1"/>
              </a:solidFill>
            </a:endParaRPr>
          </a:p>
        </p:txBody>
      </p:sp>
      <p:sp>
        <p:nvSpPr>
          <p:cNvPr id="3" name="Content Placeholder 2"/>
          <p:cNvSpPr>
            <a:spLocks noGrp="1"/>
          </p:cNvSpPr>
          <p:nvPr>
            <p:ph idx="1"/>
          </p:nvPr>
        </p:nvSpPr>
        <p:spPr>
          <a:xfrm>
            <a:off x="282028" y="1806690"/>
            <a:ext cx="3891027" cy="4751768"/>
          </a:xfrm>
        </p:spPr>
        <p:txBody>
          <a:bodyPr>
            <a:noAutofit/>
          </a:bodyPr>
          <a:lstStyle/>
          <a:p>
            <a:pPr marL="0" indent="0" defTabSz="914400" fontAlgn="base">
              <a:lnSpc>
                <a:spcPct val="170000"/>
              </a:lnSpc>
              <a:spcAft>
                <a:spcPct val="0"/>
              </a:spcAft>
              <a:buNone/>
              <a:defRPr/>
            </a:pPr>
            <a:r>
              <a:rPr lang="en-US" sz="2400" b="1" dirty="0"/>
              <a:t>	Do…</a:t>
            </a:r>
          </a:p>
          <a:p>
            <a:pPr defTabSz="914400" fontAlgn="base">
              <a:lnSpc>
                <a:spcPct val="150000"/>
              </a:lnSpc>
              <a:spcBef>
                <a:spcPts val="0"/>
              </a:spcBef>
              <a:spcAft>
                <a:spcPct val="0"/>
              </a:spcAft>
              <a:defRPr/>
            </a:pPr>
            <a:r>
              <a:rPr lang="en-US" sz="2400" dirty="0"/>
              <a:t>Ask questions</a:t>
            </a:r>
          </a:p>
          <a:p>
            <a:pPr defTabSz="914400" fontAlgn="base">
              <a:lnSpc>
                <a:spcPct val="150000"/>
              </a:lnSpc>
              <a:spcBef>
                <a:spcPts val="0"/>
              </a:spcBef>
              <a:spcAft>
                <a:spcPct val="0"/>
              </a:spcAft>
              <a:defRPr/>
            </a:pPr>
            <a:r>
              <a:rPr lang="en-US" sz="2400" dirty="0"/>
              <a:t>Focus on behavior</a:t>
            </a:r>
          </a:p>
          <a:p>
            <a:pPr defTabSz="914400" fontAlgn="base">
              <a:lnSpc>
                <a:spcPct val="150000"/>
              </a:lnSpc>
              <a:spcBef>
                <a:spcPts val="0"/>
              </a:spcBef>
              <a:spcAft>
                <a:spcPct val="0"/>
              </a:spcAft>
              <a:defRPr/>
            </a:pPr>
            <a:r>
              <a:rPr lang="en-US" sz="2400" dirty="0"/>
              <a:t>Be specific</a:t>
            </a:r>
          </a:p>
          <a:p>
            <a:pPr defTabSz="914400" fontAlgn="base">
              <a:lnSpc>
                <a:spcPct val="150000"/>
              </a:lnSpc>
              <a:spcBef>
                <a:spcPts val="0"/>
              </a:spcBef>
              <a:spcAft>
                <a:spcPct val="0"/>
              </a:spcAft>
              <a:defRPr/>
            </a:pPr>
            <a:r>
              <a:rPr lang="en-US" sz="2400" dirty="0"/>
              <a:t>Be timely (don’t wait!)</a:t>
            </a:r>
          </a:p>
          <a:p>
            <a:pPr defTabSz="914400" fontAlgn="base">
              <a:lnSpc>
                <a:spcPct val="150000"/>
              </a:lnSpc>
              <a:spcBef>
                <a:spcPts val="0"/>
              </a:spcBef>
              <a:spcAft>
                <a:spcPct val="0"/>
              </a:spcAft>
              <a:defRPr/>
            </a:pPr>
            <a:r>
              <a:rPr lang="en-US" sz="2400" dirty="0"/>
              <a:t>Give positive and negative feedback</a:t>
            </a:r>
          </a:p>
          <a:p>
            <a:pPr defTabSz="914400" fontAlgn="base">
              <a:lnSpc>
                <a:spcPct val="150000"/>
              </a:lnSpc>
              <a:spcBef>
                <a:spcPts val="0"/>
              </a:spcBef>
              <a:spcAft>
                <a:spcPct val="0"/>
              </a:spcAft>
              <a:defRPr/>
            </a:pPr>
            <a:r>
              <a:rPr lang="en-US" sz="2400" dirty="0"/>
              <a:t>Give feedback regularly</a:t>
            </a:r>
          </a:p>
        </p:txBody>
      </p:sp>
      <p:sp>
        <p:nvSpPr>
          <p:cNvPr id="4" name="Slide Number Placeholder 3"/>
          <p:cNvSpPr>
            <a:spLocks noGrp="1"/>
          </p:cNvSpPr>
          <p:nvPr>
            <p:ph type="sldNum" sz="quarter" idx="12"/>
          </p:nvPr>
        </p:nvSpPr>
        <p:spPr>
          <a:xfrm>
            <a:off x="6379774" y="6309052"/>
            <a:ext cx="2133600" cy="365125"/>
          </a:xfrm>
        </p:spPr>
        <p:txBody>
          <a:bodyPr/>
          <a:lstStyle/>
          <a:p>
            <a:fld id="{36A94550-0172-2A4E-BEEB-6BE00EB0E97C}" type="slidenum">
              <a:rPr lang="en-US" smtClean="0">
                <a:solidFill>
                  <a:prstClr val="black">
                    <a:tint val="75000"/>
                  </a:prstClr>
                </a:solidFill>
              </a:rPr>
              <a:t>77</a:t>
            </a:fld>
            <a:endParaRPr lang="en-US" dirty="0">
              <a:solidFill>
                <a:prstClr val="black">
                  <a:tint val="75000"/>
                </a:prstClr>
              </a:solidFill>
            </a:endParaRPr>
          </a:p>
        </p:txBody>
      </p:sp>
      <p:sp>
        <p:nvSpPr>
          <p:cNvPr id="7" name="Content Placeholder 2"/>
          <p:cNvSpPr txBox="1"/>
          <p:nvPr/>
        </p:nvSpPr>
        <p:spPr>
          <a:xfrm>
            <a:off x="4415836" y="1750254"/>
            <a:ext cx="4601669" cy="4558798"/>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defTabSz="914400" fontAlgn="base">
              <a:lnSpc>
                <a:spcPct val="170000"/>
              </a:lnSpc>
              <a:spcAft>
                <a:spcPct val="0"/>
              </a:spcAft>
              <a:buFont typeface="Arial" panose="020B0604020202020204"/>
              <a:buNone/>
              <a:defRPr/>
            </a:pPr>
            <a:r>
              <a:rPr lang="en-US" sz="2400" b="1" dirty="0">
                <a:solidFill>
                  <a:prstClr val="black"/>
                </a:solidFill>
              </a:rPr>
              <a:t>        Do Not…</a:t>
            </a:r>
          </a:p>
          <a:p>
            <a:pPr defTabSz="914400" fontAlgn="base">
              <a:lnSpc>
                <a:spcPct val="170000"/>
              </a:lnSpc>
              <a:spcBef>
                <a:spcPts val="0"/>
              </a:spcBef>
              <a:spcAft>
                <a:spcPct val="0"/>
              </a:spcAft>
              <a:defRPr/>
            </a:pPr>
            <a:r>
              <a:rPr lang="en-US" sz="2400" dirty="0">
                <a:solidFill>
                  <a:prstClr val="black"/>
                </a:solidFill>
              </a:rPr>
              <a:t>Assume</a:t>
            </a:r>
          </a:p>
          <a:p>
            <a:pPr defTabSz="914400" fontAlgn="base">
              <a:lnSpc>
                <a:spcPct val="170000"/>
              </a:lnSpc>
              <a:spcBef>
                <a:spcPts val="0"/>
              </a:spcBef>
              <a:spcAft>
                <a:spcPct val="0"/>
              </a:spcAft>
              <a:defRPr/>
            </a:pPr>
            <a:r>
              <a:rPr lang="en-US" sz="2400" dirty="0">
                <a:solidFill>
                  <a:prstClr val="black"/>
                </a:solidFill>
              </a:rPr>
              <a:t>Make a judgment</a:t>
            </a:r>
          </a:p>
          <a:p>
            <a:pPr defTabSz="914400" fontAlgn="base">
              <a:lnSpc>
                <a:spcPct val="170000"/>
              </a:lnSpc>
              <a:spcBef>
                <a:spcPts val="0"/>
              </a:spcBef>
              <a:spcAft>
                <a:spcPct val="0"/>
              </a:spcAft>
              <a:defRPr/>
            </a:pPr>
            <a:r>
              <a:rPr lang="en-US" sz="2400" dirty="0">
                <a:solidFill>
                  <a:prstClr val="black"/>
                </a:solidFill>
              </a:rPr>
              <a:t>Label the person</a:t>
            </a:r>
          </a:p>
          <a:p>
            <a:pPr defTabSz="914400" fontAlgn="base">
              <a:lnSpc>
                <a:spcPct val="170000"/>
              </a:lnSpc>
              <a:spcBef>
                <a:spcPts val="0"/>
              </a:spcBef>
              <a:spcAft>
                <a:spcPct val="0"/>
              </a:spcAft>
              <a:defRPr/>
            </a:pPr>
            <a:r>
              <a:rPr lang="en-US" sz="2400" dirty="0">
                <a:solidFill>
                  <a:prstClr val="black"/>
                </a:solidFill>
              </a:rPr>
              <a:t>Make generalizations</a:t>
            </a:r>
          </a:p>
          <a:p>
            <a:pPr defTabSz="914400" fontAlgn="base">
              <a:lnSpc>
                <a:spcPct val="170000"/>
              </a:lnSpc>
              <a:spcBef>
                <a:spcPts val="0"/>
              </a:spcBef>
              <a:spcAft>
                <a:spcPct val="0"/>
              </a:spcAft>
              <a:defRPr/>
            </a:pPr>
            <a:r>
              <a:rPr lang="en-US" sz="2400" dirty="0">
                <a:solidFill>
                  <a:prstClr val="black"/>
                </a:solidFill>
              </a:rPr>
              <a:t>Wait too late</a:t>
            </a:r>
          </a:p>
          <a:p>
            <a:pPr defTabSz="914400" fontAlgn="base">
              <a:lnSpc>
                <a:spcPct val="170000"/>
              </a:lnSpc>
              <a:spcBef>
                <a:spcPts val="0"/>
              </a:spcBef>
              <a:spcAft>
                <a:spcPct val="0"/>
              </a:spcAft>
              <a:defRPr/>
            </a:pPr>
            <a:r>
              <a:rPr lang="en-US" sz="2400" dirty="0">
                <a:solidFill>
                  <a:prstClr val="black"/>
                </a:solidFill>
              </a:rPr>
              <a:t>Only give negative</a:t>
            </a:r>
          </a:p>
          <a:p>
            <a:pPr marL="0" indent="0" defTabSz="914400" fontAlgn="base">
              <a:lnSpc>
                <a:spcPct val="170000"/>
              </a:lnSpc>
              <a:spcAft>
                <a:spcPct val="0"/>
              </a:spcAft>
              <a:buFont typeface="Arial" panose="020B0604020202020204"/>
              <a:buNone/>
              <a:defRPr/>
            </a:pPr>
            <a:endParaRPr lang="en-US" sz="2400" b="1" dirty="0">
              <a:solidFill>
                <a:prstClr val="black"/>
              </a:solidFill>
            </a:endParaRPr>
          </a:p>
        </p:txBody>
      </p:sp>
      <p:sp>
        <p:nvSpPr>
          <p:cNvPr id="8" name="TextBox 7"/>
          <p:cNvSpPr txBox="1"/>
          <p:nvPr/>
        </p:nvSpPr>
        <p:spPr>
          <a:xfrm>
            <a:off x="282028" y="1249379"/>
            <a:ext cx="4863832" cy="523220"/>
          </a:xfrm>
          <a:prstGeom prst="rect">
            <a:avLst/>
          </a:prstGeom>
          <a:noFill/>
        </p:spPr>
        <p:txBody>
          <a:bodyPr wrap="none" rtlCol="0">
            <a:spAutoFit/>
          </a:bodyPr>
          <a:lstStyle/>
          <a:p>
            <a:pPr defTabSz="457200"/>
            <a:r>
              <a:rPr lang="en-US" sz="2800" b="1" dirty="0">
                <a:solidFill>
                  <a:prstClr val="black"/>
                </a:solidFill>
              </a:rPr>
              <a:t>How to Give Effective Feedback</a:t>
            </a:r>
          </a:p>
        </p:txBody>
      </p:sp>
      <p:cxnSp>
        <p:nvCxnSpPr>
          <p:cNvPr id="10" name="Straight Connector 9"/>
          <p:cNvCxnSpPr/>
          <p:nvPr/>
        </p:nvCxnSpPr>
        <p:spPr>
          <a:xfrm>
            <a:off x="4173055" y="1848038"/>
            <a:ext cx="0" cy="4005552"/>
          </a:xfrm>
          <a:prstGeom prst="line">
            <a:avLst/>
          </a:prstGeom>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372032" y="1848038"/>
            <a:ext cx="2255214" cy="730168"/>
          </a:xfrm>
          <a:prstGeom prst="ellipse">
            <a:avLst/>
          </a:prstGeom>
          <a:noFill/>
          <a:ln w="76200" cmpd="sng">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dirty="0">
              <a:solidFill>
                <a:prstClr val="white"/>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4587" y="1296474"/>
            <a:ext cx="8744073" cy="616547"/>
          </a:xfrm>
        </p:spPr>
        <p:txBody>
          <a:bodyPr>
            <a:noAutofit/>
          </a:bodyPr>
          <a:lstStyle/>
          <a:p>
            <a:pPr marL="0" indent="0" defTabSz="914400" fontAlgn="base">
              <a:spcAft>
                <a:spcPct val="0"/>
              </a:spcAft>
              <a:buNone/>
              <a:defRPr/>
            </a:pPr>
            <a:r>
              <a:rPr lang="en-US" sz="2800" b="1" dirty="0"/>
              <a:t>Feedback can be positive or negative </a:t>
            </a:r>
            <a:endParaRPr lang="en-US" sz="1000" b="1" dirty="0"/>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78</a:t>
            </a:fld>
            <a:endParaRPr lang="en-US" dirty="0">
              <a:solidFill>
                <a:prstClr val="black">
                  <a:tint val="75000"/>
                </a:prstClr>
              </a:solidFill>
            </a:endParaRPr>
          </a:p>
        </p:txBody>
      </p:sp>
      <p:sp>
        <p:nvSpPr>
          <p:cNvPr id="7"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6. Performance Management</a:t>
            </a:r>
          </a:p>
        </p:txBody>
      </p:sp>
      <p:graphicFrame>
        <p:nvGraphicFramePr>
          <p:cNvPr id="2" name="Table 1"/>
          <p:cNvGraphicFramePr>
            <a:graphicFrameLocks noGrp="1"/>
          </p:cNvGraphicFramePr>
          <p:nvPr/>
        </p:nvGraphicFramePr>
        <p:xfrm>
          <a:off x="318977" y="1804192"/>
          <a:ext cx="8572360" cy="4765040"/>
        </p:xfrm>
        <a:graphic>
          <a:graphicData uri="http://schemas.openxmlformats.org/drawingml/2006/table">
            <a:tbl>
              <a:tblPr firstRow="1" bandRow="1">
                <a:tableStyleId>{5C22544A-7EE6-4342-B048-85BDC9FD1C3A}</a:tableStyleId>
              </a:tblPr>
              <a:tblGrid>
                <a:gridCol w="4421465">
                  <a:extLst>
                    <a:ext uri="{9D8B030D-6E8A-4147-A177-3AD203B41FA5}">
                      <a16:colId xmlns:a16="http://schemas.microsoft.com/office/drawing/2014/main" val="20000"/>
                    </a:ext>
                  </a:extLst>
                </a:gridCol>
                <a:gridCol w="4150895">
                  <a:extLst>
                    <a:ext uri="{9D8B030D-6E8A-4147-A177-3AD203B41FA5}">
                      <a16:colId xmlns:a16="http://schemas.microsoft.com/office/drawing/2014/main" val="20001"/>
                    </a:ext>
                  </a:extLst>
                </a:gridCol>
              </a:tblGrid>
              <a:tr h="0">
                <a:tc>
                  <a:txBody>
                    <a:bodyPr/>
                    <a:lstStyle/>
                    <a:p>
                      <a:r>
                        <a:rPr lang="en-US" b="1" dirty="0">
                          <a:solidFill>
                            <a:schemeClr val="tx1"/>
                          </a:solidFill>
                        </a:rPr>
                        <a:t>Positive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Negative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r>
                        <a:rPr lang="en-US" sz="1800" b="0" dirty="0">
                          <a:solidFill>
                            <a:schemeClr val="tx1"/>
                          </a:solidFill>
                        </a:rPr>
                        <a:t>Telling them the things they did well</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b="0" dirty="0">
                          <a:solidFill>
                            <a:schemeClr val="tx1"/>
                          </a:solidFill>
                        </a:rPr>
                        <a:t>Telling them the things they did poorly</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sz="1800" dirty="0">
                          <a:solidFill>
                            <a:schemeClr val="tx1"/>
                          </a:solidFill>
                        </a:rPr>
                        <a:t>Describe in specific examples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solidFill>
                            <a:schemeClr val="tx1"/>
                          </a:solidFill>
                        </a:rPr>
                        <a:t>Describe the concern in specific and objective terms (the problem and the consequences)</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sz="1800" dirty="0">
                          <a:solidFill>
                            <a:schemeClr val="tx1"/>
                          </a:solidFill>
                        </a:rPr>
                        <a:t>Discuss the positive impact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sz="1800" dirty="0">
                          <a:solidFill>
                            <a:schemeClr val="tx1"/>
                          </a:solidFill>
                        </a:rPr>
                        <a:t>Focus on the behavior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sz="1800" dirty="0">
                          <a:solidFill>
                            <a:schemeClr val="tx1"/>
                          </a:solidFill>
                        </a:rPr>
                        <a:t>Ask for their ideas for further improvement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sz="1800" dirty="0">
                          <a:solidFill>
                            <a:schemeClr val="tx1"/>
                          </a:solidFill>
                        </a:rPr>
                        <a:t>Ask for their view, listen to their ideas </a:t>
                      </a:r>
                    </a:p>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defRPr/>
                      </a:pPr>
                      <a:r>
                        <a:rPr lang="en-US" sz="1800" dirty="0">
                          <a:solidFill>
                            <a:schemeClr val="tx1"/>
                          </a:solidFill>
                        </a:rPr>
                        <a:t>Set expectations and describe positive consequences that could result from future actions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sz="1800" dirty="0">
                          <a:solidFill>
                            <a:schemeClr val="tx1"/>
                          </a:solidFill>
                        </a:rPr>
                        <a:t>Discuss ways to improve (do this together), propose a solution and discuss how they can meet expectations going forward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0005"/>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defRPr/>
                      </a:pPr>
                      <a:endParaRPr lang="en-US" sz="1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sz="1800" dirty="0">
                          <a:solidFill>
                            <a:schemeClr val="tx1"/>
                          </a:solidFill>
                        </a:rPr>
                        <a:t>Acknowledge the expectations they have met and recognize any improvement (Congratulate Improvement)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821" y="1296473"/>
            <a:ext cx="8744073" cy="3227401"/>
          </a:xfrm>
        </p:spPr>
        <p:txBody>
          <a:bodyPr>
            <a:noAutofit/>
          </a:bodyPr>
          <a:lstStyle/>
          <a:p>
            <a:pPr marL="0" indent="0" defTabSz="914400" fontAlgn="base">
              <a:spcAft>
                <a:spcPct val="0"/>
              </a:spcAft>
              <a:buNone/>
              <a:defRPr/>
            </a:pPr>
            <a:r>
              <a:rPr lang="en-US" sz="2800" b="1" dirty="0"/>
              <a:t>What is better? Positive vs. Negative Feedback?</a:t>
            </a:r>
          </a:p>
          <a:p>
            <a:pPr marL="0" indent="0" defTabSz="914400" fontAlgn="base">
              <a:spcAft>
                <a:spcPct val="0"/>
              </a:spcAft>
              <a:buNone/>
              <a:defRPr/>
            </a:pPr>
            <a:endParaRPr lang="en-US" sz="1000" b="1" dirty="0"/>
          </a:p>
          <a:p>
            <a:pPr defTabSz="914400" fontAlgn="base">
              <a:spcAft>
                <a:spcPct val="0"/>
              </a:spcAft>
              <a:defRPr/>
            </a:pPr>
            <a:r>
              <a:rPr lang="en-US" sz="2400" dirty="0"/>
              <a:t>Both positive and negative feedback can work.</a:t>
            </a:r>
            <a:br>
              <a:rPr lang="en-US" sz="2400" dirty="0"/>
            </a:br>
            <a:endParaRPr lang="en-US" sz="2400" dirty="0"/>
          </a:p>
          <a:p>
            <a:pPr defTabSz="914400" fontAlgn="base">
              <a:spcAft>
                <a:spcPct val="0"/>
              </a:spcAft>
              <a:defRPr/>
            </a:pPr>
            <a:r>
              <a:rPr lang="en-US" sz="2400" dirty="0"/>
              <a:t>Highly effective teams provided much more positive feedback to one another (praise) than negative (criticism). </a:t>
            </a:r>
          </a:p>
          <a:p>
            <a:pPr defTabSz="914400" fontAlgn="base">
              <a:spcAft>
                <a:spcPct val="0"/>
              </a:spcAft>
              <a:defRPr/>
            </a:pPr>
            <a:endParaRPr lang="en-US" sz="2400" dirty="0"/>
          </a:p>
          <a:p>
            <a:pPr defTabSz="914400" fontAlgn="base">
              <a:spcAft>
                <a:spcPct val="0"/>
              </a:spcAft>
              <a:defRPr/>
            </a:pPr>
            <a:r>
              <a:rPr lang="en-US" sz="2400" dirty="0"/>
              <a:t>What is the ideal positive to negative feedback ratio?</a:t>
            </a:r>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79</a:t>
            </a:fld>
            <a:endParaRPr lang="en-US" dirty="0">
              <a:solidFill>
                <a:prstClr val="black">
                  <a:tint val="75000"/>
                </a:prstClr>
              </a:solidFill>
            </a:endParaRPr>
          </a:p>
        </p:txBody>
      </p:sp>
      <p:sp>
        <p:nvSpPr>
          <p:cNvPr id="7"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6. Performance Management</a:t>
            </a:r>
          </a:p>
        </p:txBody>
      </p:sp>
      <p:sp>
        <p:nvSpPr>
          <p:cNvPr id="6" name="Content Placeholder 2"/>
          <p:cNvSpPr txBox="1"/>
          <p:nvPr/>
        </p:nvSpPr>
        <p:spPr>
          <a:xfrm>
            <a:off x="2152899" y="4797736"/>
            <a:ext cx="4201494" cy="993469"/>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defTabSz="914400" fontAlgn="base">
              <a:spcAft>
                <a:spcPct val="0"/>
              </a:spcAft>
              <a:buFont typeface="Arial" panose="020B0604020202020204"/>
              <a:buNone/>
              <a:defRPr/>
            </a:pPr>
            <a:r>
              <a:rPr lang="en-US" sz="6000" dirty="0">
                <a:solidFill>
                  <a:prstClr val="black"/>
                </a:solidFill>
              </a:rPr>
              <a:t>6</a:t>
            </a:r>
          </a:p>
        </p:txBody>
      </p:sp>
      <p:sp>
        <p:nvSpPr>
          <p:cNvPr id="8" name="Slide Number Placeholder 3"/>
          <p:cNvSpPr txBox="1"/>
          <p:nvPr/>
        </p:nvSpPr>
        <p:spPr>
          <a:xfrm>
            <a:off x="6553200" y="6356350"/>
            <a:ext cx="21336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6A94550-0172-2A4E-BEEB-6BE00EB0E97C}" type="slidenum">
              <a:rPr lang="en-US" smtClean="0">
                <a:solidFill>
                  <a:prstClr val="black">
                    <a:tint val="75000"/>
                  </a:prstClr>
                </a:solidFill>
              </a:rPr>
              <a:t>79</a:t>
            </a:fld>
            <a:endParaRPr lang="en-US" dirty="0">
              <a:solidFill>
                <a:prstClr val="black">
                  <a:tint val="75000"/>
                </a:prstClr>
              </a:solidFill>
            </a:endParaRPr>
          </a:p>
        </p:txBody>
      </p:sp>
      <p:sp>
        <p:nvSpPr>
          <p:cNvPr id="9" name="TextBox 8"/>
          <p:cNvSpPr txBox="1"/>
          <p:nvPr/>
        </p:nvSpPr>
        <p:spPr>
          <a:xfrm>
            <a:off x="1591659" y="5650079"/>
            <a:ext cx="2868656" cy="369332"/>
          </a:xfrm>
          <a:prstGeom prst="rect">
            <a:avLst/>
          </a:prstGeom>
          <a:noFill/>
        </p:spPr>
        <p:txBody>
          <a:bodyPr wrap="none" rtlCol="0">
            <a:spAutoFit/>
          </a:bodyPr>
          <a:lstStyle/>
          <a:p>
            <a:pPr defTabSz="457200"/>
            <a:r>
              <a:rPr lang="en-US" dirty="0">
                <a:solidFill>
                  <a:prstClr val="black"/>
                </a:solidFill>
              </a:rPr>
              <a:t>Positive feedback comments</a:t>
            </a:r>
          </a:p>
        </p:txBody>
      </p:sp>
      <p:sp>
        <p:nvSpPr>
          <p:cNvPr id="10" name="TextBox 9"/>
          <p:cNvSpPr txBox="1"/>
          <p:nvPr/>
        </p:nvSpPr>
        <p:spPr>
          <a:xfrm>
            <a:off x="4870641" y="5650079"/>
            <a:ext cx="2967504" cy="369332"/>
          </a:xfrm>
          <a:prstGeom prst="rect">
            <a:avLst/>
          </a:prstGeom>
          <a:noFill/>
        </p:spPr>
        <p:txBody>
          <a:bodyPr wrap="none" rtlCol="0">
            <a:spAutoFit/>
          </a:bodyPr>
          <a:lstStyle/>
          <a:p>
            <a:pPr defTabSz="457200"/>
            <a:r>
              <a:rPr lang="en-US" dirty="0">
                <a:solidFill>
                  <a:prstClr val="black"/>
                </a:solidFill>
              </a:rPr>
              <a:t>Negative feedback comment</a:t>
            </a:r>
          </a:p>
        </p:txBody>
      </p:sp>
      <p:sp>
        <p:nvSpPr>
          <p:cNvPr id="11" name="Content Placeholder 2"/>
          <p:cNvSpPr txBox="1"/>
          <p:nvPr/>
        </p:nvSpPr>
        <p:spPr>
          <a:xfrm>
            <a:off x="3896826" y="4732426"/>
            <a:ext cx="1841663" cy="1058779"/>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defTabSz="914400" fontAlgn="base">
              <a:spcAft>
                <a:spcPct val="0"/>
              </a:spcAft>
              <a:buFont typeface="Arial" panose="020B0604020202020204"/>
              <a:buNone/>
              <a:defRPr/>
            </a:pPr>
            <a:r>
              <a:rPr lang="en-US" sz="6000" dirty="0">
                <a:solidFill>
                  <a:prstClr val="black"/>
                </a:solidFill>
              </a:rPr>
              <a:t>:</a:t>
            </a:r>
          </a:p>
        </p:txBody>
      </p:sp>
      <p:sp>
        <p:nvSpPr>
          <p:cNvPr id="12" name="Content Placeholder 2"/>
          <p:cNvSpPr txBox="1"/>
          <p:nvPr/>
        </p:nvSpPr>
        <p:spPr>
          <a:xfrm>
            <a:off x="3842902" y="4775966"/>
            <a:ext cx="3145739" cy="1058779"/>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defTabSz="914400" fontAlgn="base">
              <a:spcAft>
                <a:spcPct val="0"/>
              </a:spcAft>
              <a:buFont typeface="Arial" panose="020B0604020202020204"/>
              <a:buNone/>
              <a:defRPr/>
            </a:pPr>
            <a:r>
              <a:rPr lang="en-US" sz="6000" dirty="0">
                <a:solidFill>
                  <a:prstClr val="black"/>
                </a:solidFill>
              </a:rPr>
              <a:t>1</a:t>
            </a:r>
          </a:p>
        </p:txBody>
      </p:sp>
      <p:sp>
        <p:nvSpPr>
          <p:cNvPr id="13" name="Rectangle 12"/>
          <p:cNvSpPr/>
          <p:nvPr/>
        </p:nvSpPr>
        <p:spPr>
          <a:xfrm>
            <a:off x="1305855" y="6077213"/>
            <a:ext cx="6937828" cy="646331"/>
          </a:xfrm>
          <a:prstGeom prst="rect">
            <a:avLst/>
          </a:prstGeom>
        </p:spPr>
        <p:txBody>
          <a:bodyPr wrap="square">
            <a:spAutoFit/>
          </a:bodyPr>
          <a:lstStyle/>
          <a:p>
            <a:pPr defTabSz="457200"/>
            <a:endParaRPr lang="en-US" dirty="0">
              <a:solidFill>
                <a:prstClr val="black"/>
              </a:solidFill>
            </a:endParaRPr>
          </a:p>
          <a:p>
            <a:pPr defTabSz="457200"/>
            <a:r>
              <a:rPr lang="en-US" b="1" dirty="0">
                <a:solidFill>
                  <a:srgbClr val="FF0000"/>
                </a:solidFill>
              </a:rPr>
              <a:t>Nearly six positive comments for every negative one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6. Performance Management</a:t>
            </a:r>
            <a:endParaRPr lang="en-US" dirty="0">
              <a:solidFill>
                <a:schemeClr val="bg1"/>
              </a:solidFill>
            </a:endParaRPr>
          </a:p>
        </p:txBody>
      </p:sp>
      <p:sp>
        <p:nvSpPr>
          <p:cNvPr id="3" name="Content Placeholder 2"/>
          <p:cNvSpPr>
            <a:spLocks noGrp="1"/>
          </p:cNvSpPr>
          <p:nvPr>
            <p:ph idx="1"/>
          </p:nvPr>
        </p:nvSpPr>
        <p:spPr>
          <a:xfrm>
            <a:off x="258821" y="1143000"/>
            <a:ext cx="8744073" cy="5646719"/>
          </a:xfrm>
        </p:spPr>
        <p:txBody>
          <a:bodyPr>
            <a:noAutofit/>
          </a:bodyPr>
          <a:lstStyle/>
          <a:p>
            <a:pPr marL="0" indent="0" defTabSz="914400" fontAlgn="base">
              <a:spcAft>
                <a:spcPct val="0"/>
              </a:spcAft>
              <a:buNone/>
              <a:defRPr/>
            </a:pPr>
            <a:r>
              <a:rPr lang="en-US" sz="2800" b="1" dirty="0"/>
              <a:t>How to Give Feedback:</a:t>
            </a:r>
            <a:br>
              <a:rPr lang="en-US" sz="2800" b="1" dirty="0"/>
            </a:br>
            <a:r>
              <a:rPr lang="en-US" sz="2800" b="1" dirty="0"/>
              <a:t>Situation, Behavior, Impact (SBI)</a:t>
            </a:r>
          </a:p>
          <a:p>
            <a:pPr marL="457200" indent="-457200" defTabSz="914400" fontAlgn="base">
              <a:lnSpc>
                <a:spcPct val="170000"/>
              </a:lnSpc>
              <a:spcAft>
                <a:spcPct val="0"/>
              </a:spcAft>
              <a:buFont typeface="+mj-lt"/>
              <a:buAutoNum type="arabicPeriod"/>
              <a:defRPr/>
            </a:pPr>
            <a:r>
              <a:rPr lang="en-US" sz="2400" b="1" dirty="0"/>
              <a:t>Situation: </a:t>
            </a:r>
            <a:r>
              <a:rPr lang="en-US" sz="2400" dirty="0"/>
              <a:t>Describe the situation</a:t>
            </a:r>
          </a:p>
          <a:p>
            <a:pPr marL="457200" indent="-457200" defTabSz="914400" fontAlgn="base">
              <a:lnSpc>
                <a:spcPct val="170000"/>
              </a:lnSpc>
              <a:spcAft>
                <a:spcPct val="0"/>
              </a:spcAft>
              <a:buFont typeface="+mj-lt"/>
              <a:buAutoNum type="arabicPeriod"/>
              <a:defRPr/>
            </a:pPr>
            <a:r>
              <a:rPr lang="en-US" sz="2400" b="1" dirty="0"/>
              <a:t>Behavior: </a:t>
            </a:r>
            <a:r>
              <a:rPr lang="en-US" sz="2400" dirty="0"/>
              <a:t>Describe the behavior or action</a:t>
            </a:r>
          </a:p>
          <a:p>
            <a:pPr marL="457200" indent="-457200" defTabSz="914400" fontAlgn="base">
              <a:lnSpc>
                <a:spcPct val="170000"/>
              </a:lnSpc>
              <a:spcAft>
                <a:spcPct val="0"/>
              </a:spcAft>
              <a:buFont typeface="+mj-lt"/>
              <a:buAutoNum type="arabicPeriod"/>
              <a:defRPr/>
            </a:pPr>
            <a:r>
              <a:rPr lang="en-US" sz="2400" b="1" dirty="0"/>
              <a:t>Impact: </a:t>
            </a:r>
            <a:r>
              <a:rPr lang="en-US" sz="2400" dirty="0"/>
              <a:t>Describe how the behavior impacts the situation</a:t>
            </a:r>
          </a:p>
          <a:p>
            <a:pPr marL="457200" indent="-457200" defTabSz="914400" fontAlgn="base">
              <a:lnSpc>
                <a:spcPct val="170000"/>
              </a:lnSpc>
              <a:spcAft>
                <a:spcPct val="0"/>
              </a:spcAft>
              <a:buFont typeface="+mj-lt"/>
              <a:buAutoNum type="arabicPeriod"/>
              <a:defRPr/>
            </a:pPr>
            <a:r>
              <a:rPr lang="en-US" sz="2200" dirty="0"/>
              <a:t>Listen: Ask the employee for their perspective on this feedback</a:t>
            </a:r>
          </a:p>
          <a:p>
            <a:pPr marL="457200" indent="-457200" defTabSz="914400" fontAlgn="base">
              <a:lnSpc>
                <a:spcPct val="170000"/>
              </a:lnSpc>
              <a:spcAft>
                <a:spcPct val="0"/>
              </a:spcAft>
              <a:buFont typeface="+mj-lt"/>
              <a:buAutoNum type="arabicPeriod"/>
              <a:defRPr/>
            </a:pPr>
            <a:r>
              <a:rPr lang="en-US" sz="2200" dirty="0"/>
              <a:t>Plan: Ask the employee how s/h e plans to change their behavior</a:t>
            </a:r>
          </a:p>
          <a:p>
            <a:pPr marL="457200" indent="-457200" defTabSz="914400" fontAlgn="base">
              <a:lnSpc>
                <a:spcPct val="170000"/>
              </a:lnSpc>
              <a:spcAft>
                <a:spcPct val="0"/>
              </a:spcAft>
              <a:buFont typeface="+mj-lt"/>
              <a:buAutoNum type="arabicPeriod"/>
              <a:defRPr/>
            </a:pPr>
            <a:r>
              <a:rPr lang="en-US" sz="2200" dirty="0"/>
              <a:t>Follow-up: Check in to see how the changes are going</a:t>
            </a:r>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80</a:t>
            </a:fld>
            <a:endParaRPr lang="en-US" dirty="0">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199" y="435430"/>
            <a:ext cx="8411029" cy="5920920"/>
          </a:xfrm>
        </p:spPr>
        <p:txBody>
          <a:bodyPr>
            <a:normAutofit fontScale="77500" lnSpcReduction="20000"/>
          </a:bodyPr>
          <a:lstStyle/>
          <a:p>
            <a:pPr>
              <a:buNone/>
            </a:pPr>
            <a:r>
              <a:rPr lang="en-US" b="1" dirty="0">
                <a:solidFill>
                  <a:srgbClr val="FF0000"/>
                </a:solidFill>
              </a:rPr>
              <a:t>About the Tool</a:t>
            </a:r>
          </a:p>
          <a:p>
            <a:endParaRPr lang="en-US" dirty="0"/>
          </a:p>
          <a:p>
            <a:pPr algn="just"/>
            <a:r>
              <a:rPr lang="en-US" dirty="0"/>
              <a:t>Developed by The Center for Creative Leadership, the SBI Feedback Tool outlines a simple structure that you can use to  give feedback:</a:t>
            </a:r>
            <a:r>
              <a:rPr lang="en-US" dirty="0">
                <a:solidFill>
                  <a:schemeClr val="bg2"/>
                </a:solidFill>
              </a:rPr>
              <a:t> :</a:t>
            </a:r>
          </a:p>
          <a:p>
            <a:pPr lvl="1" algn="just"/>
            <a:r>
              <a:rPr lang="en-US" b="1" dirty="0"/>
              <a:t>Situation.</a:t>
            </a:r>
          </a:p>
          <a:p>
            <a:pPr lvl="1" algn="just"/>
            <a:r>
              <a:rPr lang="en-US" b="1" dirty="0"/>
              <a:t>Behavior.</a:t>
            </a:r>
          </a:p>
          <a:p>
            <a:pPr lvl="1" algn="just"/>
            <a:r>
              <a:rPr lang="en-US" b="1" dirty="0"/>
              <a:t>Impact.</a:t>
            </a:r>
          </a:p>
          <a:p>
            <a:pPr algn="just"/>
            <a:r>
              <a:rPr lang="en-US" dirty="0"/>
              <a:t>When you structure feedback in this way, your people will understand precisely what you are commenting on, and why. And when you outline the impact of their behavior on others, you're giving them the chance to reflect on their actions, and think about what they need to change.</a:t>
            </a:r>
          </a:p>
          <a:p>
            <a:pPr algn="just"/>
            <a:endParaRPr lang="en-US" dirty="0"/>
          </a:p>
          <a:p>
            <a:pPr algn="just"/>
            <a:r>
              <a:rPr lang="en-US" dirty="0"/>
              <a:t>The tool also helps you avoid making assumptions that could upset the other person and damage your relationship with them.</a:t>
            </a:r>
          </a:p>
          <a:p>
            <a:endParaRPr lang="en-US" dirty="0"/>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81</a:t>
            </a:fld>
            <a:endParaRPr lang="en-US" dirty="0">
              <a:solidFill>
                <a:prstClr val="black">
                  <a:tint val="75000"/>
                </a:prstClr>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3365" y="1258153"/>
            <a:ext cx="8631081" cy="5316068"/>
          </a:xfrm>
        </p:spPr>
        <p:txBody>
          <a:bodyPr>
            <a:noAutofit/>
          </a:bodyPr>
          <a:lstStyle/>
          <a:p>
            <a:pPr marL="0" indent="0" defTabSz="914400" fontAlgn="base">
              <a:spcAft>
                <a:spcPct val="0"/>
              </a:spcAft>
              <a:buNone/>
              <a:defRPr/>
            </a:pPr>
            <a:r>
              <a:rPr lang="en-US" sz="2800" b="1" dirty="0"/>
              <a:t>Organizational Communication</a:t>
            </a:r>
          </a:p>
          <a:p>
            <a:pPr marL="0" indent="0" defTabSz="914400" fontAlgn="base">
              <a:spcAft>
                <a:spcPct val="0"/>
              </a:spcAft>
              <a:buNone/>
              <a:defRPr/>
            </a:pPr>
            <a:r>
              <a:rPr lang="en-US" sz="2800" b="1" dirty="0"/>
              <a:t>Definition:</a:t>
            </a:r>
            <a:endParaRPr lang="en-US" sz="2400" b="1" dirty="0"/>
          </a:p>
          <a:p>
            <a:pPr marL="0" indent="0" defTabSz="914400" fontAlgn="base">
              <a:spcAft>
                <a:spcPct val="0"/>
              </a:spcAft>
              <a:buNone/>
              <a:defRPr/>
            </a:pPr>
            <a:r>
              <a:rPr lang="en-US" sz="2400" dirty="0"/>
              <a:t>Information you give to and receive from employees, patients, board and other stakeholders.</a:t>
            </a:r>
            <a:br>
              <a:rPr lang="en-US" sz="2400" dirty="0"/>
            </a:br>
            <a:endParaRPr lang="en-US" sz="2400" dirty="0"/>
          </a:p>
          <a:p>
            <a:pPr marL="0" indent="0" defTabSz="914400" fontAlgn="base">
              <a:spcAft>
                <a:spcPct val="0"/>
              </a:spcAft>
              <a:buNone/>
              <a:defRPr/>
            </a:pPr>
            <a:r>
              <a:rPr lang="en-US" sz="2800" b="1" dirty="0"/>
              <a:t>Why important? </a:t>
            </a:r>
          </a:p>
          <a:p>
            <a:pPr defTabSz="914400" fontAlgn="base">
              <a:lnSpc>
                <a:spcPct val="150000"/>
              </a:lnSpc>
              <a:spcBef>
                <a:spcPts val="0"/>
              </a:spcBef>
              <a:spcAft>
                <a:spcPct val="0"/>
              </a:spcAft>
              <a:defRPr/>
            </a:pPr>
            <a:r>
              <a:rPr lang="en-US" sz="2400" dirty="0"/>
              <a:t>Employees need information about the hospital operations and management in order to do their jobs well.</a:t>
            </a:r>
          </a:p>
          <a:p>
            <a:pPr defTabSz="914400" fontAlgn="base">
              <a:lnSpc>
                <a:spcPct val="150000"/>
              </a:lnSpc>
              <a:spcBef>
                <a:spcPts val="0"/>
              </a:spcBef>
              <a:spcAft>
                <a:spcPct val="0"/>
              </a:spcAft>
              <a:defRPr/>
            </a:pPr>
            <a:r>
              <a:rPr lang="en-US" sz="2400" dirty="0"/>
              <a:t>Senior management needs information from employees, patients, the board and other stakeholders to do its job well.</a:t>
            </a:r>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82</a:t>
            </a:fld>
            <a:endParaRPr lang="en-US" dirty="0">
              <a:solidFill>
                <a:prstClr val="black">
                  <a:tint val="75000"/>
                </a:prstClr>
              </a:solidFill>
            </a:endParaRPr>
          </a:p>
        </p:txBody>
      </p:sp>
      <p:sp>
        <p:nvSpPr>
          <p:cNvPr id="6" name="Title 1"/>
          <p:cNvSpPr txBox="1"/>
          <p:nvPr/>
        </p:nvSpPr>
        <p:spPr>
          <a:xfrm>
            <a:off x="0" y="0"/>
            <a:ext cx="9144000" cy="1143000"/>
          </a:xfrm>
          <a:prstGeom prst="rect">
            <a:avLst/>
          </a:prstGeom>
          <a:solidFill>
            <a:srgbClr val="10253F"/>
          </a:solid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solidFill>
                  <a:srgbClr val="FFFFFF"/>
                </a:solidFill>
              </a:rPr>
              <a:t>6. Performance Management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6. Performance Management</a:t>
            </a:r>
          </a:p>
        </p:txBody>
      </p:sp>
      <p:sp>
        <p:nvSpPr>
          <p:cNvPr id="3" name="Content Placeholder 2"/>
          <p:cNvSpPr>
            <a:spLocks noGrp="1"/>
          </p:cNvSpPr>
          <p:nvPr>
            <p:ph idx="1"/>
          </p:nvPr>
        </p:nvSpPr>
        <p:spPr>
          <a:xfrm>
            <a:off x="199098" y="1276390"/>
            <a:ext cx="8545611" cy="5211160"/>
          </a:xfrm>
        </p:spPr>
        <p:txBody>
          <a:bodyPr>
            <a:noAutofit/>
          </a:bodyPr>
          <a:lstStyle/>
          <a:p>
            <a:pPr marL="0" indent="0" defTabSz="914400" fontAlgn="base">
              <a:spcBef>
                <a:spcPts val="0"/>
              </a:spcBef>
              <a:spcAft>
                <a:spcPct val="0"/>
              </a:spcAft>
              <a:buNone/>
              <a:defRPr/>
            </a:pPr>
            <a:r>
              <a:rPr lang="en-US" sz="2800" b="1" dirty="0"/>
              <a:t>Employee Engagement</a:t>
            </a:r>
          </a:p>
          <a:p>
            <a:pPr marL="0" indent="0" defTabSz="914400" fontAlgn="base">
              <a:spcBef>
                <a:spcPts val="0"/>
              </a:spcBef>
              <a:spcAft>
                <a:spcPct val="0"/>
              </a:spcAft>
              <a:buNone/>
              <a:defRPr/>
            </a:pPr>
            <a:r>
              <a:rPr lang="en-US" sz="2800" b="1" dirty="0"/>
              <a:t>Organizational Communication</a:t>
            </a:r>
          </a:p>
          <a:p>
            <a:pPr marL="0" indent="0" defTabSz="914400" fontAlgn="base">
              <a:spcAft>
                <a:spcPct val="0"/>
              </a:spcAft>
              <a:buNone/>
              <a:defRPr/>
            </a:pPr>
            <a:r>
              <a:rPr lang="en-US" sz="2400" b="1" dirty="0"/>
              <a:t>What types of information should be communicated widely?</a:t>
            </a:r>
          </a:p>
          <a:p>
            <a:pPr defTabSz="914400" fontAlgn="base">
              <a:spcAft>
                <a:spcPct val="0"/>
              </a:spcAft>
              <a:defRPr/>
            </a:pPr>
            <a:r>
              <a:rPr lang="en-US" sz="2400" dirty="0"/>
              <a:t>Change in the senior management team, HODs or matrons</a:t>
            </a:r>
          </a:p>
          <a:p>
            <a:pPr defTabSz="914400" fontAlgn="base">
              <a:spcAft>
                <a:spcPct val="0"/>
              </a:spcAft>
              <a:defRPr/>
            </a:pPr>
            <a:r>
              <a:rPr lang="en-US" sz="2400" dirty="0"/>
              <a:t>Organizational chart changes</a:t>
            </a:r>
          </a:p>
          <a:p>
            <a:pPr defTabSz="914400" fontAlgn="base">
              <a:spcAft>
                <a:spcPct val="0"/>
              </a:spcAft>
              <a:defRPr/>
            </a:pPr>
            <a:r>
              <a:rPr lang="en-US" sz="2400" dirty="0"/>
              <a:t>Important policy changes</a:t>
            </a:r>
          </a:p>
          <a:p>
            <a:pPr defTabSz="914400" fontAlgn="base">
              <a:spcAft>
                <a:spcPct val="0"/>
              </a:spcAft>
              <a:defRPr/>
            </a:pPr>
            <a:r>
              <a:rPr lang="en-US" sz="2400" dirty="0"/>
              <a:t>Big successes or big challenges (e.g.  budget problems)</a:t>
            </a:r>
          </a:p>
          <a:p>
            <a:pPr defTabSz="914400" fontAlgn="base">
              <a:spcAft>
                <a:spcPct val="0"/>
              </a:spcAft>
              <a:defRPr/>
            </a:pPr>
            <a:r>
              <a:rPr lang="en-US" sz="2400" dirty="0"/>
              <a:t>New or closing programs/services</a:t>
            </a:r>
          </a:p>
          <a:p>
            <a:pPr defTabSz="914400" fontAlgn="base">
              <a:spcAft>
                <a:spcPct val="0"/>
              </a:spcAft>
              <a:defRPr/>
            </a:pPr>
            <a:r>
              <a:rPr lang="en-US" sz="2400" dirty="0"/>
              <a:t>Patient stats (number of patients served, number of births, etc.)</a:t>
            </a:r>
          </a:p>
          <a:p>
            <a:pPr defTabSz="914400" fontAlgn="base">
              <a:spcAft>
                <a:spcPct val="0"/>
              </a:spcAft>
              <a:defRPr/>
            </a:pPr>
            <a:r>
              <a:rPr lang="en-US" sz="2400" dirty="0"/>
              <a:t>Financial performance </a:t>
            </a:r>
          </a:p>
          <a:p>
            <a:pPr defTabSz="914400" fontAlgn="base">
              <a:spcAft>
                <a:spcPct val="0"/>
              </a:spcAft>
              <a:defRPr/>
            </a:pPr>
            <a:r>
              <a:rPr lang="en-US" sz="2400" dirty="0"/>
              <a:t>Satisfaction survey results (patient, employee, community)</a:t>
            </a:r>
          </a:p>
          <a:p>
            <a:pPr defTabSz="914400" fontAlgn="base">
              <a:spcAft>
                <a:spcPct val="0"/>
              </a:spcAft>
              <a:defRPr/>
            </a:pPr>
            <a:r>
              <a:rPr lang="en-US" sz="2400" dirty="0"/>
              <a:t>Awards and good stories!</a:t>
            </a:r>
            <a:endParaRPr lang="en-US" sz="1800" dirty="0"/>
          </a:p>
          <a:p>
            <a:pPr defTabSz="914400" fontAlgn="base">
              <a:spcAft>
                <a:spcPct val="0"/>
              </a:spcAft>
              <a:defRPr/>
            </a:pPr>
            <a:endParaRPr lang="en-US" dirty="0"/>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83</a:t>
            </a:fld>
            <a:endParaRPr lang="en-US" dirty="0">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6. Performance Management</a:t>
            </a:r>
          </a:p>
        </p:txBody>
      </p:sp>
      <p:sp>
        <p:nvSpPr>
          <p:cNvPr id="3" name="Content Placeholder 2"/>
          <p:cNvSpPr>
            <a:spLocks noGrp="1"/>
          </p:cNvSpPr>
          <p:nvPr>
            <p:ph idx="1"/>
          </p:nvPr>
        </p:nvSpPr>
        <p:spPr>
          <a:xfrm>
            <a:off x="331076" y="1239042"/>
            <a:ext cx="4878598" cy="5200864"/>
          </a:xfrm>
        </p:spPr>
        <p:txBody>
          <a:bodyPr>
            <a:noAutofit/>
          </a:bodyPr>
          <a:lstStyle/>
          <a:p>
            <a:pPr marL="0" indent="0" defTabSz="914400" fontAlgn="base">
              <a:spcAft>
                <a:spcPct val="0"/>
              </a:spcAft>
              <a:buNone/>
              <a:defRPr/>
            </a:pPr>
            <a:r>
              <a:rPr lang="en-US" sz="2800" b="1" dirty="0"/>
              <a:t>Organizational Communication</a:t>
            </a:r>
          </a:p>
          <a:p>
            <a:pPr defTabSz="914400" fontAlgn="base">
              <a:spcAft>
                <a:spcPct val="0"/>
              </a:spcAft>
              <a:defRPr/>
            </a:pPr>
            <a:endParaRPr lang="en-US" sz="500" b="1" dirty="0"/>
          </a:p>
          <a:p>
            <a:pPr defTabSz="914400" fontAlgn="base">
              <a:spcAft>
                <a:spcPct val="0"/>
              </a:spcAft>
              <a:defRPr/>
            </a:pPr>
            <a:endParaRPr lang="en-US" sz="500" b="1" dirty="0"/>
          </a:p>
          <a:p>
            <a:pPr marL="0" indent="0" defTabSz="914400" fontAlgn="base">
              <a:spcAft>
                <a:spcPct val="0"/>
              </a:spcAft>
              <a:buNone/>
              <a:defRPr/>
            </a:pPr>
            <a:endParaRPr lang="en-US" sz="2800" b="1" dirty="0"/>
          </a:p>
          <a:p>
            <a:pPr marL="0" indent="0" defTabSz="914400" fontAlgn="base">
              <a:spcAft>
                <a:spcPct val="0"/>
              </a:spcAft>
              <a:buNone/>
              <a:defRPr/>
            </a:pPr>
            <a:r>
              <a:rPr lang="en-US" sz="2800" b="1" dirty="0"/>
              <a:t>Formal</a:t>
            </a:r>
            <a:r>
              <a:rPr lang="en-US" sz="2800" dirty="0"/>
              <a:t>: </a:t>
            </a:r>
          </a:p>
          <a:p>
            <a:pPr defTabSz="914400" fontAlgn="base">
              <a:spcAft>
                <a:spcPct val="0"/>
              </a:spcAft>
              <a:defRPr/>
            </a:pPr>
            <a:r>
              <a:rPr lang="en-US" sz="2400" dirty="0"/>
              <a:t>Written reports, flyers, memos</a:t>
            </a:r>
          </a:p>
          <a:p>
            <a:pPr defTabSz="914400" fontAlgn="base">
              <a:spcAft>
                <a:spcPct val="0"/>
              </a:spcAft>
              <a:defRPr/>
            </a:pPr>
            <a:r>
              <a:rPr lang="en-US" sz="2400" dirty="0"/>
              <a:t>Presentations in staff meeting</a:t>
            </a:r>
          </a:p>
          <a:p>
            <a:pPr defTabSz="914400" fontAlgn="base">
              <a:spcAft>
                <a:spcPct val="0"/>
              </a:spcAft>
              <a:defRPr/>
            </a:pPr>
            <a:r>
              <a:rPr lang="en-US" sz="2400" dirty="0"/>
              <a:t>Organized meetings</a:t>
            </a:r>
          </a:p>
          <a:p>
            <a:pPr defTabSz="914400" fontAlgn="base">
              <a:spcAft>
                <a:spcPct val="0"/>
              </a:spcAft>
              <a:defRPr/>
            </a:pPr>
            <a:r>
              <a:rPr lang="en-US" sz="2400" dirty="0"/>
              <a:t>Workshops</a:t>
            </a:r>
            <a:br>
              <a:rPr lang="en-US" dirty="0"/>
            </a:br>
            <a:endParaRPr lang="en-US" dirty="0"/>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84</a:t>
            </a:fld>
            <a:endParaRPr lang="en-US" dirty="0">
              <a:solidFill>
                <a:prstClr val="black">
                  <a:tint val="75000"/>
                </a:prstClr>
              </a:solidFill>
            </a:endParaRPr>
          </a:p>
        </p:txBody>
      </p:sp>
      <p:sp>
        <p:nvSpPr>
          <p:cNvPr id="6" name="Explosion 1 5"/>
          <p:cNvSpPr/>
          <p:nvPr/>
        </p:nvSpPr>
        <p:spPr>
          <a:xfrm>
            <a:off x="2247180" y="4104346"/>
            <a:ext cx="4328809" cy="2590039"/>
          </a:xfrm>
          <a:prstGeom prst="irregularSeal1">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457200"/>
            <a:r>
              <a:rPr lang="en-US" b="1" dirty="0">
                <a:solidFill>
                  <a:prstClr val="black"/>
                </a:solidFill>
              </a:rPr>
              <a:t>Most organizational communication happens informally.</a:t>
            </a:r>
          </a:p>
        </p:txBody>
      </p:sp>
      <p:sp>
        <p:nvSpPr>
          <p:cNvPr id="7" name="Content Placeholder 2"/>
          <p:cNvSpPr txBox="1"/>
          <p:nvPr/>
        </p:nvSpPr>
        <p:spPr>
          <a:xfrm>
            <a:off x="5456593" y="1579730"/>
            <a:ext cx="5386158" cy="5200864"/>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defTabSz="914400" fontAlgn="base">
              <a:spcAft>
                <a:spcPct val="0"/>
              </a:spcAft>
              <a:buFont typeface="Arial" panose="020B0604020202020204"/>
              <a:buNone/>
              <a:defRPr/>
            </a:pPr>
            <a:br>
              <a:rPr lang="en-US" sz="2400" dirty="0">
                <a:solidFill>
                  <a:prstClr val="black"/>
                </a:solidFill>
              </a:rPr>
            </a:br>
            <a:endParaRPr lang="en-US" sz="2400" dirty="0">
              <a:solidFill>
                <a:prstClr val="black"/>
              </a:solidFill>
            </a:endParaRPr>
          </a:p>
          <a:p>
            <a:pPr marL="0" indent="0" defTabSz="914400" fontAlgn="base">
              <a:spcAft>
                <a:spcPct val="0"/>
              </a:spcAft>
              <a:buFont typeface="Arial" panose="020B0604020202020204"/>
              <a:buNone/>
              <a:defRPr/>
            </a:pPr>
            <a:r>
              <a:rPr lang="en-US" sz="2800" b="1" dirty="0">
                <a:solidFill>
                  <a:prstClr val="black"/>
                </a:solidFill>
              </a:rPr>
              <a:t>Informal:</a:t>
            </a:r>
          </a:p>
          <a:p>
            <a:pPr defTabSz="914400" fontAlgn="base">
              <a:spcAft>
                <a:spcPct val="0"/>
              </a:spcAft>
              <a:defRPr/>
            </a:pPr>
            <a:r>
              <a:rPr lang="en-US" sz="2400" dirty="0">
                <a:solidFill>
                  <a:prstClr val="black"/>
                </a:solidFill>
              </a:rPr>
              <a:t>Conversations</a:t>
            </a:r>
          </a:p>
          <a:p>
            <a:pPr defTabSz="914400" fontAlgn="base">
              <a:spcAft>
                <a:spcPct val="0"/>
              </a:spcAft>
              <a:defRPr/>
            </a:pPr>
            <a:r>
              <a:rPr lang="en-US" sz="2400" dirty="0">
                <a:solidFill>
                  <a:prstClr val="black"/>
                </a:solidFill>
              </a:rPr>
              <a:t>Rounding</a:t>
            </a:r>
          </a:p>
          <a:p>
            <a:pPr defTabSz="914400" fontAlgn="base">
              <a:spcAft>
                <a:spcPct val="0"/>
              </a:spcAft>
              <a:defRPr/>
            </a:pPr>
            <a:r>
              <a:rPr lang="en-US" sz="2400" dirty="0">
                <a:solidFill>
                  <a:prstClr val="black"/>
                </a:solidFill>
              </a:rPr>
              <a:t>Action/behavior-based</a:t>
            </a:r>
          </a:p>
          <a:p>
            <a:pPr marL="57150" indent="0" defTabSz="914400" fontAlgn="base">
              <a:spcAft>
                <a:spcPct val="0"/>
              </a:spcAft>
              <a:buFont typeface="Arial" panose="020B0604020202020204"/>
              <a:buNone/>
              <a:defRPr/>
            </a:pPr>
            <a:r>
              <a:rPr lang="en-US" sz="2400" dirty="0">
                <a:solidFill>
                  <a:prstClr val="black"/>
                </a:solidFill>
              </a:rPr>
              <a:t>    (how </a:t>
            </a:r>
            <a:r>
              <a:rPr lang="en-US" sz="2400" u="sng" dirty="0">
                <a:solidFill>
                  <a:prstClr val="black"/>
                </a:solidFill>
              </a:rPr>
              <a:t>you</a:t>
            </a:r>
            <a:r>
              <a:rPr lang="en-US" sz="2400" dirty="0">
                <a:solidFill>
                  <a:prstClr val="black"/>
                </a:solidFill>
              </a:rPr>
              <a:t> act)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6. Performance Management</a:t>
            </a:r>
          </a:p>
        </p:txBody>
      </p:sp>
      <p:sp>
        <p:nvSpPr>
          <p:cNvPr id="3" name="Content Placeholder 2"/>
          <p:cNvSpPr>
            <a:spLocks noGrp="1"/>
          </p:cNvSpPr>
          <p:nvPr>
            <p:ph idx="1"/>
          </p:nvPr>
        </p:nvSpPr>
        <p:spPr>
          <a:xfrm>
            <a:off x="510022" y="2707856"/>
            <a:ext cx="7791514" cy="4013619"/>
          </a:xfrm>
        </p:spPr>
        <p:txBody>
          <a:bodyPr>
            <a:noAutofit/>
          </a:bodyPr>
          <a:lstStyle/>
          <a:p>
            <a:pPr defTabSz="914400" fontAlgn="base">
              <a:spcAft>
                <a:spcPct val="0"/>
              </a:spcAft>
              <a:defRPr/>
            </a:pPr>
            <a:r>
              <a:rPr lang="en-US" sz="2400" b="1" dirty="0"/>
              <a:t>What</a:t>
            </a:r>
            <a:r>
              <a:rPr lang="en-US" sz="2400" dirty="0"/>
              <a:t>: What is the </a:t>
            </a:r>
            <a:r>
              <a:rPr lang="en-US" sz="2400" b="1" dirty="0"/>
              <a:t>key message</a:t>
            </a:r>
            <a:r>
              <a:rPr lang="en-US" sz="2400" dirty="0"/>
              <a:t> to be communicated?</a:t>
            </a:r>
            <a:br>
              <a:rPr lang="en-US" sz="2400" dirty="0"/>
            </a:br>
            <a:r>
              <a:rPr lang="en-US" sz="2400" dirty="0"/>
              <a:t> </a:t>
            </a:r>
          </a:p>
          <a:p>
            <a:pPr defTabSz="914400" fontAlgn="base">
              <a:spcAft>
                <a:spcPct val="0"/>
              </a:spcAft>
              <a:defRPr/>
            </a:pPr>
            <a:r>
              <a:rPr lang="en-US" sz="2400" b="1" dirty="0"/>
              <a:t>Why</a:t>
            </a:r>
            <a:r>
              <a:rPr lang="en-US" sz="2400" dirty="0"/>
              <a:t>: Why is it </a:t>
            </a:r>
            <a:r>
              <a:rPr lang="en-US" sz="2400" b="1" dirty="0"/>
              <a:t>important</a:t>
            </a:r>
            <a:r>
              <a:rPr lang="en-US" sz="2400" dirty="0"/>
              <a:t>? Why is the </a:t>
            </a:r>
            <a:r>
              <a:rPr lang="en-US" sz="2400" b="1" dirty="0"/>
              <a:t>change</a:t>
            </a:r>
            <a:r>
              <a:rPr lang="en-US" sz="2400" dirty="0"/>
              <a:t> happening?</a:t>
            </a:r>
            <a:br>
              <a:rPr lang="en-US" sz="2400" dirty="0"/>
            </a:br>
            <a:endParaRPr lang="en-US" sz="2400" dirty="0"/>
          </a:p>
          <a:p>
            <a:pPr defTabSz="914400" fontAlgn="base">
              <a:spcAft>
                <a:spcPct val="0"/>
              </a:spcAft>
              <a:defRPr/>
            </a:pPr>
            <a:r>
              <a:rPr lang="en-US" sz="2400" b="1" dirty="0"/>
              <a:t>When</a:t>
            </a:r>
            <a:r>
              <a:rPr lang="en-US" sz="2400" dirty="0"/>
              <a:t>: When did or will it </a:t>
            </a:r>
            <a:r>
              <a:rPr lang="en-US" sz="2400" b="1" dirty="0"/>
              <a:t>occur</a:t>
            </a:r>
            <a:r>
              <a:rPr lang="en-US" sz="2400" dirty="0"/>
              <a:t>? </a:t>
            </a:r>
            <a:br>
              <a:rPr lang="en-US" sz="2400" dirty="0"/>
            </a:br>
            <a:endParaRPr lang="en-US" sz="2400" dirty="0"/>
          </a:p>
          <a:p>
            <a:pPr defTabSz="914400" fontAlgn="base">
              <a:spcAft>
                <a:spcPct val="0"/>
              </a:spcAft>
              <a:defRPr/>
            </a:pPr>
            <a:r>
              <a:rPr lang="en-US" sz="2400" b="1" dirty="0"/>
              <a:t>Who</a:t>
            </a:r>
            <a:r>
              <a:rPr lang="en-US" sz="2400" dirty="0"/>
              <a:t>: Who is </a:t>
            </a:r>
            <a:r>
              <a:rPr lang="en-US" sz="2400" b="1" dirty="0"/>
              <a:t>affected</a:t>
            </a:r>
            <a:r>
              <a:rPr lang="en-US" sz="2400" dirty="0"/>
              <a:t>? Who is </a:t>
            </a:r>
            <a:r>
              <a:rPr lang="en-US" sz="2400" b="1" dirty="0"/>
              <a:t>involved</a:t>
            </a:r>
            <a:r>
              <a:rPr lang="en-US" sz="2400" dirty="0"/>
              <a:t>?</a:t>
            </a:r>
            <a:br>
              <a:rPr lang="en-US" sz="2400" dirty="0"/>
            </a:br>
            <a:endParaRPr lang="en-US" sz="2400" dirty="0"/>
          </a:p>
          <a:p>
            <a:pPr defTabSz="914400" fontAlgn="base">
              <a:spcAft>
                <a:spcPct val="0"/>
              </a:spcAft>
              <a:defRPr/>
            </a:pPr>
            <a:r>
              <a:rPr lang="en-US" sz="2400" b="1" dirty="0"/>
              <a:t>How</a:t>
            </a:r>
            <a:r>
              <a:rPr lang="en-US" sz="2400" dirty="0"/>
              <a:t>: Memo? Email? Flyer? Meeting?</a:t>
            </a:r>
            <a:endParaRPr lang="en-US" sz="2800" dirty="0"/>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85</a:t>
            </a:fld>
            <a:endParaRPr lang="en-US" dirty="0">
              <a:solidFill>
                <a:prstClr val="black">
                  <a:tint val="75000"/>
                </a:prstClr>
              </a:solidFill>
            </a:endParaRPr>
          </a:p>
        </p:txBody>
      </p:sp>
      <p:sp>
        <p:nvSpPr>
          <p:cNvPr id="5" name="TextBox 4"/>
          <p:cNvSpPr txBox="1"/>
          <p:nvPr/>
        </p:nvSpPr>
        <p:spPr>
          <a:xfrm>
            <a:off x="283779" y="1250949"/>
            <a:ext cx="7560387" cy="954107"/>
          </a:xfrm>
          <a:prstGeom prst="rect">
            <a:avLst/>
          </a:prstGeom>
          <a:noFill/>
        </p:spPr>
        <p:txBody>
          <a:bodyPr wrap="square" rtlCol="0">
            <a:spAutoFit/>
          </a:bodyPr>
          <a:lstStyle/>
          <a:p>
            <a:pPr defTabSz="457200"/>
            <a:r>
              <a:rPr lang="en-US" sz="2800" b="1" dirty="0">
                <a:solidFill>
                  <a:prstClr val="black"/>
                </a:solidFill>
              </a:rPr>
              <a:t>Organizational Communication</a:t>
            </a:r>
          </a:p>
          <a:p>
            <a:pPr defTabSz="457200"/>
            <a:r>
              <a:rPr lang="en-US" sz="2800" b="1" dirty="0">
                <a:solidFill>
                  <a:prstClr val="black"/>
                </a:solidFill>
              </a:rPr>
              <a:t>Every communication should include: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6. Performance Management</a:t>
            </a:r>
          </a:p>
        </p:txBody>
      </p:sp>
      <p:sp>
        <p:nvSpPr>
          <p:cNvPr id="3" name="Content Placeholder 2"/>
          <p:cNvSpPr>
            <a:spLocks noGrp="1"/>
          </p:cNvSpPr>
          <p:nvPr>
            <p:ph idx="1"/>
          </p:nvPr>
        </p:nvSpPr>
        <p:spPr>
          <a:xfrm>
            <a:off x="437973" y="2089500"/>
            <a:ext cx="8059641" cy="4090584"/>
          </a:xfrm>
        </p:spPr>
        <p:txBody>
          <a:bodyPr>
            <a:noAutofit/>
          </a:bodyPr>
          <a:lstStyle/>
          <a:p>
            <a:pPr defTabSz="914400" fontAlgn="base">
              <a:lnSpc>
                <a:spcPct val="150000"/>
              </a:lnSpc>
              <a:spcBef>
                <a:spcPts val="0"/>
              </a:spcBef>
              <a:spcAft>
                <a:spcPct val="0"/>
              </a:spcAft>
              <a:defRPr/>
            </a:pPr>
            <a:r>
              <a:rPr lang="en-US" sz="2400" dirty="0"/>
              <a:t>Honest</a:t>
            </a:r>
          </a:p>
          <a:p>
            <a:pPr defTabSz="914400" fontAlgn="base">
              <a:lnSpc>
                <a:spcPct val="150000"/>
              </a:lnSpc>
              <a:spcBef>
                <a:spcPts val="0"/>
              </a:spcBef>
              <a:spcAft>
                <a:spcPct val="0"/>
              </a:spcAft>
              <a:defRPr/>
            </a:pPr>
            <a:r>
              <a:rPr lang="en-US" sz="2400" dirty="0"/>
              <a:t>Timely</a:t>
            </a:r>
          </a:p>
          <a:p>
            <a:pPr defTabSz="914400" fontAlgn="base">
              <a:lnSpc>
                <a:spcPct val="150000"/>
              </a:lnSpc>
              <a:spcBef>
                <a:spcPts val="0"/>
              </a:spcBef>
              <a:spcAft>
                <a:spcPct val="0"/>
              </a:spcAft>
              <a:defRPr/>
            </a:pPr>
            <a:r>
              <a:rPr lang="en-US" sz="2400" dirty="0"/>
              <a:t>Frequent</a:t>
            </a:r>
          </a:p>
          <a:p>
            <a:pPr defTabSz="914400" fontAlgn="base">
              <a:lnSpc>
                <a:spcPct val="150000"/>
              </a:lnSpc>
              <a:spcBef>
                <a:spcPts val="0"/>
              </a:spcBef>
              <a:spcAft>
                <a:spcPct val="0"/>
              </a:spcAft>
              <a:defRPr/>
            </a:pPr>
            <a:r>
              <a:rPr lang="en-US" sz="2400" dirty="0"/>
              <a:t>Repeated</a:t>
            </a:r>
          </a:p>
          <a:p>
            <a:pPr defTabSz="914400" fontAlgn="base">
              <a:lnSpc>
                <a:spcPct val="150000"/>
              </a:lnSpc>
              <a:spcBef>
                <a:spcPts val="0"/>
              </a:spcBef>
              <a:spcAft>
                <a:spcPct val="0"/>
              </a:spcAft>
              <a:defRPr/>
            </a:pPr>
            <a:r>
              <a:rPr lang="en-US" sz="2400" dirty="0"/>
              <a:t>Understandable</a:t>
            </a:r>
          </a:p>
          <a:p>
            <a:pPr defTabSz="914400" fontAlgn="base">
              <a:lnSpc>
                <a:spcPct val="150000"/>
              </a:lnSpc>
              <a:spcBef>
                <a:spcPts val="0"/>
              </a:spcBef>
              <a:spcAft>
                <a:spcPct val="0"/>
              </a:spcAft>
              <a:defRPr/>
            </a:pPr>
            <a:r>
              <a:rPr lang="en-US" sz="2400" dirty="0"/>
              <a:t>Two-way (Ex: to employees; from employees)</a:t>
            </a:r>
          </a:p>
          <a:p>
            <a:pPr defTabSz="914400" fontAlgn="base">
              <a:lnSpc>
                <a:spcPct val="150000"/>
              </a:lnSpc>
              <a:spcBef>
                <a:spcPts val="0"/>
              </a:spcBef>
              <a:spcAft>
                <a:spcPct val="0"/>
              </a:spcAft>
              <a:defRPr/>
            </a:pPr>
            <a:r>
              <a:rPr lang="en-US" sz="2400" dirty="0"/>
              <a:t>More listening than talking</a:t>
            </a:r>
            <a:endParaRPr lang="en-US" dirty="0"/>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86</a:t>
            </a:fld>
            <a:endParaRPr lang="en-US" dirty="0">
              <a:solidFill>
                <a:prstClr val="black">
                  <a:tint val="75000"/>
                </a:prstClr>
              </a:solidFill>
            </a:endParaRPr>
          </a:p>
        </p:txBody>
      </p:sp>
      <p:sp>
        <p:nvSpPr>
          <p:cNvPr id="5" name="Content Placeholder 2"/>
          <p:cNvSpPr txBox="1"/>
          <p:nvPr/>
        </p:nvSpPr>
        <p:spPr>
          <a:xfrm>
            <a:off x="313522" y="1166449"/>
            <a:ext cx="8744073" cy="71925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defTabSz="914400" fontAlgn="base">
              <a:spcAft>
                <a:spcPct val="0"/>
              </a:spcAft>
              <a:buFont typeface="Arial" panose="020B0604020202020204"/>
              <a:buNone/>
              <a:defRPr/>
            </a:pPr>
            <a:r>
              <a:rPr lang="en-US" sz="2800" b="1" dirty="0">
                <a:solidFill>
                  <a:prstClr val="black"/>
                </a:solidFill>
              </a:rPr>
              <a:t>Good organizational communication is:</a:t>
            </a:r>
            <a:endParaRPr lang="en-US" sz="2800"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6. Performance Management</a:t>
            </a:r>
          </a:p>
        </p:txBody>
      </p:sp>
      <p:sp>
        <p:nvSpPr>
          <p:cNvPr id="3" name="Content Placeholder 2"/>
          <p:cNvSpPr>
            <a:spLocks noGrp="1"/>
          </p:cNvSpPr>
          <p:nvPr>
            <p:ph idx="1"/>
          </p:nvPr>
        </p:nvSpPr>
        <p:spPr>
          <a:xfrm>
            <a:off x="258821" y="1296474"/>
            <a:ext cx="8744073" cy="5224197"/>
          </a:xfrm>
        </p:spPr>
        <p:txBody>
          <a:bodyPr>
            <a:noAutofit/>
          </a:bodyPr>
          <a:lstStyle/>
          <a:p>
            <a:pPr marL="0" indent="0" defTabSz="914400" fontAlgn="base">
              <a:spcAft>
                <a:spcPct val="0"/>
              </a:spcAft>
              <a:buNone/>
              <a:defRPr/>
            </a:pPr>
            <a:r>
              <a:rPr lang="en-US" sz="2800" b="1" dirty="0"/>
              <a:t>Organizational Communication</a:t>
            </a:r>
            <a:br>
              <a:rPr lang="en-US" sz="2800" b="1" dirty="0"/>
            </a:br>
            <a:r>
              <a:rPr lang="en-US" sz="2800" b="1" dirty="0"/>
              <a:t>Common Mistakes</a:t>
            </a:r>
          </a:p>
          <a:p>
            <a:pPr marL="0" indent="0" algn="ctr" defTabSz="914400" fontAlgn="base">
              <a:spcAft>
                <a:spcPct val="0"/>
              </a:spcAft>
              <a:buNone/>
              <a:defRPr/>
            </a:pPr>
            <a:endParaRPr lang="en-US" sz="1600" b="1" dirty="0"/>
          </a:p>
          <a:p>
            <a:pPr defTabSz="914400" fontAlgn="base">
              <a:lnSpc>
                <a:spcPct val="150000"/>
              </a:lnSpc>
              <a:spcAft>
                <a:spcPct val="0"/>
              </a:spcAft>
              <a:defRPr/>
            </a:pPr>
            <a:r>
              <a:rPr lang="en-US" sz="2400" dirty="0"/>
              <a:t>You don’t communicate enough</a:t>
            </a:r>
          </a:p>
          <a:p>
            <a:pPr defTabSz="914400" fontAlgn="base">
              <a:lnSpc>
                <a:spcPct val="150000"/>
              </a:lnSpc>
              <a:spcAft>
                <a:spcPct val="0"/>
              </a:spcAft>
              <a:defRPr/>
            </a:pPr>
            <a:r>
              <a:rPr lang="en-US" sz="2400" dirty="0"/>
              <a:t>You don’t think your stakeholders need or want to know</a:t>
            </a:r>
          </a:p>
          <a:p>
            <a:pPr defTabSz="914400" fontAlgn="base">
              <a:lnSpc>
                <a:spcPct val="150000"/>
              </a:lnSpc>
              <a:spcAft>
                <a:spcPct val="0"/>
              </a:spcAft>
              <a:defRPr/>
            </a:pPr>
            <a:r>
              <a:rPr lang="en-US" sz="2400" dirty="0"/>
              <a:t>You communicate once and assume everyone understands</a:t>
            </a:r>
          </a:p>
          <a:p>
            <a:pPr defTabSz="914400" fontAlgn="base">
              <a:lnSpc>
                <a:spcPct val="150000"/>
              </a:lnSpc>
              <a:spcAft>
                <a:spcPct val="0"/>
              </a:spcAft>
              <a:defRPr/>
            </a:pPr>
            <a:r>
              <a:rPr lang="en-US" sz="2400" dirty="0"/>
              <a:t>You wait until there is a problem before you communicate</a:t>
            </a:r>
          </a:p>
          <a:p>
            <a:pPr defTabSz="914400" fontAlgn="base">
              <a:lnSpc>
                <a:spcPct val="150000"/>
              </a:lnSpc>
              <a:spcAft>
                <a:spcPct val="0"/>
              </a:spcAft>
              <a:defRPr/>
            </a:pPr>
            <a:r>
              <a:rPr lang="en-US" sz="2400" dirty="0"/>
              <a:t>You talk more than you listen</a:t>
            </a:r>
          </a:p>
          <a:p>
            <a:pPr marL="0" indent="0" defTabSz="914400" fontAlgn="base">
              <a:spcAft>
                <a:spcPct val="0"/>
              </a:spcAft>
              <a:buNone/>
              <a:defRPr/>
            </a:pPr>
            <a:endParaRPr lang="en-US" dirty="0"/>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87</a:t>
            </a:fld>
            <a:endParaRPr lang="en-US" dirty="0">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6. Performance Management</a:t>
            </a:r>
          </a:p>
        </p:txBody>
      </p:sp>
      <p:sp>
        <p:nvSpPr>
          <p:cNvPr id="4" name="TextBox 3"/>
          <p:cNvSpPr txBox="1"/>
          <p:nvPr/>
        </p:nvSpPr>
        <p:spPr>
          <a:xfrm>
            <a:off x="264175" y="1253994"/>
            <a:ext cx="8570303" cy="5626156"/>
          </a:xfrm>
          <a:prstGeom prst="rect">
            <a:avLst/>
          </a:prstGeom>
          <a:noFill/>
        </p:spPr>
        <p:txBody>
          <a:bodyPr wrap="square" rtlCol="0">
            <a:spAutoFit/>
          </a:bodyPr>
          <a:lstStyle/>
          <a:p>
            <a:pPr fontAlgn="base">
              <a:spcAft>
                <a:spcPct val="0"/>
              </a:spcAft>
              <a:defRPr/>
            </a:pPr>
            <a:r>
              <a:rPr lang="en-US" sz="2800" b="1" dirty="0">
                <a:solidFill>
                  <a:prstClr val="black"/>
                </a:solidFill>
              </a:rPr>
              <a:t>Performance Evaluation</a:t>
            </a:r>
          </a:p>
          <a:p>
            <a:pPr fontAlgn="base">
              <a:spcAft>
                <a:spcPct val="0"/>
              </a:spcAft>
              <a:defRPr/>
            </a:pPr>
            <a:r>
              <a:rPr lang="en-US" sz="2800" b="1" dirty="0">
                <a:solidFill>
                  <a:prstClr val="black"/>
                </a:solidFill>
              </a:rPr>
              <a:t>Definition:</a:t>
            </a:r>
          </a:p>
          <a:p>
            <a:pPr fontAlgn="base">
              <a:lnSpc>
                <a:spcPct val="150000"/>
              </a:lnSpc>
              <a:spcAft>
                <a:spcPct val="0"/>
              </a:spcAft>
              <a:defRPr/>
            </a:pPr>
            <a:r>
              <a:rPr lang="en-US" sz="2400" dirty="0">
                <a:solidFill>
                  <a:prstClr val="black"/>
                </a:solidFill>
              </a:rPr>
              <a:t>Formal documentation of employee’s past performance</a:t>
            </a:r>
          </a:p>
          <a:p>
            <a:pPr marL="800100" lvl="1" indent="-342900" fontAlgn="base">
              <a:lnSpc>
                <a:spcPct val="150000"/>
              </a:lnSpc>
              <a:spcAft>
                <a:spcPct val="0"/>
              </a:spcAft>
              <a:buFont typeface="Arial" panose="020B0604020202020204" pitchFamily="34" charset="0"/>
              <a:buChar char="•"/>
              <a:defRPr/>
            </a:pPr>
            <a:r>
              <a:rPr lang="en-US" sz="2400" dirty="0">
                <a:solidFill>
                  <a:prstClr val="black"/>
                </a:solidFill>
              </a:rPr>
              <a:t>Often includes future goals</a:t>
            </a:r>
          </a:p>
          <a:p>
            <a:pPr marL="742950" lvl="1" indent="-285750" fontAlgn="base">
              <a:lnSpc>
                <a:spcPct val="150000"/>
              </a:lnSpc>
              <a:spcAft>
                <a:spcPct val="0"/>
              </a:spcAft>
              <a:buFont typeface="Arial" panose="020B0604020202020204"/>
              <a:buChar char="•"/>
              <a:defRPr/>
            </a:pPr>
            <a:r>
              <a:rPr lang="en-US" sz="2400" dirty="0">
                <a:solidFill>
                  <a:prstClr val="black"/>
                </a:solidFill>
              </a:rPr>
              <a:t> Usually done at least once (or twice) each year</a:t>
            </a:r>
          </a:p>
          <a:p>
            <a:pPr marL="742950" lvl="1" indent="-285750" fontAlgn="base">
              <a:lnSpc>
                <a:spcPct val="150000"/>
              </a:lnSpc>
              <a:spcAft>
                <a:spcPct val="0"/>
              </a:spcAft>
              <a:buFont typeface="Arial" panose="020B0604020202020204"/>
              <a:buChar char="•"/>
              <a:defRPr/>
            </a:pPr>
            <a:r>
              <a:rPr lang="en-US" sz="2400" dirty="0">
                <a:solidFill>
                  <a:prstClr val="black"/>
                </a:solidFill>
              </a:rPr>
              <a:t> Sometimes tied to compensation (salary or bonus)</a:t>
            </a:r>
          </a:p>
          <a:p>
            <a:pPr fontAlgn="base">
              <a:lnSpc>
                <a:spcPct val="150000"/>
              </a:lnSpc>
              <a:spcAft>
                <a:spcPct val="0"/>
              </a:spcAft>
              <a:defRPr/>
            </a:pPr>
            <a:r>
              <a:rPr lang="en-US" sz="2800" b="1" dirty="0">
                <a:solidFill>
                  <a:prstClr val="black"/>
                </a:solidFill>
              </a:rPr>
              <a:t>Why important?</a:t>
            </a:r>
            <a:endParaRPr lang="en-US" sz="2400" dirty="0">
              <a:solidFill>
                <a:prstClr val="black"/>
              </a:solidFill>
            </a:endParaRPr>
          </a:p>
          <a:p>
            <a:pPr marL="342900" indent="-342900" fontAlgn="base">
              <a:lnSpc>
                <a:spcPct val="150000"/>
              </a:lnSpc>
              <a:spcBef>
                <a:spcPct val="20000"/>
              </a:spcBef>
              <a:spcAft>
                <a:spcPct val="0"/>
              </a:spcAft>
              <a:buFont typeface="Arial" panose="020B0604020202020204"/>
              <a:buChar char="•"/>
              <a:defRPr/>
            </a:pPr>
            <a:r>
              <a:rPr lang="en-US" sz="2400" dirty="0">
                <a:solidFill>
                  <a:prstClr val="black"/>
                </a:solidFill>
              </a:rPr>
              <a:t>Tells the employee how they are performing</a:t>
            </a:r>
          </a:p>
          <a:p>
            <a:pPr marL="342900" indent="-342900" fontAlgn="base">
              <a:lnSpc>
                <a:spcPct val="150000"/>
              </a:lnSpc>
              <a:spcBef>
                <a:spcPct val="20000"/>
              </a:spcBef>
              <a:spcAft>
                <a:spcPct val="0"/>
              </a:spcAft>
              <a:buFont typeface="Arial" panose="020B0604020202020204"/>
              <a:buChar char="•"/>
              <a:defRPr/>
            </a:pPr>
            <a:r>
              <a:rPr lang="en-US" sz="2400" dirty="0">
                <a:solidFill>
                  <a:prstClr val="black"/>
                </a:solidFill>
              </a:rPr>
              <a:t>It is a way for the organization to ensure that the employee’s work aligns with the organization’s goals</a:t>
            </a:r>
          </a:p>
        </p:txBody>
      </p:sp>
      <p:sp>
        <p:nvSpPr>
          <p:cNvPr id="3" name="Slide Number Placeholder 2"/>
          <p:cNvSpPr>
            <a:spLocks noGrp="1"/>
          </p:cNvSpPr>
          <p:nvPr>
            <p:ph type="sldNum" sz="quarter" idx="12"/>
          </p:nvPr>
        </p:nvSpPr>
        <p:spPr/>
        <p:txBody>
          <a:bodyPr/>
          <a:lstStyle/>
          <a:p>
            <a:fld id="{36A94550-0172-2A4E-BEEB-6BE00EB0E97C}" type="slidenum">
              <a:rPr lang="en-US" smtClean="0">
                <a:solidFill>
                  <a:prstClr val="black">
                    <a:tint val="75000"/>
                  </a:prstClr>
                </a:solidFill>
              </a:rPr>
              <a:t>88</a:t>
            </a:fld>
            <a:endParaRPr lang="en-US" dirty="0">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p:cNvSpPr>
            <a:spLocks noGrp="1"/>
          </p:cNvSpPr>
          <p:nvPr>
            <p:ph type="sldNum" sz="quarter" idx="12"/>
          </p:nvPr>
        </p:nvSpPr>
        <p:spPr>
          <a:xfrm>
            <a:off x="6553200" y="6356350"/>
            <a:ext cx="2133600" cy="365125"/>
          </a:xfrm>
        </p:spPr>
        <p:txBody>
          <a:bodyPr/>
          <a:lstStyle/>
          <a:p>
            <a:fld id="{D5717B5A-A258-4294-92A1-71A2EAF41275}" type="slidenum">
              <a:rPr lang="en-US">
                <a:solidFill>
                  <a:prstClr val="black">
                    <a:tint val="75000"/>
                  </a:prstClr>
                </a:solidFill>
              </a:rPr>
              <a:t>89</a:t>
            </a:fld>
            <a:endParaRPr lang="en-US" dirty="0">
              <a:solidFill>
                <a:prstClr val="black">
                  <a:tint val="75000"/>
                </a:prstClr>
              </a:solidFill>
            </a:endParaRPr>
          </a:p>
        </p:txBody>
      </p:sp>
      <p:sp>
        <p:nvSpPr>
          <p:cNvPr id="3" name="Rectangle 2"/>
          <p:cNvSpPr txBox="1">
            <a:spLocks noChangeArrowheads="1"/>
          </p:cNvSpPr>
          <p:nvPr/>
        </p:nvSpPr>
        <p:spPr>
          <a:xfrm>
            <a:off x="31518" y="850900"/>
            <a:ext cx="9128234" cy="876300"/>
          </a:xfrm>
          <a:prstGeom prst="rect">
            <a:avLst/>
          </a:prstGeom>
        </p:spPr>
        <p:txBody>
          <a:bodyPr/>
          <a:lstStyle/>
          <a:p>
            <a:pPr fontAlgn="base">
              <a:spcBef>
                <a:spcPct val="0"/>
              </a:spcBef>
              <a:spcAft>
                <a:spcPct val="0"/>
              </a:spcAft>
              <a:defRPr/>
            </a:pPr>
            <a:r>
              <a:rPr lang="en-US" sz="2800" b="1" dirty="0">
                <a:solidFill>
                  <a:srgbClr val="000000"/>
                </a:solidFill>
              </a:rPr>
              <a:t>Performance Evaluation</a:t>
            </a:r>
          </a:p>
          <a:p>
            <a:pPr fontAlgn="base">
              <a:spcBef>
                <a:spcPct val="0"/>
              </a:spcBef>
              <a:spcAft>
                <a:spcPct val="0"/>
              </a:spcAft>
              <a:defRPr/>
            </a:pPr>
            <a:r>
              <a:rPr lang="en-US" sz="2800" b="1" dirty="0">
                <a:solidFill>
                  <a:srgbClr val="000000"/>
                </a:solidFill>
              </a:rPr>
              <a:t>Goals</a:t>
            </a:r>
          </a:p>
        </p:txBody>
      </p:sp>
      <p:sp>
        <p:nvSpPr>
          <p:cNvPr id="4" name="Rectangle 3"/>
          <p:cNvSpPr txBox="1">
            <a:spLocks noChangeArrowheads="1"/>
          </p:cNvSpPr>
          <p:nvPr/>
        </p:nvSpPr>
        <p:spPr>
          <a:xfrm>
            <a:off x="90472" y="1880922"/>
            <a:ext cx="8915400" cy="4876800"/>
          </a:xfrm>
          <a:prstGeom prst="rect">
            <a:avLst/>
          </a:prstGeom>
        </p:spPr>
        <p:txBody>
          <a:bodyPr/>
          <a:lstStyle/>
          <a:p>
            <a:pPr marL="342900" indent="-342900" fontAlgn="base">
              <a:lnSpc>
                <a:spcPct val="150000"/>
              </a:lnSpc>
              <a:spcAft>
                <a:spcPct val="0"/>
              </a:spcAft>
              <a:buFont typeface="Arial" panose="020B0604020202020204"/>
              <a:buChar char="•"/>
              <a:defRPr/>
            </a:pPr>
            <a:r>
              <a:rPr lang="en-US" sz="2400" dirty="0">
                <a:solidFill>
                  <a:prstClr val="black"/>
                </a:solidFill>
              </a:rPr>
              <a:t>G</a:t>
            </a:r>
            <a:r>
              <a:rPr lang="en-US" sz="2400" dirty="0" err="1">
                <a:solidFill>
                  <a:prstClr val="black"/>
                </a:solidFill>
              </a:rPr>
              <a:t>ive</a:t>
            </a:r>
            <a:r>
              <a:rPr lang="en-US" sz="2400" dirty="0">
                <a:solidFill>
                  <a:prstClr val="black"/>
                </a:solidFill>
              </a:rPr>
              <a:t> </a:t>
            </a:r>
            <a:r>
              <a:rPr lang="en-US" sz="2400" b="1" dirty="0">
                <a:solidFill>
                  <a:prstClr val="black"/>
                </a:solidFill>
              </a:rPr>
              <a:t>honest</a:t>
            </a:r>
            <a:r>
              <a:rPr lang="en-US" sz="2400" dirty="0">
                <a:solidFill>
                  <a:prstClr val="black"/>
                </a:solidFill>
              </a:rPr>
              <a:t> and </a:t>
            </a:r>
            <a:r>
              <a:rPr lang="en-US" sz="2400" b="1" dirty="0">
                <a:solidFill>
                  <a:prstClr val="black"/>
                </a:solidFill>
              </a:rPr>
              <a:t>complete</a:t>
            </a:r>
            <a:r>
              <a:rPr lang="en-US" sz="2400" dirty="0">
                <a:solidFill>
                  <a:prstClr val="black"/>
                </a:solidFill>
              </a:rPr>
              <a:t> feedback on employee performance</a:t>
            </a:r>
          </a:p>
          <a:p>
            <a:pPr marL="342900" indent="-342900" fontAlgn="base">
              <a:lnSpc>
                <a:spcPct val="150000"/>
              </a:lnSpc>
              <a:spcAft>
                <a:spcPct val="0"/>
              </a:spcAft>
              <a:buFont typeface="Arial" panose="020B0604020202020204"/>
              <a:buChar char="•"/>
              <a:defRPr/>
            </a:pPr>
            <a:r>
              <a:rPr lang="en-US" sz="2400" dirty="0">
                <a:solidFill>
                  <a:prstClr val="black"/>
                </a:solidFill>
              </a:rPr>
              <a:t>Evaluate how the employee’s performance </a:t>
            </a:r>
            <a:r>
              <a:rPr lang="en-US" sz="2400" b="1" dirty="0">
                <a:solidFill>
                  <a:prstClr val="black"/>
                </a:solidFill>
              </a:rPr>
              <a:t>supports</a:t>
            </a:r>
            <a:r>
              <a:rPr lang="en-US" sz="2400" dirty="0">
                <a:solidFill>
                  <a:prstClr val="black"/>
                </a:solidFill>
              </a:rPr>
              <a:t> the hospital’s goals</a:t>
            </a:r>
          </a:p>
          <a:p>
            <a:pPr marL="342900" indent="-342900" fontAlgn="base">
              <a:lnSpc>
                <a:spcPct val="150000"/>
              </a:lnSpc>
              <a:spcAft>
                <a:spcPct val="0"/>
              </a:spcAft>
              <a:buFont typeface="Arial" panose="020B0604020202020204"/>
              <a:buChar char="•"/>
              <a:defRPr/>
            </a:pPr>
            <a:r>
              <a:rPr lang="en-US" sz="2400" b="1" dirty="0">
                <a:solidFill>
                  <a:prstClr val="black"/>
                </a:solidFill>
              </a:rPr>
              <a:t>Align</a:t>
            </a:r>
            <a:r>
              <a:rPr lang="en-US" sz="2400" dirty="0">
                <a:solidFill>
                  <a:prstClr val="black"/>
                </a:solidFill>
              </a:rPr>
              <a:t> employee goals and incentives with the organization’s mission</a:t>
            </a:r>
          </a:p>
          <a:p>
            <a:pPr marL="342900" indent="-342900" fontAlgn="base">
              <a:lnSpc>
                <a:spcPct val="150000"/>
              </a:lnSpc>
              <a:spcAft>
                <a:spcPct val="0"/>
              </a:spcAft>
              <a:buFont typeface="Arial" panose="020B0604020202020204"/>
              <a:buChar char="•"/>
              <a:defRPr/>
            </a:pPr>
            <a:r>
              <a:rPr lang="en-US" sz="2400" dirty="0">
                <a:solidFill>
                  <a:prstClr val="black"/>
                </a:solidFill>
              </a:rPr>
              <a:t>Track employee’s </a:t>
            </a:r>
            <a:r>
              <a:rPr lang="en-US" sz="2400" b="1" dirty="0">
                <a:solidFill>
                  <a:prstClr val="black"/>
                </a:solidFill>
              </a:rPr>
              <a:t>progress</a:t>
            </a:r>
            <a:r>
              <a:rPr lang="en-US" sz="2400" dirty="0">
                <a:solidFill>
                  <a:prstClr val="black"/>
                </a:solidFill>
              </a:rPr>
              <a:t> toward goals and over time</a:t>
            </a:r>
          </a:p>
          <a:p>
            <a:pPr marL="342900" indent="-342900" fontAlgn="base">
              <a:lnSpc>
                <a:spcPct val="150000"/>
              </a:lnSpc>
              <a:spcAft>
                <a:spcPct val="0"/>
              </a:spcAft>
              <a:buFont typeface="Arial" panose="020B0604020202020204"/>
              <a:buChar char="•"/>
              <a:defRPr/>
            </a:pPr>
            <a:r>
              <a:rPr lang="en-US" sz="2400" b="1" dirty="0">
                <a:solidFill>
                  <a:prstClr val="black"/>
                </a:solidFill>
              </a:rPr>
              <a:t>Praise</a:t>
            </a:r>
            <a:r>
              <a:rPr lang="en-US" sz="2400" dirty="0">
                <a:solidFill>
                  <a:prstClr val="black"/>
                </a:solidFill>
              </a:rPr>
              <a:t> good performance or </a:t>
            </a:r>
            <a:r>
              <a:rPr lang="en-US" sz="2400" b="1" dirty="0">
                <a:solidFill>
                  <a:prstClr val="black"/>
                </a:solidFill>
              </a:rPr>
              <a:t>address</a:t>
            </a:r>
            <a:r>
              <a:rPr lang="en-US" sz="2400" dirty="0">
                <a:solidFill>
                  <a:prstClr val="black"/>
                </a:solidFill>
              </a:rPr>
              <a:t> poor performance</a:t>
            </a:r>
          </a:p>
          <a:p>
            <a:pPr marL="342900" indent="-342900" fontAlgn="base">
              <a:lnSpc>
                <a:spcPct val="150000"/>
              </a:lnSpc>
              <a:spcAft>
                <a:spcPct val="0"/>
              </a:spcAft>
              <a:buFont typeface="Arial" panose="020B0604020202020204"/>
              <a:buChar char="•"/>
              <a:defRPr/>
            </a:pPr>
            <a:r>
              <a:rPr lang="en-US" sz="2400" b="1" dirty="0">
                <a:solidFill>
                  <a:prstClr val="black"/>
                </a:solidFill>
              </a:rPr>
              <a:t>Understand</a:t>
            </a:r>
            <a:r>
              <a:rPr lang="en-US" sz="2400" dirty="0">
                <a:solidFill>
                  <a:prstClr val="black"/>
                </a:solidFill>
              </a:rPr>
              <a:t> the employee’s </a:t>
            </a:r>
            <a:r>
              <a:rPr lang="en-US" sz="2400" b="1" dirty="0">
                <a:solidFill>
                  <a:prstClr val="black"/>
                </a:solidFill>
              </a:rPr>
              <a:t>future</a:t>
            </a:r>
            <a:r>
              <a:rPr lang="en-US" sz="2400" dirty="0">
                <a:solidFill>
                  <a:prstClr val="black"/>
                </a:solidFill>
              </a:rPr>
              <a:t> professional goals and training needs</a:t>
            </a:r>
          </a:p>
        </p:txBody>
      </p:sp>
      <p:sp>
        <p:nvSpPr>
          <p:cNvPr id="5" name="Title 1"/>
          <p:cNvSpPr txBox="1"/>
          <p:nvPr/>
        </p:nvSpPr>
        <p:spPr>
          <a:xfrm>
            <a:off x="0" y="-139700"/>
            <a:ext cx="9144000" cy="850900"/>
          </a:xfrm>
          <a:prstGeom prst="rect">
            <a:avLst/>
          </a:prstGeom>
          <a:solidFill>
            <a:srgbClr val="10253F"/>
          </a:solidFill>
        </p:spPr>
        <p:txBody>
          <a:bodyP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solidFill>
                  <a:srgbClr val="FFFFFF"/>
                </a:solidFill>
              </a:rPr>
              <a:t>6. Performance Management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p:cNvSpPr>
            <a:spLocks noGrp="1"/>
          </p:cNvSpPr>
          <p:nvPr>
            <p:ph type="sldNum" sz="quarter" idx="12"/>
          </p:nvPr>
        </p:nvSpPr>
        <p:spPr>
          <a:xfrm>
            <a:off x="6553200" y="6356350"/>
            <a:ext cx="2133600" cy="365125"/>
          </a:xfrm>
        </p:spPr>
        <p:txBody>
          <a:bodyPr/>
          <a:lstStyle/>
          <a:p>
            <a:fld id="{C8B2D15C-56CA-4416-AF97-9F0FD4225AB1}" type="slidenum">
              <a:rPr lang="en-US">
                <a:solidFill>
                  <a:prstClr val="black">
                    <a:tint val="75000"/>
                  </a:prstClr>
                </a:solidFill>
              </a:rPr>
              <a:t>90</a:t>
            </a:fld>
            <a:endParaRPr lang="en-US" dirty="0">
              <a:solidFill>
                <a:prstClr val="black">
                  <a:tint val="75000"/>
                </a:prstClr>
              </a:solidFill>
            </a:endParaRPr>
          </a:p>
        </p:txBody>
      </p:sp>
      <p:sp>
        <p:nvSpPr>
          <p:cNvPr id="3" name="Rectangle 2"/>
          <p:cNvSpPr txBox="1">
            <a:spLocks noChangeArrowheads="1"/>
          </p:cNvSpPr>
          <p:nvPr/>
        </p:nvSpPr>
        <p:spPr>
          <a:xfrm>
            <a:off x="134381" y="929055"/>
            <a:ext cx="9096703" cy="1206264"/>
          </a:xfrm>
          <a:prstGeom prst="rect">
            <a:avLst/>
          </a:prstGeom>
        </p:spPr>
        <p:txBody>
          <a:bodyPr/>
          <a:lstStyle/>
          <a:p>
            <a:pPr fontAlgn="base">
              <a:spcBef>
                <a:spcPct val="0"/>
              </a:spcBef>
              <a:spcAft>
                <a:spcPct val="0"/>
              </a:spcAft>
              <a:defRPr/>
            </a:pPr>
            <a:r>
              <a:rPr lang="en-US" sz="2800" b="1" dirty="0">
                <a:solidFill>
                  <a:prstClr val="black"/>
                </a:solidFill>
              </a:rPr>
              <a:t>Performance Evaluation </a:t>
            </a:r>
          </a:p>
          <a:p>
            <a:pPr fontAlgn="base">
              <a:spcBef>
                <a:spcPct val="0"/>
              </a:spcBef>
              <a:spcAft>
                <a:spcPct val="0"/>
              </a:spcAft>
              <a:defRPr/>
            </a:pPr>
            <a:r>
              <a:rPr lang="en-US" sz="2800" b="1" dirty="0">
                <a:solidFill>
                  <a:prstClr val="black"/>
                </a:solidFill>
              </a:rPr>
              <a:t>Common errors to avoid</a:t>
            </a:r>
          </a:p>
        </p:txBody>
      </p:sp>
      <p:sp>
        <p:nvSpPr>
          <p:cNvPr id="4" name="Rectangle 3"/>
          <p:cNvSpPr txBox="1">
            <a:spLocks noChangeArrowheads="1"/>
          </p:cNvSpPr>
          <p:nvPr/>
        </p:nvSpPr>
        <p:spPr>
          <a:xfrm>
            <a:off x="338957" y="1982919"/>
            <a:ext cx="8466083" cy="4134852"/>
          </a:xfrm>
          <a:prstGeom prst="rect">
            <a:avLst/>
          </a:prstGeom>
        </p:spPr>
        <p:txBody>
          <a:bodyPr/>
          <a:lstStyle/>
          <a:p>
            <a:pPr marL="342900" indent="-342900" fontAlgn="base">
              <a:lnSpc>
                <a:spcPct val="150000"/>
              </a:lnSpc>
              <a:spcAft>
                <a:spcPct val="0"/>
              </a:spcAft>
              <a:buFont typeface="Arial" panose="020B0604020202020204" pitchFamily="34" charset="0"/>
              <a:buChar char="•"/>
              <a:defRPr/>
            </a:pPr>
            <a:r>
              <a:rPr lang="en-US" sz="2400" dirty="0">
                <a:solidFill>
                  <a:prstClr val="black"/>
                </a:solidFill>
              </a:rPr>
              <a:t>The isolated incident</a:t>
            </a:r>
          </a:p>
          <a:p>
            <a:pPr marL="342900" indent="-342900" fontAlgn="base">
              <a:lnSpc>
                <a:spcPct val="150000"/>
              </a:lnSpc>
              <a:spcAft>
                <a:spcPct val="0"/>
              </a:spcAft>
              <a:buFont typeface="Arial" panose="020B0604020202020204" pitchFamily="34" charset="0"/>
              <a:buChar char="•"/>
              <a:defRPr/>
            </a:pPr>
            <a:r>
              <a:rPr lang="en-US" sz="2400" dirty="0">
                <a:solidFill>
                  <a:prstClr val="black"/>
                </a:solidFill>
              </a:rPr>
              <a:t>The halo effect</a:t>
            </a:r>
            <a:endParaRPr lang="en-US" sz="2400" dirty="0">
              <a:solidFill>
                <a:srgbClr val="FF0000"/>
              </a:solidFill>
            </a:endParaRPr>
          </a:p>
          <a:p>
            <a:pPr marL="342900" indent="-342900" fontAlgn="base">
              <a:lnSpc>
                <a:spcPct val="150000"/>
              </a:lnSpc>
              <a:spcAft>
                <a:spcPct val="0"/>
              </a:spcAft>
              <a:buFont typeface="Arial" panose="020B0604020202020204" pitchFamily="34" charset="0"/>
              <a:buChar char="•"/>
              <a:defRPr/>
            </a:pPr>
            <a:r>
              <a:rPr lang="en-US" sz="2400" dirty="0">
                <a:solidFill>
                  <a:prstClr val="black"/>
                </a:solidFill>
              </a:rPr>
              <a:t>The central tendency</a:t>
            </a:r>
          </a:p>
          <a:p>
            <a:pPr marL="342900" indent="-342900" fontAlgn="base">
              <a:lnSpc>
                <a:spcPct val="150000"/>
              </a:lnSpc>
              <a:spcAft>
                <a:spcPct val="0"/>
              </a:spcAft>
              <a:buFont typeface="Arial" panose="020B0604020202020204" pitchFamily="34" charset="0"/>
              <a:buChar char="•"/>
              <a:defRPr/>
            </a:pPr>
            <a:r>
              <a:rPr lang="en-US" sz="2400" dirty="0">
                <a:solidFill>
                  <a:prstClr val="black"/>
                </a:solidFill>
              </a:rPr>
              <a:t>Rating the job and not the individual</a:t>
            </a:r>
          </a:p>
          <a:p>
            <a:pPr marL="342900" indent="-342900" fontAlgn="base">
              <a:lnSpc>
                <a:spcPct val="150000"/>
              </a:lnSpc>
              <a:spcAft>
                <a:spcPct val="0"/>
              </a:spcAft>
              <a:buFont typeface="Arial" panose="020B0604020202020204" pitchFamily="34" charset="0"/>
              <a:buChar char="•"/>
              <a:defRPr/>
            </a:pPr>
            <a:r>
              <a:rPr lang="en-US" sz="2400" dirty="0">
                <a:solidFill>
                  <a:prstClr val="black"/>
                </a:solidFill>
              </a:rPr>
              <a:t>Length of service bias</a:t>
            </a:r>
          </a:p>
          <a:p>
            <a:pPr marL="342900" indent="-342900" fontAlgn="base">
              <a:lnSpc>
                <a:spcPct val="150000"/>
              </a:lnSpc>
              <a:spcAft>
                <a:spcPct val="0"/>
              </a:spcAft>
              <a:buFont typeface="Arial" panose="020B0604020202020204" pitchFamily="34" charset="0"/>
              <a:buChar char="•"/>
              <a:defRPr/>
            </a:pPr>
            <a:r>
              <a:rPr lang="en-US" sz="2400" dirty="0">
                <a:solidFill>
                  <a:prstClr val="black"/>
                </a:solidFill>
              </a:rPr>
              <a:t>Rating p</a:t>
            </a:r>
            <a:r>
              <a:rPr lang="en-US" sz="2400" dirty="0" err="1">
                <a:solidFill>
                  <a:prstClr val="black"/>
                </a:solidFill>
              </a:rPr>
              <a:t>ersonality</a:t>
            </a:r>
            <a:r>
              <a:rPr lang="en-US" sz="2400" dirty="0">
                <a:solidFill>
                  <a:prstClr val="black"/>
                </a:solidFill>
              </a:rPr>
              <a:t> rather than performance</a:t>
            </a:r>
          </a:p>
        </p:txBody>
      </p:sp>
      <p:sp>
        <p:nvSpPr>
          <p:cNvPr id="6" name="Title 1"/>
          <p:cNvSpPr txBox="1"/>
          <p:nvPr/>
        </p:nvSpPr>
        <p:spPr>
          <a:xfrm>
            <a:off x="0" y="-139700"/>
            <a:ext cx="9144000" cy="850900"/>
          </a:xfrm>
          <a:prstGeom prst="rect">
            <a:avLst/>
          </a:prstGeom>
          <a:solidFill>
            <a:srgbClr val="10253F"/>
          </a:solidFill>
        </p:spPr>
        <p:txBody>
          <a:bodyP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solidFill>
                  <a:srgbClr val="FFFFFF"/>
                </a:solidFill>
              </a:rPr>
              <a:t>6. Performance Management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p:cNvSpPr>
            <a:spLocks noGrp="1"/>
          </p:cNvSpPr>
          <p:nvPr>
            <p:ph type="sldNum" sz="quarter" idx="12"/>
          </p:nvPr>
        </p:nvSpPr>
        <p:spPr>
          <a:xfrm>
            <a:off x="6553200" y="6356350"/>
            <a:ext cx="2133600" cy="365125"/>
          </a:xfrm>
        </p:spPr>
        <p:txBody>
          <a:bodyPr/>
          <a:lstStyle/>
          <a:p>
            <a:fld id="{C8B2D15C-56CA-4416-AF97-9F0FD4225AB1}" type="slidenum">
              <a:rPr lang="en-US">
                <a:solidFill>
                  <a:prstClr val="black">
                    <a:tint val="75000"/>
                  </a:prstClr>
                </a:solidFill>
              </a:rPr>
              <a:t>91</a:t>
            </a:fld>
            <a:endParaRPr lang="en-US" dirty="0">
              <a:solidFill>
                <a:prstClr val="black">
                  <a:tint val="75000"/>
                </a:prstClr>
              </a:solidFill>
            </a:endParaRPr>
          </a:p>
        </p:txBody>
      </p:sp>
      <p:sp>
        <p:nvSpPr>
          <p:cNvPr id="3" name="Rectangle 2"/>
          <p:cNvSpPr txBox="1">
            <a:spLocks noChangeArrowheads="1"/>
          </p:cNvSpPr>
          <p:nvPr/>
        </p:nvSpPr>
        <p:spPr>
          <a:xfrm>
            <a:off x="31545" y="869808"/>
            <a:ext cx="9096703" cy="1100882"/>
          </a:xfrm>
          <a:prstGeom prst="rect">
            <a:avLst/>
          </a:prstGeom>
        </p:spPr>
        <p:txBody>
          <a:bodyPr/>
          <a:lstStyle/>
          <a:p>
            <a:pPr fontAlgn="base">
              <a:spcBef>
                <a:spcPct val="0"/>
              </a:spcBef>
              <a:spcAft>
                <a:spcPct val="0"/>
              </a:spcAft>
              <a:defRPr/>
            </a:pPr>
            <a:r>
              <a:rPr lang="en-US" sz="2800" b="1" dirty="0">
                <a:solidFill>
                  <a:prstClr val="black"/>
                </a:solidFill>
              </a:rPr>
              <a:t>Performance Improvement Process</a:t>
            </a:r>
          </a:p>
          <a:p>
            <a:pPr fontAlgn="base">
              <a:spcBef>
                <a:spcPct val="0"/>
              </a:spcBef>
              <a:spcAft>
                <a:spcPct val="0"/>
              </a:spcAft>
              <a:defRPr/>
            </a:pPr>
            <a:r>
              <a:rPr lang="en-US" sz="2800" b="1" dirty="0">
                <a:solidFill>
                  <a:prstClr val="black"/>
                </a:solidFill>
              </a:rPr>
              <a:t>Definition:</a:t>
            </a:r>
          </a:p>
          <a:p>
            <a:pPr fontAlgn="base">
              <a:spcBef>
                <a:spcPct val="0"/>
              </a:spcBef>
              <a:spcAft>
                <a:spcPct val="0"/>
              </a:spcAft>
              <a:defRPr/>
            </a:pPr>
            <a:r>
              <a:rPr lang="en-US" sz="2400" dirty="0">
                <a:solidFill>
                  <a:prstClr val="black"/>
                </a:solidFill>
              </a:rPr>
              <a:t>The process to identify, communicate, and intervene when job performance is below expected standards.</a:t>
            </a:r>
          </a:p>
          <a:p>
            <a:pPr fontAlgn="base">
              <a:spcBef>
                <a:spcPct val="0"/>
              </a:spcBef>
              <a:spcAft>
                <a:spcPct val="0"/>
              </a:spcAft>
              <a:defRPr/>
            </a:pPr>
            <a:endParaRPr lang="en-US" sz="2800" b="1" dirty="0">
              <a:solidFill>
                <a:prstClr val="black"/>
              </a:solidFill>
            </a:endParaRPr>
          </a:p>
          <a:p>
            <a:pPr fontAlgn="base">
              <a:spcBef>
                <a:spcPct val="0"/>
              </a:spcBef>
              <a:spcAft>
                <a:spcPct val="0"/>
              </a:spcAft>
              <a:defRPr/>
            </a:pPr>
            <a:r>
              <a:rPr lang="en-US" sz="2800" b="1" dirty="0">
                <a:solidFill>
                  <a:prstClr val="black"/>
                </a:solidFill>
              </a:rPr>
              <a:t>Why important?</a:t>
            </a:r>
          </a:p>
          <a:p>
            <a:pPr marL="457200" indent="-457200" fontAlgn="base">
              <a:lnSpc>
                <a:spcPct val="150000"/>
              </a:lnSpc>
              <a:spcBef>
                <a:spcPct val="0"/>
              </a:spcBef>
              <a:spcAft>
                <a:spcPct val="0"/>
              </a:spcAft>
              <a:buFont typeface="Arial" panose="020B0604020202020204" pitchFamily="34" charset="0"/>
              <a:buChar char="•"/>
              <a:defRPr/>
            </a:pPr>
            <a:r>
              <a:rPr lang="en-US" sz="2400" dirty="0">
                <a:solidFill>
                  <a:prstClr val="black"/>
                </a:solidFill>
              </a:rPr>
              <a:t>Communicates performance concerns with the employee</a:t>
            </a:r>
          </a:p>
          <a:p>
            <a:pPr marL="457200" indent="-457200" fontAlgn="base">
              <a:lnSpc>
                <a:spcPct val="150000"/>
              </a:lnSpc>
              <a:spcBef>
                <a:spcPct val="0"/>
              </a:spcBef>
              <a:spcAft>
                <a:spcPct val="0"/>
              </a:spcAft>
              <a:buFont typeface="Arial" panose="020B0604020202020204" pitchFamily="34" charset="0"/>
              <a:buChar char="•"/>
              <a:defRPr/>
            </a:pPr>
            <a:r>
              <a:rPr lang="en-US" sz="2400" dirty="0">
                <a:solidFill>
                  <a:prstClr val="black"/>
                </a:solidFill>
              </a:rPr>
              <a:t>Allows the employee to respond positively to correct performance</a:t>
            </a:r>
          </a:p>
          <a:p>
            <a:pPr marL="457200" indent="-457200" fontAlgn="base">
              <a:lnSpc>
                <a:spcPct val="150000"/>
              </a:lnSpc>
              <a:spcBef>
                <a:spcPct val="0"/>
              </a:spcBef>
              <a:spcAft>
                <a:spcPct val="0"/>
              </a:spcAft>
              <a:buFont typeface="Arial" panose="020B0604020202020204" pitchFamily="34" charset="0"/>
              <a:buChar char="•"/>
              <a:defRPr/>
            </a:pPr>
            <a:r>
              <a:rPr lang="en-US" sz="2400" dirty="0">
                <a:solidFill>
                  <a:prstClr val="black"/>
                </a:solidFill>
              </a:rPr>
              <a:t>Sets expectations if performance improvement is not made</a:t>
            </a:r>
          </a:p>
          <a:p>
            <a:pPr marL="457200" indent="-457200" fontAlgn="base">
              <a:lnSpc>
                <a:spcPct val="150000"/>
              </a:lnSpc>
              <a:spcBef>
                <a:spcPct val="0"/>
              </a:spcBef>
              <a:spcAft>
                <a:spcPct val="0"/>
              </a:spcAft>
              <a:buFont typeface="Arial" panose="020B0604020202020204" pitchFamily="34" charset="0"/>
              <a:buChar char="•"/>
              <a:defRPr/>
            </a:pPr>
            <a:r>
              <a:rPr lang="en-US" sz="2400" dirty="0">
                <a:solidFill>
                  <a:prstClr val="black"/>
                </a:solidFill>
              </a:rPr>
              <a:t>Documents performance issues and provides justification for any decision that is made</a:t>
            </a:r>
          </a:p>
          <a:p>
            <a:pPr marL="457200" indent="-457200" fontAlgn="base">
              <a:lnSpc>
                <a:spcPct val="150000"/>
              </a:lnSpc>
              <a:spcBef>
                <a:spcPct val="0"/>
              </a:spcBef>
              <a:spcAft>
                <a:spcPct val="0"/>
              </a:spcAft>
              <a:buFont typeface="Arial" panose="020B0604020202020204" pitchFamily="34" charset="0"/>
              <a:buChar char="•"/>
              <a:defRPr/>
            </a:pPr>
            <a:r>
              <a:rPr lang="en-US" sz="2400" dirty="0">
                <a:solidFill>
                  <a:prstClr val="black"/>
                </a:solidFill>
              </a:rPr>
              <a:t>Provides a standard system that is fair to all employees</a:t>
            </a:r>
          </a:p>
          <a:p>
            <a:pPr marL="342900" indent="-342900" fontAlgn="base">
              <a:lnSpc>
                <a:spcPct val="150000"/>
              </a:lnSpc>
              <a:spcBef>
                <a:spcPct val="0"/>
              </a:spcBef>
              <a:spcAft>
                <a:spcPct val="0"/>
              </a:spcAft>
              <a:buFont typeface="Arial" panose="020B0604020202020204" pitchFamily="34" charset="0"/>
              <a:buChar char="•"/>
              <a:defRPr/>
            </a:pPr>
            <a:endParaRPr lang="en-US" sz="2400" b="1" dirty="0">
              <a:solidFill>
                <a:prstClr val="black"/>
              </a:solidFill>
            </a:endParaRPr>
          </a:p>
        </p:txBody>
      </p:sp>
      <p:sp>
        <p:nvSpPr>
          <p:cNvPr id="4" name="Rectangle 3"/>
          <p:cNvSpPr txBox="1">
            <a:spLocks noChangeArrowheads="1"/>
          </p:cNvSpPr>
          <p:nvPr/>
        </p:nvSpPr>
        <p:spPr>
          <a:xfrm>
            <a:off x="268008" y="2087592"/>
            <a:ext cx="8466083" cy="4523521"/>
          </a:xfrm>
          <a:prstGeom prst="rect">
            <a:avLst/>
          </a:prstGeom>
        </p:spPr>
        <p:txBody>
          <a:bodyPr/>
          <a:lstStyle/>
          <a:p>
            <a:pPr marL="609600" indent="-609600" fontAlgn="base">
              <a:lnSpc>
                <a:spcPct val="80000"/>
              </a:lnSpc>
              <a:spcBef>
                <a:spcPct val="20000"/>
              </a:spcBef>
              <a:spcAft>
                <a:spcPct val="0"/>
              </a:spcAft>
              <a:buFont typeface="Arial" panose="020B0604020202020204" pitchFamily="34" charset="0"/>
              <a:buChar char="•"/>
              <a:defRPr/>
            </a:pPr>
            <a:endParaRPr lang="en-US" sz="2800" dirty="0">
              <a:solidFill>
                <a:prstClr val="black"/>
              </a:solidFill>
            </a:endParaRPr>
          </a:p>
        </p:txBody>
      </p:sp>
      <p:sp>
        <p:nvSpPr>
          <p:cNvPr id="6" name="Title 1"/>
          <p:cNvSpPr txBox="1"/>
          <p:nvPr/>
        </p:nvSpPr>
        <p:spPr>
          <a:xfrm>
            <a:off x="0" y="-139700"/>
            <a:ext cx="9144000" cy="850900"/>
          </a:xfrm>
          <a:prstGeom prst="rect">
            <a:avLst/>
          </a:prstGeom>
          <a:solidFill>
            <a:srgbClr val="10253F"/>
          </a:solidFill>
        </p:spPr>
        <p:txBody>
          <a:bodyP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solidFill>
                  <a:srgbClr val="FFFFFF"/>
                </a:solidFill>
              </a:rPr>
              <a:t>6. Performance Management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16000"/>
          </a:xfrm>
          <a:solidFill>
            <a:srgbClr val="10253F"/>
          </a:solidFill>
        </p:spPr>
        <p:txBody>
          <a:bodyPr>
            <a:normAutofit/>
          </a:bodyPr>
          <a:lstStyle/>
          <a:p>
            <a:r>
              <a:rPr lang="en-US" dirty="0">
                <a:solidFill>
                  <a:srgbClr val="FFFFFF"/>
                </a:solidFill>
              </a:rPr>
              <a:t>6. Performance Management</a:t>
            </a:r>
          </a:p>
        </p:txBody>
      </p:sp>
      <p:sp>
        <p:nvSpPr>
          <p:cNvPr id="6" name="TextBox 5"/>
          <p:cNvSpPr txBox="1"/>
          <p:nvPr/>
        </p:nvSpPr>
        <p:spPr>
          <a:xfrm>
            <a:off x="233604" y="1016000"/>
            <a:ext cx="8705444" cy="5386090"/>
          </a:xfrm>
          <a:prstGeom prst="rect">
            <a:avLst/>
          </a:prstGeom>
          <a:noFill/>
        </p:spPr>
        <p:txBody>
          <a:bodyPr wrap="square" rtlCol="0">
            <a:spAutoFit/>
          </a:bodyPr>
          <a:lstStyle/>
          <a:p>
            <a:pPr fontAlgn="base">
              <a:spcAft>
                <a:spcPct val="0"/>
              </a:spcAft>
              <a:defRPr/>
            </a:pPr>
            <a:r>
              <a:rPr lang="en-US" sz="2800" b="1" dirty="0">
                <a:solidFill>
                  <a:prstClr val="black"/>
                </a:solidFill>
              </a:rPr>
              <a:t>Performance Improvement Process</a:t>
            </a:r>
            <a:br>
              <a:rPr lang="en-US" sz="2800" b="1" dirty="0">
                <a:solidFill>
                  <a:prstClr val="black"/>
                </a:solidFill>
              </a:rPr>
            </a:br>
            <a:r>
              <a:rPr lang="en-US" sz="2800" b="1" dirty="0">
                <a:solidFill>
                  <a:prstClr val="black"/>
                </a:solidFill>
              </a:rPr>
              <a:t>Basic Steps</a:t>
            </a:r>
          </a:p>
          <a:p>
            <a:pPr marL="457200" indent="-457200" defTabSz="457200">
              <a:buFont typeface="+mj-lt"/>
              <a:buAutoNum type="arabicPeriod"/>
            </a:pPr>
            <a:r>
              <a:rPr lang="en-US" sz="2400" b="1" dirty="0">
                <a:solidFill>
                  <a:prstClr val="black"/>
                </a:solidFill>
              </a:rPr>
              <a:t>Informal feedback - </a:t>
            </a:r>
            <a:r>
              <a:rPr lang="en-US" sz="2400" dirty="0">
                <a:solidFill>
                  <a:prstClr val="black"/>
                </a:solidFill>
              </a:rPr>
              <a:t>a conversation with employee about the problem</a:t>
            </a:r>
          </a:p>
          <a:p>
            <a:pPr marL="457200" indent="-457200" defTabSz="457200">
              <a:buFont typeface="+mj-lt"/>
              <a:buAutoNum type="arabicPeriod"/>
            </a:pPr>
            <a:endParaRPr lang="en-US" sz="2400" dirty="0">
              <a:solidFill>
                <a:prstClr val="black"/>
              </a:solidFill>
            </a:endParaRPr>
          </a:p>
          <a:p>
            <a:pPr marL="457200" indent="-457200" defTabSz="457200">
              <a:buFont typeface="+mj-lt"/>
              <a:buAutoNum type="arabicPeriod"/>
            </a:pPr>
            <a:r>
              <a:rPr lang="en-US" sz="2400" b="1" dirty="0">
                <a:solidFill>
                  <a:prstClr val="black"/>
                </a:solidFill>
              </a:rPr>
              <a:t>Verbal warning -</a:t>
            </a:r>
            <a:r>
              <a:rPr lang="en-US" sz="2400" dirty="0">
                <a:solidFill>
                  <a:prstClr val="black"/>
                </a:solidFill>
              </a:rPr>
              <a:t> a second, formal conversation with the employee about the problem, what must be done to address it, and by when)</a:t>
            </a:r>
          </a:p>
          <a:p>
            <a:pPr marL="457200" indent="-457200" defTabSz="457200">
              <a:buFont typeface="+mj-lt"/>
              <a:buAutoNum type="arabicPeriod"/>
            </a:pPr>
            <a:endParaRPr lang="en-US" sz="2400" b="1" dirty="0">
              <a:solidFill>
                <a:prstClr val="black"/>
              </a:solidFill>
            </a:endParaRPr>
          </a:p>
          <a:p>
            <a:pPr marL="457200" indent="-457200" defTabSz="457200">
              <a:buFont typeface="+mj-lt"/>
              <a:buAutoNum type="arabicPeriod"/>
            </a:pPr>
            <a:r>
              <a:rPr lang="en-US" sz="2400" b="1" dirty="0">
                <a:solidFill>
                  <a:prstClr val="black"/>
                </a:solidFill>
              </a:rPr>
              <a:t>Written warning -</a:t>
            </a:r>
            <a:r>
              <a:rPr lang="en-US" sz="2400" dirty="0">
                <a:solidFill>
                  <a:prstClr val="black"/>
                </a:solidFill>
              </a:rPr>
              <a:t> a written document that describes what the performance problem is and what the employee must do to fix it and by when)</a:t>
            </a:r>
          </a:p>
          <a:p>
            <a:pPr marL="457200" indent="-457200" defTabSz="457200">
              <a:buFont typeface="+mj-lt"/>
              <a:buAutoNum type="arabicPeriod"/>
            </a:pPr>
            <a:endParaRPr lang="en-US" sz="2400" b="1" dirty="0">
              <a:solidFill>
                <a:prstClr val="black"/>
              </a:solidFill>
            </a:endParaRPr>
          </a:p>
          <a:p>
            <a:pPr marL="457200" indent="-457200" defTabSz="457200">
              <a:buFont typeface="+mj-lt"/>
              <a:buAutoNum type="arabicPeriod"/>
            </a:pPr>
            <a:r>
              <a:rPr lang="en-US" sz="2400" b="1" dirty="0">
                <a:solidFill>
                  <a:prstClr val="black"/>
                </a:solidFill>
              </a:rPr>
              <a:t>Disciplinary action –</a:t>
            </a:r>
            <a:r>
              <a:rPr lang="en-US" sz="2400" dirty="0">
                <a:solidFill>
                  <a:prstClr val="black"/>
                </a:solidFill>
              </a:rPr>
              <a:t> suspension, salary reduction, termination</a:t>
            </a:r>
            <a:endParaRPr lang="en-US" sz="2400" b="1" i="1" dirty="0">
              <a:solidFill>
                <a:prstClr val="black"/>
              </a:solidFill>
              <a:latin typeface="Tahoma" panose="020B0604030504040204" pitchFamily="34" charset="0"/>
            </a:endParaRPr>
          </a:p>
        </p:txBody>
      </p:sp>
      <p:sp>
        <p:nvSpPr>
          <p:cNvPr id="4" name="Slide Number Placeholder 3"/>
          <p:cNvSpPr>
            <a:spLocks noGrp="1"/>
          </p:cNvSpPr>
          <p:nvPr>
            <p:ph type="sldNum" sz="quarter" idx="12"/>
          </p:nvPr>
        </p:nvSpPr>
        <p:spPr>
          <a:xfrm>
            <a:off x="6553200" y="6482478"/>
            <a:ext cx="2133600" cy="365125"/>
          </a:xfrm>
        </p:spPr>
        <p:txBody>
          <a:bodyPr/>
          <a:lstStyle/>
          <a:p>
            <a:fld id="{36A94550-0172-2A4E-BEEB-6BE00EB0E97C}" type="slidenum">
              <a:rPr lang="en-US" smtClean="0">
                <a:solidFill>
                  <a:prstClr val="black">
                    <a:tint val="75000"/>
                  </a:prstClr>
                </a:solidFill>
              </a:rPr>
              <a:t>92</a:t>
            </a:fld>
            <a:endParaRPr lang="en-US" dirty="0">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6603" y="2133532"/>
            <a:ext cx="8689683" cy="2982753"/>
          </a:xfrm>
          <a:solidFill>
            <a:schemeClr val="tx2">
              <a:lumMod val="20000"/>
              <a:lumOff val="80000"/>
            </a:schemeClr>
          </a:solidFill>
        </p:spPr>
        <p:txBody>
          <a:bodyPr>
            <a:noAutofit/>
          </a:bodyPr>
          <a:lstStyle/>
          <a:p>
            <a:pPr marL="0" indent="0">
              <a:lnSpc>
                <a:spcPct val="150000"/>
              </a:lnSpc>
              <a:buNone/>
            </a:pPr>
            <a:r>
              <a:rPr lang="en-US" sz="2400" dirty="0"/>
              <a:t>The administrative assistant is assigned to type up a report you have due to the Ministry each month.  In the past, she has forgotten to do the report. And many times she either submits the report late or it has many errors. This month, she submits it on time but it has still has many errors. </a:t>
            </a:r>
          </a:p>
        </p:txBody>
      </p:sp>
      <p:sp>
        <p:nvSpPr>
          <p:cNvPr id="4" name="Slide Number Placeholder 3"/>
          <p:cNvSpPr>
            <a:spLocks noGrp="1"/>
          </p:cNvSpPr>
          <p:nvPr>
            <p:ph type="sldNum" sz="quarter" idx="12"/>
          </p:nvPr>
        </p:nvSpPr>
        <p:spPr/>
        <p:txBody>
          <a:bodyPr/>
          <a:lstStyle/>
          <a:p>
            <a:fld id="{36A94550-0172-2A4E-BEEB-6BE00EB0E97C}" type="slidenum">
              <a:rPr lang="en-US" smtClean="0">
                <a:solidFill>
                  <a:prstClr val="black">
                    <a:tint val="75000"/>
                  </a:prstClr>
                </a:solidFill>
              </a:rPr>
              <a:t>93</a:t>
            </a:fld>
            <a:endParaRPr lang="en-US" dirty="0">
              <a:solidFill>
                <a:prstClr val="black">
                  <a:tint val="75000"/>
                </a:prstClr>
              </a:solidFill>
            </a:endParaRPr>
          </a:p>
        </p:txBody>
      </p:sp>
      <p:sp>
        <p:nvSpPr>
          <p:cNvPr id="5" name="Content Placeholder 2"/>
          <p:cNvSpPr txBox="1"/>
          <p:nvPr/>
        </p:nvSpPr>
        <p:spPr>
          <a:xfrm>
            <a:off x="95467" y="996880"/>
            <a:ext cx="9048533" cy="107140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buFont typeface="Arial" panose="020B0604020202020204"/>
              <a:buNone/>
            </a:pPr>
            <a:r>
              <a:rPr lang="en-US" sz="2800" b="1" dirty="0">
                <a:solidFill>
                  <a:prstClr val="black"/>
                </a:solidFill>
              </a:rPr>
              <a:t>Team exercise</a:t>
            </a:r>
            <a:r>
              <a:rPr lang="en-US" sz="2800" dirty="0">
                <a:solidFill>
                  <a:prstClr val="black"/>
                </a:solidFill>
              </a:rPr>
              <a:t>: You have given informal feedback before. Write a verbal warning. </a:t>
            </a:r>
          </a:p>
          <a:p>
            <a:pPr marL="0" indent="0">
              <a:buFont typeface="Arial" panose="020B0604020202020204"/>
              <a:buNone/>
            </a:pPr>
            <a:endParaRPr lang="en-US" sz="2800" dirty="0">
              <a:solidFill>
                <a:prstClr val="black"/>
              </a:solidFill>
            </a:endParaRPr>
          </a:p>
          <a:p>
            <a:pPr marL="0" indent="0" defTabSz="914400" fontAlgn="base">
              <a:spcAft>
                <a:spcPct val="0"/>
              </a:spcAft>
              <a:buFont typeface="Arial" panose="020B0604020202020204"/>
              <a:buNone/>
              <a:defRPr/>
            </a:pPr>
            <a:r>
              <a:rPr lang="en-US" sz="2800" dirty="0">
                <a:solidFill>
                  <a:prstClr val="black"/>
                </a:solidFill>
              </a:rPr>
              <a:t>  </a:t>
            </a:r>
            <a:endParaRPr lang="en-US" sz="2000" dirty="0">
              <a:solidFill>
                <a:prstClr val="black"/>
              </a:solidFill>
            </a:endParaRPr>
          </a:p>
        </p:txBody>
      </p:sp>
      <p:sp>
        <p:nvSpPr>
          <p:cNvPr id="7" name="Title 1"/>
          <p:cNvSpPr txBox="1"/>
          <p:nvPr/>
        </p:nvSpPr>
        <p:spPr>
          <a:xfrm>
            <a:off x="0" y="-9739"/>
            <a:ext cx="9144000" cy="952500"/>
          </a:xfrm>
          <a:prstGeom prst="rect">
            <a:avLst/>
          </a:prstGeom>
          <a:solidFill>
            <a:schemeClr val="tx2">
              <a:lumMod val="20000"/>
              <a:lumOff val="80000"/>
            </a:schemeClr>
          </a:solid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solidFill>
                  <a:prstClr val="black"/>
                </a:solidFill>
              </a:rPr>
              <a:t>Performance Improvement</a:t>
            </a:r>
          </a:p>
        </p:txBody>
      </p:sp>
      <p:sp>
        <p:nvSpPr>
          <p:cNvPr id="6" name="Content Placeholder 2"/>
          <p:cNvSpPr txBox="1"/>
          <p:nvPr/>
        </p:nvSpPr>
        <p:spPr>
          <a:xfrm>
            <a:off x="65313" y="5246911"/>
            <a:ext cx="9048533" cy="107140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buFont typeface="Arial" panose="020B0604020202020204"/>
              <a:buNone/>
            </a:pPr>
            <a:r>
              <a:rPr lang="en-US" sz="2800" dirty="0">
                <a:solidFill>
                  <a:prstClr val="black"/>
                </a:solidFill>
              </a:rPr>
              <a:t>State the feedback using SBI, then include what must be done to address it and by when.</a:t>
            </a:r>
          </a:p>
          <a:p>
            <a:pPr marL="0" indent="0">
              <a:buFont typeface="Arial" panose="020B0604020202020204"/>
              <a:buNone/>
            </a:pPr>
            <a:endParaRPr lang="en-US" sz="2800" dirty="0">
              <a:solidFill>
                <a:prstClr val="black"/>
              </a:solidFill>
            </a:endParaRPr>
          </a:p>
          <a:p>
            <a:pPr marL="0" indent="0" defTabSz="914400" fontAlgn="base">
              <a:spcAft>
                <a:spcPct val="0"/>
              </a:spcAft>
              <a:buFont typeface="Arial" panose="020B0604020202020204"/>
              <a:buNone/>
              <a:defRPr/>
            </a:pPr>
            <a:r>
              <a:rPr lang="en-US" sz="2800" dirty="0">
                <a:solidFill>
                  <a:prstClr val="black"/>
                </a:solidFill>
              </a:rPr>
              <a:t>  </a:t>
            </a:r>
            <a:endParaRPr lang="en-US" sz="2000" dirty="0">
              <a:solidFill>
                <a:prstClr val="black"/>
              </a:solidFil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0" y="0"/>
            <a:ext cx="9144000" cy="1143000"/>
          </a:xfrm>
          <a:prstGeom prst="rect">
            <a:avLst/>
          </a:prstGeom>
          <a:solidFill>
            <a:srgbClr val="10253F"/>
          </a:solid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solidFill>
                  <a:srgbClr val="FFFFFF"/>
                </a:solidFill>
              </a:rPr>
              <a:t>6. Performance Management</a:t>
            </a:r>
            <a:endParaRPr lang="en-US" dirty="0">
              <a:solidFill>
                <a:prstClr val="white"/>
              </a:solidFill>
            </a:endParaRPr>
          </a:p>
        </p:txBody>
      </p:sp>
      <p:cxnSp>
        <p:nvCxnSpPr>
          <p:cNvPr id="6" name="Straight Connector 5"/>
          <p:cNvCxnSpPr/>
          <p:nvPr/>
        </p:nvCxnSpPr>
        <p:spPr>
          <a:xfrm>
            <a:off x="397399" y="4293747"/>
            <a:ext cx="8515034" cy="28768"/>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89181" y="2287256"/>
            <a:ext cx="2098792" cy="1569660"/>
          </a:xfrm>
          <a:prstGeom prst="rect">
            <a:avLst/>
          </a:prstGeom>
          <a:noFill/>
        </p:spPr>
        <p:txBody>
          <a:bodyPr wrap="square" rtlCol="0">
            <a:spAutoFit/>
          </a:bodyPr>
          <a:lstStyle/>
          <a:p>
            <a:pPr algn="r" defTabSz="457200"/>
            <a:r>
              <a:rPr lang="en-US" sz="2400" b="1" dirty="0">
                <a:solidFill>
                  <a:prstClr val="black"/>
                </a:solidFill>
              </a:rPr>
              <a:t>How Can Managers </a:t>
            </a:r>
            <a:r>
              <a:rPr lang="en-US" sz="2400" b="1" u="sng" dirty="0">
                <a:solidFill>
                  <a:prstClr val="black"/>
                </a:solidFill>
              </a:rPr>
              <a:t>Encourage</a:t>
            </a:r>
            <a:r>
              <a:rPr lang="en-US" sz="2400" b="1" dirty="0">
                <a:solidFill>
                  <a:prstClr val="black"/>
                </a:solidFill>
              </a:rPr>
              <a:t> Improvement</a:t>
            </a:r>
          </a:p>
        </p:txBody>
      </p:sp>
      <p:sp>
        <p:nvSpPr>
          <p:cNvPr id="8" name="TextBox 7"/>
          <p:cNvSpPr txBox="1"/>
          <p:nvPr/>
        </p:nvSpPr>
        <p:spPr>
          <a:xfrm>
            <a:off x="-141882" y="4520052"/>
            <a:ext cx="1991792" cy="1569660"/>
          </a:xfrm>
          <a:prstGeom prst="rect">
            <a:avLst/>
          </a:prstGeom>
          <a:noFill/>
        </p:spPr>
        <p:txBody>
          <a:bodyPr wrap="square" rtlCol="0">
            <a:spAutoFit/>
          </a:bodyPr>
          <a:lstStyle/>
          <a:p>
            <a:pPr algn="r" defTabSz="457200"/>
            <a:r>
              <a:rPr lang="en-US" sz="2400" b="1" dirty="0">
                <a:solidFill>
                  <a:prstClr val="black"/>
                </a:solidFill>
              </a:rPr>
              <a:t>How Can Managers </a:t>
            </a:r>
            <a:r>
              <a:rPr lang="en-US" sz="2400" b="1" u="sng" dirty="0">
                <a:solidFill>
                  <a:prstClr val="black"/>
                </a:solidFill>
              </a:rPr>
              <a:t>Discourage</a:t>
            </a:r>
            <a:r>
              <a:rPr lang="en-US" sz="2400" b="1" dirty="0">
                <a:solidFill>
                  <a:prstClr val="black"/>
                </a:solidFill>
              </a:rPr>
              <a:t> Improvement</a:t>
            </a:r>
          </a:p>
        </p:txBody>
      </p:sp>
      <p:cxnSp>
        <p:nvCxnSpPr>
          <p:cNvPr id="10" name="Straight Connector 9"/>
          <p:cNvCxnSpPr/>
          <p:nvPr/>
        </p:nvCxnSpPr>
        <p:spPr>
          <a:xfrm>
            <a:off x="1897208" y="1839766"/>
            <a:ext cx="0" cy="2426566"/>
          </a:xfrm>
          <a:prstGeom prst="line">
            <a:avLst/>
          </a:prstGeom>
          <a:ln>
            <a:solidFill>
              <a:srgbClr val="008000"/>
            </a:solidFill>
            <a:headEnd type="triangle"/>
            <a:tailEnd type="oval"/>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a:off x="1897208" y="4322515"/>
            <a:ext cx="0" cy="2515809"/>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893845" y="1827463"/>
            <a:ext cx="7447744" cy="2308324"/>
          </a:xfrm>
          <a:prstGeom prst="rect">
            <a:avLst/>
          </a:prstGeom>
          <a:noFill/>
        </p:spPr>
        <p:txBody>
          <a:bodyPr wrap="none" rtlCol="0">
            <a:spAutoFit/>
          </a:bodyPr>
          <a:lstStyle/>
          <a:p>
            <a:pPr marL="285750" indent="-285750" defTabSz="457200">
              <a:buFont typeface="Arial" panose="020B0604020202020204"/>
              <a:buChar char="•"/>
            </a:pPr>
            <a:r>
              <a:rPr lang="en-US" sz="2400" dirty="0">
                <a:solidFill>
                  <a:prstClr val="black"/>
                </a:solidFill>
              </a:rPr>
              <a:t>Set clear goals</a:t>
            </a:r>
          </a:p>
          <a:p>
            <a:pPr marL="285750" indent="-285750" defTabSz="457200">
              <a:buFont typeface="Arial" panose="020B0604020202020204"/>
              <a:buChar char="•"/>
            </a:pPr>
            <a:r>
              <a:rPr lang="en-US" sz="2400" dirty="0">
                <a:solidFill>
                  <a:prstClr val="black"/>
                </a:solidFill>
              </a:rPr>
              <a:t>Allow employees to do the work themselves</a:t>
            </a:r>
            <a:r>
              <a:rPr lang="en-US" sz="1200" dirty="0">
                <a:solidFill>
                  <a:prstClr val="black"/>
                </a:solidFill>
              </a:rPr>
              <a:t> </a:t>
            </a:r>
            <a:r>
              <a:rPr lang="en-US" sz="2200" dirty="0">
                <a:solidFill>
                  <a:prstClr val="black"/>
                </a:solidFill>
              </a:rPr>
              <a:t>(autonomy)</a:t>
            </a:r>
          </a:p>
          <a:p>
            <a:pPr marL="285750" indent="-285750" defTabSz="457200">
              <a:buFont typeface="Arial" panose="020B0604020202020204"/>
              <a:buChar char="•"/>
            </a:pPr>
            <a:r>
              <a:rPr lang="en-US" sz="2400" dirty="0">
                <a:solidFill>
                  <a:prstClr val="black"/>
                </a:solidFill>
              </a:rPr>
              <a:t>Provide enough time and resources to do the work</a:t>
            </a:r>
          </a:p>
          <a:p>
            <a:pPr marL="285750" indent="-285750" defTabSz="457200">
              <a:buFont typeface="Arial" panose="020B0604020202020204"/>
              <a:buChar char="•"/>
            </a:pPr>
            <a:r>
              <a:rPr lang="en-US" sz="2400" dirty="0">
                <a:solidFill>
                  <a:prstClr val="black"/>
                </a:solidFill>
              </a:rPr>
              <a:t>Help employees solve problems</a:t>
            </a:r>
          </a:p>
          <a:p>
            <a:pPr marL="285750" indent="-285750" defTabSz="457200">
              <a:buFont typeface="Arial" panose="020B0604020202020204"/>
              <a:buChar char="•"/>
            </a:pPr>
            <a:r>
              <a:rPr lang="en-US" sz="2400" dirty="0">
                <a:solidFill>
                  <a:prstClr val="black"/>
                </a:solidFill>
              </a:rPr>
              <a:t>Learn from problems and successes</a:t>
            </a:r>
          </a:p>
          <a:p>
            <a:pPr marL="285750" indent="-285750" defTabSz="457200">
              <a:buFont typeface="Arial" panose="020B0604020202020204"/>
              <a:buChar char="•"/>
            </a:pPr>
            <a:r>
              <a:rPr lang="en-US" sz="2400" dirty="0">
                <a:solidFill>
                  <a:prstClr val="black"/>
                </a:solidFill>
              </a:rPr>
              <a:t>Encourage employees to share ideas</a:t>
            </a:r>
          </a:p>
        </p:txBody>
      </p:sp>
      <p:sp>
        <p:nvSpPr>
          <p:cNvPr id="17" name="TextBox 16"/>
          <p:cNvSpPr txBox="1"/>
          <p:nvPr/>
        </p:nvSpPr>
        <p:spPr>
          <a:xfrm>
            <a:off x="1988441" y="4466067"/>
            <a:ext cx="7272825" cy="2677656"/>
          </a:xfrm>
          <a:prstGeom prst="rect">
            <a:avLst/>
          </a:prstGeom>
          <a:noFill/>
        </p:spPr>
        <p:txBody>
          <a:bodyPr wrap="none" rtlCol="0">
            <a:spAutoFit/>
          </a:bodyPr>
          <a:lstStyle/>
          <a:p>
            <a:pPr marL="285750" indent="-285750" defTabSz="457200">
              <a:buFont typeface="Arial" panose="020B0604020202020204"/>
              <a:buChar char="•"/>
            </a:pPr>
            <a:r>
              <a:rPr lang="en-US" sz="2400" dirty="0">
                <a:solidFill>
                  <a:prstClr val="black"/>
                </a:solidFill>
              </a:rPr>
              <a:t>Unclear or no goals</a:t>
            </a:r>
          </a:p>
          <a:p>
            <a:pPr marL="285750" indent="-285750" defTabSz="457200">
              <a:buFont typeface="Arial" panose="020B0604020202020204"/>
              <a:buChar char="•"/>
            </a:pPr>
            <a:r>
              <a:rPr lang="en-US" sz="2400" dirty="0">
                <a:solidFill>
                  <a:prstClr val="black"/>
                </a:solidFill>
              </a:rPr>
              <a:t>No support for work</a:t>
            </a:r>
          </a:p>
          <a:p>
            <a:pPr marL="285750" indent="-285750" defTabSz="457200">
              <a:buFont typeface="Arial" panose="020B0604020202020204"/>
              <a:buChar char="•"/>
            </a:pPr>
            <a:r>
              <a:rPr lang="en-US" sz="2400" dirty="0">
                <a:solidFill>
                  <a:prstClr val="black"/>
                </a:solidFill>
              </a:rPr>
              <a:t>No help</a:t>
            </a:r>
          </a:p>
          <a:p>
            <a:pPr marL="285750" indent="-285750" defTabSz="457200">
              <a:buFont typeface="Arial" panose="020B0604020202020204"/>
              <a:buChar char="•"/>
            </a:pPr>
            <a:r>
              <a:rPr lang="en-US" sz="2400" dirty="0">
                <a:solidFill>
                  <a:prstClr val="black"/>
                </a:solidFill>
              </a:rPr>
              <a:t>Intervening in your employee’s work (micro managing)</a:t>
            </a:r>
          </a:p>
          <a:p>
            <a:pPr marL="285750" indent="-285750" defTabSz="457200">
              <a:buFont typeface="Arial" panose="020B0604020202020204"/>
              <a:buChar char="•"/>
            </a:pPr>
            <a:r>
              <a:rPr lang="en-US" sz="2400" dirty="0">
                <a:solidFill>
                  <a:prstClr val="black"/>
                </a:solidFill>
              </a:rPr>
              <a:t>No encouragement</a:t>
            </a:r>
          </a:p>
          <a:p>
            <a:pPr marL="285750" indent="-285750" defTabSz="457200">
              <a:buFont typeface="Arial" panose="020B0604020202020204"/>
              <a:buChar char="•"/>
            </a:pPr>
            <a:r>
              <a:rPr lang="en-US" sz="2400" dirty="0">
                <a:solidFill>
                  <a:prstClr val="black"/>
                </a:solidFill>
              </a:rPr>
              <a:t>No feedback</a:t>
            </a:r>
          </a:p>
          <a:p>
            <a:pPr marL="285750" indent="-285750" defTabSz="457200">
              <a:buFont typeface="Arial" panose="020B0604020202020204"/>
              <a:buChar char="•"/>
            </a:pPr>
            <a:endParaRPr lang="en-US" sz="2400" dirty="0">
              <a:solidFill>
                <a:prstClr val="black"/>
              </a:solidFill>
            </a:endParaRPr>
          </a:p>
        </p:txBody>
      </p:sp>
      <p:sp>
        <p:nvSpPr>
          <p:cNvPr id="11" name="Rectangle 2"/>
          <p:cNvSpPr txBox="1">
            <a:spLocks noChangeArrowheads="1"/>
          </p:cNvSpPr>
          <p:nvPr/>
        </p:nvSpPr>
        <p:spPr>
          <a:xfrm>
            <a:off x="31545" y="1200894"/>
            <a:ext cx="9096703" cy="1100882"/>
          </a:xfrm>
          <a:prstGeom prst="rect">
            <a:avLst/>
          </a:prstGeom>
        </p:spPr>
        <p:txBody>
          <a:bodyPr/>
          <a:lstStyle/>
          <a:p>
            <a:pPr fontAlgn="base">
              <a:spcBef>
                <a:spcPct val="0"/>
              </a:spcBef>
              <a:spcAft>
                <a:spcPct val="0"/>
              </a:spcAft>
              <a:defRPr/>
            </a:pPr>
            <a:r>
              <a:rPr lang="en-US" sz="2800" b="1" dirty="0">
                <a:solidFill>
                  <a:prstClr val="black"/>
                </a:solidFill>
              </a:rPr>
              <a:t>Performance Improvement Process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6" grpId="0"/>
      <p:bldP spid="17"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28" y="2853771"/>
            <a:ext cx="9170111" cy="1238250"/>
          </a:xfrm>
          <a:solidFill>
            <a:schemeClr val="tx2">
              <a:lumMod val="50000"/>
            </a:schemeClr>
          </a:solidFill>
        </p:spPr>
        <p:txBody>
          <a:bodyPr/>
          <a:lstStyle/>
          <a:p>
            <a:pPr algn="ctr"/>
            <a:r>
              <a:rPr lang="en-US" dirty="0">
                <a:solidFill>
                  <a:srgbClr val="FFFFFF"/>
                </a:solidFill>
              </a:rPr>
              <a:t>7. Policies &amp; procedures</a:t>
            </a:r>
          </a:p>
        </p:txBody>
      </p:sp>
      <p:sp>
        <p:nvSpPr>
          <p:cNvPr id="3" name="Text Placeholder 2"/>
          <p:cNvSpPr>
            <a:spLocks noGrp="1"/>
          </p:cNvSpPr>
          <p:nvPr>
            <p:ph type="body" idx="1"/>
          </p:nvPr>
        </p:nvSpPr>
        <p:spPr>
          <a:xfrm>
            <a:off x="466112" y="3225730"/>
            <a:ext cx="8044841" cy="1363806"/>
          </a:xfrm>
        </p:spPr>
        <p:txBody>
          <a:bodyPr>
            <a:normAutofit/>
          </a:bodyPr>
          <a:lstStyle/>
          <a:p>
            <a:r>
              <a:rPr lang="en-US" sz="2800" b="1" dirty="0"/>
              <a:t>Basic Functions of Human Resource Management</a:t>
            </a:r>
          </a:p>
        </p:txBody>
      </p:sp>
      <p:sp>
        <p:nvSpPr>
          <p:cNvPr id="5" name="Slide Number Placeholder 4"/>
          <p:cNvSpPr>
            <a:spLocks noGrp="1"/>
          </p:cNvSpPr>
          <p:nvPr>
            <p:ph type="sldNum" sz="quarter" idx="12"/>
          </p:nvPr>
        </p:nvSpPr>
        <p:spPr/>
        <p:txBody>
          <a:bodyPr/>
          <a:lstStyle/>
          <a:p>
            <a:fld id="{36A94550-0172-2A4E-BEEB-6BE00EB0E97C}" type="slidenum">
              <a:rPr lang="en-US" smtClean="0">
                <a:solidFill>
                  <a:prstClr val="black">
                    <a:tint val="75000"/>
                  </a:prstClr>
                </a:solidFill>
              </a:rPr>
              <a:t>95</a:t>
            </a:fld>
            <a:endParaRPr lang="en-US" dirty="0">
              <a:solidFill>
                <a:prstClr val="black">
                  <a:tint val="75000"/>
                </a:prstClr>
              </a:solidFil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7. Policies &amp; Procedures</a:t>
            </a:r>
          </a:p>
        </p:txBody>
      </p:sp>
      <p:sp>
        <p:nvSpPr>
          <p:cNvPr id="4" name="TextBox 3"/>
          <p:cNvSpPr txBox="1"/>
          <p:nvPr/>
        </p:nvSpPr>
        <p:spPr>
          <a:xfrm>
            <a:off x="190635" y="1376020"/>
            <a:ext cx="8385806" cy="2462213"/>
          </a:xfrm>
          <a:prstGeom prst="rect">
            <a:avLst/>
          </a:prstGeom>
          <a:noFill/>
        </p:spPr>
        <p:txBody>
          <a:bodyPr wrap="square" rtlCol="0">
            <a:spAutoFit/>
          </a:bodyPr>
          <a:lstStyle/>
          <a:p>
            <a:pPr fontAlgn="base">
              <a:spcAft>
                <a:spcPct val="0"/>
              </a:spcAft>
              <a:defRPr/>
            </a:pPr>
            <a:r>
              <a:rPr lang="en-US" sz="2800" b="1" dirty="0">
                <a:solidFill>
                  <a:prstClr val="black"/>
                </a:solidFill>
              </a:rPr>
              <a:t>What you will learn:</a:t>
            </a:r>
            <a:endParaRPr lang="en-US" sz="1000" b="1" dirty="0">
              <a:solidFill>
                <a:prstClr val="black"/>
              </a:solidFill>
            </a:endParaRPr>
          </a:p>
          <a:p>
            <a:pPr marL="285750" indent="-285750" defTabSz="457200">
              <a:lnSpc>
                <a:spcPct val="150000"/>
              </a:lnSpc>
              <a:buFont typeface="Arial" panose="020B0604020202020204"/>
              <a:buChar char="•"/>
            </a:pPr>
            <a:r>
              <a:rPr lang="en-US" sz="2800" dirty="0">
                <a:solidFill>
                  <a:prstClr val="black"/>
                </a:solidFill>
              </a:rPr>
              <a:t>Purpose of Policies &amp; Procedures</a:t>
            </a:r>
          </a:p>
          <a:p>
            <a:pPr marL="285750" indent="-285750" defTabSz="457200">
              <a:lnSpc>
                <a:spcPct val="150000"/>
              </a:lnSpc>
              <a:buFont typeface="Arial" panose="020B0604020202020204"/>
              <a:buChar char="•"/>
            </a:pPr>
            <a:r>
              <a:rPr lang="en-US" sz="2800" dirty="0">
                <a:solidFill>
                  <a:prstClr val="black"/>
                </a:solidFill>
              </a:rPr>
              <a:t>Examples of policies</a:t>
            </a:r>
          </a:p>
          <a:p>
            <a:pPr marL="285750" indent="-285750" defTabSz="457200">
              <a:lnSpc>
                <a:spcPct val="150000"/>
              </a:lnSpc>
              <a:buFont typeface="Arial" panose="020B0604020202020204"/>
              <a:buChar char="•"/>
            </a:pPr>
            <a:r>
              <a:rPr lang="en-US" sz="2800" dirty="0">
                <a:solidFill>
                  <a:prstClr val="black"/>
                </a:solidFill>
              </a:rPr>
              <a:t>Employee Code of Conduct</a:t>
            </a:r>
          </a:p>
        </p:txBody>
      </p:sp>
      <p:sp>
        <p:nvSpPr>
          <p:cNvPr id="3" name="Slide Number Placeholder 2"/>
          <p:cNvSpPr>
            <a:spLocks noGrp="1"/>
          </p:cNvSpPr>
          <p:nvPr>
            <p:ph type="sldNum" sz="quarter" idx="12"/>
          </p:nvPr>
        </p:nvSpPr>
        <p:spPr/>
        <p:txBody>
          <a:bodyPr/>
          <a:lstStyle/>
          <a:p>
            <a:fld id="{36A94550-0172-2A4E-BEEB-6BE00EB0E97C}" type="slidenum">
              <a:rPr lang="en-US" smtClean="0">
                <a:solidFill>
                  <a:prstClr val="black">
                    <a:tint val="75000"/>
                  </a:prstClr>
                </a:solidFill>
              </a:rPr>
              <a:t>96</a:t>
            </a:fld>
            <a:endParaRPr lang="en-US" dirty="0">
              <a:solidFill>
                <a:prstClr val="black">
                  <a:tint val="75000"/>
                </a:prstClr>
              </a:solidFil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 y="2785"/>
            <a:ext cx="9143086" cy="1143000"/>
          </a:xfrm>
          <a:solidFill>
            <a:srgbClr val="10253F"/>
          </a:solidFill>
        </p:spPr>
        <p:txBody>
          <a:bodyPr>
            <a:normAutofit/>
          </a:bodyPr>
          <a:lstStyle/>
          <a:p>
            <a:r>
              <a:rPr lang="en-US" dirty="0">
                <a:solidFill>
                  <a:srgbClr val="FFFFFF"/>
                </a:solidFill>
              </a:rPr>
              <a:t>7. Policies &amp; Procedures</a:t>
            </a:r>
          </a:p>
        </p:txBody>
      </p:sp>
      <p:sp>
        <p:nvSpPr>
          <p:cNvPr id="3" name="Content Placeholder 2"/>
          <p:cNvSpPr>
            <a:spLocks noGrp="1"/>
          </p:cNvSpPr>
          <p:nvPr>
            <p:ph idx="1"/>
          </p:nvPr>
        </p:nvSpPr>
        <p:spPr>
          <a:xfrm>
            <a:off x="457200" y="1824164"/>
            <a:ext cx="8229600" cy="4882770"/>
          </a:xfrm>
        </p:spPr>
        <p:txBody>
          <a:bodyPr>
            <a:noAutofit/>
          </a:bodyPr>
          <a:lstStyle/>
          <a:p>
            <a:r>
              <a:rPr lang="en-US" sz="2800" dirty="0"/>
              <a:t>Policy: </a:t>
            </a:r>
          </a:p>
          <a:p>
            <a:pPr lvl="1"/>
            <a:r>
              <a:rPr lang="en-US" dirty="0"/>
              <a:t>Written statements (rules) about how the organization intends to operate (what we do).</a:t>
            </a:r>
          </a:p>
          <a:p>
            <a:pPr lvl="1"/>
            <a:r>
              <a:rPr lang="en-US" dirty="0"/>
              <a:t>What, Who, Why</a:t>
            </a:r>
          </a:p>
          <a:p>
            <a:r>
              <a:rPr lang="en-US" sz="3200" dirty="0"/>
              <a:t>Procedures:</a:t>
            </a:r>
          </a:p>
          <a:p>
            <a:pPr lvl="1"/>
            <a:r>
              <a:rPr lang="en-US" dirty="0"/>
              <a:t>Specific instructions on how to perform a task according to the rules (how we do it)</a:t>
            </a:r>
          </a:p>
          <a:p>
            <a:pPr lvl="1"/>
            <a:r>
              <a:rPr lang="en-US" dirty="0"/>
              <a:t>What, Who, Why, How </a:t>
            </a:r>
          </a:p>
        </p:txBody>
      </p:sp>
      <p:sp>
        <p:nvSpPr>
          <p:cNvPr id="4" name="Slide Number Placeholder 3"/>
          <p:cNvSpPr>
            <a:spLocks noGrp="1"/>
          </p:cNvSpPr>
          <p:nvPr>
            <p:ph type="sldNum" sz="quarter" idx="12"/>
          </p:nvPr>
        </p:nvSpPr>
        <p:spPr>
          <a:noFill/>
          <a:ln>
            <a:noFill/>
          </a:ln>
        </p:spPr>
        <p:txBody>
          <a:bodyPr/>
          <a:lstStyle/>
          <a:p>
            <a:fld id="{36A94550-0172-2A4E-BEEB-6BE00EB0E97C}" type="slidenum">
              <a:rPr lang="en-US" smtClean="0">
                <a:solidFill>
                  <a:prstClr val="black">
                    <a:tint val="75000"/>
                  </a:prstClr>
                </a:solidFill>
              </a:rPr>
              <a:t>97</a:t>
            </a:fld>
            <a:endParaRPr lang="en-US" dirty="0">
              <a:solidFill>
                <a:prstClr val="black">
                  <a:tint val="75000"/>
                </a:prstClr>
              </a:solidFill>
            </a:endParaRPr>
          </a:p>
        </p:txBody>
      </p:sp>
      <p:sp>
        <p:nvSpPr>
          <p:cNvPr id="21" name="TextBox 20"/>
          <p:cNvSpPr txBox="1"/>
          <p:nvPr/>
        </p:nvSpPr>
        <p:spPr>
          <a:xfrm>
            <a:off x="263286" y="1300944"/>
            <a:ext cx="1769010" cy="523220"/>
          </a:xfrm>
          <a:prstGeom prst="rect">
            <a:avLst/>
          </a:prstGeom>
          <a:noFill/>
        </p:spPr>
        <p:txBody>
          <a:bodyPr wrap="none" rtlCol="0">
            <a:spAutoFit/>
          </a:bodyPr>
          <a:lstStyle/>
          <a:p>
            <a:pPr algn="ctr" defTabSz="457200"/>
            <a:r>
              <a:rPr lang="en-US" sz="2800" b="1" dirty="0">
                <a:solidFill>
                  <a:prstClr val="black"/>
                </a:solidFill>
              </a:rPr>
              <a:t>Definition:</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7655" y="1395775"/>
            <a:ext cx="8970579" cy="3286584"/>
          </a:xfrm>
        </p:spPr>
        <p:txBody>
          <a:bodyPr>
            <a:noAutofit/>
          </a:bodyPr>
          <a:lstStyle/>
          <a:p>
            <a:pPr marL="0" indent="0">
              <a:buNone/>
            </a:pPr>
            <a:r>
              <a:rPr lang="en-US" sz="2800" b="1" dirty="0"/>
              <a:t>Why important ? </a:t>
            </a:r>
            <a:br>
              <a:rPr lang="en-US" sz="2800" b="1" dirty="0"/>
            </a:br>
            <a:endParaRPr lang="en-US" sz="2800" b="1" dirty="0"/>
          </a:p>
          <a:p>
            <a:r>
              <a:rPr lang="en-US" sz="2400" dirty="0"/>
              <a:t>Help ensure that employees are treated fairly and equally</a:t>
            </a:r>
          </a:p>
          <a:p>
            <a:pPr>
              <a:lnSpc>
                <a:spcPct val="150000"/>
              </a:lnSpc>
            </a:pPr>
            <a:r>
              <a:rPr lang="en-US" sz="2400" dirty="0"/>
              <a:t>Help ensure that the organization follows the laws and rules</a:t>
            </a:r>
          </a:p>
          <a:p>
            <a:pPr>
              <a:lnSpc>
                <a:spcPct val="150000"/>
              </a:lnSpc>
            </a:pPr>
            <a:r>
              <a:rPr lang="en-US" sz="2400" dirty="0"/>
              <a:t>Communicates the laws and rules to staff</a:t>
            </a:r>
          </a:p>
          <a:p>
            <a:pPr>
              <a:lnSpc>
                <a:spcPct val="150000"/>
              </a:lnSpc>
            </a:pPr>
            <a:r>
              <a:rPr lang="en-US" sz="2400" dirty="0"/>
              <a:t>Required to obtain accreditation</a:t>
            </a:r>
          </a:p>
        </p:txBody>
      </p:sp>
      <p:sp>
        <p:nvSpPr>
          <p:cNvPr id="5" name="Content Placeholder 2"/>
          <p:cNvSpPr txBox="1"/>
          <p:nvPr/>
        </p:nvSpPr>
        <p:spPr>
          <a:xfrm>
            <a:off x="-1526" y="5055000"/>
            <a:ext cx="9144000" cy="1301350"/>
          </a:xfrm>
          <a:prstGeom prst="rect">
            <a:avLst/>
          </a:prstGeom>
          <a:solidFill>
            <a:schemeClr val="tx2">
              <a:lumMod val="20000"/>
              <a:lumOff val="80000"/>
            </a:schemeClr>
          </a:solidFill>
        </p:spPr>
        <p:txBody>
          <a:bodyPr vert="horz" lIns="91440" tIns="45720" rIns="91440" bIns="45720" rtlCol="0" anchor="ctr">
            <a:no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gn="ctr">
              <a:buFont typeface="Arial" panose="020B0604020202020204"/>
              <a:buNone/>
            </a:pPr>
            <a:r>
              <a:rPr lang="en-US" sz="2400" b="1" dirty="0">
                <a:solidFill>
                  <a:prstClr val="black"/>
                </a:solidFill>
              </a:rPr>
              <a:t>Policies and procedures must be transparent (easy to notice or understand) and applied equally.</a:t>
            </a:r>
            <a:endParaRPr lang="en-US" sz="2400" dirty="0">
              <a:solidFill>
                <a:prstClr val="black"/>
              </a:solidFill>
            </a:endParaRPr>
          </a:p>
        </p:txBody>
      </p:sp>
      <p:sp>
        <p:nvSpPr>
          <p:cNvPr id="4"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7. Policies &amp; Procedures</a:t>
            </a:r>
          </a:p>
        </p:txBody>
      </p:sp>
      <p:sp>
        <p:nvSpPr>
          <p:cNvPr id="2" name="Slide Number Placeholder 1"/>
          <p:cNvSpPr>
            <a:spLocks noGrp="1"/>
          </p:cNvSpPr>
          <p:nvPr>
            <p:ph type="sldNum" sz="quarter" idx="12"/>
          </p:nvPr>
        </p:nvSpPr>
        <p:spPr/>
        <p:txBody>
          <a:bodyPr/>
          <a:lstStyle/>
          <a:p>
            <a:fld id="{36A94550-0172-2A4E-BEEB-6BE00EB0E97C}" type="slidenum">
              <a:rPr lang="en-US" smtClean="0">
                <a:solidFill>
                  <a:prstClr val="black">
                    <a:tint val="75000"/>
                  </a:prstClr>
                </a:solidFill>
              </a:rPr>
              <a:t>98</a:t>
            </a:fld>
            <a:endParaRPr lang="en-US" dirty="0">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1+#ppt_w/2"/>
                                          </p:val>
                                        </p:tav>
                                        <p:tav tm="100000">
                                          <p:val>
                                            <p:strVal val="#ppt_x"/>
                                          </p:val>
                                        </p:tav>
                                      </p:tavLst>
                                    </p:anim>
                                    <p:anim calcmode="lin" valueType="num">
                                      <p:cBhvr additive="base">
                                        <p:cTn id="24"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7. Policies</a:t>
            </a:r>
          </a:p>
        </p:txBody>
      </p:sp>
      <p:sp>
        <p:nvSpPr>
          <p:cNvPr id="6" name="Slide Number Placeholder 5"/>
          <p:cNvSpPr>
            <a:spLocks noGrp="1"/>
          </p:cNvSpPr>
          <p:nvPr>
            <p:ph type="sldNum" sz="quarter" idx="12"/>
          </p:nvPr>
        </p:nvSpPr>
        <p:spPr/>
        <p:txBody>
          <a:bodyPr/>
          <a:lstStyle/>
          <a:p>
            <a:fld id="{36A94550-0172-2A4E-BEEB-6BE00EB0E97C}" type="slidenum">
              <a:rPr lang="en-US" smtClean="0">
                <a:solidFill>
                  <a:prstClr val="black">
                    <a:tint val="75000"/>
                  </a:prstClr>
                </a:solidFill>
              </a:rPr>
              <a:t>99</a:t>
            </a:fld>
            <a:endParaRPr lang="en-US" dirty="0">
              <a:solidFill>
                <a:prstClr val="black">
                  <a:tint val="75000"/>
                </a:prstClr>
              </a:solidFill>
            </a:endParaRPr>
          </a:p>
        </p:txBody>
      </p:sp>
      <p:sp>
        <p:nvSpPr>
          <p:cNvPr id="3" name="Rectangle 2"/>
          <p:cNvSpPr/>
          <p:nvPr/>
        </p:nvSpPr>
        <p:spPr>
          <a:xfrm>
            <a:off x="152402" y="1143004"/>
            <a:ext cx="8704730" cy="4154984"/>
          </a:xfrm>
          <a:prstGeom prst="rect">
            <a:avLst/>
          </a:prstGeom>
        </p:spPr>
        <p:txBody>
          <a:bodyPr wrap="square">
            <a:spAutoFit/>
          </a:bodyPr>
          <a:lstStyle/>
          <a:p>
            <a:pPr marL="342900" indent="-342900" defTabSz="457200">
              <a:buFont typeface="Arial" panose="020B0604020202020204" pitchFamily="34" charset="0"/>
              <a:buChar char="•"/>
            </a:pPr>
            <a:r>
              <a:rPr lang="en-US" sz="2400" dirty="0">
                <a:solidFill>
                  <a:prstClr val="black"/>
                </a:solidFill>
              </a:rPr>
              <a:t>Must include:</a:t>
            </a:r>
          </a:p>
          <a:p>
            <a:pPr marL="800100" lvl="1" indent="-342900" defTabSz="457200">
              <a:buFont typeface="Arial" panose="020B0604020202020204" pitchFamily="34" charset="0"/>
              <a:buChar char="•"/>
            </a:pPr>
            <a:r>
              <a:rPr lang="en-US" sz="2400" b="1" i="1" dirty="0">
                <a:solidFill>
                  <a:prstClr val="black"/>
                </a:solidFill>
              </a:rPr>
              <a:t>what</a:t>
            </a:r>
            <a:r>
              <a:rPr lang="en-US" sz="2400" dirty="0">
                <a:solidFill>
                  <a:prstClr val="black"/>
                </a:solidFill>
              </a:rPr>
              <a:t> the rule is</a:t>
            </a:r>
          </a:p>
          <a:p>
            <a:pPr marL="800100" lvl="1" indent="-342900" defTabSz="457200">
              <a:lnSpc>
                <a:spcPct val="150000"/>
              </a:lnSpc>
              <a:buFont typeface="Arial" panose="020B0604020202020204" pitchFamily="34" charset="0"/>
              <a:buChar char="•"/>
            </a:pPr>
            <a:r>
              <a:rPr lang="en-US" sz="2400" b="1" i="1" dirty="0">
                <a:solidFill>
                  <a:prstClr val="black"/>
                </a:solidFill>
              </a:rPr>
              <a:t>who</a:t>
            </a:r>
            <a:r>
              <a:rPr lang="en-US" sz="2400" dirty="0">
                <a:solidFill>
                  <a:prstClr val="black"/>
                </a:solidFill>
              </a:rPr>
              <a:t> is responsible for execution and enforcement</a:t>
            </a:r>
          </a:p>
          <a:p>
            <a:pPr marL="800100" lvl="1" indent="-342900" defTabSz="457200">
              <a:lnSpc>
                <a:spcPct val="150000"/>
              </a:lnSpc>
              <a:buFont typeface="Arial" panose="020B0604020202020204" pitchFamily="34" charset="0"/>
              <a:buChar char="•"/>
            </a:pPr>
            <a:r>
              <a:rPr lang="en-US" sz="2400" b="1" i="1" dirty="0">
                <a:solidFill>
                  <a:prstClr val="black"/>
                </a:solidFill>
              </a:rPr>
              <a:t>why</a:t>
            </a:r>
            <a:r>
              <a:rPr lang="en-US" sz="2400" dirty="0">
                <a:solidFill>
                  <a:prstClr val="black"/>
                </a:solidFill>
              </a:rPr>
              <a:t> the rule is required</a:t>
            </a:r>
          </a:p>
          <a:p>
            <a:pPr marL="342900" indent="-342900" defTabSz="457200">
              <a:lnSpc>
                <a:spcPct val="150000"/>
              </a:lnSpc>
              <a:buFont typeface="Arial" panose="020B0604020202020204" pitchFamily="34" charset="0"/>
              <a:buChar char="•"/>
            </a:pPr>
            <a:r>
              <a:rPr lang="en-US" sz="2400" dirty="0">
                <a:solidFill>
                  <a:prstClr val="black"/>
                </a:solidFill>
              </a:rPr>
              <a:t>Must receive formal approval by leadership</a:t>
            </a:r>
          </a:p>
          <a:p>
            <a:pPr marL="342900" indent="-342900" defTabSz="457200">
              <a:lnSpc>
                <a:spcPct val="150000"/>
              </a:lnSpc>
              <a:buFont typeface="Arial" panose="020B0604020202020204" pitchFamily="34" charset="0"/>
              <a:buChar char="•"/>
            </a:pPr>
            <a:r>
              <a:rPr lang="en-US" sz="2400" dirty="0">
                <a:solidFill>
                  <a:prstClr val="black"/>
                </a:solidFill>
              </a:rPr>
              <a:t>Must be reviewed regularly</a:t>
            </a:r>
          </a:p>
          <a:p>
            <a:pPr marL="342900" indent="-342900" defTabSz="457200">
              <a:lnSpc>
                <a:spcPct val="150000"/>
              </a:lnSpc>
              <a:buFont typeface="Arial" panose="020B0604020202020204" pitchFamily="34" charset="0"/>
              <a:buChar char="•"/>
            </a:pPr>
            <a:r>
              <a:rPr lang="en-US" sz="2400" dirty="0">
                <a:solidFill>
                  <a:prstClr val="black"/>
                </a:solidFill>
              </a:rPr>
              <a:t>Must be easily accessible to all employees</a:t>
            </a:r>
          </a:p>
          <a:p>
            <a:pPr marL="342900" indent="-342900" defTabSz="457200">
              <a:lnSpc>
                <a:spcPct val="150000"/>
              </a:lnSpc>
              <a:buFont typeface="Arial" panose="020B0604020202020204" pitchFamily="34" charset="0"/>
              <a:buChar char="•"/>
            </a:pPr>
            <a:r>
              <a:rPr lang="en-US" sz="2400" dirty="0">
                <a:solidFill>
                  <a:prstClr val="black"/>
                </a:solidFill>
              </a:rPr>
              <a:t>Can be department-specific or hospital-wide</a:t>
            </a:r>
          </a:p>
        </p:txBody>
      </p:sp>
      <p:sp>
        <p:nvSpPr>
          <p:cNvPr id="7" name="Title 1"/>
          <p:cNvSpPr txBox="1"/>
          <p:nvPr/>
        </p:nvSpPr>
        <p:spPr>
          <a:xfrm>
            <a:off x="-4456" y="5741792"/>
            <a:ext cx="9144000" cy="1143000"/>
          </a:xfrm>
          <a:prstGeom prst="rect">
            <a:avLst/>
          </a:prstGeom>
          <a:solidFill>
            <a:schemeClr val="tx2">
              <a:lumMod val="40000"/>
              <a:lumOff val="60000"/>
            </a:schemeClr>
          </a:solidFill>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800" i="1" dirty="0">
                <a:solidFill>
                  <a:prstClr val="black"/>
                </a:solidFill>
              </a:rPr>
              <a:t>Example: Policy &amp; procedure 11.1 Employees must notify management of lateness or absence</a:t>
            </a:r>
            <a:endParaRPr lang="en-US" sz="2800" dirty="0">
              <a:solidFill>
                <a:srgbClr val="FFFFFF"/>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7. Procedures</a:t>
            </a:r>
          </a:p>
        </p:txBody>
      </p:sp>
      <p:sp>
        <p:nvSpPr>
          <p:cNvPr id="6" name="Slide Number Placeholder 5"/>
          <p:cNvSpPr>
            <a:spLocks noGrp="1"/>
          </p:cNvSpPr>
          <p:nvPr>
            <p:ph type="sldNum" sz="quarter" idx="12"/>
          </p:nvPr>
        </p:nvSpPr>
        <p:spPr/>
        <p:txBody>
          <a:bodyPr/>
          <a:lstStyle/>
          <a:p>
            <a:fld id="{36A94550-0172-2A4E-BEEB-6BE00EB0E97C}" type="slidenum">
              <a:rPr lang="en-US" smtClean="0">
                <a:solidFill>
                  <a:prstClr val="black">
                    <a:tint val="75000"/>
                  </a:prstClr>
                </a:solidFill>
              </a:rPr>
              <a:t>100</a:t>
            </a:fld>
            <a:endParaRPr lang="en-US" dirty="0">
              <a:solidFill>
                <a:prstClr val="black">
                  <a:tint val="75000"/>
                </a:prstClr>
              </a:solidFill>
            </a:endParaRPr>
          </a:p>
        </p:txBody>
      </p:sp>
      <p:sp>
        <p:nvSpPr>
          <p:cNvPr id="8" name="TextBox 7"/>
          <p:cNvSpPr txBox="1"/>
          <p:nvPr/>
        </p:nvSpPr>
        <p:spPr>
          <a:xfrm>
            <a:off x="107096" y="1169764"/>
            <a:ext cx="9011130" cy="2862322"/>
          </a:xfrm>
          <a:prstGeom prst="rect">
            <a:avLst/>
          </a:prstGeom>
          <a:noFill/>
        </p:spPr>
        <p:txBody>
          <a:bodyPr wrap="square" rtlCol="0">
            <a:spAutoFit/>
          </a:bodyPr>
          <a:lstStyle/>
          <a:p>
            <a:pPr defTabSz="457200">
              <a:lnSpc>
                <a:spcPct val="150000"/>
              </a:lnSpc>
            </a:pPr>
            <a:r>
              <a:rPr lang="en-US" sz="2400" dirty="0">
                <a:solidFill>
                  <a:prstClr val="black"/>
                </a:solidFill>
              </a:rPr>
              <a:t>Must include:</a:t>
            </a:r>
          </a:p>
          <a:p>
            <a:pPr marL="342900" indent="-342900" defTabSz="457200">
              <a:lnSpc>
                <a:spcPct val="150000"/>
              </a:lnSpc>
              <a:buFont typeface="Arial" panose="020B0604020202020204" pitchFamily="34" charset="0"/>
              <a:buChar char="•"/>
            </a:pPr>
            <a:r>
              <a:rPr lang="en-US" sz="2400" b="1" i="1" dirty="0">
                <a:solidFill>
                  <a:prstClr val="black"/>
                </a:solidFill>
              </a:rPr>
              <a:t>who</a:t>
            </a:r>
            <a:r>
              <a:rPr lang="en-US" sz="2400" dirty="0">
                <a:solidFill>
                  <a:prstClr val="black"/>
                </a:solidFill>
              </a:rPr>
              <a:t> performs the steps</a:t>
            </a:r>
          </a:p>
          <a:p>
            <a:pPr marL="342900" indent="-342900" defTabSz="457200">
              <a:lnSpc>
                <a:spcPct val="150000"/>
              </a:lnSpc>
              <a:buFont typeface="Arial" panose="020B0604020202020204" pitchFamily="34" charset="0"/>
              <a:buChar char="•"/>
            </a:pPr>
            <a:r>
              <a:rPr lang="en-US" sz="2400" b="1" i="1" dirty="0">
                <a:solidFill>
                  <a:prstClr val="black"/>
                </a:solidFill>
              </a:rPr>
              <a:t>what</a:t>
            </a:r>
            <a:r>
              <a:rPr lang="en-US" sz="2400" dirty="0">
                <a:solidFill>
                  <a:prstClr val="black"/>
                </a:solidFill>
              </a:rPr>
              <a:t> steps are performed</a:t>
            </a:r>
          </a:p>
          <a:p>
            <a:pPr marL="342900" indent="-342900" defTabSz="457200">
              <a:lnSpc>
                <a:spcPct val="150000"/>
              </a:lnSpc>
              <a:buFont typeface="Arial" panose="020B0604020202020204" pitchFamily="34" charset="0"/>
              <a:buChar char="•"/>
            </a:pPr>
            <a:r>
              <a:rPr lang="en-US" sz="2400" b="1" i="1" dirty="0">
                <a:solidFill>
                  <a:prstClr val="black"/>
                </a:solidFill>
              </a:rPr>
              <a:t>when</a:t>
            </a:r>
            <a:r>
              <a:rPr lang="en-US" sz="2400" dirty="0">
                <a:solidFill>
                  <a:prstClr val="black"/>
                </a:solidFill>
              </a:rPr>
              <a:t> the steps are performed </a:t>
            </a:r>
          </a:p>
          <a:p>
            <a:pPr marL="342900" indent="-342900" defTabSz="457200">
              <a:lnSpc>
                <a:spcPct val="150000"/>
              </a:lnSpc>
              <a:buFont typeface="Arial" panose="020B0604020202020204" pitchFamily="34" charset="0"/>
              <a:buChar char="•"/>
            </a:pPr>
            <a:r>
              <a:rPr lang="en-US" sz="2400" b="1" i="1" dirty="0">
                <a:solidFill>
                  <a:prstClr val="black"/>
                </a:solidFill>
              </a:rPr>
              <a:t>how</a:t>
            </a:r>
            <a:r>
              <a:rPr lang="en-US" sz="2400" dirty="0">
                <a:solidFill>
                  <a:prstClr val="black"/>
                </a:solidFill>
              </a:rPr>
              <a:t> the steps are performed</a:t>
            </a:r>
          </a:p>
        </p:txBody>
      </p:sp>
      <p:sp>
        <p:nvSpPr>
          <p:cNvPr id="10" name="Title 1"/>
          <p:cNvSpPr txBox="1"/>
          <p:nvPr/>
        </p:nvSpPr>
        <p:spPr>
          <a:xfrm>
            <a:off x="-25774" y="4685890"/>
            <a:ext cx="9144000" cy="1143000"/>
          </a:xfrm>
          <a:prstGeom prst="rect">
            <a:avLst/>
          </a:prstGeom>
          <a:solidFill>
            <a:schemeClr val="tx2">
              <a:lumMod val="40000"/>
              <a:lumOff val="60000"/>
            </a:schemeClr>
          </a:solidFill>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800" i="1" dirty="0">
                <a:solidFill>
                  <a:prstClr val="black"/>
                </a:solidFill>
              </a:rPr>
              <a:t>Example: Policy &amp; procedure 11.1, how to follow department notification procedure</a:t>
            </a:r>
            <a:endParaRPr lang="en-US" sz="2800" dirty="0">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7. Policies &amp; Procedures</a:t>
            </a:r>
          </a:p>
        </p:txBody>
      </p:sp>
      <p:sp>
        <p:nvSpPr>
          <p:cNvPr id="2" name="TextBox 1"/>
          <p:cNvSpPr txBox="1"/>
          <p:nvPr/>
        </p:nvSpPr>
        <p:spPr>
          <a:xfrm>
            <a:off x="-31519" y="1316710"/>
            <a:ext cx="9167707" cy="461665"/>
          </a:xfrm>
          <a:prstGeom prst="rect">
            <a:avLst/>
          </a:prstGeom>
          <a:noFill/>
        </p:spPr>
        <p:txBody>
          <a:bodyPr wrap="square" rtlCol="0">
            <a:spAutoFit/>
          </a:bodyPr>
          <a:lstStyle/>
          <a:p>
            <a:pPr defTabSz="457200"/>
            <a:r>
              <a:rPr lang="en-US" sz="2400" b="1" dirty="0">
                <a:solidFill>
                  <a:prstClr val="black"/>
                </a:solidFill>
              </a:rPr>
              <a:t>    Policy examples</a:t>
            </a:r>
            <a:endParaRPr lang="en-US" sz="2000" dirty="0">
              <a:solidFill>
                <a:prstClr val="black"/>
              </a:solidFill>
            </a:endParaRPr>
          </a:p>
        </p:txBody>
      </p:sp>
      <p:graphicFrame>
        <p:nvGraphicFramePr>
          <p:cNvPr id="5" name="Table 4"/>
          <p:cNvGraphicFramePr>
            <a:graphicFrameLocks noGrp="1"/>
          </p:cNvGraphicFramePr>
          <p:nvPr/>
        </p:nvGraphicFramePr>
        <p:xfrm>
          <a:off x="315310" y="1910664"/>
          <a:ext cx="8430982" cy="4890199"/>
        </p:xfrm>
        <a:graphic>
          <a:graphicData uri="http://schemas.openxmlformats.org/drawingml/2006/table">
            <a:tbl>
              <a:tblPr firstRow="1" bandRow="1">
                <a:tableStyleId>{2D5ABB26-0587-4C30-8999-92F81FD0307C}</a:tableStyleId>
              </a:tblPr>
              <a:tblGrid>
                <a:gridCol w="2891371">
                  <a:extLst>
                    <a:ext uri="{9D8B030D-6E8A-4147-A177-3AD203B41FA5}">
                      <a16:colId xmlns:a16="http://schemas.microsoft.com/office/drawing/2014/main" val="20000"/>
                    </a:ext>
                  </a:extLst>
                </a:gridCol>
                <a:gridCol w="2929696">
                  <a:extLst>
                    <a:ext uri="{9D8B030D-6E8A-4147-A177-3AD203B41FA5}">
                      <a16:colId xmlns:a16="http://schemas.microsoft.com/office/drawing/2014/main" val="20001"/>
                    </a:ext>
                  </a:extLst>
                </a:gridCol>
                <a:gridCol w="2609915">
                  <a:extLst>
                    <a:ext uri="{9D8B030D-6E8A-4147-A177-3AD203B41FA5}">
                      <a16:colId xmlns:a16="http://schemas.microsoft.com/office/drawing/2014/main" val="20002"/>
                    </a:ext>
                  </a:extLst>
                </a:gridCol>
              </a:tblGrid>
              <a:tr h="4445685">
                <a:tc>
                  <a:txBody>
                    <a:bodyPr/>
                    <a:lstStyle/>
                    <a:p>
                      <a:pPr marL="285750" indent="-285750">
                        <a:lnSpc>
                          <a:spcPct val="120000"/>
                        </a:lnSpc>
                        <a:buFont typeface="Arial" panose="020B0604020202020204"/>
                        <a:buChar char="•"/>
                      </a:pPr>
                      <a:r>
                        <a:rPr lang="en-US" sz="2400" dirty="0"/>
                        <a:t>Compensation</a:t>
                      </a:r>
                    </a:p>
                    <a:p>
                      <a:pPr marL="285750" indent="-285750">
                        <a:lnSpc>
                          <a:spcPct val="120000"/>
                        </a:lnSpc>
                        <a:buFont typeface="Arial" panose="020B0604020202020204"/>
                        <a:buChar char="•"/>
                      </a:pPr>
                      <a:r>
                        <a:rPr lang="en-US" sz="2400" dirty="0"/>
                        <a:t>Performance Evaluation</a:t>
                      </a:r>
                    </a:p>
                    <a:p>
                      <a:pPr marL="285750" indent="-285750">
                        <a:lnSpc>
                          <a:spcPct val="120000"/>
                        </a:lnSpc>
                        <a:buFont typeface="Arial" panose="020B0604020202020204"/>
                        <a:buChar char="•"/>
                      </a:pPr>
                      <a:r>
                        <a:rPr lang="en-US" sz="2400" dirty="0"/>
                        <a:t>Performance Improvement</a:t>
                      </a:r>
                    </a:p>
                    <a:p>
                      <a:pPr marL="285750" indent="-285750">
                        <a:lnSpc>
                          <a:spcPct val="120000"/>
                        </a:lnSpc>
                        <a:buFont typeface="Arial" panose="020B0604020202020204"/>
                        <a:buChar char="•"/>
                      </a:pPr>
                      <a:r>
                        <a:rPr lang="en-US" sz="2400" dirty="0"/>
                        <a:t>Leave</a:t>
                      </a:r>
                    </a:p>
                    <a:p>
                      <a:pPr marL="285750" indent="-285750">
                        <a:lnSpc>
                          <a:spcPct val="120000"/>
                        </a:lnSpc>
                        <a:buFont typeface="Arial" panose="020B0604020202020204"/>
                        <a:buChar char="•"/>
                      </a:pPr>
                      <a:r>
                        <a:rPr lang="en-US" sz="2400" dirty="0"/>
                        <a:t>Separation of Employment</a:t>
                      </a:r>
                    </a:p>
                    <a:p>
                      <a:pPr marL="285750" indent="-285750">
                        <a:lnSpc>
                          <a:spcPct val="120000"/>
                        </a:lnSpc>
                        <a:buFont typeface="Arial" panose="020B0604020202020204"/>
                        <a:buChar char="•"/>
                      </a:pPr>
                      <a:r>
                        <a:rPr lang="en-US" sz="2400" dirty="0"/>
                        <a:t>Holidays</a:t>
                      </a:r>
                    </a:p>
                    <a:p>
                      <a:pPr marL="285750" indent="-285750">
                        <a:lnSpc>
                          <a:spcPct val="120000"/>
                        </a:lnSpc>
                        <a:buFont typeface="Arial" panose="020B0604020202020204"/>
                        <a:buChar char="•"/>
                      </a:pPr>
                      <a:r>
                        <a:rPr lang="en-US" sz="2400" dirty="0"/>
                        <a:t>Dress</a:t>
                      </a:r>
                      <a:r>
                        <a:rPr lang="en-US" sz="2400" baseline="0" dirty="0"/>
                        <a:t> code</a:t>
                      </a:r>
                    </a:p>
                  </a:txBody>
                  <a:tcPr/>
                </a:tc>
                <a:tc>
                  <a:txBody>
                    <a:bodyPr/>
                    <a:lstStyle/>
                    <a:p>
                      <a:pPr marL="285750" indent="-285750">
                        <a:lnSpc>
                          <a:spcPct val="120000"/>
                        </a:lnSpc>
                        <a:buFont typeface="Arial" panose="020B0604020202020204"/>
                        <a:buChar char="•"/>
                      </a:pPr>
                      <a:r>
                        <a:rPr lang="en-US" sz="2400" dirty="0"/>
                        <a:t>Workplace</a:t>
                      </a:r>
                      <a:r>
                        <a:rPr lang="en-US" sz="2400" baseline="0" dirty="0"/>
                        <a:t> behavior</a:t>
                      </a:r>
                    </a:p>
                    <a:p>
                      <a:pPr marL="285750" indent="-285750">
                        <a:lnSpc>
                          <a:spcPct val="120000"/>
                        </a:lnSpc>
                        <a:buFont typeface="Arial" panose="020B0604020202020204"/>
                        <a:buChar char="•"/>
                      </a:pPr>
                      <a:r>
                        <a:rPr lang="en-US" sz="2400" baseline="0" dirty="0"/>
                        <a:t>Use of drugs and alcohol</a:t>
                      </a:r>
                    </a:p>
                    <a:p>
                      <a:pPr marL="285750" indent="-285750">
                        <a:lnSpc>
                          <a:spcPct val="120000"/>
                        </a:lnSpc>
                        <a:buFont typeface="Arial" panose="020B0604020202020204"/>
                        <a:buChar char="•"/>
                      </a:pPr>
                      <a:r>
                        <a:rPr lang="en-US" sz="2400" baseline="0" dirty="0"/>
                        <a:t>Employment of relatives</a:t>
                      </a:r>
                    </a:p>
                    <a:p>
                      <a:pPr marL="285750" indent="-285750">
                        <a:lnSpc>
                          <a:spcPct val="120000"/>
                        </a:lnSpc>
                        <a:buFont typeface="Arial" panose="020B0604020202020204"/>
                        <a:buChar char="•"/>
                      </a:pPr>
                      <a:r>
                        <a:rPr lang="en-US" sz="2400" baseline="0" dirty="0"/>
                        <a:t>Use of email</a:t>
                      </a:r>
                    </a:p>
                    <a:p>
                      <a:pPr marL="285750" indent="-285750">
                        <a:lnSpc>
                          <a:spcPct val="120000"/>
                        </a:lnSpc>
                        <a:buFont typeface="Arial" panose="020B0604020202020204"/>
                        <a:buChar char="•"/>
                      </a:pPr>
                      <a:r>
                        <a:rPr lang="en-US" sz="2400" baseline="0" dirty="0"/>
                        <a:t>Use of organization phones</a:t>
                      </a:r>
                    </a:p>
                    <a:p>
                      <a:pPr marL="285750" indent="-285750">
                        <a:lnSpc>
                          <a:spcPct val="120000"/>
                        </a:lnSpc>
                        <a:buFont typeface="Arial" panose="020B0604020202020204"/>
                        <a:buChar char="•"/>
                      </a:pPr>
                      <a:r>
                        <a:rPr lang="en-US" sz="2400" baseline="0" dirty="0"/>
                        <a:t>Sexual harassment</a:t>
                      </a:r>
                    </a:p>
                    <a:p>
                      <a:pPr marL="285750" marR="0" indent="-285750" algn="l" defTabSz="457200" rtl="0" eaLnBrk="1" fontAlgn="auto" latinLnBrk="0" hangingPunct="1">
                        <a:lnSpc>
                          <a:spcPct val="120000"/>
                        </a:lnSpc>
                        <a:spcBef>
                          <a:spcPts val="0"/>
                        </a:spcBef>
                        <a:spcAft>
                          <a:spcPts val="0"/>
                        </a:spcAft>
                        <a:buClrTx/>
                        <a:buSzTx/>
                        <a:buFont typeface="Arial" panose="020B0604020202020204"/>
                        <a:buChar char="•"/>
                        <a:defRPr/>
                      </a:pPr>
                      <a:r>
                        <a:rPr lang="en-US" sz="2400" baseline="0" dirty="0"/>
                        <a:t>Ethics</a:t>
                      </a:r>
                    </a:p>
                  </a:txBody>
                  <a:tcPr/>
                </a:tc>
                <a:tc>
                  <a:txBody>
                    <a:bodyPr/>
                    <a:lstStyle/>
                    <a:p>
                      <a:pPr marL="285750" indent="-285750">
                        <a:lnSpc>
                          <a:spcPct val="120000"/>
                        </a:lnSpc>
                        <a:buFont typeface="Arial" panose="020B0604020202020204"/>
                        <a:buChar char="•"/>
                      </a:pPr>
                      <a:r>
                        <a:rPr lang="en-US" sz="2400" dirty="0"/>
                        <a:t>Occupational Health and Safety</a:t>
                      </a:r>
                    </a:p>
                    <a:p>
                      <a:pPr marL="285750" indent="-285750">
                        <a:lnSpc>
                          <a:spcPct val="120000"/>
                        </a:lnSpc>
                        <a:buFont typeface="Arial" panose="020B0604020202020204"/>
                        <a:buChar char="•"/>
                      </a:pPr>
                      <a:r>
                        <a:rPr lang="en-US" sz="2400" dirty="0"/>
                        <a:t>Grievance</a:t>
                      </a:r>
                    </a:p>
                    <a:p>
                      <a:pPr marL="285750" indent="-285750">
                        <a:lnSpc>
                          <a:spcPct val="120000"/>
                        </a:lnSpc>
                        <a:buFont typeface="Arial" panose="020B0604020202020204"/>
                        <a:buChar char="•"/>
                      </a:pPr>
                      <a:r>
                        <a:rPr lang="en-US" sz="2400" dirty="0"/>
                        <a:t>Business travel</a:t>
                      </a:r>
                    </a:p>
                    <a:p>
                      <a:pPr marL="285750" indent="-285750">
                        <a:lnSpc>
                          <a:spcPct val="120000"/>
                        </a:lnSpc>
                        <a:buFont typeface="Arial" panose="020B0604020202020204"/>
                        <a:buChar char="•"/>
                      </a:pPr>
                      <a:r>
                        <a:rPr lang="en-US" sz="2400" baseline="0" dirty="0"/>
                        <a:t>Attendance</a:t>
                      </a:r>
                    </a:p>
                    <a:p>
                      <a:pPr marL="285750" indent="-285750">
                        <a:lnSpc>
                          <a:spcPct val="120000"/>
                        </a:lnSpc>
                        <a:buFont typeface="Arial" panose="020B0604020202020204"/>
                        <a:buChar char="•"/>
                      </a:pPr>
                      <a:r>
                        <a:rPr lang="en-US" sz="2400" baseline="0" dirty="0"/>
                        <a:t>Work schedules</a:t>
                      </a:r>
                    </a:p>
                    <a:p>
                      <a:pPr marL="285750" indent="-285750">
                        <a:lnSpc>
                          <a:spcPct val="120000"/>
                        </a:lnSpc>
                        <a:buFont typeface="Arial" panose="020B0604020202020204"/>
                        <a:buChar char="•"/>
                      </a:pPr>
                      <a:r>
                        <a:rPr lang="en-US" sz="2400" baseline="0" dirty="0"/>
                        <a:t>Conflict of interest</a:t>
                      </a:r>
                      <a:endParaRPr lang="en-US" sz="2400" dirty="0"/>
                    </a:p>
                    <a:p>
                      <a:pPr marL="285750" indent="-285750">
                        <a:lnSpc>
                          <a:spcPct val="120000"/>
                        </a:lnSpc>
                        <a:buFont typeface="Arial" panose="020B0604020202020204"/>
                        <a:buChar char="•"/>
                      </a:pPr>
                      <a:r>
                        <a:rPr lang="en-US" sz="2400" dirty="0"/>
                        <a:t>Patient</a:t>
                      </a:r>
                      <a:r>
                        <a:rPr lang="en-US" sz="2400" baseline="0" dirty="0"/>
                        <a:t> privacy</a:t>
                      </a:r>
                    </a:p>
                    <a:p>
                      <a:pPr marL="285750" indent="-285750">
                        <a:lnSpc>
                          <a:spcPct val="120000"/>
                        </a:lnSpc>
                        <a:buFont typeface="Arial" panose="020B0604020202020204"/>
                        <a:buChar char="•"/>
                      </a:pPr>
                      <a:r>
                        <a:rPr lang="en-US" sz="2400" baseline="0" dirty="0"/>
                        <a:t>ID badges</a:t>
                      </a:r>
                      <a:endParaRPr lang="en-US" sz="2400" dirty="0"/>
                    </a:p>
                  </a:txBody>
                  <a:tcPr/>
                </a:tc>
                <a:extLst>
                  <a:ext uri="{0D108BD9-81ED-4DB2-BD59-A6C34878D82A}">
                    <a16:rowId xmlns:a16="http://schemas.microsoft.com/office/drawing/2014/main" val="10000"/>
                  </a:ext>
                </a:extLst>
              </a:tr>
            </a:tbl>
          </a:graphicData>
        </a:graphic>
      </p:graphicFrame>
      <p:sp>
        <p:nvSpPr>
          <p:cNvPr id="6" name="Slide Number Placeholder 5"/>
          <p:cNvSpPr>
            <a:spLocks noGrp="1"/>
          </p:cNvSpPr>
          <p:nvPr>
            <p:ph type="sldNum" sz="quarter" idx="12"/>
          </p:nvPr>
        </p:nvSpPr>
        <p:spPr/>
        <p:txBody>
          <a:bodyPr/>
          <a:lstStyle/>
          <a:p>
            <a:fld id="{36A94550-0172-2A4E-BEEB-6BE00EB0E97C}" type="slidenum">
              <a:rPr lang="en-US" smtClean="0">
                <a:solidFill>
                  <a:prstClr val="black">
                    <a:tint val="75000"/>
                  </a:prstClr>
                </a:solidFill>
              </a:rPr>
              <a:t>101</a:t>
            </a:fld>
            <a:endParaRPr lang="en-US" dirty="0">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0" y="0"/>
            <a:ext cx="9144000" cy="1143000"/>
          </a:xfrm>
          <a:solidFill>
            <a:srgbClr val="10253F"/>
          </a:solidFill>
        </p:spPr>
        <p:txBody>
          <a:bodyPr>
            <a:normAutofit/>
          </a:bodyPr>
          <a:lstStyle/>
          <a:p>
            <a:r>
              <a:rPr lang="en-US" dirty="0">
                <a:solidFill>
                  <a:srgbClr val="FFFFFF"/>
                </a:solidFill>
              </a:rPr>
              <a:t>7. Policies &amp; Procedures</a:t>
            </a:r>
          </a:p>
        </p:txBody>
      </p:sp>
      <p:sp>
        <p:nvSpPr>
          <p:cNvPr id="2" name="TextBox 1"/>
          <p:cNvSpPr txBox="1"/>
          <p:nvPr/>
        </p:nvSpPr>
        <p:spPr>
          <a:xfrm>
            <a:off x="107096" y="1316710"/>
            <a:ext cx="4194033" cy="523220"/>
          </a:xfrm>
          <a:prstGeom prst="rect">
            <a:avLst/>
          </a:prstGeom>
          <a:noFill/>
        </p:spPr>
        <p:txBody>
          <a:bodyPr wrap="none" rtlCol="0">
            <a:spAutoFit/>
          </a:bodyPr>
          <a:lstStyle/>
          <a:p>
            <a:pPr algn="ctr" defTabSz="457200"/>
            <a:r>
              <a:rPr lang="en-US" sz="2800" b="1" dirty="0">
                <a:solidFill>
                  <a:prstClr val="black"/>
                </a:solidFill>
              </a:rPr>
              <a:t>Employee Code of Conduct</a:t>
            </a:r>
          </a:p>
        </p:txBody>
      </p:sp>
      <p:sp>
        <p:nvSpPr>
          <p:cNvPr id="6" name="Slide Number Placeholder 5"/>
          <p:cNvSpPr>
            <a:spLocks noGrp="1"/>
          </p:cNvSpPr>
          <p:nvPr>
            <p:ph type="sldNum" sz="quarter" idx="12"/>
          </p:nvPr>
        </p:nvSpPr>
        <p:spPr/>
        <p:txBody>
          <a:bodyPr/>
          <a:lstStyle/>
          <a:p>
            <a:fld id="{36A94550-0172-2A4E-BEEB-6BE00EB0E97C}" type="slidenum">
              <a:rPr lang="en-US" smtClean="0">
                <a:solidFill>
                  <a:prstClr val="black">
                    <a:tint val="75000"/>
                  </a:prstClr>
                </a:solidFill>
              </a:rPr>
              <a:t>102</a:t>
            </a:fld>
            <a:endParaRPr lang="en-US" dirty="0">
              <a:solidFill>
                <a:prstClr val="black">
                  <a:tint val="75000"/>
                </a:prstClr>
              </a:solidFill>
            </a:endParaRPr>
          </a:p>
        </p:txBody>
      </p:sp>
      <p:sp>
        <p:nvSpPr>
          <p:cNvPr id="7" name="TextBox 6"/>
          <p:cNvSpPr txBox="1"/>
          <p:nvPr/>
        </p:nvSpPr>
        <p:spPr>
          <a:xfrm>
            <a:off x="126302" y="1685288"/>
            <a:ext cx="9011130" cy="1261884"/>
          </a:xfrm>
          <a:prstGeom prst="rect">
            <a:avLst/>
          </a:prstGeom>
          <a:noFill/>
        </p:spPr>
        <p:txBody>
          <a:bodyPr wrap="square" rtlCol="0">
            <a:spAutoFit/>
          </a:bodyPr>
          <a:lstStyle/>
          <a:p>
            <a:pPr defTabSz="457200"/>
            <a:r>
              <a:rPr lang="en-US" sz="2800" b="1" dirty="0">
                <a:solidFill>
                  <a:prstClr val="black"/>
                </a:solidFill>
              </a:rPr>
              <a:t>Definition</a:t>
            </a:r>
            <a:r>
              <a:rPr lang="en-US" sz="2800" dirty="0">
                <a:solidFill>
                  <a:prstClr val="black"/>
                </a:solidFill>
              </a:rPr>
              <a:t>: </a:t>
            </a:r>
          </a:p>
          <a:p>
            <a:pPr defTabSz="457200"/>
            <a:r>
              <a:rPr lang="en-US" sz="2400" dirty="0">
                <a:solidFill>
                  <a:prstClr val="black"/>
                </a:solidFill>
              </a:rPr>
              <a:t>A summary of the organization’s expectations or standards for employee behavior. </a:t>
            </a:r>
          </a:p>
        </p:txBody>
      </p:sp>
      <p:sp>
        <p:nvSpPr>
          <p:cNvPr id="8" name="TextBox 7"/>
          <p:cNvSpPr txBox="1"/>
          <p:nvPr/>
        </p:nvSpPr>
        <p:spPr>
          <a:xfrm>
            <a:off x="107096" y="3177812"/>
            <a:ext cx="9011130" cy="2308324"/>
          </a:xfrm>
          <a:prstGeom prst="rect">
            <a:avLst/>
          </a:prstGeom>
          <a:noFill/>
        </p:spPr>
        <p:txBody>
          <a:bodyPr wrap="square" rtlCol="0">
            <a:spAutoFit/>
          </a:bodyPr>
          <a:lstStyle/>
          <a:p>
            <a:pPr defTabSz="457200"/>
            <a:r>
              <a:rPr lang="en-US" sz="2400" dirty="0">
                <a:solidFill>
                  <a:prstClr val="black"/>
                </a:solidFill>
              </a:rPr>
              <a:t>Includes many of the policies.</a:t>
            </a:r>
          </a:p>
          <a:p>
            <a:pPr defTabSz="457200"/>
            <a:r>
              <a:rPr lang="en-US" sz="2400" dirty="0">
                <a:solidFill>
                  <a:prstClr val="black"/>
                </a:solidFill>
              </a:rPr>
              <a:t>	Ex: attendance, drug/alcohol use, computer use, phone use, etc.</a:t>
            </a:r>
            <a:br>
              <a:rPr lang="en-US" sz="2400" dirty="0">
                <a:solidFill>
                  <a:prstClr val="black"/>
                </a:solidFill>
              </a:rPr>
            </a:br>
            <a:br>
              <a:rPr lang="en-US" sz="2400" dirty="0">
                <a:solidFill>
                  <a:prstClr val="black"/>
                </a:solidFill>
              </a:rPr>
            </a:br>
            <a:r>
              <a:rPr lang="en-US" sz="2400" dirty="0">
                <a:solidFill>
                  <a:prstClr val="black"/>
                </a:solidFill>
              </a:rPr>
              <a:t>The employee will sign off that s/he read it and understands it.</a:t>
            </a:r>
          </a:p>
          <a:p>
            <a:pPr defTabSz="457200"/>
            <a:endParaRPr lang="en-US" sz="2400" dirty="0">
              <a:solidFill>
                <a:prstClr val="black"/>
              </a:solidFill>
            </a:endParaRPr>
          </a:p>
          <a:p>
            <a:pPr defTabSz="457200"/>
            <a:r>
              <a:rPr lang="en-US" sz="2400" dirty="0">
                <a:solidFill>
                  <a:prstClr val="black"/>
                </a:solidFill>
              </a:rPr>
              <a:t>Sign off should be done at orientation and every year after. </a:t>
            </a:r>
          </a:p>
        </p:txBody>
      </p:sp>
      <p:sp>
        <p:nvSpPr>
          <p:cNvPr id="9" name="TextBox 8"/>
          <p:cNvSpPr txBox="1"/>
          <p:nvPr/>
        </p:nvSpPr>
        <p:spPr>
          <a:xfrm>
            <a:off x="101836" y="5537452"/>
            <a:ext cx="9011130" cy="892552"/>
          </a:xfrm>
          <a:prstGeom prst="rect">
            <a:avLst/>
          </a:prstGeom>
          <a:noFill/>
        </p:spPr>
        <p:txBody>
          <a:bodyPr wrap="square" rtlCol="0">
            <a:spAutoFit/>
          </a:bodyPr>
          <a:lstStyle/>
          <a:p>
            <a:pPr defTabSz="457200"/>
            <a:r>
              <a:rPr lang="en-US" sz="2800" b="1" dirty="0">
                <a:solidFill>
                  <a:prstClr val="black"/>
                </a:solidFill>
              </a:rPr>
              <a:t>Why is it important?</a:t>
            </a:r>
            <a:endParaRPr lang="en-US" sz="2800" dirty="0">
              <a:solidFill>
                <a:prstClr val="black"/>
              </a:solidFill>
            </a:endParaRPr>
          </a:p>
          <a:p>
            <a:pPr defTabSz="457200"/>
            <a:r>
              <a:rPr lang="en-US" sz="2400" dirty="0">
                <a:solidFill>
                  <a:prstClr val="black"/>
                </a:solidFill>
              </a:rPr>
              <a:t>	It clearly defines what is expected of each employee.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Hospital material/EQUIPMENT management </a:t>
            </a:r>
            <a:endParaRPr lang="fr-FR" dirty="0"/>
          </a:p>
        </p:txBody>
      </p:sp>
      <p:sp>
        <p:nvSpPr>
          <p:cNvPr id="3" name="Content Placeholder 2"/>
          <p:cNvSpPr>
            <a:spLocks noGrp="1"/>
          </p:cNvSpPr>
          <p:nvPr>
            <p:ph idx="1"/>
          </p:nvPr>
        </p:nvSpPr>
        <p:spPr>
          <a:xfrm>
            <a:off x="768096" y="1905000"/>
            <a:ext cx="7994904" cy="4724400"/>
          </a:xfrm>
        </p:spPr>
        <p:txBody>
          <a:bodyPr/>
          <a:lstStyle/>
          <a:p>
            <a:pPr marL="0" indent="0">
              <a:lnSpc>
                <a:spcPct val="150000"/>
              </a:lnSpc>
              <a:spcBef>
                <a:spcPts val="0"/>
              </a:spcBef>
              <a:spcAft>
                <a:spcPts val="0"/>
              </a:spcAft>
              <a:buNone/>
            </a:pPr>
            <a:r>
              <a:rPr lang="en-US" b="1" dirty="0">
                <a:latin typeface="Times New Roman" panose="02020603050405020304" pitchFamily="18" charset="0"/>
                <a:ea typeface="Times New Roman" panose="02020603050405020304" pitchFamily="18" charset="0"/>
                <a:cs typeface="Times New Roman" panose="02020603050405020304" pitchFamily="18" charset="0"/>
              </a:rPr>
              <a:t>Two major categories of material are:</a:t>
            </a:r>
          </a:p>
          <a:p>
            <a:pPr>
              <a:lnSpc>
                <a:spcPct val="150000"/>
              </a:lnSpc>
              <a:spcBef>
                <a:spcPts val="0"/>
              </a:spcBef>
              <a:spcAft>
                <a:spcPts val="0"/>
              </a:spcAft>
              <a:buFont typeface="Wingdings" panose="05000000000000000000" pitchFamily="2" charset="2"/>
              <a:buChar char="§"/>
            </a:pPr>
            <a:r>
              <a:rPr lang="en-US" b="1" dirty="0">
                <a:latin typeface="Times New Roman" panose="02020603050405020304" pitchFamily="18" charset="0"/>
                <a:ea typeface="Times New Roman" panose="02020603050405020304" pitchFamily="18" charset="0"/>
                <a:cs typeface="Times New Roman" panose="02020603050405020304" pitchFamily="18" charset="0"/>
              </a:rPr>
              <a:t>Renewable material </a:t>
            </a:r>
            <a:r>
              <a:rPr lang="en-US" dirty="0">
                <a:latin typeface="Times New Roman" panose="02020603050405020304" pitchFamily="18" charset="0"/>
                <a:ea typeface="Times New Roman" panose="02020603050405020304" pitchFamily="18" charset="0"/>
                <a:cs typeface="Times New Roman" panose="02020603050405020304" pitchFamily="18" charset="0"/>
              </a:rPr>
              <a:t>(also called current consumption or supply)</a:t>
            </a:r>
          </a:p>
          <a:p>
            <a:pPr>
              <a:lnSpc>
                <a:spcPct val="150000"/>
              </a:lnSpc>
              <a:spcBef>
                <a:spcPts val="0"/>
              </a:spcBef>
              <a:spcAft>
                <a:spcPts val="0"/>
              </a:spcAft>
              <a:buFont typeface="Wingdings" panose="05000000000000000000" pitchFamily="2" charset="2"/>
              <a:buChar char="§"/>
            </a:pP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a:latin typeface="Times New Roman" panose="02020603050405020304" pitchFamily="18" charset="0"/>
                <a:ea typeface="Times New Roman" panose="02020603050405020304" pitchFamily="18" charset="0"/>
                <a:cs typeface="Times New Roman" panose="02020603050405020304" pitchFamily="18" charset="0"/>
              </a:rPr>
              <a:t>Non-renewable material </a:t>
            </a:r>
            <a:r>
              <a:rPr lang="en-US" dirty="0">
                <a:latin typeface="Times New Roman" panose="02020603050405020304" pitchFamily="18" charset="0"/>
                <a:ea typeface="Times New Roman" panose="02020603050405020304" pitchFamily="18" charset="0"/>
                <a:cs typeface="Times New Roman" panose="02020603050405020304" pitchFamily="18" charset="0"/>
              </a:rPr>
              <a:t>(also called the capital or Equipment)</a:t>
            </a:r>
            <a:br>
              <a:rPr lang="en-US" dirty="0">
                <a:latin typeface="Times New Roman" panose="02020603050405020304" pitchFamily="18" charset="0"/>
                <a:ea typeface="Times New Roman" panose="02020603050405020304" pitchFamily="18" charset="0"/>
                <a:cs typeface="Times New Roman" panose="02020603050405020304" pitchFamily="18" charset="0"/>
              </a:rPr>
            </a:br>
            <a:r>
              <a:rPr lang="en-US" dirty="0">
                <a:latin typeface="Times New Roman" panose="02020603050405020304" pitchFamily="18" charset="0"/>
                <a:ea typeface="Times New Roman" panose="02020603050405020304" pitchFamily="18" charset="0"/>
                <a:cs typeface="Times New Roman" panose="02020603050405020304" pitchFamily="18" charset="0"/>
              </a:rPr>
              <a:t> Renewable material is supplies that are quickly consumed for example cotton wool, syringes, paper etc.</a:t>
            </a:r>
            <a:endParaRPr lang="fr-FR" dirty="0">
              <a:latin typeface="Calibri" panose="020F0502020204030204" charset="0"/>
              <a:ea typeface="Calibri" panose="020F0502020204030204" charset="0"/>
              <a:cs typeface="Times New Roman" panose="02020603050405020304" pitchFamily="18" charset="0"/>
            </a:endParaRPr>
          </a:p>
          <a:p>
            <a:pPr>
              <a:lnSpc>
                <a:spcPct val="150000"/>
              </a:lnSpc>
            </a:pPr>
            <a:r>
              <a:rPr lang="en-US" dirty="0">
                <a:latin typeface="Times New Roman" panose="02020603050405020304" pitchFamily="18" charset="0"/>
                <a:ea typeface="Times New Roman" panose="02020603050405020304" pitchFamily="18" charset="0"/>
              </a:rPr>
              <a:t>Non-renewable material are equipment that lasts several years and must maintain, such as microscopes, scales, ambulances, vehicles, tables, etc..</a:t>
            </a:r>
            <a:endParaRPr lang="fr-FR"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8096" y="838200"/>
            <a:ext cx="7290055" cy="5471160"/>
          </a:xfrm>
        </p:spPr>
        <p:txBody>
          <a:bodyPr>
            <a:normAutofit/>
          </a:bodyPr>
          <a:lstStyle/>
          <a:p>
            <a:pPr marL="0" marR="0">
              <a:lnSpc>
                <a:spcPct val="150000"/>
              </a:lnSpc>
              <a:spcBef>
                <a:spcPts val="0"/>
              </a:spcBef>
              <a:spcAft>
                <a:spcPts val="0"/>
              </a:spcAft>
            </a:pPr>
            <a:r>
              <a:rPr lang="en-US" b="1" i="1" dirty="0">
                <a:latin typeface="Times New Roman" panose="02020603050405020304" pitchFamily="18" charset="0"/>
                <a:ea typeface="Times New Roman" panose="02020603050405020304" pitchFamily="18" charset="0"/>
                <a:cs typeface="Times New Roman" panose="02020603050405020304" pitchFamily="18" charset="0"/>
              </a:rPr>
              <a:t>The four stages of management of material are:</a:t>
            </a:r>
            <a:endParaRPr lang="fr-FR" dirty="0">
              <a:latin typeface="Calibri" panose="020F0502020204030204" charset="0"/>
              <a:ea typeface="Calibri" panose="020F0502020204030204" charset="0"/>
              <a:cs typeface="Times New Roman" panose="02020603050405020304" pitchFamily="18" charset="0"/>
            </a:endParaRPr>
          </a:p>
          <a:p>
            <a:pPr marL="342900" marR="0" lvl="0" indent="-342900">
              <a:lnSpc>
                <a:spcPct val="150000"/>
              </a:lnSpc>
              <a:spcBef>
                <a:spcPts val="0"/>
              </a:spcBef>
              <a:spcAft>
                <a:spcPts val="0"/>
              </a:spcAft>
              <a:buFont typeface="Wingdings" panose="05000000000000000000" pitchFamily="2" charset="2"/>
              <a:buChar char=""/>
            </a:pPr>
            <a:r>
              <a:rPr lang="en-US" b="1" i="1" dirty="0">
                <a:latin typeface="Times New Roman" panose="02020603050405020304" pitchFamily="18" charset="0"/>
                <a:ea typeface="Times New Roman" panose="02020603050405020304" pitchFamily="18" charset="0"/>
                <a:cs typeface="Times New Roman" panose="02020603050405020304" pitchFamily="18" charset="0"/>
              </a:rPr>
              <a:t>ORDERING EQUIPMENT</a:t>
            </a:r>
            <a:r>
              <a:rPr lang="en-US" i="1" dirty="0">
                <a:latin typeface="Times New Roman" panose="02020603050405020304" pitchFamily="18" charset="0"/>
                <a:ea typeface="Times New Roman" panose="02020603050405020304" pitchFamily="18" charset="0"/>
                <a:cs typeface="Times New Roman" panose="02020603050405020304" pitchFamily="18" charset="0"/>
              </a:rPr>
              <a:t>:</a:t>
            </a:r>
            <a:r>
              <a:rPr lang="en-US" dirty="0">
                <a:latin typeface="Times New Roman" panose="02020603050405020304" pitchFamily="18" charset="0"/>
                <a:ea typeface="Times New Roman" panose="02020603050405020304" pitchFamily="18" charset="0"/>
                <a:cs typeface="Times New Roman" panose="02020603050405020304" pitchFamily="18" charset="0"/>
              </a:rPr>
              <a:t>  The acquisition of material and equipment</a:t>
            </a:r>
            <a:endParaRPr lang="fr-FR" dirty="0">
              <a:latin typeface="Calibri" panose="020F0502020204030204" charset="0"/>
              <a:ea typeface="Calibri" panose="020F0502020204030204" charset="0"/>
              <a:cs typeface="Times New Roman" panose="02020603050405020304" pitchFamily="18" charset="0"/>
            </a:endParaRPr>
          </a:p>
          <a:p>
            <a:pPr marL="342900" marR="0" lvl="0" indent="-342900">
              <a:lnSpc>
                <a:spcPct val="150000"/>
              </a:lnSpc>
              <a:spcBef>
                <a:spcPts val="0"/>
              </a:spcBef>
              <a:spcAft>
                <a:spcPts val="0"/>
              </a:spcAft>
              <a:buFont typeface="Wingdings" panose="05000000000000000000" pitchFamily="2" charset="2"/>
              <a:buChar char=""/>
            </a:pPr>
            <a:r>
              <a:rPr lang="en-US" b="1" i="1" dirty="0">
                <a:latin typeface="Times New Roman" panose="02020603050405020304" pitchFamily="18" charset="0"/>
                <a:ea typeface="Times New Roman" panose="02020603050405020304" pitchFamily="18" charset="0"/>
                <a:cs typeface="Times New Roman" panose="02020603050405020304" pitchFamily="18" charset="0"/>
              </a:rPr>
              <a:t>STORING EQUIPMENT</a:t>
            </a:r>
            <a:r>
              <a:rPr lang="en-US" dirty="0">
                <a:latin typeface="Times New Roman" panose="02020603050405020304" pitchFamily="18" charset="0"/>
                <a:ea typeface="Times New Roman" panose="02020603050405020304" pitchFamily="18" charset="0"/>
                <a:cs typeface="Times New Roman" panose="02020603050405020304" pitchFamily="18" charset="0"/>
              </a:rPr>
              <a:t>: The registration, labeling and preservation of material and equipment in a stock.</a:t>
            </a:r>
            <a:endParaRPr lang="fr-FR" dirty="0">
              <a:latin typeface="Calibri" panose="020F0502020204030204" charset="0"/>
              <a:ea typeface="Calibri" panose="020F0502020204030204" charset="0"/>
              <a:cs typeface="Times New Roman" panose="02020603050405020304" pitchFamily="18" charset="0"/>
            </a:endParaRPr>
          </a:p>
          <a:p>
            <a:pPr marL="342900" marR="0" lvl="0" indent="-342900">
              <a:lnSpc>
                <a:spcPct val="150000"/>
              </a:lnSpc>
              <a:spcBef>
                <a:spcPts val="0"/>
              </a:spcBef>
              <a:spcAft>
                <a:spcPts val="0"/>
              </a:spcAft>
              <a:buFont typeface="Wingdings" panose="05000000000000000000" pitchFamily="2" charset="2"/>
              <a:buChar char=""/>
            </a:pPr>
            <a:r>
              <a:rPr lang="en-US" b="1" i="1" dirty="0">
                <a:latin typeface="Times New Roman" panose="02020603050405020304" pitchFamily="18" charset="0"/>
                <a:ea typeface="Times New Roman" panose="02020603050405020304" pitchFamily="18" charset="0"/>
                <a:cs typeface="Times New Roman" panose="02020603050405020304" pitchFamily="18" charset="0"/>
              </a:rPr>
              <a:t>ISSUING EQUIPMENT (DISTRIBUTION):</a:t>
            </a:r>
            <a:r>
              <a:rPr lang="en-US" dirty="0">
                <a:latin typeface="Times New Roman" panose="02020603050405020304" pitchFamily="18" charset="0"/>
                <a:ea typeface="Times New Roman" panose="02020603050405020304" pitchFamily="18" charset="0"/>
                <a:cs typeface="Times New Roman" panose="02020603050405020304" pitchFamily="18" charset="0"/>
              </a:rPr>
              <a:t>  supply material and equipment to the staff for their use</a:t>
            </a:r>
            <a:endParaRPr lang="fr-FR" dirty="0">
              <a:latin typeface="Calibri" panose="020F0502020204030204" charset="0"/>
              <a:ea typeface="Calibri" panose="020F0502020204030204" charset="0"/>
              <a:cs typeface="Times New Roman" panose="02020603050405020304" pitchFamily="18" charset="0"/>
            </a:endParaRPr>
          </a:p>
          <a:p>
            <a:pPr marL="342900" marR="0" lvl="0" indent="-342900">
              <a:lnSpc>
                <a:spcPct val="150000"/>
              </a:lnSpc>
              <a:spcBef>
                <a:spcPts val="0"/>
              </a:spcBef>
              <a:spcAft>
                <a:spcPts val="0"/>
              </a:spcAft>
              <a:buFont typeface="Wingdings" panose="05000000000000000000" pitchFamily="2" charset="2"/>
              <a:buChar char=""/>
            </a:pPr>
            <a:r>
              <a:rPr lang="en-US" b="1" i="1" dirty="0">
                <a:latin typeface="Times New Roman" panose="02020603050405020304" pitchFamily="18" charset="0"/>
                <a:ea typeface="Times New Roman" panose="02020603050405020304" pitchFamily="18" charset="0"/>
                <a:cs typeface="Times New Roman" panose="02020603050405020304" pitchFamily="18" charset="0"/>
              </a:rPr>
              <a:t>THE CONROLING  AND MAINTAINING</a:t>
            </a:r>
            <a:r>
              <a:rPr lang="en-US" dirty="0">
                <a:latin typeface="Times New Roman" panose="02020603050405020304" pitchFamily="18" charset="0"/>
                <a:ea typeface="Times New Roman" panose="02020603050405020304" pitchFamily="18" charset="0"/>
                <a:cs typeface="Times New Roman" panose="02020603050405020304" pitchFamily="18" charset="0"/>
              </a:rPr>
              <a:t>: The control , maintenance , repair of equipment</a:t>
            </a:r>
            <a:br>
              <a:rPr lang="en-US" dirty="0">
                <a:latin typeface="Times New Roman" panose="02020603050405020304" pitchFamily="18" charset="0"/>
                <a:ea typeface="Times New Roman" panose="02020603050405020304" pitchFamily="18" charset="0"/>
                <a:cs typeface="Times New Roman" panose="02020603050405020304" pitchFamily="18" charset="0"/>
              </a:rPr>
            </a:br>
            <a:endParaRPr lang="fr-FR" dirty="0">
              <a:latin typeface="Calibri" panose="020F0502020204030204" charset="0"/>
              <a:ea typeface="Calibri" panose="020F0502020204030204" charset="0"/>
              <a:cs typeface="Times New Roman" panose="02020603050405020304" pitchFamily="18" charset="0"/>
            </a:endParaRPr>
          </a:p>
          <a:p>
            <a:endParaRPr lang="fr-FR"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8096" y="838200"/>
            <a:ext cx="7290055" cy="5471160"/>
          </a:xfrm>
        </p:spPr>
        <p:txBody>
          <a:bodyPr>
            <a:noAutofit/>
          </a:bodyPr>
          <a:lstStyle/>
          <a:p>
            <a:pPr marL="342900" marR="0" lvl="0" indent="-342900">
              <a:lnSpc>
                <a:spcPct val="150000"/>
              </a:lnSpc>
              <a:spcBef>
                <a:spcPts val="0"/>
              </a:spcBef>
              <a:spcAft>
                <a:spcPts val="0"/>
              </a:spcAft>
              <a:buFont typeface="+mj-lt"/>
              <a:buAutoNum type="alphaUcParenR"/>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Ordering equipment  </a:t>
            </a:r>
            <a:endParaRPr lang="fr-FR" sz="2400" dirty="0">
              <a:latin typeface="Calibri" panose="020F0502020204030204" charset="0"/>
              <a:ea typeface="Calibri" panose="020F0502020204030204" charset="0"/>
              <a:cs typeface="Times New Roman" panose="02020603050405020304" pitchFamily="18" charset="0"/>
            </a:endParaRPr>
          </a:p>
          <a:p>
            <a:pPr>
              <a:lnSpc>
                <a:spcPct val="150000"/>
              </a:lnSpc>
            </a:pPr>
            <a:r>
              <a:rPr lang="en-US" sz="2400" dirty="0">
                <a:latin typeface="Times New Roman" panose="02020603050405020304" pitchFamily="18" charset="0"/>
                <a:ea typeface="Times New Roman" panose="02020603050405020304" pitchFamily="18" charset="0"/>
              </a:rPr>
              <a:t>To order for Material and equipment, we must be aware of :</a:t>
            </a:r>
            <a:br>
              <a:rPr lang="en-US" sz="2400" dirty="0">
                <a:latin typeface="Times New Roman" panose="02020603050405020304" pitchFamily="18" charset="0"/>
                <a:ea typeface="Times New Roman" panose="02020603050405020304" pitchFamily="18" charset="0"/>
              </a:rPr>
            </a:br>
            <a:r>
              <a:rPr lang="en-US" sz="2400" dirty="0">
                <a:latin typeface="Times New Roman" panose="02020603050405020304" pitchFamily="18" charset="0"/>
                <a:ea typeface="Times New Roman" panose="02020603050405020304" pitchFamily="18" charset="0"/>
              </a:rPr>
              <a:t>a) A list of what will be needed, from what we know about last use and an estimation of current needs.</a:t>
            </a:r>
            <a:br>
              <a:rPr lang="en-US" sz="2400" dirty="0">
                <a:latin typeface="Times New Roman" panose="02020603050405020304" pitchFamily="18" charset="0"/>
                <a:ea typeface="Times New Roman" panose="02020603050405020304" pitchFamily="18" charset="0"/>
              </a:rPr>
            </a:br>
            <a:r>
              <a:rPr lang="en-US" sz="2400" dirty="0">
                <a:latin typeface="Times New Roman" panose="02020603050405020304" pitchFamily="18" charset="0"/>
                <a:ea typeface="Times New Roman" panose="02020603050405020304" pitchFamily="18" charset="0"/>
              </a:rPr>
              <a:t>b) Balancing the needs and available resources, and estimating the costs</a:t>
            </a:r>
            <a:br>
              <a:rPr lang="en-US" sz="2400" dirty="0">
                <a:latin typeface="Times New Roman" panose="02020603050405020304" pitchFamily="18" charset="0"/>
                <a:ea typeface="Times New Roman" panose="02020603050405020304" pitchFamily="18" charset="0"/>
              </a:rPr>
            </a:br>
            <a:r>
              <a:rPr lang="en-US" sz="2400" dirty="0">
                <a:latin typeface="Times New Roman" panose="02020603050405020304" pitchFamily="18" charset="0"/>
                <a:ea typeface="Times New Roman" panose="02020603050405020304" pitchFamily="18" charset="0"/>
              </a:rPr>
              <a:t>c) Use a catalog</a:t>
            </a:r>
            <a:br>
              <a:rPr lang="en-US" sz="2400" dirty="0">
                <a:latin typeface="Times New Roman" panose="02020603050405020304" pitchFamily="18" charset="0"/>
                <a:ea typeface="Times New Roman" panose="02020603050405020304" pitchFamily="18" charset="0"/>
              </a:rPr>
            </a:br>
            <a:r>
              <a:rPr lang="en-US" sz="2400" dirty="0">
                <a:latin typeface="Times New Roman" panose="02020603050405020304" pitchFamily="18" charset="0"/>
                <a:ea typeface="Times New Roman" panose="02020603050405020304" pitchFamily="18" charset="0"/>
              </a:rPr>
              <a:t>d) Complete an order form or requisition</a:t>
            </a:r>
            <a:endParaRPr lang="fr-FR" sz="24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8096" y="685800"/>
            <a:ext cx="7918704" cy="5623560"/>
          </a:xfrm>
        </p:spPr>
        <p:txBody>
          <a:bodyPr/>
          <a:lstStyle/>
          <a:p>
            <a:pPr marL="0" marR="0">
              <a:lnSpc>
                <a:spcPct val="150000"/>
              </a:lnSpc>
              <a:spcBef>
                <a:spcPts val="0"/>
              </a:spcBef>
              <a:spcAft>
                <a:spcPts val="0"/>
              </a:spcAft>
            </a:pPr>
            <a:r>
              <a:rPr lang="en-US" b="1" i="1" dirty="0">
                <a:latin typeface="Times New Roman" panose="02020603050405020304" pitchFamily="18" charset="0"/>
                <a:ea typeface="Times New Roman" panose="02020603050405020304" pitchFamily="18" charset="0"/>
                <a:cs typeface="Times New Roman" panose="02020603050405020304" pitchFamily="18" charset="0"/>
              </a:rPr>
              <a:t>To make a list of material</a:t>
            </a:r>
            <a:endParaRPr lang="fr-FR" dirty="0">
              <a:latin typeface="Calibri" panose="020F0502020204030204" charset="0"/>
              <a:ea typeface="Calibri" panose="020F0502020204030204" charset="0"/>
              <a:cs typeface="Times New Roman" panose="02020603050405020304" pitchFamily="18" charset="0"/>
            </a:endParaRPr>
          </a:p>
          <a:p>
            <a:pPr marL="0" marR="0">
              <a:lnSpc>
                <a:spcPct val="150000"/>
              </a:lnSpc>
              <a:spcBef>
                <a:spcPts val="0"/>
              </a:spcBef>
              <a:spcAft>
                <a:spcPts val="0"/>
              </a:spcAft>
            </a:pPr>
            <a:r>
              <a:rPr lang="en-US" dirty="0">
                <a:latin typeface="Times New Roman" panose="02020603050405020304" pitchFamily="18" charset="0"/>
                <a:ea typeface="Times New Roman" panose="02020603050405020304" pitchFamily="18" charset="0"/>
                <a:cs typeface="Times New Roman" panose="02020603050405020304" pitchFamily="18" charset="0"/>
              </a:rPr>
              <a:t>We must make several lists based on where you think to purchase material or equipment</a:t>
            </a:r>
            <a:br>
              <a:rPr lang="en-US" dirty="0">
                <a:latin typeface="Times New Roman" panose="02020603050405020304" pitchFamily="18" charset="0"/>
                <a:ea typeface="Times New Roman" panose="02020603050405020304" pitchFamily="18" charset="0"/>
                <a:cs typeface="Times New Roman" panose="02020603050405020304" pitchFamily="18" charset="0"/>
              </a:rPr>
            </a:br>
            <a:r>
              <a:rPr lang="en-US" dirty="0" err="1">
                <a:latin typeface="Times New Roman" panose="02020603050405020304" pitchFamily="18" charset="0"/>
                <a:ea typeface="Times New Roman" panose="02020603050405020304" pitchFamily="18" charset="0"/>
                <a:cs typeface="Times New Roman" panose="02020603050405020304" pitchFamily="18" charset="0"/>
              </a:rPr>
              <a:t>e.g</a:t>
            </a:r>
            <a:r>
              <a:rPr lang="en-US" dirty="0">
                <a:latin typeface="Times New Roman" panose="02020603050405020304" pitchFamily="18" charset="0"/>
                <a:ea typeface="Times New Roman" panose="02020603050405020304" pitchFamily="18" charset="0"/>
                <a:cs typeface="Times New Roman" panose="02020603050405020304" pitchFamily="18" charset="0"/>
              </a:rPr>
              <a:t>:  you buy matches in a local shop</a:t>
            </a:r>
            <a:br>
              <a:rPr lang="en-US" dirty="0">
                <a:latin typeface="Times New Roman" panose="02020603050405020304" pitchFamily="18" charset="0"/>
                <a:ea typeface="Times New Roman" panose="02020603050405020304" pitchFamily="18" charset="0"/>
                <a:cs typeface="Times New Roman" panose="02020603050405020304" pitchFamily="18" charset="0"/>
              </a:rPr>
            </a:br>
            <a:r>
              <a:rPr lang="en-US" dirty="0">
                <a:latin typeface="Times New Roman" panose="02020603050405020304" pitchFamily="18" charset="0"/>
                <a:ea typeface="Times New Roman" panose="02020603050405020304" pitchFamily="18" charset="0"/>
                <a:cs typeface="Times New Roman" panose="02020603050405020304" pitchFamily="18" charset="0"/>
              </a:rPr>
              <a:t>        Medical thermometer in Rwanda Medical Supply  stock</a:t>
            </a:r>
            <a:br>
              <a:rPr lang="en-US" dirty="0">
                <a:latin typeface="Times New Roman" panose="02020603050405020304" pitchFamily="18" charset="0"/>
                <a:ea typeface="Times New Roman" panose="02020603050405020304" pitchFamily="18" charset="0"/>
                <a:cs typeface="Times New Roman" panose="02020603050405020304" pitchFamily="18" charset="0"/>
              </a:rPr>
            </a:br>
            <a:r>
              <a:rPr lang="en-US" dirty="0">
                <a:latin typeface="Times New Roman" panose="02020603050405020304" pitchFamily="18" charset="0"/>
                <a:ea typeface="Times New Roman" panose="02020603050405020304" pitchFamily="18" charset="0"/>
                <a:cs typeface="Times New Roman" panose="02020603050405020304" pitchFamily="18" charset="0"/>
              </a:rPr>
              <a:t>        we buy paper in a stationery</a:t>
            </a:r>
            <a:br>
              <a:rPr lang="en-US" dirty="0">
                <a:latin typeface="Times New Roman" panose="02020603050405020304" pitchFamily="18" charset="0"/>
                <a:ea typeface="Times New Roman" panose="02020603050405020304" pitchFamily="18" charset="0"/>
                <a:cs typeface="Times New Roman" panose="02020603050405020304" pitchFamily="18" charset="0"/>
              </a:rPr>
            </a:br>
            <a:r>
              <a:rPr lang="en-US" dirty="0">
                <a:latin typeface="Times New Roman" panose="02020603050405020304" pitchFamily="18" charset="0"/>
                <a:ea typeface="Times New Roman" panose="02020603050405020304" pitchFamily="18" charset="0"/>
                <a:cs typeface="Times New Roman" panose="02020603050405020304" pitchFamily="18" charset="0"/>
              </a:rPr>
              <a:t>For each item we  must specify the type</a:t>
            </a:r>
            <a:br>
              <a:rPr lang="en-US" dirty="0">
                <a:latin typeface="Times New Roman" panose="02020603050405020304" pitchFamily="18" charset="0"/>
                <a:ea typeface="Times New Roman" panose="02020603050405020304" pitchFamily="18" charset="0"/>
                <a:cs typeface="Times New Roman" panose="02020603050405020304" pitchFamily="18" charset="0"/>
              </a:rPr>
            </a:br>
            <a:r>
              <a:rPr lang="en-US" dirty="0">
                <a:latin typeface="Times New Roman" panose="02020603050405020304" pitchFamily="18" charset="0"/>
                <a:ea typeface="Times New Roman" panose="02020603050405020304" pitchFamily="18" charset="0"/>
                <a:cs typeface="Times New Roman" panose="02020603050405020304" pitchFamily="18" charset="0"/>
              </a:rPr>
              <a:t>        e. g plastic syringe 5cc</a:t>
            </a:r>
            <a:br>
              <a:rPr lang="en-US" dirty="0">
                <a:latin typeface="Times New Roman" panose="02020603050405020304" pitchFamily="18" charset="0"/>
                <a:ea typeface="Times New Roman" panose="02020603050405020304" pitchFamily="18" charset="0"/>
                <a:cs typeface="Times New Roman" panose="02020603050405020304" pitchFamily="18" charset="0"/>
              </a:rPr>
            </a:br>
            <a:r>
              <a:rPr lang="en-US" dirty="0">
                <a:latin typeface="Times New Roman" panose="02020603050405020304" pitchFamily="18" charset="0"/>
                <a:ea typeface="Times New Roman" panose="02020603050405020304" pitchFamily="18" charset="0"/>
                <a:cs typeface="Times New Roman" panose="02020603050405020304" pitchFamily="18" charset="0"/>
              </a:rPr>
              <a:t>For each item we should provide the quantity:</a:t>
            </a:r>
            <a:endParaRPr lang="fr-FR" dirty="0">
              <a:latin typeface="Calibri" panose="020F0502020204030204" charset="0"/>
              <a:ea typeface="Calibri" panose="020F0502020204030204" charset="0"/>
              <a:cs typeface="Times New Roman" panose="02020603050405020304" pitchFamily="18" charset="0"/>
            </a:endParaRPr>
          </a:p>
          <a:p>
            <a:pPr marL="342900" marR="0" lvl="0" indent="-342900">
              <a:lnSpc>
                <a:spcPct val="150000"/>
              </a:lnSpc>
              <a:spcBef>
                <a:spcPts val="0"/>
              </a:spcBef>
              <a:spcAft>
                <a:spcPts val="0"/>
              </a:spcAft>
              <a:buFont typeface="Wingdings" panose="05000000000000000000" pitchFamily="2" charset="2"/>
              <a:buChar char=""/>
            </a:pPr>
            <a:r>
              <a:rPr lang="en-US" dirty="0">
                <a:latin typeface="Times New Roman" panose="02020603050405020304" pitchFamily="18" charset="0"/>
                <a:ea typeface="Times New Roman" panose="02020603050405020304" pitchFamily="18" charset="0"/>
                <a:cs typeface="Times New Roman" panose="02020603050405020304" pitchFamily="18" charset="0"/>
              </a:rPr>
              <a:t>Order frequency (frequency of purchases)</a:t>
            </a:r>
            <a:endParaRPr lang="fr-FR" dirty="0">
              <a:latin typeface="Calibri" panose="020F0502020204030204" charset="0"/>
              <a:ea typeface="Calibri" panose="020F0502020204030204" charset="0"/>
              <a:cs typeface="Times New Roman" panose="02020603050405020304" pitchFamily="18" charset="0"/>
            </a:endParaRPr>
          </a:p>
          <a:p>
            <a:pPr marL="457200" marR="0">
              <a:lnSpc>
                <a:spcPct val="150000"/>
              </a:lnSpc>
              <a:spcBef>
                <a:spcPts val="0"/>
              </a:spcBef>
              <a:spcAft>
                <a:spcPts val="0"/>
              </a:spcAft>
            </a:pPr>
            <a:r>
              <a:rPr lang="en-US" dirty="0">
                <a:latin typeface="Times New Roman" panose="02020603050405020304" pitchFamily="18" charset="0"/>
                <a:ea typeface="Times New Roman" panose="02020603050405020304" pitchFamily="18" charset="0"/>
                <a:cs typeface="Times New Roman" panose="02020603050405020304" pitchFamily="18" charset="0"/>
              </a:rPr>
              <a:t>e.g.: oil: local shop, weekly orders</a:t>
            </a:r>
            <a:br>
              <a:rPr lang="en-US" dirty="0">
                <a:latin typeface="Times New Roman" panose="02020603050405020304" pitchFamily="18" charset="0"/>
                <a:ea typeface="Times New Roman" panose="02020603050405020304" pitchFamily="18" charset="0"/>
                <a:cs typeface="Times New Roman" panose="02020603050405020304" pitchFamily="18" charset="0"/>
              </a:rPr>
            </a:br>
            <a:r>
              <a:rPr lang="en-US" dirty="0">
                <a:latin typeface="Times New Roman" panose="02020603050405020304" pitchFamily="18" charset="0"/>
                <a:ea typeface="Times New Roman" panose="02020603050405020304" pitchFamily="18" charset="0"/>
                <a:cs typeface="Times New Roman" panose="02020603050405020304" pitchFamily="18" charset="0"/>
              </a:rPr>
              <a:t> Thermometer: Rwanda Medical Supply  stock, order every six months.</a:t>
            </a:r>
            <a:endParaRPr lang="fr-FR" dirty="0">
              <a:latin typeface="Calibri" panose="020F0502020204030204" charset="0"/>
              <a:ea typeface="Calibri" panose="020F0502020204030204" charset="0"/>
              <a:cs typeface="Times New Roman" panose="02020603050405020304" pitchFamily="18" charset="0"/>
            </a:endParaRPr>
          </a:p>
          <a:p>
            <a:endParaRPr lang="fr-FR"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838200"/>
            <a:ext cx="8610600" cy="5471160"/>
          </a:xfrm>
        </p:spPr>
        <p:txBody>
          <a:bodyPr>
            <a:normAutofit fontScale="77500" lnSpcReduction="20000"/>
          </a:bodyPr>
          <a:lstStyle/>
          <a:p>
            <a:pPr marL="0" marR="0" indent="0">
              <a:lnSpc>
                <a:spcPct val="200000"/>
              </a:lnSpc>
              <a:spcBef>
                <a:spcPts val="0"/>
              </a:spcBef>
              <a:spcAft>
                <a:spcPts val="0"/>
              </a:spcAft>
              <a:buNone/>
            </a:pPr>
            <a:r>
              <a:rPr lang="en-US" sz="2600" b="1" i="1" dirty="0">
                <a:latin typeface="Times New Roman" panose="02020603050405020304" pitchFamily="18" charset="0"/>
                <a:ea typeface="Times New Roman" panose="02020603050405020304" pitchFamily="18" charset="0"/>
                <a:cs typeface="Times New Roman" panose="02020603050405020304" pitchFamily="18" charset="0"/>
              </a:rPr>
              <a:t>Balancing the needs and resources</a:t>
            </a:r>
            <a:br>
              <a:rPr lang="en-US" sz="2600" b="1" i="1" dirty="0">
                <a:latin typeface="Times New Roman" panose="02020603050405020304" pitchFamily="18" charset="0"/>
                <a:ea typeface="Times New Roman" panose="02020603050405020304" pitchFamily="18" charset="0"/>
                <a:cs typeface="Times New Roman" panose="02020603050405020304" pitchFamily="18" charset="0"/>
              </a:rPr>
            </a:br>
            <a:r>
              <a:rPr lang="en-US" sz="2600" dirty="0">
                <a:latin typeface="Times New Roman" panose="02020603050405020304" pitchFamily="18" charset="0"/>
                <a:ea typeface="Times New Roman" panose="02020603050405020304" pitchFamily="18" charset="0"/>
                <a:cs typeface="Times New Roman" panose="02020603050405020304" pitchFamily="18" charset="0"/>
              </a:rPr>
              <a:t>In all health services in the world, there is a lack of resources. </a:t>
            </a:r>
          </a:p>
          <a:p>
            <a:pPr>
              <a:lnSpc>
                <a:spcPct val="200000"/>
              </a:lnSpc>
              <a:spcBef>
                <a:spcPts val="0"/>
              </a:spcBef>
              <a:spcAft>
                <a:spcPts val="0"/>
              </a:spcAft>
            </a:pPr>
            <a:r>
              <a:rPr lang="en-US" sz="2600" dirty="0">
                <a:latin typeface="Times New Roman" panose="02020603050405020304" pitchFamily="18" charset="0"/>
                <a:ea typeface="Times New Roman" panose="02020603050405020304" pitchFamily="18" charset="0"/>
                <a:cs typeface="Times New Roman" panose="02020603050405020304" pitchFamily="18" charset="0"/>
              </a:rPr>
              <a:t>We must always balance the needs in to resources (Compare what you need and money that you have or people available to do so). Sometimes we get more resources, for example when the budget is increased or a new program is implemented.</a:t>
            </a:r>
          </a:p>
          <a:p>
            <a:pPr>
              <a:lnSpc>
                <a:spcPct val="200000"/>
              </a:lnSpc>
              <a:spcBef>
                <a:spcPts val="0"/>
              </a:spcBef>
              <a:spcAft>
                <a:spcPts val="0"/>
              </a:spcAft>
            </a:pPr>
            <a:r>
              <a:rPr lang="en-US" sz="2600" dirty="0">
                <a:latin typeface="Times New Roman" panose="02020603050405020304" pitchFamily="18" charset="0"/>
                <a:ea typeface="Times New Roman" panose="02020603050405020304" pitchFamily="18" charset="0"/>
                <a:cs typeface="Times New Roman" panose="02020603050405020304" pitchFamily="18" charset="0"/>
              </a:rPr>
              <a:t> But in </a:t>
            </a:r>
            <a:r>
              <a:rPr lang="en-US" sz="2600" dirty="0" err="1">
                <a:latin typeface="Times New Roman" panose="02020603050405020304" pitchFamily="18" charset="0"/>
                <a:ea typeface="Times New Roman" panose="02020603050405020304" pitchFamily="18" charset="0"/>
                <a:cs typeface="Times New Roman" panose="02020603050405020304" pitchFamily="18" charset="0"/>
              </a:rPr>
              <a:t>general,we</a:t>
            </a:r>
            <a:r>
              <a:rPr lang="en-US" sz="2600" dirty="0">
                <a:latin typeface="Times New Roman" panose="02020603050405020304" pitchFamily="18" charset="0"/>
                <a:ea typeface="Times New Roman" panose="02020603050405020304" pitchFamily="18" charset="0"/>
                <a:cs typeface="Times New Roman" panose="02020603050405020304" pitchFamily="18" charset="0"/>
              </a:rPr>
              <a:t> are forced to reduce those needs to match them with available funds. Reason why we must make an estimation of costs before completing an order form.</a:t>
            </a:r>
            <a:br>
              <a:rPr lang="en-US" dirty="0">
                <a:latin typeface="Times New Roman" panose="02020603050405020304" pitchFamily="18" charset="0"/>
                <a:ea typeface="Times New Roman" panose="02020603050405020304" pitchFamily="18" charset="0"/>
                <a:cs typeface="Times New Roman" panose="02020603050405020304" pitchFamily="18" charset="0"/>
              </a:rPr>
            </a:br>
            <a:endParaRPr lang="fr-FR" dirty="0">
              <a:latin typeface="Calibri" panose="020F0502020204030204" charset="0"/>
              <a:ea typeface="Calibri" panose="020F0502020204030204" charset="0"/>
              <a:cs typeface="Times New Roman" panose="02020603050405020304" pitchFamily="18" charset="0"/>
            </a:endParaRPr>
          </a:p>
          <a:p>
            <a:endParaRPr lang="fr-FR"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609600" y="609600"/>
            <a:ext cx="8001000" cy="5562599"/>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8096" y="914400"/>
            <a:ext cx="7290055" cy="5394960"/>
          </a:xfrm>
        </p:spPr>
        <p:txBody>
          <a:bodyPr>
            <a:normAutofit/>
          </a:bodyPr>
          <a:lstStyle/>
          <a:p>
            <a:pPr>
              <a:lnSpc>
                <a:spcPct val="150000"/>
              </a:lnSpc>
            </a:pPr>
            <a:r>
              <a:rPr lang="en-US" sz="2400" b="1" i="1" dirty="0">
                <a:latin typeface="Times New Roman" panose="02020603050405020304" pitchFamily="18" charset="0"/>
                <a:ea typeface="Times New Roman" panose="02020603050405020304" pitchFamily="18" charset="0"/>
              </a:rPr>
              <a:t>Use a catalog</a:t>
            </a:r>
            <a:br>
              <a:rPr lang="en-US" sz="2400" dirty="0">
                <a:latin typeface="Times New Roman" panose="02020603050405020304" pitchFamily="18" charset="0"/>
                <a:ea typeface="Times New Roman" panose="02020603050405020304" pitchFamily="18" charset="0"/>
              </a:rPr>
            </a:br>
            <a:r>
              <a:rPr lang="en-US" sz="2400" dirty="0">
                <a:latin typeface="Times New Roman" panose="02020603050405020304" pitchFamily="18" charset="0"/>
                <a:ea typeface="Times New Roman" panose="02020603050405020304" pitchFamily="18" charset="0"/>
              </a:rPr>
              <a:t>A catalog is a book containing the list of items offered for sale in a certain place.</a:t>
            </a:r>
            <a:br>
              <a:rPr lang="en-US" sz="2400" dirty="0">
                <a:latin typeface="Times New Roman" panose="02020603050405020304" pitchFamily="18" charset="0"/>
                <a:ea typeface="Times New Roman" panose="02020603050405020304" pitchFamily="18" charset="0"/>
              </a:rPr>
            </a:br>
            <a:r>
              <a:rPr lang="en-US" sz="2400" dirty="0">
                <a:latin typeface="Times New Roman" panose="02020603050405020304" pitchFamily="18" charset="0"/>
                <a:ea typeface="Times New Roman" panose="02020603050405020304" pitchFamily="18" charset="0"/>
              </a:rPr>
              <a:t>We use a catalog whenever you buy things at a distance. A catalog may be issued by public, company, a manufacturer or a private stock.</a:t>
            </a:r>
          </a:p>
          <a:p>
            <a:pPr>
              <a:lnSpc>
                <a:spcPct val="150000"/>
              </a:lnSpc>
            </a:pPr>
            <a:r>
              <a:rPr lang="en-US" sz="2400" dirty="0">
                <a:latin typeface="Times New Roman" panose="02020603050405020304" pitchFamily="18" charset="0"/>
                <a:ea typeface="Times New Roman" panose="02020603050405020304" pitchFamily="18" charset="0"/>
              </a:rPr>
              <a:t> The disadvantage of catalog is that you can purchase material that you do not see. </a:t>
            </a:r>
            <a:endParaRPr lang="fr-FR" sz="24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8096" y="838200"/>
            <a:ext cx="7290055" cy="5471160"/>
          </a:xfrm>
        </p:spPr>
        <p:txBody>
          <a:bodyPr/>
          <a:lstStyle/>
          <a:p>
            <a:pPr marL="228600" marR="0">
              <a:lnSpc>
                <a:spcPct val="150000"/>
              </a:lnSpc>
              <a:spcBef>
                <a:spcPts val="0"/>
              </a:spcBef>
              <a:spcAft>
                <a:spcPts val="0"/>
              </a:spcAft>
            </a:pPr>
            <a:r>
              <a:rPr lang="en-US" b="1" i="1" dirty="0">
                <a:latin typeface="Times New Roman" panose="02020603050405020304" pitchFamily="18" charset="0"/>
                <a:ea typeface="Times New Roman" panose="02020603050405020304" pitchFamily="18" charset="0"/>
                <a:cs typeface="Times New Roman" panose="02020603050405020304" pitchFamily="18" charset="0"/>
              </a:rPr>
              <a:t>Fill an order form</a:t>
            </a:r>
            <a:br>
              <a:rPr lang="en-US" dirty="0">
                <a:latin typeface="Times New Roman" panose="02020603050405020304" pitchFamily="18" charset="0"/>
                <a:ea typeface="Times New Roman" panose="02020603050405020304" pitchFamily="18" charset="0"/>
                <a:cs typeface="Times New Roman" panose="02020603050405020304" pitchFamily="18" charset="0"/>
              </a:rPr>
            </a:br>
            <a:r>
              <a:rPr lang="en-US" dirty="0">
                <a:latin typeface="Times New Roman" panose="02020603050405020304" pitchFamily="18" charset="0"/>
                <a:ea typeface="Times New Roman" panose="02020603050405020304" pitchFamily="18" charset="0"/>
                <a:cs typeface="Times New Roman" panose="02020603050405020304" pitchFamily="18" charset="0"/>
              </a:rPr>
              <a:t>The catalog is usually accompanied by an order form. Each stock or each company publishes particularly a catalog or order form </a:t>
            </a:r>
            <a:br>
              <a:rPr lang="en-US" dirty="0">
                <a:latin typeface="Times New Roman" panose="02020603050405020304" pitchFamily="18" charset="0"/>
                <a:ea typeface="Times New Roman" panose="02020603050405020304" pitchFamily="18" charset="0"/>
                <a:cs typeface="Times New Roman" panose="02020603050405020304" pitchFamily="18" charset="0"/>
              </a:rPr>
            </a:br>
            <a:r>
              <a:rPr lang="en-US" dirty="0">
                <a:latin typeface="Times New Roman" panose="02020603050405020304" pitchFamily="18" charset="0"/>
                <a:ea typeface="Times New Roman" panose="02020603050405020304" pitchFamily="18" charset="0"/>
                <a:cs typeface="Times New Roman" panose="02020603050405020304" pitchFamily="18" charset="0"/>
              </a:rPr>
              <a:t>An order form includes a column for each category Item number, the name of the article, its types and the kind of unity, the desired quantity unit price and total price</a:t>
            </a:r>
            <a:endParaRPr lang="fr-FR" dirty="0">
              <a:latin typeface="Calibri" panose="020F0502020204030204" charset="0"/>
              <a:ea typeface="Calibri" panose="020F0502020204030204" charset="0"/>
              <a:cs typeface="Times New Roman" panose="02020603050405020304" pitchFamily="18" charset="0"/>
            </a:endParaRPr>
          </a:p>
          <a:p>
            <a:pPr marL="0" indent="0">
              <a:buNone/>
            </a:pPr>
            <a:endParaRPr lang="fr-FR" dirty="0"/>
          </a:p>
        </p:txBody>
      </p:sp>
      <p:graphicFrame>
        <p:nvGraphicFramePr>
          <p:cNvPr id="4" name="Table 3"/>
          <p:cNvGraphicFramePr>
            <a:graphicFrameLocks noGrp="1"/>
          </p:cNvGraphicFramePr>
          <p:nvPr/>
        </p:nvGraphicFramePr>
        <p:xfrm>
          <a:off x="1143000" y="4495800"/>
          <a:ext cx="7162799" cy="1211009"/>
        </p:xfrm>
        <a:graphic>
          <a:graphicData uri="http://schemas.openxmlformats.org/drawingml/2006/table">
            <a:tbl>
              <a:tblPr firstRow="1" firstCol="1" bandRow="1"/>
              <a:tblGrid>
                <a:gridCol w="1023257">
                  <a:extLst>
                    <a:ext uri="{9D8B030D-6E8A-4147-A177-3AD203B41FA5}">
                      <a16:colId xmlns:a16="http://schemas.microsoft.com/office/drawing/2014/main" val="20000"/>
                    </a:ext>
                  </a:extLst>
                </a:gridCol>
                <a:gridCol w="1023257">
                  <a:extLst>
                    <a:ext uri="{9D8B030D-6E8A-4147-A177-3AD203B41FA5}">
                      <a16:colId xmlns:a16="http://schemas.microsoft.com/office/drawing/2014/main" val="20001"/>
                    </a:ext>
                  </a:extLst>
                </a:gridCol>
                <a:gridCol w="1023257">
                  <a:extLst>
                    <a:ext uri="{9D8B030D-6E8A-4147-A177-3AD203B41FA5}">
                      <a16:colId xmlns:a16="http://schemas.microsoft.com/office/drawing/2014/main" val="20002"/>
                    </a:ext>
                  </a:extLst>
                </a:gridCol>
                <a:gridCol w="1023257">
                  <a:extLst>
                    <a:ext uri="{9D8B030D-6E8A-4147-A177-3AD203B41FA5}">
                      <a16:colId xmlns:a16="http://schemas.microsoft.com/office/drawing/2014/main" val="20003"/>
                    </a:ext>
                  </a:extLst>
                </a:gridCol>
                <a:gridCol w="1023257">
                  <a:extLst>
                    <a:ext uri="{9D8B030D-6E8A-4147-A177-3AD203B41FA5}">
                      <a16:colId xmlns:a16="http://schemas.microsoft.com/office/drawing/2014/main" val="20004"/>
                    </a:ext>
                  </a:extLst>
                </a:gridCol>
                <a:gridCol w="1023257">
                  <a:extLst>
                    <a:ext uri="{9D8B030D-6E8A-4147-A177-3AD203B41FA5}">
                      <a16:colId xmlns:a16="http://schemas.microsoft.com/office/drawing/2014/main" val="20005"/>
                    </a:ext>
                  </a:extLst>
                </a:gridCol>
                <a:gridCol w="1023257">
                  <a:extLst>
                    <a:ext uri="{9D8B030D-6E8A-4147-A177-3AD203B41FA5}">
                      <a16:colId xmlns:a16="http://schemas.microsoft.com/office/drawing/2014/main" val="20006"/>
                    </a:ext>
                  </a:extLst>
                </a:gridCol>
              </a:tblGrid>
              <a:tr h="0">
                <a:tc>
                  <a:txBody>
                    <a:bodyPr/>
                    <a:lstStyle/>
                    <a:p>
                      <a:pPr marL="0" marR="0">
                        <a:lnSpc>
                          <a:spcPct val="150000"/>
                        </a:lnSpc>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N</a:t>
                      </a:r>
                      <a:r>
                        <a:rPr lang="en-US" sz="1400" b="1" baseline="30000">
                          <a:effectLst/>
                          <a:latin typeface="Times New Roman" panose="02020603050405020304" pitchFamily="18" charset="0"/>
                          <a:ea typeface="Times New Roman" panose="02020603050405020304" pitchFamily="18" charset="0"/>
                          <a:cs typeface="Times New Roman" panose="02020603050405020304" pitchFamily="18" charset="0"/>
                        </a:rPr>
                        <a:t>0</a:t>
                      </a: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 of article</a:t>
                      </a:r>
                      <a:endParaRPr lang="fr-FR" sz="140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Name of article</a:t>
                      </a:r>
                      <a:endParaRPr lang="fr-FR" sz="140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Types</a:t>
                      </a:r>
                      <a:endParaRPr lang="fr-FR" sz="140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Unit</a:t>
                      </a:r>
                      <a:endParaRPr lang="fr-FR" sz="140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Quantity</a:t>
                      </a:r>
                      <a:endParaRPr lang="fr-FR" sz="140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Unit price</a:t>
                      </a:r>
                      <a:endParaRPr lang="fr-FR" sz="140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0"/>
                        </a:spcBef>
                        <a:spcAft>
                          <a:spcPts val="0"/>
                        </a:spcAft>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Total price</a:t>
                      </a:r>
                      <a:endParaRPr lang="fr-FR" sz="1400" dirty="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05155">
                <a:tc>
                  <a:txBody>
                    <a:bodyPr/>
                    <a:lstStyle/>
                    <a:p>
                      <a:pPr marL="0" marR="0">
                        <a:lnSpc>
                          <a:spcPct val="150000"/>
                        </a:lnSpc>
                        <a:spcBef>
                          <a:spcPts val="0"/>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 </a:t>
                      </a:r>
                      <a:endParaRPr lang="fr-FR" sz="120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0"/>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 </a:t>
                      </a:r>
                      <a:endParaRPr lang="fr-FR" sz="120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0"/>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 </a:t>
                      </a:r>
                      <a:endParaRPr lang="fr-FR" sz="120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0"/>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 </a:t>
                      </a:r>
                      <a:endParaRPr lang="fr-FR" sz="120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0"/>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 </a:t>
                      </a:r>
                      <a:endParaRPr lang="fr-FR" sz="120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0"/>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 </a:t>
                      </a:r>
                      <a:endParaRPr lang="fr-FR" sz="120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0"/>
                        </a:spcBef>
                        <a:spcAft>
                          <a:spcPts val="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fr-FR" sz="1200" dirty="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8096" y="609600"/>
            <a:ext cx="7290055" cy="5699760"/>
          </a:xfrm>
        </p:spPr>
        <p:txBody>
          <a:bodyPr/>
          <a:lstStyle/>
          <a:p>
            <a:pPr marL="342900" marR="0" lvl="0" indent="-342900">
              <a:lnSpc>
                <a:spcPct val="150000"/>
              </a:lnSpc>
              <a:spcBef>
                <a:spcPts val="0"/>
              </a:spcBef>
              <a:spcAft>
                <a:spcPts val="0"/>
              </a:spcAft>
              <a:buFont typeface="+mj-lt"/>
              <a:buAutoNum type="alphaUcParenR"/>
            </a:pPr>
            <a:r>
              <a:rPr lang="en-US" b="1" dirty="0">
                <a:latin typeface="Times New Roman" panose="02020603050405020304" pitchFamily="18" charset="0"/>
                <a:ea typeface="Times New Roman" panose="02020603050405020304" pitchFamily="18" charset="0"/>
                <a:cs typeface="Times New Roman" panose="02020603050405020304" pitchFamily="18" charset="0"/>
              </a:rPr>
              <a:t>Storing equipment</a:t>
            </a:r>
            <a:endParaRPr lang="fr-FR" dirty="0">
              <a:latin typeface="Calibri" panose="020F0502020204030204" charset="0"/>
              <a:ea typeface="Calibri" panose="020F0502020204030204" charset="0"/>
              <a:cs typeface="Times New Roman" panose="02020603050405020304" pitchFamily="18" charset="0"/>
            </a:endParaRPr>
          </a:p>
          <a:p>
            <a:pPr marL="228600" marR="0">
              <a:lnSpc>
                <a:spcPct val="150000"/>
              </a:lnSpc>
              <a:spcBef>
                <a:spcPts val="0"/>
              </a:spcBef>
              <a:spcAft>
                <a:spcPts val="0"/>
              </a:spcAft>
            </a:pPr>
            <a:r>
              <a:rPr lang="en-US" dirty="0">
                <a:latin typeface="Times New Roman" panose="02020603050405020304" pitchFamily="18" charset="0"/>
                <a:ea typeface="Times New Roman" panose="02020603050405020304" pitchFamily="18" charset="0"/>
                <a:cs typeface="Times New Roman" panose="02020603050405020304" pitchFamily="18" charset="0"/>
              </a:rPr>
              <a:t> </a:t>
            </a:r>
            <a:endParaRPr lang="fr-FR" dirty="0">
              <a:latin typeface="Calibri" panose="020F0502020204030204" charset="0"/>
              <a:ea typeface="Calibri" panose="020F0502020204030204" charset="0"/>
              <a:cs typeface="Times New Roman" panose="02020603050405020304" pitchFamily="18" charset="0"/>
            </a:endParaRPr>
          </a:p>
          <a:p>
            <a:pPr marL="0" marR="0">
              <a:lnSpc>
                <a:spcPct val="150000"/>
              </a:lnSpc>
              <a:spcBef>
                <a:spcPts val="0"/>
              </a:spcBef>
              <a:spcAft>
                <a:spcPts val="0"/>
              </a:spcAft>
            </a:pPr>
            <a:r>
              <a:rPr lang="en-US" dirty="0">
                <a:latin typeface="Times New Roman" panose="02020603050405020304" pitchFamily="18" charset="0"/>
                <a:ea typeface="Times New Roman" panose="02020603050405020304" pitchFamily="18" charset="0"/>
                <a:cs typeface="Times New Roman" panose="02020603050405020304" pitchFamily="18" charset="0"/>
              </a:rPr>
              <a:t>The storage is in two places</a:t>
            </a:r>
            <a:endParaRPr lang="fr-FR" dirty="0">
              <a:latin typeface="Calibri" panose="020F0502020204030204" charset="0"/>
              <a:ea typeface="Calibri" panose="020F0502020204030204" charset="0"/>
              <a:cs typeface="Times New Roman" panose="02020603050405020304" pitchFamily="18" charset="0"/>
            </a:endParaRPr>
          </a:p>
          <a:p>
            <a:pPr marL="0" marR="0">
              <a:lnSpc>
                <a:spcPct val="150000"/>
              </a:lnSpc>
              <a:spcBef>
                <a:spcPts val="0"/>
              </a:spcBef>
              <a:spcAft>
                <a:spcPts val="0"/>
              </a:spcAft>
            </a:pPr>
            <a:br>
              <a:rPr lang="en-US" dirty="0">
                <a:latin typeface="Times New Roman" panose="02020603050405020304" pitchFamily="18" charset="0"/>
                <a:ea typeface="Times New Roman" panose="02020603050405020304" pitchFamily="18" charset="0"/>
                <a:cs typeface="Times New Roman" panose="02020603050405020304" pitchFamily="18" charset="0"/>
              </a:rPr>
            </a:br>
            <a:r>
              <a:rPr lang="en-US" dirty="0">
                <a:latin typeface="Times New Roman" panose="02020603050405020304" pitchFamily="18" charset="0"/>
                <a:ea typeface="Times New Roman" panose="02020603050405020304" pitchFamily="18" charset="0"/>
                <a:cs typeface="Times New Roman" panose="02020603050405020304" pitchFamily="18" charset="0"/>
              </a:rPr>
              <a:t>1. The main stock or reserve stock</a:t>
            </a:r>
            <a:br>
              <a:rPr lang="en-US" dirty="0">
                <a:latin typeface="Times New Roman" panose="02020603050405020304" pitchFamily="18" charset="0"/>
                <a:ea typeface="Times New Roman" panose="02020603050405020304" pitchFamily="18" charset="0"/>
                <a:cs typeface="Times New Roman" panose="02020603050405020304" pitchFamily="18" charset="0"/>
              </a:rPr>
            </a:br>
            <a:r>
              <a:rPr lang="en-US" dirty="0">
                <a:latin typeface="Times New Roman" panose="02020603050405020304" pitchFamily="18" charset="0"/>
                <a:ea typeface="Times New Roman" panose="02020603050405020304" pitchFamily="18" charset="0"/>
                <a:cs typeface="Times New Roman" panose="02020603050405020304" pitchFamily="18" charset="0"/>
              </a:rPr>
              <a:t>2. Active stock</a:t>
            </a:r>
            <a:endParaRPr lang="fr-FR" dirty="0">
              <a:latin typeface="Calibri" panose="020F0502020204030204" charset="0"/>
              <a:ea typeface="Calibri" panose="020F0502020204030204" charset="0"/>
              <a:cs typeface="Times New Roman" panose="02020603050405020304" pitchFamily="18" charset="0"/>
            </a:endParaRPr>
          </a:p>
          <a:p>
            <a:pPr marL="0" marR="0">
              <a:lnSpc>
                <a:spcPct val="150000"/>
              </a:lnSpc>
              <a:spcBef>
                <a:spcPts val="0"/>
              </a:spcBef>
              <a:spcAft>
                <a:spcPts val="0"/>
              </a:spcAft>
            </a:pPr>
            <a:r>
              <a:rPr lang="en-US" dirty="0">
                <a:latin typeface="Times New Roman" panose="02020603050405020304" pitchFamily="18" charset="0"/>
                <a:ea typeface="Times New Roman" panose="02020603050405020304" pitchFamily="18" charset="0"/>
                <a:cs typeface="Times New Roman" panose="02020603050405020304" pitchFamily="18" charset="0"/>
              </a:rPr>
              <a:t>To stock material and equipment, you should know: </a:t>
            </a:r>
            <a:br>
              <a:rPr lang="en-US" dirty="0">
                <a:latin typeface="Times New Roman" panose="02020603050405020304" pitchFamily="18" charset="0"/>
                <a:ea typeface="Times New Roman" panose="02020603050405020304" pitchFamily="18" charset="0"/>
                <a:cs typeface="Times New Roman" panose="02020603050405020304" pitchFamily="18" charset="0"/>
              </a:rPr>
            </a:br>
            <a:r>
              <a:rPr lang="en-US" dirty="0">
                <a:latin typeface="Times New Roman" panose="02020603050405020304" pitchFamily="18" charset="0"/>
                <a:ea typeface="Times New Roman" panose="02020603050405020304" pitchFamily="18" charset="0"/>
                <a:cs typeface="Times New Roman" panose="02020603050405020304" pitchFamily="18" charset="0"/>
              </a:rPr>
              <a:t>a) Record entry for new items (received) and record given out articles (issues)</a:t>
            </a:r>
            <a:br>
              <a:rPr lang="en-US" dirty="0">
                <a:latin typeface="Times New Roman" panose="02020603050405020304" pitchFamily="18" charset="0"/>
                <a:ea typeface="Times New Roman" panose="02020603050405020304" pitchFamily="18" charset="0"/>
                <a:cs typeface="Times New Roman" panose="02020603050405020304" pitchFamily="18" charset="0"/>
              </a:rPr>
            </a:br>
            <a:r>
              <a:rPr lang="en-US" dirty="0">
                <a:latin typeface="Times New Roman" panose="02020603050405020304" pitchFamily="18" charset="0"/>
                <a:ea typeface="Times New Roman" panose="02020603050405020304" pitchFamily="18" charset="0"/>
                <a:cs typeface="Times New Roman" panose="02020603050405020304" pitchFamily="18" charset="0"/>
              </a:rPr>
              <a:t>b) Maintain and keep the stock book or file stock</a:t>
            </a:r>
            <a:br>
              <a:rPr lang="en-US" dirty="0">
                <a:latin typeface="Times New Roman" panose="02020603050405020304" pitchFamily="18" charset="0"/>
                <a:ea typeface="Times New Roman" panose="02020603050405020304" pitchFamily="18" charset="0"/>
                <a:cs typeface="Times New Roman" panose="02020603050405020304" pitchFamily="18" charset="0"/>
              </a:rPr>
            </a:br>
            <a:endParaRPr lang="fr-FR" dirty="0">
              <a:latin typeface="Calibri" panose="020F0502020204030204" charset="0"/>
              <a:ea typeface="Calibri" panose="020F0502020204030204" charset="0"/>
              <a:cs typeface="Times New Roman" panose="02020603050405020304" pitchFamily="18" charset="0"/>
            </a:endParaRPr>
          </a:p>
          <a:p>
            <a:endParaRPr lang="fr-FR"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8096" y="304800"/>
            <a:ext cx="7290055" cy="6004560"/>
          </a:xfrm>
        </p:spPr>
        <p:txBody>
          <a:bodyPr>
            <a:normAutofit fontScale="92500" lnSpcReduction="10000"/>
          </a:bodyPr>
          <a:lstStyle/>
          <a:p>
            <a:pPr marL="0" marR="0">
              <a:lnSpc>
                <a:spcPct val="150000"/>
              </a:lnSpc>
              <a:spcBef>
                <a:spcPts val="0"/>
              </a:spcBef>
              <a:spcAft>
                <a:spcPts val="0"/>
              </a:spcAft>
            </a:pPr>
            <a:r>
              <a:rPr lang="en-US" b="1" i="1" dirty="0">
                <a:latin typeface="Times New Roman" panose="02020603050405020304" pitchFamily="18" charset="0"/>
                <a:ea typeface="Times New Roman" panose="02020603050405020304" pitchFamily="18" charset="0"/>
                <a:cs typeface="Times New Roman" panose="02020603050405020304" pitchFamily="18" charset="0"/>
              </a:rPr>
              <a:t>The reception of new articles</a:t>
            </a:r>
            <a:br>
              <a:rPr lang="en-US" dirty="0">
                <a:latin typeface="Times New Roman" panose="02020603050405020304" pitchFamily="18" charset="0"/>
                <a:ea typeface="Times New Roman" panose="02020603050405020304" pitchFamily="18" charset="0"/>
                <a:cs typeface="Times New Roman" panose="02020603050405020304" pitchFamily="18" charset="0"/>
              </a:rPr>
            </a:br>
            <a:r>
              <a:rPr lang="en-US" dirty="0">
                <a:latin typeface="Times New Roman" panose="02020603050405020304" pitchFamily="18" charset="0"/>
                <a:ea typeface="Times New Roman" panose="02020603050405020304" pitchFamily="18" charset="0"/>
                <a:cs typeface="Times New Roman" panose="02020603050405020304" pitchFamily="18" charset="0"/>
              </a:rPr>
              <a:t>An item is usually delivered with a paper that is a bill if not paid  or slip of docket if the regulation was made (sometimes there are two papers). An invoice is used to give the price of the item</a:t>
            </a:r>
            <a:br>
              <a:rPr lang="en-US" dirty="0">
                <a:latin typeface="Times New Roman" panose="02020603050405020304" pitchFamily="18" charset="0"/>
                <a:ea typeface="Times New Roman" panose="02020603050405020304" pitchFamily="18" charset="0"/>
                <a:cs typeface="Times New Roman" panose="02020603050405020304" pitchFamily="18" charset="0"/>
              </a:rPr>
            </a:br>
            <a:r>
              <a:rPr lang="en-US" dirty="0">
                <a:latin typeface="Times New Roman" panose="02020603050405020304" pitchFamily="18" charset="0"/>
                <a:ea typeface="Times New Roman" panose="02020603050405020304" pitchFamily="18" charset="0"/>
                <a:cs typeface="Times New Roman" panose="02020603050405020304" pitchFamily="18" charset="0"/>
              </a:rPr>
              <a:t>Invoices and  slip of docket must be ordered in different folders open for that purpose and entitled </a:t>
            </a:r>
            <a:r>
              <a:rPr lang="en-US" i="1" dirty="0">
                <a:latin typeface="Times New Roman" panose="02020603050405020304" pitchFamily="18" charset="0"/>
                <a:ea typeface="Times New Roman" panose="02020603050405020304" pitchFamily="18" charset="0"/>
                <a:cs typeface="Times New Roman" panose="02020603050405020304" pitchFamily="18" charset="0"/>
              </a:rPr>
              <a:t>"</a:t>
            </a:r>
            <a:r>
              <a:rPr lang="en-US" b="1" i="1" dirty="0">
                <a:latin typeface="Times New Roman" panose="02020603050405020304" pitchFamily="18" charset="0"/>
                <a:ea typeface="Times New Roman" panose="02020603050405020304" pitchFamily="18" charset="0"/>
                <a:cs typeface="Times New Roman" panose="02020603050405020304" pitchFamily="18" charset="0"/>
              </a:rPr>
              <a:t>invoice</a:t>
            </a:r>
            <a:r>
              <a:rPr lang="en-US" i="1"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a:latin typeface="Times New Roman" panose="02020603050405020304" pitchFamily="18" charset="0"/>
                <a:ea typeface="Times New Roman" panose="02020603050405020304" pitchFamily="18" charset="0"/>
                <a:cs typeface="Times New Roman" panose="02020603050405020304" pitchFamily="18" charset="0"/>
              </a:rPr>
              <a:t>and </a:t>
            </a:r>
            <a:r>
              <a:rPr lang="en-US" b="1" i="1" dirty="0">
                <a:latin typeface="Times New Roman" panose="02020603050405020304" pitchFamily="18" charset="0"/>
                <a:ea typeface="Times New Roman" panose="02020603050405020304" pitchFamily="18" charset="0"/>
                <a:cs typeface="Times New Roman" panose="02020603050405020304" pitchFamily="18" charset="0"/>
              </a:rPr>
              <a:t>"delivery orders"</a:t>
            </a:r>
            <a:br>
              <a:rPr lang="en-US" dirty="0">
                <a:latin typeface="Times New Roman" panose="02020603050405020304" pitchFamily="18" charset="0"/>
                <a:ea typeface="Times New Roman" panose="02020603050405020304" pitchFamily="18" charset="0"/>
                <a:cs typeface="Times New Roman" panose="02020603050405020304" pitchFamily="18" charset="0"/>
              </a:rPr>
            </a:br>
            <a:r>
              <a:rPr lang="en-US" dirty="0">
                <a:latin typeface="Times New Roman" panose="02020603050405020304" pitchFamily="18" charset="0"/>
                <a:ea typeface="Times New Roman" panose="02020603050405020304" pitchFamily="18" charset="0"/>
                <a:cs typeface="Times New Roman" panose="02020603050405020304" pitchFamily="18" charset="0"/>
              </a:rPr>
              <a:t>Receipt of the item is then recorded in a book of stock. There is usually one page per item in stock. The recording is done in columns and includes</a:t>
            </a:r>
            <a:endParaRPr lang="fr-FR" dirty="0">
              <a:latin typeface="Calibri" panose="020F0502020204030204" charset="0"/>
              <a:ea typeface="Calibri" panose="020F0502020204030204" charset="0"/>
              <a:cs typeface="Times New Roman" panose="02020603050405020304" pitchFamily="18" charset="0"/>
            </a:endParaRPr>
          </a:p>
          <a:p>
            <a:pPr marL="342900" marR="0" lvl="0" indent="-342900">
              <a:lnSpc>
                <a:spcPct val="150000"/>
              </a:lnSpc>
              <a:spcBef>
                <a:spcPts val="0"/>
              </a:spcBef>
              <a:spcAft>
                <a:spcPts val="0"/>
              </a:spcAft>
              <a:buFont typeface="Wingdings" panose="05000000000000000000" pitchFamily="2" charset="2"/>
              <a:buChar char=""/>
            </a:pPr>
            <a:r>
              <a:rPr lang="en-US" dirty="0">
                <a:latin typeface="Times New Roman" panose="02020603050405020304" pitchFamily="18" charset="0"/>
                <a:ea typeface="Times New Roman" panose="02020603050405020304" pitchFamily="18" charset="0"/>
                <a:cs typeface="Times New Roman" panose="02020603050405020304" pitchFamily="18" charset="0"/>
              </a:rPr>
              <a:t>The date of reception of the article</a:t>
            </a:r>
            <a:endParaRPr lang="fr-FR" dirty="0">
              <a:latin typeface="Calibri" panose="020F0502020204030204" charset="0"/>
              <a:ea typeface="Calibri" panose="020F0502020204030204" charset="0"/>
              <a:cs typeface="Times New Roman" panose="02020603050405020304" pitchFamily="18" charset="0"/>
            </a:endParaRPr>
          </a:p>
          <a:p>
            <a:pPr marL="342900" marR="0" lvl="0" indent="-342900">
              <a:lnSpc>
                <a:spcPct val="150000"/>
              </a:lnSpc>
              <a:spcBef>
                <a:spcPts val="0"/>
              </a:spcBef>
              <a:spcAft>
                <a:spcPts val="0"/>
              </a:spcAft>
              <a:buFont typeface="Wingdings" panose="05000000000000000000" pitchFamily="2" charset="2"/>
              <a:buChar char=""/>
            </a:pPr>
            <a:r>
              <a:rPr lang="en-US" dirty="0">
                <a:latin typeface="Times New Roman" panose="02020603050405020304" pitchFamily="18" charset="0"/>
                <a:ea typeface="Times New Roman" panose="02020603050405020304" pitchFamily="18" charset="0"/>
                <a:cs typeface="Times New Roman" panose="02020603050405020304" pitchFamily="18" charset="0"/>
              </a:rPr>
              <a:t>The number of the item (the catalog) and the supplier</a:t>
            </a:r>
            <a:endParaRPr lang="fr-FR" dirty="0">
              <a:latin typeface="Calibri" panose="020F0502020204030204" charset="0"/>
              <a:ea typeface="Calibri" panose="020F0502020204030204" charset="0"/>
              <a:cs typeface="Times New Roman" panose="02020603050405020304" pitchFamily="18" charset="0"/>
            </a:endParaRPr>
          </a:p>
          <a:p>
            <a:pPr marL="342900" marR="0" lvl="0" indent="-342900">
              <a:lnSpc>
                <a:spcPct val="150000"/>
              </a:lnSpc>
              <a:spcBef>
                <a:spcPts val="0"/>
              </a:spcBef>
              <a:spcAft>
                <a:spcPts val="0"/>
              </a:spcAft>
              <a:buFont typeface="Wingdings" panose="05000000000000000000" pitchFamily="2" charset="2"/>
              <a:buChar char=""/>
            </a:pPr>
            <a:r>
              <a:rPr lang="en-US" dirty="0">
                <a:latin typeface="Times New Roman" panose="02020603050405020304" pitchFamily="18" charset="0"/>
                <a:ea typeface="Times New Roman" panose="02020603050405020304" pitchFamily="18" charset="0"/>
                <a:cs typeface="Times New Roman" panose="02020603050405020304" pitchFamily="18" charset="0"/>
              </a:rPr>
              <a:t>The invoice number or packing slip</a:t>
            </a:r>
            <a:endParaRPr lang="fr-FR" dirty="0">
              <a:latin typeface="Calibri" panose="020F0502020204030204" charset="0"/>
              <a:ea typeface="Calibri" panose="020F0502020204030204" charset="0"/>
              <a:cs typeface="Times New Roman" panose="02020603050405020304" pitchFamily="18" charset="0"/>
            </a:endParaRPr>
          </a:p>
          <a:p>
            <a:pPr marL="342900" marR="0" lvl="0" indent="-342900">
              <a:lnSpc>
                <a:spcPct val="150000"/>
              </a:lnSpc>
              <a:spcBef>
                <a:spcPts val="0"/>
              </a:spcBef>
              <a:spcAft>
                <a:spcPts val="0"/>
              </a:spcAft>
              <a:buFont typeface="Wingdings" panose="05000000000000000000" pitchFamily="2" charset="2"/>
              <a:buChar char=""/>
            </a:pPr>
            <a:r>
              <a:rPr lang="en-US" dirty="0">
                <a:latin typeface="Times New Roman" panose="02020603050405020304" pitchFamily="18" charset="0"/>
                <a:ea typeface="Times New Roman" panose="02020603050405020304" pitchFamily="18" charset="0"/>
                <a:cs typeface="Times New Roman" panose="02020603050405020304" pitchFamily="18" charset="0"/>
              </a:rPr>
              <a:t>The quantity received</a:t>
            </a:r>
            <a:endParaRPr lang="fr-FR" dirty="0">
              <a:latin typeface="Calibri" panose="020F0502020204030204" charset="0"/>
              <a:ea typeface="Calibri" panose="020F0502020204030204" charset="0"/>
              <a:cs typeface="Times New Roman" panose="02020603050405020304" pitchFamily="18" charset="0"/>
            </a:endParaRPr>
          </a:p>
          <a:p>
            <a:pPr marL="0" marR="0">
              <a:lnSpc>
                <a:spcPct val="150000"/>
              </a:lnSpc>
              <a:spcBef>
                <a:spcPts val="0"/>
              </a:spcBef>
              <a:spcAft>
                <a:spcPts val="0"/>
              </a:spcAft>
            </a:pPr>
            <a:r>
              <a:rPr lang="en-US" dirty="0">
                <a:latin typeface="Times New Roman" panose="02020603050405020304" pitchFamily="18" charset="0"/>
                <a:ea typeface="Times New Roman" panose="02020603050405020304" pitchFamily="18" charset="0"/>
                <a:cs typeface="Times New Roman" panose="02020603050405020304" pitchFamily="18" charset="0"/>
              </a:rPr>
              <a:t>It usually takes two books: one for material and other for equipment </a:t>
            </a:r>
            <a:br>
              <a:rPr lang="en-US" dirty="0">
                <a:latin typeface="Times New Roman" panose="02020603050405020304" pitchFamily="18" charset="0"/>
                <a:ea typeface="Times New Roman" panose="02020603050405020304" pitchFamily="18" charset="0"/>
                <a:cs typeface="Times New Roman" panose="02020603050405020304" pitchFamily="18" charset="0"/>
              </a:rPr>
            </a:br>
            <a:endParaRPr lang="fr-FR" dirty="0">
              <a:latin typeface="Calibri" panose="020F0502020204030204" charset="0"/>
              <a:ea typeface="Calibri" panose="020F0502020204030204" charset="0"/>
              <a:cs typeface="Times New Roman" panose="02020603050405020304" pitchFamily="18" charset="0"/>
            </a:endParaRPr>
          </a:p>
          <a:p>
            <a:endParaRPr lang="fr-FR"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990600"/>
            <a:ext cx="7290055" cy="5318760"/>
          </a:xfrm>
        </p:spPr>
        <p:txBody>
          <a:bodyPr/>
          <a:lstStyle/>
          <a:p>
            <a:pPr>
              <a:lnSpc>
                <a:spcPct val="150000"/>
              </a:lnSpc>
            </a:pPr>
            <a:r>
              <a:rPr lang="en-US" b="1" dirty="0">
                <a:latin typeface="Times New Roman" panose="02020603050405020304" pitchFamily="18" charset="0"/>
                <a:ea typeface="Times New Roman" panose="02020603050405020304" pitchFamily="18" charset="0"/>
              </a:rPr>
              <a:t>Balance</a:t>
            </a:r>
            <a:br>
              <a:rPr lang="en-US" dirty="0">
                <a:latin typeface="Times New Roman" panose="02020603050405020304" pitchFamily="18" charset="0"/>
                <a:ea typeface="Times New Roman" panose="02020603050405020304" pitchFamily="18" charset="0"/>
              </a:rPr>
            </a:br>
            <a:r>
              <a:rPr lang="en-US" dirty="0">
                <a:latin typeface="Times New Roman" panose="02020603050405020304" pitchFamily="18" charset="0"/>
                <a:ea typeface="Times New Roman" panose="02020603050405020304" pitchFamily="18" charset="0"/>
              </a:rPr>
              <a:t>Each item is recorded on page of the book. Whenever we receive an item, it is added to the total stock. Every time we take an article is subtracted from the total stock. The new total is what remains in stock.</a:t>
            </a:r>
          </a:p>
          <a:p>
            <a:endParaRPr lang="fr-FR" dirty="0"/>
          </a:p>
        </p:txBody>
      </p:sp>
      <p:graphicFrame>
        <p:nvGraphicFramePr>
          <p:cNvPr id="4" name="Table 3"/>
          <p:cNvGraphicFramePr>
            <a:graphicFrameLocks noGrp="1"/>
          </p:cNvGraphicFramePr>
          <p:nvPr/>
        </p:nvGraphicFramePr>
        <p:xfrm>
          <a:off x="1143000" y="3810000"/>
          <a:ext cx="7086597" cy="1697355"/>
        </p:xfrm>
        <a:graphic>
          <a:graphicData uri="http://schemas.openxmlformats.org/drawingml/2006/table">
            <a:tbl>
              <a:tblPr firstRow="1" firstCol="1" bandRow="1"/>
              <a:tblGrid>
                <a:gridCol w="1012371">
                  <a:extLst>
                    <a:ext uri="{9D8B030D-6E8A-4147-A177-3AD203B41FA5}">
                      <a16:colId xmlns:a16="http://schemas.microsoft.com/office/drawing/2014/main" val="20000"/>
                    </a:ext>
                  </a:extLst>
                </a:gridCol>
                <a:gridCol w="1012371">
                  <a:extLst>
                    <a:ext uri="{9D8B030D-6E8A-4147-A177-3AD203B41FA5}">
                      <a16:colId xmlns:a16="http://schemas.microsoft.com/office/drawing/2014/main" val="20001"/>
                    </a:ext>
                  </a:extLst>
                </a:gridCol>
                <a:gridCol w="1012371">
                  <a:extLst>
                    <a:ext uri="{9D8B030D-6E8A-4147-A177-3AD203B41FA5}">
                      <a16:colId xmlns:a16="http://schemas.microsoft.com/office/drawing/2014/main" val="20002"/>
                    </a:ext>
                  </a:extLst>
                </a:gridCol>
                <a:gridCol w="1012371">
                  <a:extLst>
                    <a:ext uri="{9D8B030D-6E8A-4147-A177-3AD203B41FA5}">
                      <a16:colId xmlns:a16="http://schemas.microsoft.com/office/drawing/2014/main" val="20003"/>
                    </a:ext>
                  </a:extLst>
                </a:gridCol>
                <a:gridCol w="1012371">
                  <a:extLst>
                    <a:ext uri="{9D8B030D-6E8A-4147-A177-3AD203B41FA5}">
                      <a16:colId xmlns:a16="http://schemas.microsoft.com/office/drawing/2014/main" val="20004"/>
                    </a:ext>
                  </a:extLst>
                </a:gridCol>
                <a:gridCol w="1012371">
                  <a:extLst>
                    <a:ext uri="{9D8B030D-6E8A-4147-A177-3AD203B41FA5}">
                      <a16:colId xmlns:a16="http://schemas.microsoft.com/office/drawing/2014/main" val="20005"/>
                    </a:ext>
                  </a:extLst>
                </a:gridCol>
                <a:gridCol w="1012371">
                  <a:extLst>
                    <a:ext uri="{9D8B030D-6E8A-4147-A177-3AD203B41FA5}">
                      <a16:colId xmlns:a16="http://schemas.microsoft.com/office/drawing/2014/main" val="20006"/>
                    </a:ext>
                  </a:extLst>
                </a:gridCol>
              </a:tblGrid>
              <a:tr h="471624">
                <a:tc>
                  <a:txBody>
                    <a:bodyPr/>
                    <a:lstStyle/>
                    <a:p>
                      <a:pPr marL="0" marR="0">
                        <a:spcBef>
                          <a:spcPts val="0"/>
                        </a:spcBef>
                        <a:spcAft>
                          <a:spcPts val="0"/>
                        </a:spcAft>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Date</a:t>
                      </a:r>
                      <a:endParaRPr lang="fr-FR" sz="1400" dirty="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Article</a:t>
                      </a:r>
                      <a:endParaRPr lang="fr-FR" sz="1400" dirty="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Receipt of</a:t>
                      </a:r>
                      <a:endParaRPr lang="fr-FR" sz="140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Bill (date)</a:t>
                      </a:r>
                      <a:endParaRPr lang="fr-FR" sz="140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Received quantity</a:t>
                      </a:r>
                      <a:endParaRPr lang="fr-FR" sz="1400" dirty="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Delivered quantity</a:t>
                      </a:r>
                      <a:endParaRPr lang="fr-FR" sz="140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Balance</a:t>
                      </a:r>
                      <a:endParaRPr lang="fr-FR" sz="140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225731">
                <a:tc>
                  <a:txBody>
                    <a:bodyPr/>
                    <a:lstStyle/>
                    <a:p>
                      <a:pPr marL="0" marR="0">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 </a:t>
                      </a:r>
                      <a:endParaRPr lang="fr-FR" sz="140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X</a:t>
                      </a:r>
                      <a:endParaRPr lang="fr-FR" sz="1400">
                        <a:effectLst/>
                        <a:latin typeface="Calibri" panose="020F0502020204030204" charset="0"/>
                        <a:ea typeface="Calibri" panose="020F0502020204030204" charset="0"/>
                        <a:cs typeface="Times New Roman" panose="02020603050405020304" pitchFamily="18" charset="0"/>
                      </a:endParaRPr>
                    </a:p>
                    <a:p>
                      <a:pPr marL="0" marR="0">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Y</a:t>
                      </a:r>
                      <a:endParaRPr lang="fr-FR" sz="1400">
                        <a:effectLst/>
                        <a:latin typeface="Calibri" panose="020F0502020204030204" charset="0"/>
                        <a:ea typeface="Calibri" panose="020F0502020204030204" charset="0"/>
                        <a:cs typeface="Times New Roman" panose="02020603050405020304" pitchFamily="18" charset="0"/>
                      </a:endParaRPr>
                    </a:p>
                    <a:p>
                      <a:pPr marL="0" marR="0">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Z</a:t>
                      </a:r>
                      <a:endParaRPr lang="fr-FR" sz="1400">
                        <a:effectLst/>
                        <a:latin typeface="Calibri" panose="020F0502020204030204" charset="0"/>
                        <a:ea typeface="Calibri" panose="020F0502020204030204" charset="0"/>
                        <a:cs typeface="Times New Roman" panose="02020603050405020304" pitchFamily="18" charset="0"/>
                      </a:endParaRPr>
                    </a:p>
                    <a:p>
                      <a:pPr marL="0" marR="0">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 </a:t>
                      </a:r>
                      <a:endParaRPr lang="fr-FR" sz="140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 </a:t>
                      </a:r>
                      <a:endParaRPr lang="fr-FR" sz="140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b="1">
                          <a:effectLst/>
                          <a:latin typeface="Times New Roman" panose="02020603050405020304" pitchFamily="18" charset="0"/>
                          <a:ea typeface="Times New Roman" panose="02020603050405020304" pitchFamily="18" charset="0"/>
                          <a:cs typeface="Times New Roman" panose="02020603050405020304" pitchFamily="18" charset="0"/>
                        </a:rPr>
                        <a:t> </a:t>
                      </a:r>
                      <a:endParaRPr lang="fr-FR" sz="140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144</a:t>
                      </a:r>
                      <a:endParaRPr lang="fr-FR" sz="1400">
                        <a:effectLst/>
                        <a:latin typeface="Calibri" panose="020F0502020204030204" charset="0"/>
                        <a:ea typeface="Calibri" panose="020F0502020204030204" charset="0"/>
                        <a:cs typeface="Times New Roman" panose="02020603050405020304" pitchFamily="18" charset="0"/>
                      </a:endParaRPr>
                    </a:p>
                    <a:p>
                      <a:pPr marL="0" marR="0">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40</a:t>
                      </a:r>
                      <a:endParaRPr lang="fr-FR" sz="1400">
                        <a:effectLst/>
                        <a:latin typeface="Calibri" panose="020F0502020204030204" charset="0"/>
                        <a:ea typeface="Calibri" panose="020F0502020204030204" charset="0"/>
                        <a:cs typeface="Times New Roman" panose="02020603050405020304" pitchFamily="18" charset="0"/>
                      </a:endParaRPr>
                    </a:p>
                    <a:p>
                      <a:pPr marL="0" marR="0">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32</a:t>
                      </a:r>
                      <a:endParaRPr lang="fr-FR" sz="140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117</a:t>
                      </a:r>
                      <a:endParaRPr lang="fr-FR" sz="1400">
                        <a:effectLst/>
                        <a:latin typeface="Calibri" panose="020F0502020204030204" charset="0"/>
                        <a:ea typeface="Calibri" panose="020F0502020204030204" charset="0"/>
                        <a:cs typeface="Times New Roman" panose="02020603050405020304" pitchFamily="18" charset="0"/>
                      </a:endParaRPr>
                    </a:p>
                    <a:p>
                      <a:pPr marL="0" marR="0">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8</a:t>
                      </a:r>
                      <a:endParaRPr lang="fr-FR" sz="1400">
                        <a:effectLst/>
                        <a:latin typeface="Calibri" panose="020F0502020204030204" charset="0"/>
                        <a:ea typeface="Calibri" panose="020F0502020204030204" charset="0"/>
                        <a:cs typeface="Times New Roman" panose="02020603050405020304" pitchFamily="18" charset="0"/>
                      </a:endParaRPr>
                    </a:p>
                    <a:p>
                      <a:pPr marL="0" marR="0">
                        <a:spcBef>
                          <a:spcPts val="0"/>
                        </a:spcBef>
                        <a:spcAft>
                          <a:spcPts val="0"/>
                        </a:spcAft>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9</a:t>
                      </a:r>
                      <a:endParaRPr lang="fr-FR" sz="140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27</a:t>
                      </a:r>
                      <a:endParaRPr lang="fr-FR" sz="1400" dirty="0">
                        <a:effectLst/>
                        <a:latin typeface="Calibri" panose="020F0502020204030204" charset="0"/>
                        <a:ea typeface="Calibri" panose="020F0502020204030204" charset="0"/>
                        <a:cs typeface="Times New Roman" panose="02020603050405020304" pitchFamily="18" charset="0"/>
                      </a:endParaRPr>
                    </a:p>
                    <a:p>
                      <a:pPr marL="0" marR="0">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32</a:t>
                      </a:r>
                      <a:endParaRPr lang="fr-FR" sz="1400" dirty="0">
                        <a:effectLst/>
                        <a:latin typeface="Calibri" panose="020F0502020204030204" charset="0"/>
                        <a:ea typeface="Calibri" panose="020F0502020204030204" charset="0"/>
                        <a:cs typeface="Times New Roman" panose="02020603050405020304" pitchFamily="18" charset="0"/>
                      </a:endParaRPr>
                    </a:p>
                    <a:p>
                      <a:pPr marL="0" marR="0">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23</a:t>
                      </a:r>
                      <a:endParaRPr lang="fr-FR" sz="1400" dirty="0">
                        <a:effectLst/>
                        <a:latin typeface="Calibri" panose="020F0502020204030204" charset="0"/>
                        <a:ea typeface="Calibri" panose="020F050202020403020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8096" y="990600"/>
            <a:ext cx="7290055" cy="5318760"/>
          </a:xfrm>
        </p:spPr>
        <p:txBody>
          <a:bodyPr>
            <a:normAutofit/>
          </a:bodyPr>
          <a:lstStyle/>
          <a:p>
            <a:pPr marL="342900" marR="0" lvl="0" indent="-342900">
              <a:spcBef>
                <a:spcPts val="0"/>
              </a:spcBef>
              <a:spcAft>
                <a:spcPts val="0"/>
              </a:spcAft>
              <a:buFont typeface="+mj-lt"/>
              <a:buAutoNum type="alphaLcParenR"/>
            </a:pPr>
            <a:r>
              <a:rPr lang="en-US" b="1" i="1" dirty="0">
                <a:latin typeface="Times New Roman" panose="02020603050405020304" pitchFamily="18" charset="0"/>
                <a:ea typeface="Times New Roman" panose="02020603050405020304" pitchFamily="18" charset="0"/>
                <a:cs typeface="Times New Roman" panose="02020603050405020304" pitchFamily="18" charset="0"/>
              </a:rPr>
              <a:t>The stock book </a:t>
            </a:r>
            <a:endParaRPr lang="fr-FR" dirty="0">
              <a:latin typeface="Calibri" panose="020F0502020204030204" charset="0"/>
              <a:ea typeface="Calibri" panose="020F0502020204030204" charset="0"/>
              <a:cs typeface="Times New Roman" panose="02020603050405020304" pitchFamily="18" charset="0"/>
            </a:endParaRPr>
          </a:p>
          <a:p>
            <a:pPr marL="0" marR="0">
              <a:lnSpc>
                <a:spcPct val="150000"/>
              </a:lnSpc>
              <a:spcBef>
                <a:spcPts val="0"/>
              </a:spcBef>
              <a:spcAft>
                <a:spcPts val="0"/>
              </a:spcAft>
            </a:pPr>
            <a:r>
              <a:rPr lang="en-US" dirty="0">
                <a:latin typeface="Times New Roman" panose="02020603050405020304" pitchFamily="18" charset="0"/>
                <a:ea typeface="Times New Roman" panose="02020603050405020304" pitchFamily="18" charset="0"/>
                <a:cs typeface="Times New Roman" panose="02020603050405020304" pitchFamily="18" charset="0"/>
              </a:rPr>
              <a:t>When we report distributed material and equipment in stock book, we know what remain in stock by subtracting the total quantity withdrawn from the stock. When the stock falls, it is time to order. It is important to record distributed material and calculate what remains in stock so we know when to make an order.</a:t>
            </a:r>
            <a:endParaRPr lang="fr-FR" dirty="0">
              <a:latin typeface="Calibri" panose="020F0502020204030204" charset="0"/>
              <a:ea typeface="Calibri" panose="020F0502020204030204" charset="0"/>
              <a:cs typeface="Times New Roman" panose="02020603050405020304" pitchFamily="18" charset="0"/>
            </a:endParaRPr>
          </a:p>
          <a:p>
            <a:pPr marL="0" marR="0">
              <a:lnSpc>
                <a:spcPct val="150000"/>
              </a:lnSpc>
              <a:spcBef>
                <a:spcPts val="0"/>
              </a:spcBef>
              <a:spcAft>
                <a:spcPts val="0"/>
              </a:spcAft>
            </a:pPr>
            <a:r>
              <a:rPr lang="en-US" b="1" i="1" dirty="0">
                <a:latin typeface="Times New Roman" panose="02020603050405020304" pitchFamily="18" charset="0"/>
                <a:ea typeface="Times New Roman" panose="02020603050405020304" pitchFamily="18" charset="0"/>
              </a:rPr>
              <a:t>Note: </a:t>
            </a:r>
            <a:r>
              <a:rPr lang="en-US" dirty="0">
                <a:latin typeface="Times New Roman" panose="02020603050405020304" pitchFamily="18" charset="0"/>
                <a:ea typeface="Times New Roman" panose="02020603050405020304" pitchFamily="18" charset="0"/>
              </a:rPr>
              <a:t>For internal  stock management, Better to use a store card </a:t>
            </a:r>
            <a:br>
              <a:rPr lang="en-US" dirty="0">
                <a:latin typeface="Times New Roman" panose="02020603050405020304" pitchFamily="18" charset="0"/>
                <a:ea typeface="Times New Roman" panose="02020603050405020304" pitchFamily="18" charset="0"/>
              </a:rPr>
            </a:br>
            <a:endParaRPr lang="fr-FR"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68263"/>
            <a:ext cx="8229600" cy="1143000"/>
          </a:xfrm>
        </p:spPr>
        <p:txBody>
          <a:bodyPr/>
          <a:lstStyle/>
          <a:p>
            <a:r>
              <a:rPr lang="en-US" altLang="fr-FR" dirty="0"/>
              <a:t>Maintain Proper Inventory Records</a:t>
            </a:r>
          </a:p>
        </p:txBody>
      </p:sp>
      <p:sp>
        <p:nvSpPr>
          <p:cNvPr id="23555" name="Text Placeholder 7"/>
          <p:cNvSpPr>
            <a:spLocks noGrp="1"/>
          </p:cNvSpPr>
          <p:nvPr>
            <p:ph type="body" idx="1"/>
          </p:nvPr>
        </p:nvSpPr>
        <p:spPr>
          <a:xfrm>
            <a:off x="457200" y="1749425"/>
            <a:ext cx="4040188" cy="425450"/>
          </a:xfrm>
        </p:spPr>
        <p:txBody>
          <a:bodyPr/>
          <a:lstStyle/>
          <a:p>
            <a:pPr algn="ctr"/>
            <a:r>
              <a:rPr lang="en-US" altLang="fr-FR"/>
              <a:t>Stock Card</a:t>
            </a:r>
          </a:p>
        </p:txBody>
      </p:sp>
      <p:sp>
        <p:nvSpPr>
          <p:cNvPr id="23556" name="Rectangle 5"/>
          <p:cNvSpPr>
            <a:spLocks noGrp="1" noChangeArrowheads="1"/>
          </p:cNvSpPr>
          <p:nvPr>
            <p:ph sz="half" idx="2"/>
          </p:nvPr>
        </p:nvSpPr>
        <p:spPr/>
        <p:txBody>
          <a:bodyPr/>
          <a:lstStyle/>
          <a:p>
            <a:r>
              <a:rPr lang="en-US" altLang="fr-FR" dirty="0"/>
              <a:t>Simple, heavy weight cards</a:t>
            </a:r>
          </a:p>
          <a:p>
            <a:r>
              <a:rPr lang="en-US" altLang="fr-FR" dirty="0"/>
              <a:t>Kept for each item in stock room </a:t>
            </a:r>
          </a:p>
          <a:p>
            <a:endParaRPr lang="en-US" altLang="fr-FR" dirty="0"/>
          </a:p>
        </p:txBody>
      </p:sp>
      <p:sp>
        <p:nvSpPr>
          <p:cNvPr id="23557" name="Text Placeholder 8"/>
          <p:cNvSpPr>
            <a:spLocks noGrp="1"/>
          </p:cNvSpPr>
          <p:nvPr>
            <p:ph type="body" sz="quarter" idx="3"/>
          </p:nvPr>
        </p:nvSpPr>
        <p:spPr>
          <a:xfrm>
            <a:off x="4645025" y="1749425"/>
            <a:ext cx="4041775" cy="425450"/>
          </a:xfrm>
        </p:spPr>
        <p:txBody>
          <a:bodyPr/>
          <a:lstStyle/>
          <a:p>
            <a:pPr algn="ctr"/>
            <a:r>
              <a:rPr lang="en-US" altLang="fr-FR"/>
              <a:t>Stock Book (Register) </a:t>
            </a:r>
          </a:p>
        </p:txBody>
      </p:sp>
      <p:sp>
        <p:nvSpPr>
          <p:cNvPr id="23558" name="Rectangle 6"/>
          <p:cNvSpPr>
            <a:spLocks noGrp="1" noChangeArrowheads="1"/>
          </p:cNvSpPr>
          <p:nvPr>
            <p:ph sz="quarter" idx="4"/>
          </p:nvPr>
        </p:nvSpPr>
        <p:spPr>
          <a:xfrm>
            <a:off x="4645025" y="2174875"/>
            <a:ext cx="4041775" cy="3194050"/>
          </a:xfrm>
        </p:spPr>
        <p:txBody>
          <a:bodyPr/>
          <a:lstStyle/>
          <a:p>
            <a:r>
              <a:rPr lang="en-US" altLang="fr-FR" dirty="0"/>
              <a:t>Contains listing of all items in stock room</a:t>
            </a:r>
          </a:p>
          <a:p>
            <a:r>
              <a:rPr lang="en-US" altLang="fr-FR" dirty="0"/>
              <a:t>Updated monthly after physical count</a:t>
            </a:r>
          </a:p>
          <a:p>
            <a:r>
              <a:rPr lang="en-US" altLang="fr-FR" dirty="0"/>
              <a:t>Uses information from stock cards</a:t>
            </a:r>
          </a:p>
          <a:p>
            <a:r>
              <a:rPr lang="en-US" altLang="fr-FR" dirty="0"/>
              <a:t>May be electronic or paper for monthly stock management</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85800" y="82550"/>
            <a:ext cx="7772400" cy="1143000"/>
          </a:xfrm>
        </p:spPr>
        <p:txBody>
          <a:bodyPr/>
          <a:lstStyle/>
          <a:p>
            <a:r>
              <a:rPr lang="en-US" altLang="fr-FR"/>
              <a:t>Stock Card: An Example</a:t>
            </a:r>
          </a:p>
        </p:txBody>
      </p:sp>
      <p:sp>
        <p:nvSpPr>
          <p:cNvPr id="24579" name="Rectangle 3"/>
          <p:cNvSpPr>
            <a:spLocks noGrp="1" noChangeArrowheads="1"/>
          </p:cNvSpPr>
          <p:nvPr>
            <p:ph type="body" sz="half" idx="1"/>
          </p:nvPr>
        </p:nvSpPr>
        <p:spPr>
          <a:xfrm>
            <a:off x="457200" y="1447800"/>
            <a:ext cx="8382000" cy="1341438"/>
          </a:xfrm>
        </p:spPr>
        <p:txBody>
          <a:bodyPr/>
          <a:lstStyle/>
          <a:p>
            <a:r>
              <a:rPr lang="en-US" altLang="fr-FR"/>
              <a:t>Item Name:  __________ Unit: ___________</a:t>
            </a:r>
          </a:p>
          <a:p>
            <a:r>
              <a:rPr lang="en-US" altLang="fr-FR"/>
              <a:t>Manufacturer: ________________________ </a:t>
            </a:r>
          </a:p>
          <a:p>
            <a:r>
              <a:rPr lang="en-US" altLang="fr-FR"/>
              <a:t>Minimum Stock (Re-Order Level): ___________</a:t>
            </a:r>
          </a:p>
        </p:txBody>
      </p:sp>
      <p:graphicFrame>
        <p:nvGraphicFramePr>
          <p:cNvPr id="977920" name="Group 1024"/>
          <p:cNvGraphicFramePr>
            <a:graphicFrameLocks noGrp="1"/>
          </p:cNvGraphicFramePr>
          <p:nvPr>
            <p:ph sz="half" idx="2"/>
          </p:nvPr>
        </p:nvGraphicFramePr>
        <p:xfrm>
          <a:off x="530225" y="3048000"/>
          <a:ext cx="8156575" cy="3124201"/>
        </p:xfrm>
        <a:graphic>
          <a:graphicData uri="http://schemas.openxmlformats.org/drawingml/2006/table">
            <a:tbl>
              <a:tblPr/>
              <a:tblGrid>
                <a:gridCol w="732714">
                  <a:extLst>
                    <a:ext uri="{9D8B030D-6E8A-4147-A177-3AD203B41FA5}">
                      <a16:colId xmlns:a16="http://schemas.microsoft.com/office/drawing/2014/main" val="20000"/>
                    </a:ext>
                  </a:extLst>
                </a:gridCol>
                <a:gridCol w="1116657">
                  <a:extLst>
                    <a:ext uri="{9D8B030D-6E8A-4147-A177-3AD203B41FA5}">
                      <a16:colId xmlns:a16="http://schemas.microsoft.com/office/drawing/2014/main" val="20001"/>
                    </a:ext>
                  </a:extLst>
                </a:gridCol>
                <a:gridCol w="870464">
                  <a:extLst>
                    <a:ext uri="{9D8B030D-6E8A-4147-A177-3AD203B41FA5}">
                      <a16:colId xmlns:a16="http://schemas.microsoft.com/office/drawing/2014/main" val="20002"/>
                    </a:ext>
                  </a:extLst>
                </a:gridCol>
                <a:gridCol w="1169412">
                  <a:extLst>
                    <a:ext uri="{9D8B030D-6E8A-4147-A177-3AD203B41FA5}">
                      <a16:colId xmlns:a16="http://schemas.microsoft.com/office/drawing/2014/main" val="20003"/>
                    </a:ext>
                  </a:extLst>
                </a:gridCol>
                <a:gridCol w="1066832">
                  <a:extLst>
                    <a:ext uri="{9D8B030D-6E8A-4147-A177-3AD203B41FA5}">
                      <a16:colId xmlns:a16="http://schemas.microsoft.com/office/drawing/2014/main" val="20004"/>
                    </a:ext>
                  </a:extLst>
                </a:gridCol>
                <a:gridCol w="1143034">
                  <a:extLst>
                    <a:ext uri="{9D8B030D-6E8A-4147-A177-3AD203B41FA5}">
                      <a16:colId xmlns:a16="http://schemas.microsoft.com/office/drawing/2014/main" val="20005"/>
                    </a:ext>
                  </a:extLst>
                </a:gridCol>
                <a:gridCol w="899773">
                  <a:extLst>
                    <a:ext uri="{9D8B030D-6E8A-4147-A177-3AD203B41FA5}">
                      <a16:colId xmlns:a16="http://schemas.microsoft.com/office/drawing/2014/main" val="20006"/>
                    </a:ext>
                  </a:extLst>
                </a:gridCol>
                <a:gridCol w="1157689">
                  <a:extLst>
                    <a:ext uri="{9D8B030D-6E8A-4147-A177-3AD203B41FA5}">
                      <a16:colId xmlns:a16="http://schemas.microsoft.com/office/drawing/2014/main" val="20007"/>
                    </a:ext>
                  </a:extLst>
                </a:gridCol>
              </a:tblGrid>
              <a:tr h="969963">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sz="1600" b="1" i="0" u="none" strike="noStrike" cap="none" normalizeH="0" baseline="0" dirty="0">
                          <a:ln>
                            <a:noFill/>
                          </a:ln>
                          <a:solidFill>
                            <a:schemeClr val="tx1"/>
                          </a:solidFill>
                          <a:effectLst/>
                          <a:latin typeface="Arial" panose="020B0604020202020204" pitchFamily="34" charset="0"/>
                          <a:cs typeface="Times New Roman" panose="02020603050405020304" pitchFamily="18" charset="0"/>
                        </a:rPr>
                        <a:t>Date</a:t>
                      </a:r>
                      <a:endParaRPr kumimoji="0" lang="en-US" sz="1600" b="0" i="0" u="none" strike="noStrike" cap="none" normalizeH="0" baseline="0" dirty="0">
                        <a:ln>
                          <a:noFill/>
                        </a:ln>
                        <a:solidFill>
                          <a:schemeClr val="tx1"/>
                        </a:solidFill>
                        <a:effectLst/>
                        <a:latin typeface="Arial" panose="020B0604020202020204" pitchFamily="34" charset="0"/>
                      </a:endParaRPr>
                    </a:p>
                  </a:txBody>
                  <a:tcPr marL="84409" marR="844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blipFill dpi="0" rotWithShape="1">
                      <a:blip r:embed="rId3"/>
                      <a:srcRect/>
                      <a:tile tx="0" ty="0" sx="100000" sy="100000" flip="none" algn="tl"/>
                    </a:blip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sz="1600" b="1" i="0" u="none" strike="noStrike" cap="none" normalizeH="0" baseline="0" dirty="0">
                          <a:ln>
                            <a:noFill/>
                          </a:ln>
                          <a:solidFill>
                            <a:schemeClr val="tx1"/>
                          </a:solidFill>
                          <a:effectLst/>
                          <a:latin typeface="Arial" panose="020B0604020202020204" pitchFamily="34" charset="0"/>
                          <a:cs typeface="Times New Roman" panose="02020603050405020304" pitchFamily="18" charset="0"/>
                        </a:rPr>
                        <a:t>Received</a:t>
                      </a: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sz="1600" b="1" i="0" u="none" strike="noStrike" cap="none" normalizeH="0" baseline="0" dirty="0">
                          <a:ln>
                            <a:noFill/>
                          </a:ln>
                          <a:solidFill>
                            <a:schemeClr val="tx1"/>
                          </a:solidFill>
                          <a:effectLst/>
                          <a:latin typeface="Arial" panose="020B0604020202020204" pitchFamily="34" charset="0"/>
                          <a:cs typeface="Times New Roman" panose="02020603050405020304" pitchFamily="18" charset="0"/>
                        </a:rPr>
                        <a:t>From</a:t>
                      </a:r>
                      <a:endParaRPr kumimoji="0" lang="en-US" sz="1600" b="0" i="0" u="none" strike="noStrike" cap="none" normalizeH="0" baseline="0" dirty="0">
                        <a:ln>
                          <a:noFill/>
                        </a:ln>
                        <a:solidFill>
                          <a:schemeClr val="tx1"/>
                        </a:solidFill>
                        <a:effectLst/>
                        <a:latin typeface="Arial" panose="020B0604020202020204" pitchFamily="34" charset="0"/>
                      </a:endParaRPr>
                    </a:p>
                  </a:txBody>
                  <a:tcPr marL="84409" marR="844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blipFill dpi="0" rotWithShape="1">
                      <a:blip r:embed="rId3"/>
                      <a:srcRect/>
                      <a:tile tx="0" ty="0" sx="100000" sy="100000" flip="none" algn="tl"/>
                    </a:blip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sz="1600" b="1" i="0" u="none" strike="noStrike" cap="none" normalizeH="0" baseline="0" dirty="0">
                          <a:ln>
                            <a:noFill/>
                          </a:ln>
                          <a:solidFill>
                            <a:schemeClr val="tx1"/>
                          </a:solidFill>
                          <a:effectLst/>
                          <a:latin typeface="Arial" panose="020B0604020202020204" pitchFamily="34" charset="0"/>
                          <a:cs typeface="Times New Roman" panose="02020603050405020304" pitchFamily="18" charset="0"/>
                        </a:rPr>
                        <a:t>Issued</a:t>
                      </a: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sz="1600" b="1" i="0" u="none" strike="noStrike" cap="none" normalizeH="0" baseline="0" dirty="0">
                          <a:ln>
                            <a:noFill/>
                          </a:ln>
                          <a:solidFill>
                            <a:schemeClr val="tx1"/>
                          </a:solidFill>
                          <a:effectLst/>
                          <a:latin typeface="Arial" panose="020B0604020202020204" pitchFamily="34" charset="0"/>
                          <a:cs typeface="Times New Roman" panose="02020603050405020304" pitchFamily="18" charset="0"/>
                        </a:rPr>
                        <a:t> to</a:t>
                      </a:r>
                      <a:endParaRPr kumimoji="0" lang="en-US" sz="1600" b="0" i="0" u="none" strike="noStrike" cap="none" normalizeH="0" baseline="0" dirty="0">
                        <a:ln>
                          <a:noFill/>
                        </a:ln>
                        <a:solidFill>
                          <a:schemeClr val="tx1"/>
                        </a:solidFill>
                        <a:effectLst/>
                        <a:latin typeface="Arial" panose="020B0604020202020204" pitchFamily="34" charset="0"/>
                      </a:endParaRPr>
                    </a:p>
                  </a:txBody>
                  <a:tcPr marL="84409" marR="844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blipFill dpi="0" rotWithShape="1">
                      <a:blip r:embed="rId3"/>
                      <a:srcRect/>
                      <a:tile tx="0" ty="0" sx="100000" sy="100000" flip="none" algn="tl"/>
                    </a:blip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sz="1600" b="1" i="0" u="none" strike="noStrike" cap="none" normalizeH="0" baseline="0" dirty="0">
                          <a:ln>
                            <a:noFill/>
                          </a:ln>
                          <a:solidFill>
                            <a:schemeClr val="tx1"/>
                          </a:solidFill>
                          <a:effectLst/>
                          <a:latin typeface="Arial" panose="020B0604020202020204" pitchFamily="34" charset="0"/>
                          <a:cs typeface="Times New Roman" panose="02020603050405020304" pitchFamily="18" charset="0"/>
                        </a:rPr>
                        <a:t>Quantity</a:t>
                      </a: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sz="1600" b="1" i="0" u="none" strike="noStrike" cap="none" normalizeH="0" baseline="0" dirty="0">
                          <a:ln>
                            <a:noFill/>
                          </a:ln>
                          <a:solidFill>
                            <a:schemeClr val="tx1"/>
                          </a:solidFill>
                          <a:effectLst/>
                          <a:latin typeface="Arial" panose="020B0604020202020204" pitchFamily="34" charset="0"/>
                          <a:cs typeface="Times New Roman" panose="02020603050405020304" pitchFamily="18" charset="0"/>
                        </a:rPr>
                        <a:t>Received</a:t>
                      </a:r>
                      <a:endParaRPr kumimoji="0" lang="en-US" sz="1600" b="0" i="0" u="none" strike="noStrike" cap="none" normalizeH="0" baseline="0" dirty="0">
                        <a:ln>
                          <a:noFill/>
                        </a:ln>
                        <a:solidFill>
                          <a:schemeClr val="tx1"/>
                        </a:solidFill>
                        <a:effectLst/>
                        <a:latin typeface="Arial" panose="020B0604020202020204" pitchFamily="34" charset="0"/>
                      </a:endParaRPr>
                    </a:p>
                  </a:txBody>
                  <a:tcPr marL="84409" marR="844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blipFill dpi="0" rotWithShape="1">
                      <a:blip r:embed="rId3"/>
                      <a:srcRect/>
                      <a:tile tx="0" ty="0" sx="100000" sy="100000" flip="none" algn="tl"/>
                    </a:blip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sz="1600" b="1" i="0" u="none" strike="noStrike" cap="none" normalizeH="0" baseline="0" dirty="0">
                          <a:ln>
                            <a:noFill/>
                          </a:ln>
                          <a:solidFill>
                            <a:schemeClr val="tx1"/>
                          </a:solidFill>
                          <a:effectLst/>
                          <a:latin typeface="Arial" panose="020B0604020202020204" pitchFamily="34" charset="0"/>
                          <a:cs typeface="Times New Roman" panose="02020603050405020304" pitchFamily="18" charset="0"/>
                        </a:rPr>
                        <a:t>Quantity</a:t>
                      </a: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sz="1600" b="1" i="0" u="none" strike="noStrike" cap="none" normalizeH="0" baseline="0" dirty="0">
                          <a:ln>
                            <a:noFill/>
                          </a:ln>
                          <a:solidFill>
                            <a:schemeClr val="tx1"/>
                          </a:solidFill>
                          <a:effectLst/>
                          <a:latin typeface="Arial" panose="020B0604020202020204" pitchFamily="34" charset="0"/>
                          <a:cs typeface="Times New Roman" panose="02020603050405020304" pitchFamily="18" charset="0"/>
                        </a:rPr>
                        <a:t>Issued</a:t>
                      </a:r>
                      <a:endParaRPr kumimoji="0" lang="en-US" sz="1600" b="0" i="0" u="none" strike="noStrike" cap="none" normalizeH="0" baseline="0" dirty="0">
                        <a:ln>
                          <a:noFill/>
                        </a:ln>
                        <a:solidFill>
                          <a:schemeClr val="tx1"/>
                        </a:solidFill>
                        <a:effectLst/>
                        <a:latin typeface="Arial" panose="020B0604020202020204" pitchFamily="34" charset="0"/>
                      </a:endParaRPr>
                    </a:p>
                  </a:txBody>
                  <a:tcPr marL="84409" marR="844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blipFill dpi="0" rotWithShape="1">
                      <a:blip r:embed="rId3"/>
                      <a:srcRect/>
                      <a:tile tx="0" ty="0" sx="100000" sy="100000" flip="none" algn="tl"/>
                    </a:blip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sz="1600" b="1" i="0" u="none" strike="noStrike" cap="none" normalizeH="0" baseline="0" dirty="0">
                          <a:ln>
                            <a:noFill/>
                          </a:ln>
                          <a:solidFill>
                            <a:schemeClr val="tx1"/>
                          </a:solidFill>
                          <a:effectLst/>
                          <a:latin typeface="Arial" panose="020B0604020202020204" pitchFamily="34" charset="0"/>
                          <a:cs typeface="Times New Roman" panose="02020603050405020304" pitchFamily="18" charset="0"/>
                        </a:rPr>
                        <a:t>*Balance</a:t>
                      </a:r>
                      <a:endParaRPr kumimoji="0" lang="en-US" sz="1600" b="0" i="0" u="none" strike="noStrike" cap="none" normalizeH="0" baseline="0" dirty="0">
                        <a:ln>
                          <a:noFill/>
                        </a:ln>
                        <a:solidFill>
                          <a:schemeClr val="tx1"/>
                        </a:solidFill>
                        <a:effectLst/>
                        <a:latin typeface="Arial" panose="020B0604020202020204" pitchFamily="34" charset="0"/>
                      </a:endParaRPr>
                    </a:p>
                  </a:txBody>
                  <a:tcPr marL="84409" marR="844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blipFill dpi="0" rotWithShape="1">
                      <a:blip r:embed="rId3"/>
                      <a:srcRect/>
                      <a:tile tx="0" ty="0" sx="100000" sy="100000" flip="none" algn="tl"/>
                    </a:blip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sz="1600" b="1" i="0" u="none" strike="noStrike" cap="none" normalizeH="0" baseline="0" dirty="0">
                          <a:ln>
                            <a:noFill/>
                          </a:ln>
                          <a:solidFill>
                            <a:schemeClr val="tx1"/>
                          </a:solidFill>
                          <a:effectLst/>
                          <a:latin typeface="Arial" panose="020B0604020202020204" pitchFamily="34" charset="0"/>
                          <a:cs typeface="Times New Roman" panose="02020603050405020304" pitchFamily="18" charset="0"/>
                        </a:rPr>
                        <a:t>Lot # </a:t>
                      </a:r>
                      <a:endParaRPr kumimoji="0" lang="en-US" sz="1600" b="0" i="0" u="none" strike="noStrike" cap="none" normalizeH="0" baseline="0" dirty="0">
                        <a:ln>
                          <a:noFill/>
                        </a:ln>
                        <a:solidFill>
                          <a:schemeClr val="tx1"/>
                        </a:solidFill>
                        <a:effectLst/>
                        <a:latin typeface="Arial" panose="020B0604020202020204" pitchFamily="34" charset="0"/>
                      </a:endParaRPr>
                    </a:p>
                  </a:txBody>
                  <a:tcPr marL="84409" marR="844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blipFill dpi="0" rotWithShape="1">
                      <a:blip r:embed="rId3"/>
                      <a:srcRect/>
                      <a:tile tx="0" ty="0" sx="100000" sy="100000" flip="none" algn="tl"/>
                    </a:blip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sz="1600" b="1" i="0" u="none" strike="noStrike" cap="none" normalizeH="0" baseline="0" dirty="0">
                          <a:ln>
                            <a:noFill/>
                          </a:ln>
                          <a:solidFill>
                            <a:schemeClr val="tx1"/>
                          </a:solidFill>
                          <a:effectLst/>
                          <a:latin typeface="Arial" panose="020B0604020202020204" pitchFamily="34" charset="0"/>
                          <a:cs typeface="Times New Roman" panose="02020603050405020304" pitchFamily="18" charset="0"/>
                        </a:rPr>
                        <a:t>Signature</a:t>
                      </a:r>
                      <a:endParaRPr kumimoji="0" lang="en-US" sz="1600" b="0" i="0" u="none" strike="noStrike" cap="none" normalizeH="0" baseline="0" dirty="0">
                        <a:ln>
                          <a:noFill/>
                        </a:ln>
                        <a:solidFill>
                          <a:schemeClr val="tx1"/>
                        </a:solidFill>
                        <a:effectLst/>
                        <a:latin typeface="Arial" panose="020B0604020202020204" pitchFamily="34" charset="0"/>
                      </a:endParaRPr>
                    </a:p>
                  </a:txBody>
                  <a:tcPr marL="84409" marR="844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blipFill dpi="0" rotWithShape="1">
                      <a:blip r:embed="rId3"/>
                      <a:srcRect/>
                      <a:tile tx="0" ty="0" sx="100000" sy="100000" flip="none" algn="tl"/>
                    </a:blipFill>
                  </a:tcPr>
                </a:tc>
                <a:extLst>
                  <a:ext uri="{0D108BD9-81ED-4DB2-BD59-A6C34878D82A}">
                    <a16:rowId xmlns:a16="http://schemas.microsoft.com/office/drawing/2014/main" val="10000"/>
                  </a:ext>
                </a:extLst>
              </a:tr>
              <a:tr h="1076325">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dirty="0">
                        <a:ln>
                          <a:noFill/>
                        </a:ln>
                        <a:solidFill>
                          <a:schemeClr val="tx1"/>
                        </a:solidFill>
                        <a:effectLst/>
                        <a:latin typeface="Arial" panose="020B0604020202020204" pitchFamily="34" charset="0"/>
                      </a:endParaRPr>
                    </a:p>
                  </a:txBody>
                  <a:tcPr marL="84409" marR="844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ndParaRPr>
                    </a:p>
                  </a:txBody>
                  <a:tcPr marL="84409" marR="844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ndParaRPr>
                    </a:p>
                  </a:txBody>
                  <a:tcPr marL="84409" marR="844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dirty="0">
                        <a:ln>
                          <a:noFill/>
                        </a:ln>
                        <a:solidFill>
                          <a:schemeClr val="tx1"/>
                        </a:solidFill>
                        <a:effectLst/>
                        <a:latin typeface="Arial" panose="020B0604020202020204" pitchFamily="34" charset="0"/>
                      </a:endParaRPr>
                    </a:p>
                  </a:txBody>
                  <a:tcPr marL="84409" marR="844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dirty="0">
                        <a:ln>
                          <a:noFill/>
                        </a:ln>
                        <a:solidFill>
                          <a:schemeClr val="tx1"/>
                        </a:solidFill>
                        <a:effectLst/>
                        <a:latin typeface="Arial" panose="020B0604020202020204" pitchFamily="34" charset="0"/>
                      </a:endParaRPr>
                    </a:p>
                  </a:txBody>
                  <a:tcPr marL="84409" marR="844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dirty="0">
                        <a:ln>
                          <a:noFill/>
                        </a:ln>
                        <a:solidFill>
                          <a:schemeClr val="tx1"/>
                        </a:solidFill>
                        <a:effectLst/>
                        <a:latin typeface="Arial" panose="020B0604020202020204" pitchFamily="34" charset="0"/>
                      </a:endParaRPr>
                    </a:p>
                  </a:txBody>
                  <a:tcPr marL="84409" marR="844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dirty="0">
                        <a:ln>
                          <a:noFill/>
                        </a:ln>
                        <a:solidFill>
                          <a:schemeClr val="tx1"/>
                        </a:solidFill>
                        <a:effectLst/>
                        <a:latin typeface="Arial" panose="020B0604020202020204" pitchFamily="34" charset="0"/>
                      </a:endParaRPr>
                    </a:p>
                  </a:txBody>
                  <a:tcPr marL="84409" marR="844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dirty="0">
                        <a:ln>
                          <a:noFill/>
                        </a:ln>
                        <a:solidFill>
                          <a:schemeClr val="tx1"/>
                        </a:solidFill>
                        <a:effectLst/>
                        <a:latin typeface="Arial" panose="020B0604020202020204" pitchFamily="34" charset="0"/>
                      </a:endParaRPr>
                    </a:p>
                  </a:txBody>
                  <a:tcPr marL="84409" marR="844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1077913">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ndParaRPr>
                    </a:p>
                  </a:txBody>
                  <a:tcPr marL="84409" marR="844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ndParaRPr>
                    </a:p>
                  </a:txBody>
                  <a:tcPr marL="84409" marR="844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ndParaRPr>
                    </a:p>
                  </a:txBody>
                  <a:tcPr marL="84409" marR="844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ndParaRPr>
                    </a:p>
                  </a:txBody>
                  <a:tcPr marL="84409" marR="844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ndParaRPr>
                    </a:p>
                  </a:txBody>
                  <a:tcPr marL="84409" marR="844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ndParaRPr>
                    </a:p>
                  </a:txBody>
                  <a:tcPr marL="84409" marR="844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ndParaRPr>
                    </a:p>
                  </a:txBody>
                  <a:tcPr marL="84409" marR="844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ndParaRPr>
                    </a:p>
                  </a:txBody>
                  <a:tcPr marL="84409" marR="844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685800" y="85725"/>
            <a:ext cx="7772400" cy="1143000"/>
          </a:xfrm>
        </p:spPr>
        <p:txBody>
          <a:bodyPr/>
          <a:lstStyle/>
          <a:p>
            <a:r>
              <a:rPr lang="en-US" altLang="fr-FR"/>
              <a:t>Stock Book: An Example</a:t>
            </a:r>
          </a:p>
        </p:txBody>
      </p:sp>
      <p:graphicFrame>
        <p:nvGraphicFramePr>
          <p:cNvPr id="850004" name="Group 84"/>
          <p:cNvGraphicFramePr>
            <a:graphicFrameLocks noGrp="1"/>
          </p:cNvGraphicFramePr>
          <p:nvPr>
            <p:ph type="tbl" idx="1"/>
          </p:nvPr>
        </p:nvGraphicFramePr>
        <p:xfrm>
          <a:off x="457200" y="1752600"/>
          <a:ext cx="8382000" cy="2708348"/>
        </p:xfrm>
        <a:graphic>
          <a:graphicData uri="http://schemas.openxmlformats.org/drawingml/2006/table">
            <a:tbl>
              <a:tblPr/>
              <a:tblGrid>
                <a:gridCol w="1009650">
                  <a:extLst>
                    <a:ext uri="{9D8B030D-6E8A-4147-A177-3AD203B41FA5}">
                      <a16:colId xmlns:a16="http://schemas.microsoft.com/office/drawing/2014/main" val="20000"/>
                    </a:ext>
                  </a:extLst>
                </a:gridCol>
                <a:gridCol w="1318846">
                  <a:extLst>
                    <a:ext uri="{9D8B030D-6E8A-4147-A177-3AD203B41FA5}">
                      <a16:colId xmlns:a16="http://schemas.microsoft.com/office/drawing/2014/main" val="20001"/>
                    </a:ext>
                  </a:extLst>
                </a:gridCol>
                <a:gridCol w="1264626">
                  <a:extLst>
                    <a:ext uri="{9D8B030D-6E8A-4147-A177-3AD203B41FA5}">
                      <a16:colId xmlns:a16="http://schemas.microsoft.com/office/drawing/2014/main" val="20002"/>
                    </a:ext>
                  </a:extLst>
                </a:gridCol>
                <a:gridCol w="1195754">
                  <a:extLst>
                    <a:ext uri="{9D8B030D-6E8A-4147-A177-3AD203B41FA5}">
                      <a16:colId xmlns:a16="http://schemas.microsoft.com/office/drawing/2014/main" val="20003"/>
                    </a:ext>
                  </a:extLst>
                </a:gridCol>
                <a:gridCol w="1198685">
                  <a:extLst>
                    <a:ext uri="{9D8B030D-6E8A-4147-A177-3AD203B41FA5}">
                      <a16:colId xmlns:a16="http://schemas.microsoft.com/office/drawing/2014/main" val="20004"/>
                    </a:ext>
                  </a:extLst>
                </a:gridCol>
                <a:gridCol w="1195754">
                  <a:extLst>
                    <a:ext uri="{9D8B030D-6E8A-4147-A177-3AD203B41FA5}">
                      <a16:colId xmlns:a16="http://schemas.microsoft.com/office/drawing/2014/main" val="20005"/>
                    </a:ext>
                  </a:extLst>
                </a:gridCol>
                <a:gridCol w="1198685">
                  <a:extLst>
                    <a:ext uri="{9D8B030D-6E8A-4147-A177-3AD203B41FA5}">
                      <a16:colId xmlns:a16="http://schemas.microsoft.com/office/drawing/2014/main" val="20006"/>
                    </a:ext>
                  </a:extLst>
                </a:gridCol>
              </a:tblGrid>
              <a:tr h="806412">
                <a:tc>
                  <a:txBody>
                    <a:bodyPr/>
                    <a:lstStyle/>
                    <a:p>
                      <a:pPr marL="0" marR="0" lvl="0" indent="0" algn="ctr" defTabSz="914400" rtl="0" eaLnBrk="1" fontAlgn="base" latinLnBrk="0" hangingPunct="1">
                        <a:lnSpc>
                          <a:spcPct val="90000"/>
                        </a:lnSpc>
                        <a:spcBef>
                          <a:spcPct val="0"/>
                        </a:spcBef>
                        <a:spcAft>
                          <a:spcPct val="25000"/>
                        </a:spcAft>
                        <a:buClr>
                          <a:srgbClr val="FFCC00"/>
                        </a:buClr>
                        <a:buSzTx/>
                        <a:buFontTx/>
                        <a:buNone/>
                      </a:pPr>
                      <a:r>
                        <a:rPr kumimoji="0" lang="en-US" sz="1800" b="1" i="0" u="none" strike="noStrike" cap="none" normalizeH="0" baseline="0">
                          <a:ln>
                            <a:noFill/>
                          </a:ln>
                          <a:solidFill>
                            <a:schemeClr val="tx1"/>
                          </a:solidFill>
                          <a:effectLst/>
                          <a:latin typeface="Arial" panose="020B0604020202020204" pitchFamily="34" charset="0"/>
                        </a:rPr>
                        <a:t>Item Name</a:t>
                      </a:r>
                      <a:r>
                        <a:rPr kumimoji="0" lang="en-US" sz="1600" b="1" i="0" u="none" strike="noStrike" cap="none" normalizeH="0" baseline="0">
                          <a:ln>
                            <a:noFill/>
                          </a:ln>
                          <a:solidFill>
                            <a:schemeClr val="tx1"/>
                          </a:solidFill>
                          <a:effectLst/>
                          <a:latin typeface="Arial" panose="020B0604020202020204" pitchFamily="34" charset="0"/>
                        </a:rPr>
                        <a:t> </a:t>
                      </a:r>
                    </a:p>
                  </a:txBody>
                  <a:tcPr marL="84406" marR="84406"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1">
                      <a:blip r:embed="rId3"/>
                      <a:srcRect/>
                      <a:tile tx="0" ty="0" sx="100000" sy="100000" flip="none" algn="tl"/>
                    </a:blipFill>
                  </a:tcPr>
                </a:tc>
                <a:tc>
                  <a:txBody>
                    <a:bodyPr/>
                    <a:lstStyle/>
                    <a:p>
                      <a:pPr marL="0" marR="0" lvl="0" indent="0" algn="ctr" defTabSz="914400" rtl="0" eaLnBrk="1" fontAlgn="base" latinLnBrk="0" hangingPunct="1">
                        <a:lnSpc>
                          <a:spcPct val="90000"/>
                        </a:lnSpc>
                        <a:spcBef>
                          <a:spcPct val="0"/>
                        </a:spcBef>
                        <a:spcAft>
                          <a:spcPct val="25000"/>
                        </a:spcAft>
                        <a:buClr>
                          <a:srgbClr val="FFCC00"/>
                        </a:buClr>
                        <a:buSzTx/>
                        <a:buFontTx/>
                        <a:buNone/>
                      </a:pPr>
                      <a:r>
                        <a:rPr kumimoji="0" lang="en-US" sz="1800" b="1" i="0" u="none" strike="noStrike" cap="none" normalizeH="0" baseline="0">
                          <a:ln>
                            <a:noFill/>
                          </a:ln>
                          <a:solidFill>
                            <a:schemeClr val="tx1"/>
                          </a:solidFill>
                          <a:effectLst/>
                          <a:latin typeface="Arial" panose="020B0604020202020204" pitchFamily="34" charset="0"/>
                        </a:rPr>
                        <a:t>Qty (units) </a:t>
                      </a:r>
                      <a:r>
                        <a:rPr kumimoji="0" lang="en-US" sz="1600" b="1" i="0" u="none" strike="noStrike" cap="none" normalizeH="0" baseline="0">
                          <a:ln>
                            <a:noFill/>
                          </a:ln>
                          <a:solidFill>
                            <a:schemeClr val="tx1"/>
                          </a:solidFill>
                          <a:effectLst/>
                          <a:latin typeface="Arial" panose="020B0604020202020204" pitchFamily="34" charset="0"/>
                        </a:rPr>
                        <a:t>Requested </a:t>
                      </a:r>
                    </a:p>
                  </a:txBody>
                  <a:tcPr marL="84406" marR="84406"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1">
                      <a:blip r:embed="rId3"/>
                      <a:srcRect/>
                      <a:tile tx="0" ty="0" sx="100000" sy="100000" flip="none" algn="tl"/>
                    </a:blipFill>
                  </a:tcPr>
                </a:tc>
                <a:tc>
                  <a:txBody>
                    <a:bodyPr/>
                    <a:lstStyle/>
                    <a:p>
                      <a:pPr marL="0" marR="0" lvl="0" indent="0" algn="ctr" defTabSz="914400" rtl="0" eaLnBrk="1" fontAlgn="base" latinLnBrk="0" hangingPunct="1">
                        <a:lnSpc>
                          <a:spcPct val="90000"/>
                        </a:lnSpc>
                        <a:spcBef>
                          <a:spcPct val="0"/>
                        </a:spcBef>
                        <a:spcAft>
                          <a:spcPct val="25000"/>
                        </a:spcAft>
                        <a:buClr>
                          <a:srgbClr val="FFCC00"/>
                        </a:buClr>
                        <a:buSzTx/>
                        <a:buFontTx/>
                        <a:buNone/>
                      </a:pPr>
                      <a:r>
                        <a:rPr kumimoji="0" lang="en-US" sz="1800" b="1" i="0" u="none" strike="noStrike" cap="none" normalizeH="0" baseline="0">
                          <a:ln>
                            <a:noFill/>
                          </a:ln>
                          <a:solidFill>
                            <a:schemeClr val="tx1"/>
                          </a:solidFill>
                          <a:effectLst/>
                          <a:latin typeface="Arial" panose="020B0604020202020204" pitchFamily="34" charset="0"/>
                        </a:rPr>
                        <a:t>Date </a:t>
                      </a:r>
                    </a:p>
                    <a:p>
                      <a:pPr marL="0" marR="0" lvl="0" indent="0" algn="ctr" defTabSz="914400" rtl="0" eaLnBrk="1" fontAlgn="base" latinLnBrk="0" hangingPunct="1">
                        <a:lnSpc>
                          <a:spcPct val="90000"/>
                        </a:lnSpc>
                        <a:spcBef>
                          <a:spcPct val="0"/>
                        </a:spcBef>
                        <a:spcAft>
                          <a:spcPct val="25000"/>
                        </a:spcAft>
                        <a:buClr>
                          <a:srgbClr val="FFCC00"/>
                        </a:buClr>
                        <a:buSzTx/>
                        <a:buFontTx/>
                        <a:buNone/>
                      </a:pPr>
                      <a:r>
                        <a:rPr kumimoji="0" lang="en-US" sz="1600" b="1" i="0" u="none" strike="noStrike" cap="none" normalizeH="0" baseline="0">
                          <a:ln>
                            <a:noFill/>
                          </a:ln>
                          <a:solidFill>
                            <a:schemeClr val="tx1"/>
                          </a:solidFill>
                          <a:effectLst/>
                          <a:latin typeface="Arial" panose="020B0604020202020204" pitchFamily="34" charset="0"/>
                        </a:rPr>
                        <a:t>Requested </a:t>
                      </a:r>
                    </a:p>
                  </a:txBody>
                  <a:tcPr marL="84406" marR="84406"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1">
                      <a:blip r:embed="rId3"/>
                      <a:srcRect/>
                      <a:tile tx="0" ty="0" sx="100000" sy="100000" flip="none" algn="tl"/>
                    </a:blipFill>
                  </a:tcPr>
                </a:tc>
                <a:tc>
                  <a:txBody>
                    <a:bodyPr/>
                    <a:lstStyle/>
                    <a:p>
                      <a:pPr marL="0" marR="0" lvl="0" indent="0" algn="ctr" defTabSz="914400" rtl="0" eaLnBrk="1" fontAlgn="base" latinLnBrk="0" hangingPunct="1">
                        <a:lnSpc>
                          <a:spcPct val="90000"/>
                        </a:lnSpc>
                        <a:spcBef>
                          <a:spcPct val="0"/>
                        </a:spcBef>
                        <a:spcAft>
                          <a:spcPct val="25000"/>
                        </a:spcAft>
                        <a:buClr>
                          <a:srgbClr val="FFCC00"/>
                        </a:buClr>
                        <a:buSzTx/>
                        <a:buFontTx/>
                        <a:buNone/>
                      </a:pPr>
                      <a:r>
                        <a:rPr kumimoji="0" lang="en-US" sz="1800" b="1" i="0" u="none" strike="noStrike" cap="none" normalizeH="0" baseline="0">
                          <a:ln>
                            <a:noFill/>
                          </a:ln>
                          <a:solidFill>
                            <a:schemeClr val="tx1"/>
                          </a:solidFill>
                          <a:effectLst/>
                          <a:latin typeface="Arial" panose="020B0604020202020204" pitchFamily="34" charset="0"/>
                        </a:rPr>
                        <a:t>Qty </a:t>
                      </a:r>
                    </a:p>
                    <a:p>
                      <a:pPr marL="0" marR="0" lvl="0" indent="0" algn="ctr" defTabSz="914400" rtl="0" eaLnBrk="1" fontAlgn="base" latinLnBrk="0" hangingPunct="1">
                        <a:lnSpc>
                          <a:spcPct val="90000"/>
                        </a:lnSpc>
                        <a:spcBef>
                          <a:spcPct val="0"/>
                        </a:spcBef>
                        <a:spcAft>
                          <a:spcPct val="25000"/>
                        </a:spcAft>
                        <a:buClr>
                          <a:srgbClr val="FFCC00"/>
                        </a:buClr>
                        <a:buSzTx/>
                        <a:buFontTx/>
                        <a:buNone/>
                      </a:pPr>
                      <a:r>
                        <a:rPr kumimoji="0" lang="en-US" sz="1800" b="1" i="0" u="none" strike="noStrike" cap="none" normalizeH="0" baseline="0">
                          <a:ln>
                            <a:noFill/>
                          </a:ln>
                          <a:solidFill>
                            <a:schemeClr val="tx1"/>
                          </a:solidFill>
                          <a:effectLst/>
                          <a:latin typeface="Arial" panose="020B0604020202020204" pitchFamily="34" charset="0"/>
                        </a:rPr>
                        <a:t>Received </a:t>
                      </a:r>
                    </a:p>
                  </a:txBody>
                  <a:tcPr marL="84406" marR="84406"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1">
                      <a:blip r:embed="rId3"/>
                      <a:srcRect/>
                      <a:tile tx="0" ty="0" sx="100000" sy="100000" flip="none" algn="tl"/>
                    </a:blipFill>
                  </a:tcPr>
                </a:tc>
                <a:tc>
                  <a:txBody>
                    <a:bodyPr/>
                    <a:lstStyle/>
                    <a:p>
                      <a:pPr marL="0" marR="0" lvl="0" indent="0" algn="ctr" defTabSz="914400" rtl="0" eaLnBrk="1" fontAlgn="base" latinLnBrk="0" hangingPunct="1">
                        <a:lnSpc>
                          <a:spcPct val="90000"/>
                        </a:lnSpc>
                        <a:spcBef>
                          <a:spcPct val="0"/>
                        </a:spcBef>
                        <a:spcAft>
                          <a:spcPct val="25000"/>
                        </a:spcAft>
                        <a:buClr>
                          <a:srgbClr val="FFCC00"/>
                        </a:buClr>
                        <a:buSzTx/>
                        <a:buFontTx/>
                        <a:buNone/>
                      </a:pPr>
                      <a:r>
                        <a:rPr kumimoji="0" lang="en-US" sz="1800" b="1" i="0" u="none" strike="noStrike" cap="none" normalizeH="0" baseline="0">
                          <a:ln>
                            <a:noFill/>
                          </a:ln>
                          <a:solidFill>
                            <a:schemeClr val="tx1"/>
                          </a:solidFill>
                          <a:effectLst/>
                          <a:latin typeface="Arial" panose="020B0604020202020204" pitchFamily="34" charset="0"/>
                        </a:rPr>
                        <a:t>Date</a:t>
                      </a:r>
                    </a:p>
                    <a:p>
                      <a:pPr marL="0" marR="0" lvl="0" indent="0" algn="ctr" defTabSz="914400" rtl="0" eaLnBrk="1" fontAlgn="base" latinLnBrk="0" hangingPunct="1">
                        <a:lnSpc>
                          <a:spcPct val="90000"/>
                        </a:lnSpc>
                        <a:spcBef>
                          <a:spcPct val="0"/>
                        </a:spcBef>
                        <a:spcAft>
                          <a:spcPct val="25000"/>
                        </a:spcAft>
                        <a:buClr>
                          <a:srgbClr val="FFCC00"/>
                        </a:buClr>
                        <a:buSzTx/>
                        <a:buFontTx/>
                        <a:buNone/>
                      </a:pPr>
                      <a:r>
                        <a:rPr kumimoji="0" lang="en-US" sz="1800" b="1" i="0" u="none" strike="noStrike" cap="none" normalizeH="0" baseline="0">
                          <a:ln>
                            <a:noFill/>
                          </a:ln>
                          <a:solidFill>
                            <a:schemeClr val="tx1"/>
                          </a:solidFill>
                          <a:effectLst/>
                          <a:latin typeface="Arial" panose="020B0604020202020204" pitchFamily="34" charset="0"/>
                        </a:rPr>
                        <a:t>Received </a:t>
                      </a:r>
                    </a:p>
                  </a:txBody>
                  <a:tcPr marL="84406" marR="84406"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1">
                      <a:blip r:embed="rId3"/>
                      <a:srcRect/>
                      <a:tile tx="0" ty="0" sx="100000" sy="100000" flip="none" algn="tl"/>
                    </a:blipFill>
                  </a:tcPr>
                </a:tc>
                <a:tc>
                  <a:txBody>
                    <a:bodyPr/>
                    <a:lstStyle/>
                    <a:p>
                      <a:pPr marL="0" marR="0" lvl="0" indent="0" algn="ctr" defTabSz="914400" rtl="0" eaLnBrk="1" fontAlgn="base" latinLnBrk="0" hangingPunct="1">
                        <a:lnSpc>
                          <a:spcPct val="90000"/>
                        </a:lnSpc>
                        <a:spcBef>
                          <a:spcPct val="0"/>
                        </a:spcBef>
                        <a:spcAft>
                          <a:spcPct val="25000"/>
                        </a:spcAft>
                        <a:buClr>
                          <a:srgbClr val="FFCC00"/>
                        </a:buClr>
                        <a:buSzTx/>
                        <a:buFontTx/>
                        <a:buNone/>
                      </a:pPr>
                      <a:r>
                        <a:rPr kumimoji="0" lang="en-US" sz="1800" b="1" i="0" u="none" strike="noStrike" cap="none" normalizeH="0" baseline="0">
                          <a:ln>
                            <a:noFill/>
                          </a:ln>
                          <a:solidFill>
                            <a:schemeClr val="tx1"/>
                          </a:solidFill>
                          <a:effectLst/>
                          <a:latin typeface="Arial" panose="020B0604020202020204" pitchFamily="34" charset="0"/>
                        </a:rPr>
                        <a:t>Lot # </a:t>
                      </a:r>
                    </a:p>
                  </a:txBody>
                  <a:tcPr marL="84406" marR="84406"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1">
                      <a:blip r:embed="rId3"/>
                      <a:srcRect/>
                      <a:tile tx="0" ty="0" sx="100000" sy="100000" flip="none" algn="tl"/>
                    </a:blipFill>
                  </a:tcPr>
                </a:tc>
                <a:tc>
                  <a:txBody>
                    <a:bodyPr/>
                    <a:lstStyle/>
                    <a:p>
                      <a:pPr marL="0" marR="0" lvl="0" indent="0" algn="ctr" defTabSz="914400" rtl="0" eaLnBrk="1" fontAlgn="base" latinLnBrk="0" hangingPunct="1">
                        <a:lnSpc>
                          <a:spcPct val="90000"/>
                        </a:lnSpc>
                        <a:spcBef>
                          <a:spcPct val="0"/>
                        </a:spcBef>
                        <a:spcAft>
                          <a:spcPct val="25000"/>
                        </a:spcAft>
                        <a:buClr>
                          <a:srgbClr val="FFCC00"/>
                        </a:buClr>
                        <a:buSzTx/>
                        <a:buFontTx/>
                        <a:buNone/>
                      </a:pPr>
                      <a:r>
                        <a:rPr kumimoji="0" lang="en-US" sz="1800" b="1" i="0" u="none" strike="noStrike" cap="none" normalizeH="0" baseline="0">
                          <a:ln>
                            <a:noFill/>
                          </a:ln>
                          <a:solidFill>
                            <a:schemeClr val="tx1"/>
                          </a:solidFill>
                          <a:effectLst/>
                          <a:latin typeface="Arial" panose="020B0604020202020204" pitchFamily="34" charset="0"/>
                        </a:rPr>
                        <a:t>Expiry</a:t>
                      </a:r>
                    </a:p>
                    <a:p>
                      <a:pPr marL="0" marR="0" lvl="0" indent="0" algn="ctr" defTabSz="914400" rtl="0" eaLnBrk="1" fontAlgn="base" latinLnBrk="0" hangingPunct="1">
                        <a:lnSpc>
                          <a:spcPct val="90000"/>
                        </a:lnSpc>
                        <a:spcBef>
                          <a:spcPct val="0"/>
                        </a:spcBef>
                        <a:spcAft>
                          <a:spcPct val="25000"/>
                        </a:spcAft>
                        <a:buClr>
                          <a:srgbClr val="FFCC00"/>
                        </a:buClr>
                        <a:buSzTx/>
                        <a:buFontTx/>
                        <a:buNone/>
                      </a:pPr>
                      <a:r>
                        <a:rPr kumimoji="0" lang="en-US" sz="1800" b="1" i="0" u="none" strike="noStrike" cap="none" normalizeH="0" baseline="0">
                          <a:ln>
                            <a:noFill/>
                          </a:ln>
                          <a:solidFill>
                            <a:schemeClr val="tx1"/>
                          </a:solidFill>
                          <a:effectLst/>
                          <a:latin typeface="Arial" panose="020B0604020202020204" pitchFamily="34" charset="0"/>
                        </a:rPr>
                        <a:t> Date </a:t>
                      </a:r>
                    </a:p>
                  </a:txBody>
                  <a:tcPr marL="84406" marR="84406"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1">
                      <a:blip r:embed="rId3"/>
                      <a:srcRect/>
                      <a:tile tx="0" ty="0" sx="100000" sy="100000" flip="none" algn="tl"/>
                    </a:blipFill>
                  </a:tcPr>
                </a:tc>
                <a:extLst>
                  <a:ext uri="{0D108BD9-81ED-4DB2-BD59-A6C34878D82A}">
                    <a16:rowId xmlns:a16="http://schemas.microsoft.com/office/drawing/2014/main" val="10000"/>
                  </a:ext>
                </a:extLst>
              </a:tr>
              <a:tr h="475466">
                <a:tc>
                  <a:txBody>
                    <a:bodyPr/>
                    <a:lstStyle/>
                    <a:p>
                      <a:pPr marL="0" marR="0" lvl="0" indent="0" algn="l" defTabSz="914400" rtl="0" eaLnBrk="1" fontAlgn="base" latinLnBrk="0" hangingPunct="1">
                        <a:lnSpc>
                          <a:spcPct val="90000"/>
                        </a:lnSpc>
                        <a:spcBef>
                          <a:spcPct val="0"/>
                        </a:spcBef>
                        <a:spcAft>
                          <a:spcPct val="25000"/>
                        </a:spcAft>
                        <a:buClr>
                          <a:srgbClr val="FFCC00"/>
                        </a:buClr>
                        <a:buSzTx/>
                        <a:buFontTx/>
                        <a:buNone/>
                      </a:pPr>
                      <a:endParaRPr kumimoji="0" lang="en-US" sz="2800" b="0" i="0" u="none" strike="noStrike" cap="none" normalizeH="0" baseline="0">
                        <a:ln>
                          <a:noFill/>
                        </a:ln>
                        <a:solidFill>
                          <a:schemeClr val="bg1"/>
                        </a:solidFill>
                        <a:effectLst/>
                        <a:latin typeface="Arial" panose="020B0604020202020204" pitchFamily="34" charset="0"/>
                      </a:endParaRPr>
                    </a:p>
                  </a:txBody>
                  <a:tcPr marL="84406" marR="84406"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0"/>
                        </a:spcBef>
                        <a:spcAft>
                          <a:spcPct val="25000"/>
                        </a:spcAft>
                        <a:buClr>
                          <a:srgbClr val="FFCC00"/>
                        </a:buClr>
                        <a:buSzTx/>
                        <a:buFontTx/>
                        <a:buNone/>
                      </a:pPr>
                      <a:endParaRPr kumimoji="0" lang="en-US" sz="2800" b="0" i="0" u="none" strike="noStrike" cap="none" normalizeH="0" baseline="0">
                        <a:ln>
                          <a:noFill/>
                        </a:ln>
                        <a:solidFill>
                          <a:schemeClr val="bg1"/>
                        </a:solidFill>
                        <a:effectLst/>
                        <a:latin typeface="Arial" panose="020B0604020202020204" pitchFamily="34" charset="0"/>
                      </a:endParaRPr>
                    </a:p>
                  </a:txBody>
                  <a:tcPr marL="84406" marR="84406"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0"/>
                        </a:spcBef>
                        <a:spcAft>
                          <a:spcPct val="25000"/>
                        </a:spcAft>
                        <a:buClr>
                          <a:srgbClr val="FFCC00"/>
                        </a:buClr>
                        <a:buSzTx/>
                        <a:buFontTx/>
                        <a:buNone/>
                      </a:pPr>
                      <a:endParaRPr kumimoji="0" lang="en-US" sz="2800" b="0" i="0" u="none" strike="noStrike" cap="none" normalizeH="0" baseline="0">
                        <a:ln>
                          <a:noFill/>
                        </a:ln>
                        <a:solidFill>
                          <a:schemeClr val="bg1"/>
                        </a:solidFill>
                        <a:effectLst/>
                        <a:latin typeface="Arial" panose="020B0604020202020204" pitchFamily="34" charset="0"/>
                      </a:endParaRPr>
                    </a:p>
                  </a:txBody>
                  <a:tcPr marL="84406" marR="84406"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0"/>
                        </a:spcBef>
                        <a:spcAft>
                          <a:spcPct val="25000"/>
                        </a:spcAft>
                        <a:buClr>
                          <a:srgbClr val="FFCC00"/>
                        </a:buClr>
                        <a:buSzTx/>
                        <a:buFontTx/>
                        <a:buNone/>
                      </a:pPr>
                      <a:endParaRPr kumimoji="0" lang="en-US" sz="2800" b="0" i="0" u="none" strike="noStrike" cap="none" normalizeH="0" baseline="0">
                        <a:ln>
                          <a:noFill/>
                        </a:ln>
                        <a:solidFill>
                          <a:schemeClr val="bg1"/>
                        </a:solidFill>
                        <a:effectLst/>
                        <a:latin typeface="Arial" panose="020B0604020202020204" pitchFamily="34" charset="0"/>
                      </a:endParaRPr>
                    </a:p>
                  </a:txBody>
                  <a:tcPr marL="84406" marR="84406"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0"/>
                        </a:spcBef>
                        <a:spcAft>
                          <a:spcPct val="25000"/>
                        </a:spcAft>
                        <a:buClr>
                          <a:srgbClr val="FFCC00"/>
                        </a:buClr>
                        <a:buSzTx/>
                        <a:buFontTx/>
                        <a:buNone/>
                      </a:pPr>
                      <a:endParaRPr kumimoji="0" lang="en-US" sz="2800" b="0" i="0" u="none" strike="noStrike" cap="none" normalizeH="0" baseline="0">
                        <a:ln>
                          <a:noFill/>
                        </a:ln>
                        <a:solidFill>
                          <a:schemeClr val="bg1"/>
                        </a:solidFill>
                        <a:effectLst/>
                        <a:latin typeface="Arial" panose="020B0604020202020204" pitchFamily="34" charset="0"/>
                      </a:endParaRPr>
                    </a:p>
                  </a:txBody>
                  <a:tcPr marL="84406" marR="84406"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0"/>
                        </a:spcBef>
                        <a:spcAft>
                          <a:spcPct val="25000"/>
                        </a:spcAft>
                        <a:buClr>
                          <a:srgbClr val="FFCC00"/>
                        </a:buClr>
                        <a:buSzTx/>
                        <a:buFontTx/>
                        <a:buNone/>
                      </a:pPr>
                      <a:endParaRPr kumimoji="0" lang="en-US" sz="2800" b="0" i="0" u="none" strike="noStrike" cap="none" normalizeH="0" baseline="0">
                        <a:ln>
                          <a:noFill/>
                        </a:ln>
                        <a:solidFill>
                          <a:schemeClr val="bg1"/>
                        </a:solidFill>
                        <a:effectLst/>
                        <a:latin typeface="Arial" panose="020B0604020202020204" pitchFamily="34" charset="0"/>
                      </a:endParaRPr>
                    </a:p>
                  </a:txBody>
                  <a:tcPr marL="84406" marR="84406"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0"/>
                        </a:spcBef>
                        <a:spcAft>
                          <a:spcPct val="25000"/>
                        </a:spcAft>
                        <a:buClr>
                          <a:srgbClr val="FFCC00"/>
                        </a:buClr>
                        <a:buSzTx/>
                        <a:buFontTx/>
                        <a:buNone/>
                      </a:pPr>
                      <a:endParaRPr kumimoji="0" lang="en-US" sz="2800" b="0" i="0" u="none" strike="noStrike" cap="none" normalizeH="0" baseline="0">
                        <a:ln>
                          <a:noFill/>
                        </a:ln>
                        <a:solidFill>
                          <a:schemeClr val="bg1"/>
                        </a:solidFill>
                        <a:effectLst/>
                        <a:latin typeface="Arial" panose="020B0604020202020204" pitchFamily="34" charset="0"/>
                      </a:endParaRPr>
                    </a:p>
                  </a:txBody>
                  <a:tcPr marL="84406" marR="84406"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75466">
                <a:tc>
                  <a:txBody>
                    <a:bodyPr/>
                    <a:lstStyle/>
                    <a:p>
                      <a:pPr marL="0" marR="0" lvl="0" indent="0" algn="l" defTabSz="914400" rtl="0" eaLnBrk="1" fontAlgn="base" latinLnBrk="0" hangingPunct="1">
                        <a:lnSpc>
                          <a:spcPct val="90000"/>
                        </a:lnSpc>
                        <a:spcBef>
                          <a:spcPct val="0"/>
                        </a:spcBef>
                        <a:spcAft>
                          <a:spcPct val="25000"/>
                        </a:spcAft>
                        <a:buClr>
                          <a:srgbClr val="FFCC00"/>
                        </a:buClr>
                        <a:buSzTx/>
                        <a:buFontTx/>
                        <a:buNone/>
                      </a:pPr>
                      <a:endParaRPr kumimoji="0" lang="en-US" sz="2800" b="0" i="0" u="none" strike="noStrike" cap="none" normalizeH="0" baseline="0">
                        <a:ln>
                          <a:noFill/>
                        </a:ln>
                        <a:solidFill>
                          <a:schemeClr val="bg1"/>
                        </a:solidFill>
                        <a:effectLst/>
                        <a:latin typeface="Arial" panose="020B0604020202020204" pitchFamily="34" charset="0"/>
                      </a:endParaRPr>
                    </a:p>
                  </a:txBody>
                  <a:tcPr marL="84406" marR="84406"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0"/>
                        </a:spcBef>
                        <a:spcAft>
                          <a:spcPct val="25000"/>
                        </a:spcAft>
                        <a:buClr>
                          <a:srgbClr val="FFCC00"/>
                        </a:buClr>
                        <a:buSzTx/>
                        <a:buFontTx/>
                        <a:buNone/>
                      </a:pPr>
                      <a:endParaRPr kumimoji="0" lang="en-US" sz="2800" b="0" i="0" u="none" strike="noStrike" cap="none" normalizeH="0" baseline="0">
                        <a:ln>
                          <a:noFill/>
                        </a:ln>
                        <a:solidFill>
                          <a:schemeClr val="bg1"/>
                        </a:solidFill>
                        <a:effectLst/>
                        <a:latin typeface="Arial" panose="020B0604020202020204" pitchFamily="34" charset="0"/>
                      </a:endParaRPr>
                    </a:p>
                  </a:txBody>
                  <a:tcPr marL="84406" marR="84406"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0"/>
                        </a:spcBef>
                        <a:spcAft>
                          <a:spcPct val="25000"/>
                        </a:spcAft>
                        <a:buClr>
                          <a:srgbClr val="FFCC00"/>
                        </a:buClr>
                        <a:buSzTx/>
                        <a:buFontTx/>
                        <a:buNone/>
                      </a:pPr>
                      <a:endParaRPr kumimoji="0" lang="en-US" sz="2800" b="0" i="0" u="none" strike="noStrike" cap="none" normalizeH="0" baseline="0">
                        <a:ln>
                          <a:noFill/>
                        </a:ln>
                        <a:solidFill>
                          <a:schemeClr val="bg1"/>
                        </a:solidFill>
                        <a:effectLst/>
                        <a:latin typeface="Arial" panose="020B0604020202020204" pitchFamily="34" charset="0"/>
                      </a:endParaRPr>
                    </a:p>
                  </a:txBody>
                  <a:tcPr marL="84406" marR="84406"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0"/>
                        </a:spcBef>
                        <a:spcAft>
                          <a:spcPct val="25000"/>
                        </a:spcAft>
                        <a:buClr>
                          <a:srgbClr val="FFCC00"/>
                        </a:buClr>
                        <a:buSzTx/>
                        <a:buFontTx/>
                        <a:buNone/>
                      </a:pPr>
                      <a:endParaRPr kumimoji="0" lang="en-US" sz="2800" b="0" i="0" u="none" strike="noStrike" cap="none" normalizeH="0" baseline="0">
                        <a:ln>
                          <a:noFill/>
                        </a:ln>
                        <a:solidFill>
                          <a:schemeClr val="bg1"/>
                        </a:solidFill>
                        <a:effectLst/>
                        <a:latin typeface="Arial" panose="020B0604020202020204" pitchFamily="34" charset="0"/>
                      </a:endParaRPr>
                    </a:p>
                  </a:txBody>
                  <a:tcPr marL="84406" marR="84406"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0"/>
                        </a:spcBef>
                        <a:spcAft>
                          <a:spcPct val="25000"/>
                        </a:spcAft>
                        <a:buClr>
                          <a:srgbClr val="FFCC00"/>
                        </a:buClr>
                        <a:buSzTx/>
                        <a:buFontTx/>
                        <a:buNone/>
                      </a:pPr>
                      <a:endParaRPr kumimoji="0" lang="en-US" sz="2800" b="0" i="0" u="none" strike="noStrike" cap="none" normalizeH="0" baseline="0">
                        <a:ln>
                          <a:noFill/>
                        </a:ln>
                        <a:solidFill>
                          <a:schemeClr val="bg1"/>
                        </a:solidFill>
                        <a:effectLst/>
                        <a:latin typeface="Arial" panose="020B0604020202020204" pitchFamily="34" charset="0"/>
                      </a:endParaRPr>
                    </a:p>
                  </a:txBody>
                  <a:tcPr marL="84406" marR="84406"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0"/>
                        </a:spcBef>
                        <a:spcAft>
                          <a:spcPct val="25000"/>
                        </a:spcAft>
                        <a:buClr>
                          <a:srgbClr val="FFCC00"/>
                        </a:buClr>
                        <a:buSzTx/>
                        <a:buFontTx/>
                        <a:buNone/>
                      </a:pPr>
                      <a:endParaRPr kumimoji="0" lang="en-US" sz="2800" b="0" i="0" u="none" strike="noStrike" cap="none" normalizeH="0" baseline="0">
                        <a:ln>
                          <a:noFill/>
                        </a:ln>
                        <a:solidFill>
                          <a:schemeClr val="bg1"/>
                        </a:solidFill>
                        <a:effectLst/>
                        <a:latin typeface="Arial" panose="020B0604020202020204" pitchFamily="34" charset="0"/>
                      </a:endParaRPr>
                    </a:p>
                  </a:txBody>
                  <a:tcPr marL="84406" marR="84406"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0"/>
                        </a:spcBef>
                        <a:spcAft>
                          <a:spcPct val="25000"/>
                        </a:spcAft>
                        <a:buClr>
                          <a:srgbClr val="FFCC00"/>
                        </a:buClr>
                        <a:buSzTx/>
                        <a:buFontTx/>
                        <a:buNone/>
                      </a:pPr>
                      <a:endParaRPr kumimoji="0" lang="en-US" sz="2800" b="0" i="0" u="none" strike="noStrike" cap="none" normalizeH="0" baseline="0">
                        <a:ln>
                          <a:noFill/>
                        </a:ln>
                        <a:solidFill>
                          <a:schemeClr val="bg1"/>
                        </a:solidFill>
                        <a:effectLst/>
                        <a:latin typeface="Arial" panose="020B0604020202020204" pitchFamily="34" charset="0"/>
                      </a:endParaRPr>
                    </a:p>
                  </a:txBody>
                  <a:tcPr marL="84406" marR="84406"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75466">
                <a:tc>
                  <a:txBody>
                    <a:bodyPr/>
                    <a:lstStyle/>
                    <a:p>
                      <a:pPr marL="0" marR="0" lvl="0" indent="0" algn="l" defTabSz="914400" rtl="0" eaLnBrk="1" fontAlgn="base" latinLnBrk="0" hangingPunct="1">
                        <a:lnSpc>
                          <a:spcPct val="90000"/>
                        </a:lnSpc>
                        <a:spcBef>
                          <a:spcPct val="0"/>
                        </a:spcBef>
                        <a:spcAft>
                          <a:spcPct val="25000"/>
                        </a:spcAft>
                        <a:buClr>
                          <a:srgbClr val="FFCC00"/>
                        </a:buClr>
                        <a:buSzTx/>
                        <a:buFontTx/>
                        <a:buNone/>
                      </a:pPr>
                      <a:endParaRPr kumimoji="0" lang="en-US" sz="2800" b="0" i="0" u="none" strike="noStrike" cap="none" normalizeH="0" baseline="0">
                        <a:ln>
                          <a:noFill/>
                        </a:ln>
                        <a:solidFill>
                          <a:schemeClr val="bg1"/>
                        </a:solidFill>
                        <a:effectLst/>
                        <a:latin typeface="Arial" panose="020B0604020202020204" pitchFamily="34" charset="0"/>
                      </a:endParaRPr>
                    </a:p>
                  </a:txBody>
                  <a:tcPr marL="84406" marR="84406"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0"/>
                        </a:spcBef>
                        <a:spcAft>
                          <a:spcPct val="25000"/>
                        </a:spcAft>
                        <a:buClr>
                          <a:srgbClr val="FFCC00"/>
                        </a:buClr>
                        <a:buSzTx/>
                        <a:buFontTx/>
                        <a:buNone/>
                      </a:pPr>
                      <a:endParaRPr kumimoji="0" lang="en-US" sz="2800" b="0" i="0" u="none" strike="noStrike" cap="none" normalizeH="0" baseline="0">
                        <a:ln>
                          <a:noFill/>
                        </a:ln>
                        <a:solidFill>
                          <a:schemeClr val="bg1"/>
                        </a:solidFill>
                        <a:effectLst/>
                        <a:latin typeface="Arial" panose="020B0604020202020204" pitchFamily="34" charset="0"/>
                      </a:endParaRPr>
                    </a:p>
                  </a:txBody>
                  <a:tcPr marL="84406" marR="84406"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0"/>
                        </a:spcBef>
                        <a:spcAft>
                          <a:spcPct val="25000"/>
                        </a:spcAft>
                        <a:buClr>
                          <a:srgbClr val="FFCC00"/>
                        </a:buClr>
                        <a:buSzTx/>
                        <a:buFontTx/>
                        <a:buNone/>
                      </a:pPr>
                      <a:endParaRPr kumimoji="0" lang="en-US" sz="2800" b="0" i="0" u="none" strike="noStrike" cap="none" normalizeH="0" baseline="0">
                        <a:ln>
                          <a:noFill/>
                        </a:ln>
                        <a:solidFill>
                          <a:schemeClr val="bg1"/>
                        </a:solidFill>
                        <a:effectLst/>
                        <a:latin typeface="Arial" panose="020B0604020202020204" pitchFamily="34" charset="0"/>
                      </a:endParaRPr>
                    </a:p>
                  </a:txBody>
                  <a:tcPr marL="84406" marR="84406"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0"/>
                        </a:spcBef>
                        <a:spcAft>
                          <a:spcPct val="25000"/>
                        </a:spcAft>
                        <a:buClr>
                          <a:srgbClr val="FFCC00"/>
                        </a:buClr>
                        <a:buSzTx/>
                        <a:buFontTx/>
                        <a:buNone/>
                      </a:pPr>
                      <a:endParaRPr kumimoji="0" lang="en-US" sz="2800" b="0" i="0" u="none" strike="noStrike" cap="none" normalizeH="0" baseline="0">
                        <a:ln>
                          <a:noFill/>
                        </a:ln>
                        <a:solidFill>
                          <a:schemeClr val="bg1"/>
                        </a:solidFill>
                        <a:effectLst/>
                        <a:latin typeface="Arial" panose="020B0604020202020204" pitchFamily="34" charset="0"/>
                      </a:endParaRPr>
                    </a:p>
                  </a:txBody>
                  <a:tcPr marL="84406" marR="84406"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0"/>
                        </a:spcBef>
                        <a:spcAft>
                          <a:spcPct val="25000"/>
                        </a:spcAft>
                        <a:buClr>
                          <a:srgbClr val="FFCC00"/>
                        </a:buClr>
                        <a:buSzTx/>
                        <a:buFontTx/>
                        <a:buNone/>
                      </a:pPr>
                      <a:endParaRPr kumimoji="0" lang="en-US" sz="2800" b="0" i="0" u="none" strike="noStrike" cap="none" normalizeH="0" baseline="0">
                        <a:ln>
                          <a:noFill/>
                        </a:ln>
                        <a:solidFill>
                          <a:schemeClr val="bg1"/>
                        </a:solidFill>
                        <a:effectLst/>
                        <a:latin typeface="Arial" panose="020B0604020202020204" pitchFamily="34" charset="0"/>
                      </a:endParaRPr>
                    </a:p>
                  </a:txBody>
                  <a:tcPr marL="84406" marR="84406"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0"/>
                        </a:spcBef>
                        <a:spcAft>
                          <a:spcPct val="25000"/>
                        </a:spcAft>
                        <a:buClr>
                          <a:srgbClr val="FFCC00"/>
                        </a:buClr>
                        <a:buSzTx/>
                        <a:buFontTx/>
                        <a:buNone/>
                      </a:pPr>
                      <a:endParaRPr kumimoji="0" lang="en-US" sz="2800" b="0" i="0" u="none" strike="noStrike" cap="none" normalizeH="0" baseline="0">
                        <a:ln>
                          <a:noFill/>
                        </a:ln>
                        <a:solidFill>
                          <a:schemeClr val="bg1"/>
                        </a:solidFill>
                        <a:effectLst/>
                        <a:latin typeface="Arial" panose="020B0604020202020204" pitchFamily="34" charset="0"/>
                      </a:endParaRPr>
                    </a:p>
                  </a:txBody>
                  <a:tcPr marL="84406" marR="84406"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0"/>
                        </a:spcBef>
                        <a:spcAft>
                          <a:spcPct val="25000"/>
                        </a:spcAft>
                        <a:buClr>
                          <a:srgbClr val="FFCC00"/>
                        </a:buClr>
                        <a:buSzTx/>
                        <a:buFontTx/>
                        <a:buNone/>
                      </a:pPr>
                      <a:endParaRPr kumimoji="0" lang="en-US" sz="2800" b="0" i="0" u="none" strike="noStrike" cap="none" normalizeH="0" baseline="0">
                        <a:ln>
                          <a:noFill/>
                        </a:ln>
                        <a:solidFill>
                          <a:schemeClr val="bg1"/>
                        </a:solidFill>
                        <a:effectLst/>
                        <a:latin typeface="Arial" panose="020B0604020202020204" pitchFamily="34" charset="0"/>
                      </a:endParaRPr>
                    </a:p>
                  </a:txBody>
                  <a:tcPr marL="84406" marR="84406"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75466">
                <a:tc>
                  <a:txBody>
                    <a:bodyPr/>
                    <a:lstStyle/>
                    <a:p>
                      <a:pPr marL="0" marR="0" lvl="0" indent="0" algn="l" defTabSz="914400" rtl="0" eaLnBrk="1" fontAlgn="base" latinLnBrk="0" hangingPunct="1">
                        <a:lnSpc>
                          <a:spcPct val="90000"/>
                        </a:lnSpc>
                        <a:spcBef>
                          <a:spcPct val="0"/>
                        </a:spcBef>
                        <a:spcAft>
                          <a:spcPct val="25000"/>
                        </a:spcAft>
                        <a:buClr>
                          <a:srgbClr val="FFCC00"/>
                        </a:buClr>
                        <a:buSzTx/>
                        <a:buFontTx/>
                        <a:buNone/>
                      </a:pPr>
                      <a:endParaRPr kumimoji="0" lang="en-US" sz="2800" b="0" i="0" u="none" strike="noStrike" cap="none" normalizeH="0" baseline="0">
                        <a:ln>
                          <a:noFill/>
                        </a:ln>
                        <a:solidFill>
                          <a:schemeClr val="bg1"/>
                        </a:solidFill>
                        <a:effectLst/>
                        <a:latin typeface="Arial" panose="020B0604020202020204" pitchFamily="34" charset="0"/>
                      </a:endParaRPr>
                    </a:p>
                  </a:txBody>
                  <a:tcPr marL="84406" marR="84406"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0"/>
                        </a:spcBef>
                        <a:spcAft>
                          <a:spcPct val="25000"/>
                        </a:spcAft>
                        <a:buClr>
                          <a:srgbClr val="FFCC00"/>
                        </a:buClr>
                        <a:buSzTx/>
                        <a:buFontTx/>
                        <a:buNone/>
                      </a:pPr>
                      <a:endParaRPr kumimoji="0" lang="en-US" sz="2800" b="0" i="0" u="none" strike="noStrike" cap="none" normalizeH="0" baseline="0">
                        <a:ln>
                          <a:noFill/>
                        </a:ln>
                        <a:solidFill>
                          <a:schemeClr val="bg1"/>
                        </a:solidFill>
                        <a:effectLst/>
                        <a:latin typeface="Arial" panose="020B0604020202020204" pitchFamily="34" charset="0"/>
                      </a:endParaRPr>
                    </a:p>
                  </a:txBody>
                  <a:tcPr marL="84406" marR="84406"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0"/>
                        </a:spcBef>
                        <a:spcAft>
                          <a:spcPct val="25000"/>
                        </a:spcAft>
                        <a:buClr>
                          <a:srgbClr val="FFCC00"/>
                        </a:buClr>
                        <a:buSzTx/>
                        <a:buFontTx/>
                        <a:buNone/>
                      </a:pPr>
                      <a:endParaRPr kumimoji="0" lang="en-US" sz="2800" b="0" i="0" u="none" strike="noStrike" cap="none" normalizeH="0" baseline="0">
                        <a:ln>
                          <a:noFill/>
                        </a:ln>
                        <a:solidFill>
                          <a:schemeClr val="bg1"/>
                        </a:solidFill>
                        <a:effectLst/>
                        <a:latin typeface="Arial" panose="020B0604020202020204" pitchFamily="34" charset="0"/>
                      </a:endParaRPr>
                    </a:p>
                  </a:txBody>
                  <a:tcPr marL="84406" marR="84406"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0"/>
                        </a:spcBef>
                        <a:spcAft>
                          <a:spcPct val="25000"/>
                        </a:spcAft>
                        <a:buClr>
                          <a:srgbClr val="FFCC00"/>
                        </a:buClr>
                        <a:buSzTx/>
                        <a:buFontTx/>
                        <a:buNone/>
                      </a:pPr>
                      <a:endParaRPr kumimoji="0" lang="en-US" sz="2800" b="0" i="0" u="none" strike="noStrike" cap="none" normalizeH="0" baseline="0">
                        <a:ln>
                          <a:noFill/>
                        </a:ln>
                        <a:solidFill>
                          <a:schemeClr val="bg1"/>
                        </a:solidFill>
                        <a:effectLst/>
                        <a:latin typeface="Arial" panose="020B0604020202020204" pitchFamily="34" charset="0"/>
                      </a:endParaRPr>
                    </a:p>
                  </a:txBody>
                  <a:tcPr marL="84406" marR="84406"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0"/>
                        </a:spcBef>
                        <a:spcAft>
                          <a:spcPct val="25000"/>
                        </a:spcAft>
                        <a:buClr>
                          <a:srgbClr val="FFCC00"/>
                        </a:buClr>
                        <a:buSzTx/>
                        <a:buFontTx/>
                        <a:buNone/>
                      </a:pPr>
                      <a:endParaRPr kumimoji="0" lang="en-US" sz="2800" b="0" i="0" u="none" strike="noStrike" cap="none" normalizeH="0" baseline="0">
                        <a:ln>
                          <a:noFill/>
                        </a:ln>
                        <a:solidFill>
                          <a:schemeClr val="bg1"/>
                        </a:solidFill>
                        <a:effectLst/>
                        <a:latin typeface="Arial" panose="020B0604020202020204" pitchFamily="34" charset="0"/>
                      </a:endParaRPr>
                    </a:p>
                  </a:txBody>
                  <a:tcPr marL="84406" marR="84406"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0"/>
                        </a:spcBef>
                        <a:spcAft>
                          <a:spcPct val="25000"/>
                        </a:spcAft>
                        <a:buClr>
                          <a:srgbClr val="FFCC00"/>
                        </a:buClr>
                        <a:buSzTx/>
                        <a:buFontTx/>
                        <a:buNone/>
                      </a:pPr>
                      <a:endParaRPr kumimoji="0" lang="en-US" sz="2800" b="0" i="0" u="none" strike="noStrike" cap="none" normalizeH="0" baseline="0">
                        <a:ln>
                          <a:noFill/>
                        </a:ln>
                        <a:solidFill>
                          <a:schemeClr val="bg1"/>
                        </a:solidFill>
                        <a:effectLst/>
                        <a:latin typeface="Arial" panose="020B0604020202020204" pitchFamily="34" charset="0"/>
                      </a:endParaRPr>
                    </a:p>
                  </a:txBody>
                  <a:tcPr marL="84406" marR="84406"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0"/>
                        </a:spcBef>
                        <a:spcAft>
                          <a:spcPct val="25000"/>
                        </a:spcAft>
                        <a:buClr>
                          <a:srgbClr val="FFCC00"/>
                        </a:buClr>
                        <a:buSzTx/>
                        <a:buFontTx/>
                        <a:buNone/>
                      </a:pPr>
                      <a:endParaRPr kumimoji="0" lang="en-US" sz="2800" b="0" i="0" u="none" strike="noStrike" cap="none" normalizeH="0" baseline="0">
                        <a:ln>
                          <a:noFill/>
                        </a:ln>
                        <a:solidFill>
                          <a:schemeClr val="bg1"/>
                        </a:solidFill>
                        <a:effectLst/>
                        <a:latin typeface="Arial" panose="020B0604020202020204" pitchFamily="34" charset="0"/>
                      </a:endParaRPr>
                    </a:p>
                  </a:txBody>
                  <a:tcPr marL="84406" marR="84406"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001000" cy="5943600"/>
          </a:xfrm>
        </p:spPr>
        <p:txBody>
          <a:bodyPr>
            <a:normAutofit/>
          </a:bodyPr>
          <a:lstStyle/>
          <a:p>
            <a:pPr marL="0" lvl="0">
              <a:lnSpc>
                <a:spcPct val="150000"/>
              </a:lnSpc>
              <a:spcBef>
                <a:spcPts val="0"/>
              </a:spcBef>
              <a:spcAft>
                <a:spcPts val="0"/>
              </a:spcAft>
              <a:buClr>
                <a:srgbClr val="1CADE4"/>
              </a:buClr>
            </a:pPr>
            <a:r>
              <a:rPr lang="en-US" b="1" i="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Delivery order </a:t>
            </a:r>
            <a:br>
              <a:rPr lang="en-US"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br>
            <a:r>
              <a:rPr lang="en-US"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This is an official form on which you entered:</a:t>
            </a:r>
            <a:endParaRPr lang="fr-FR" dirty="0">
              <a:solidFill>
                <a:prstClr val="black"/>
              </a:solidFill>
              <a:latin typeface="Calibri" panose="020F0502020204030204" charset="0"/>
              <a:ea typeface="Calibri" panose="020F0502020204030204" charset="0"/>
              <a:cs typeface="Times New Roman" panose="02020603050405020304" pitchFamily="18" charset="0"/>
            </a:endParaRPr>
          </a:p>
          <a:p>
            <a:pPr marL="342900" lvl="0" indent="-342900">
              <a:lnSpc>
                <a:spcPct val="150000"/>
              </a:lnSpc>
              <a:spcBef>
                <a:spcPts val="0"/>
              </a:spcBef>
              <a:spcAft>
                <a:spcPts val="0"/>
              </a:spcAft>
              <a:buClr>
                <a:srgbClr val="1CADE4"/>
              </a:buClr>
              <a:buFont typeface="Wingdings" panose="05000000000000000000" pitchFamily="2" charset="2"/>
              <a:buChar char=""/>
            </a:pPr>
            <a:r>
              <a:rPr lang="en-US"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The date of distribution</a:t>
            </a:r>
            <a:endParaRPr lang="fr-FR" dirty="0">
              <a:solidFill>
                <a:prstClr val="black"/>
              </a:solidFill>
              <a:latin typeface="Calibri" panose="020F0502020204030204" charset="0"/>
              <a:ea typeface="Calibri" panose="020F0502020204030204" charset="0"/>
              <a:cs typeface="Times New Roman" panose="02020603050405020304" pitchFamily="18" charset="0"/>
            </a:endParaRPr>
          </a:p>
          <a:p>
            <a:pPr marL="342900" lvl="0" indent="-342900">
              <a:lnSpc>
                <a:spcPct val="150000"/>
              </a:lnSpc>
              <a:spcBef>
                <a:spcPts val="0"/>
              </a:spcBef>
              <a:spcAft>
                <a:spcPts val="0"/>
              </a:spcAft>
              <a:buClr>
                <a:srgbClr val="1CADE4"/>
              </a:buClr>
              <a:buFont typeface="Wingdings" panose="05000000000000000000" pitchFamily="2" charset="2"/>
              <a:buChar char=""/>
            </a:pPr>
            <a:r>
              <a:rPr lang="en-US"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Article given out, its quantity, and the book page on which it is registered</a:t>
            </a:r>
            <a:endParaRPr lang="fr-FR" dirty="0">
              <a:solidFill>
                <a:prstClr val="black"/>
              </a:solidFill>
              <a:latin typeface="Calibri" panose="020F0502020204030204" charset="0"/>
              <a:ea typeface="Calibri" panose="020F0502020204030204" charset="0"/>
              <a:cs typeface="Times New Roman" panose="02020603050405020304" pitchFamily="18" charset="0"/>
            </a:endParaRPr>
          </a:p>
          <a:p>
            <a:pPr marL="342900" lvl="0" indent="-342900">
              <a:lnSpc>
                <a:spcPct val="150000"/>
              </a:lnSpc>
              <a:spcBef>
                <a:spcPts val="0"/>
              </a:spcBef>
              <a:spcAft>
                <a:spcPts val="0"/>
              </a:spcAft>
              <a:buClr>
                <a:srgbClr val="1CADE4"/>
              </a:buClr>
              <a:buFont typeface="Wingdings" panose="05000000000000000000" pitchFamily="2" charset="2"/>
              <a:buChar char=""/>
            </a:pPr>
            <a:r>
              <a:rPr lang="en-US"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Where it will be used (service health center)</a:t>
            </a:r>
            <a:endParaRPr lang="fr-FR" dirty="0">
              <a:solidFill>
                <a:prstClr val="black"/>
              </a:solidFill>
              <a:latin typeface="Calibri" panose="020F0502020204030204" charset="0"/>
              <a:ea typeface="Calibri" panose="020F0502020204030204" charset="0"/>
              <a:cs typeface="Times New Roman" panose="02020603050405020304" pitchFamily="18" charset="0"/>
            </a:endParaRPr>
          </a:p>
          <a:p>
            <a:pPr marL="342900" lvl="0" indent="-342900">
              <a:lnSpc>
                <a:spcPct val="150000"/>
              </a:lnSpc>
              <a:spcBef>
                <a:spcPts val="0"/>
              </a:spcBef>
              <a:spcAft>
                <a:spcPts val="0"/>
              </a:spcAft>
              <a:buClr>
                <a:srgbClr val="1CADE4"/>
              </a:buClr>
              <a:buFont typeface="Wingdings" panose="05000000000000000000" pitchFamily="2" charset="2"/>
              <a:buChar char=""/>
            </a:pPr>
            <a:r>
              <a:rPr lang="en-US"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The chief (usually the responsible  of service)</a:t>
            </a:r>
            <a:endParaRPr lang="fr-FR" dirty="0">
              <a:solidFill>
                <a:prstClr val="black"/>
              </a:solidFill>
              <a:latin typeface="Calibri" panose="020F0502020204030204" charset="0"/>
              <a:ea typeface="Calibri" panose="020F0502020204030204" charset="0"/>
              <a:cs typeface="Times New Roman" panose="02020603050405020304" pitchFamily="18" charset="0"/>
            </a:endParaRPr>
          </a:p>
          <a:p>
            <a:pPr marL="342900" lvl="0" indent="-342900">
              <a:lnSpc>
                <a:spcPct val="150000"/>
              </a:lnSpc>
              <a:spcBef>
                <a:spcPts val="0"/>
              </a:spcBef>
              <a:spcAft>
                <a:spcPts val="0"/>
              </a:spcAft>
              <a:buClr>
                <a:srgbClr val="1CADE4"/>
              </a:buClr>
              <a:buFont typeface="Wingdings" panose="05000000000000000000" pitchFamily="2" charset="2"/>
              <a:buChar char=""/>
            </a:pPr>
            <a:r>
              <a:rPr lang="en-US"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The signature of the person responsible for its use.</a:t>
            </a:r>
            <a:endParaRPr lang="fr-FR" dirty="0">
              <a:solidFill>
                <a:prstClr val="black"/>
              </a:solidFill>
              <a:latin typeface="Calibri" panose="020F0502020204030204" charset="0"/>
              <a:ea typeface="Calibri" panose="020F0502020204030204" charset="0"/>
              <a:cs typeface="Times New Roman" panose="02020603050405020304" pitchFamily="18" charset="0"/>
            </a:endParaRPr>
          </a:p>
          <a:p>
            <a:pPr marL="0" lvl="0">
              <a:lnSpc>
                <a:spcPct val="150000"/>
              </a:lnSpc>
              <a:spcBef>
                <a:spcPts val="0"/>
              </a:spcBef>
              <a:spcAft>
                <a:spcPts val="0"/>
              </a:spcAft>
              <a:buClr>
                <a:srgbClr val="1CADE4"/>
              </a:buClr>
            </a:pPr>
            <a:r>
              <a:rPr lang="en-US"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The person who signs the delivery order becomes responsible of material or equipment. A delivery order must be filed and kept in the stock. A duplicate is delivered to the service which receiving the equipment.</a:t>
            </a:r>
            <a:br>
              <a:rPr lang="en-US" sz="18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br>
            <a:br>
              <a:rPr lang="en-US" sz="16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br>
            <a:endParaRPr lang="fr-FR" sz="1600" dirty="0">
              <a:solidFill>
                <a:prstClr val="black"/>
              </a:solidFill>
              <a:latin typeface="Calibri" panose="020F0502020204030204" charset="0"/>
              <a:ea typeface="Calibri" panose="020F0502020204030204" charset="0"/>
              <a:cs typeface="Times New Roman" panose="02020603050405020304" pitchFamily="18" charset="0"/>
            </a:endParaRPr>
          </a:p>
          <a:p>
            <a:endParaRPr lang="fr-FR"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8096" y="304800"/>
            <a:ext cx="7290055" cy="6004560"/>
          </a:xfrm>
        </p:spPr>
        <p:txBody>
          <a:bodyPr>
            <a:normAutofit fontScale="92500"/>
          </a:bodyPr>
          <a:lstStyle/>
          <a:p>
            <a:pPr marL="0" lvl="0">
              <a:spcBef>
                <a:spcPts val="0"/>
              </a:spcBef>
              <a:spcAft>
                <a:spcPts val="0"/>
              </a:spcAft>
              <a:buClr>
                <a:srgbClr val="1CADE4"/>
              </a:buClr>
            </a:pPr>
            <a:endParaRPr lang="fr-FR" sz="1400" dirty="0">
              <a:solidFill>
                <a:prstClr val="black"/>
              </a:solidFill>
              <a:latin typeface="Calibri" panose="020F0502020204030204" charset="0"/>
              <a:ea typeface="Calibri" panose="020F0502020204030204" charset="0"/>
              <a:cs typeface="Times New Roman" panose="02020603050405020304" pitchFamily="18" charset="0"/>
            </a:endParaRPr>
          </a:p>
          <a:p>
            <a:pPr marL="0" lvl="0">
              <a:lnSpc>
                <a:spcPct val="200000"/>
              </a:lnSpc>
              <a:spcBef>
                <a:spcPts val="0"/>
              </a:spcBef>
              <a:spcAft>
                <a:spcPts val="0"/>
              </a:spcAft>
              <a:buClr>
                <a:srgbClr val="1CADE4"/>
              </a:buClr>
            </a:pPr>
            <a:r>
              <a:rPr lang="en-US" sz="2400" b="1" i="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c) Inventory</a:t>
            </a:r>
            <a:br>
              <a:rPr lang="en-US" sz="24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br>
            <a:r>
              <a:rPr lang="en-US" sz="24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An inventory is a list of equipment found in a certain place. </a:t>
            </a:r>
          </a:p>
          <a:p>
            <a:pPr marL="0" lvl="0" indent="0">
              <a:lnSpc>
                <a:spcPct val="200000"/>
              </a:lnSpc>
              <a:spcBef>
                <a:spcPts val="0"/>
              </a:spcBef>
              <a:spcAft>
                <a:spcPts val="0"/>
              </a:spcAft>
              <a:buClr>
                <a:srgbClr val="1CADE4"/>
              </a:buClr>
              <a:buNone/>
            </a:pPr>
            <a:r>
              <a:rPr lang="en-US" sz="24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Each service of a health unit maintains and keeps an inventory of its non-renewable assets.</a:t>
            </a:r>
          </a:p>
          <a:p>
            <a:pPr marL="0" lvl="0" indent="0">
              <a:lnSpc>
                <a:spcPct val="200000"/>
              </a:lnSpc>
              <a:spcBef>
                <a:spcPts val="0"/>
              </a:spcBef>
              <a:spcAft>
                <a:spcPts val="0"/>
              </a:spcAft>
              <a:buClr>
                <a:srgbClr val="1CADE4"/>
              </a:buClr>
              <a:buNone/>
            </a:pPr>
            <a:r>
              <a:rPr lang="en-US" sz="24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 Any new equipment that is delivered must be on its inventory. </a:t>
            </a:r>
          </a:p>
          <a:p>
            <a:pPr marL="0" lvl="0" indent="0">
              <a:lnSpc>
                <a:spcPct val="200000"/>
              </a:lnSpc>
              <a:spcBef>
                <a:spcPts val="0"/>
              </a:spcBef>
              <a:spcAft>
                <a:spcPts val="0"/>
              </a:spcAft>
              <a:buClr>
                <a:srgbClr val="1CADE4"/>
              </a:buClr>
              <a:buNone/>
            </a:pPr>
            <a:r>
              <a:rPr lang="en-US" sz="24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This inventory is done periodically to check the stock and its use.</a:t>
            </a:r>
            <a:endParaRPr lang="fr-FR" sz="24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457200"/>
            <a:ext cx="8077200" cy="6248400"/>
          </a:xfrm>
        </p:spPr>
        <p:txBody>
          <a:bodyPr>
            <a:noAutofit/>
          </a:bodyPr>
          <a:lstStyle/>
          <a:p>
            <a:pPr>
              <a:buFont typeface="Wingdings" panose="05000000000000000000" pitchFamily="2" charset="2"/>
              <a:buChar char="§"/>
            </a:pPr>
            <a:r>
              <a:rPr lang="en-US" sz="2400" b="1" i="1" dirty="0">
                <a:latin typeface="Times New Roman" panose="02020603050405020304" pitchFamily="18" charset="0"/>
                <a:ea typeface="Times New Roman" panose="02020603050405020304" pitchFamily="18" charset="0"/>
              </a:rPr>
              <a:t>The checklist</a:t>
            </a:r>
            <a:br>
              <a:rPr lang="en-US" sz="2400" b="1" i="1" dirty="0">
                <a:latin typeface="Times New Roman" panose="02020603050405020304" pitchFamily="18" charset="0"/>
                <a:ea typeface="Times New Roman" panose="02020603050405020304" pitchFamily="18" charset="0"/>
              </a:rPr>
            </a:br>
            <a:r>
              <a:rPr lang="en-US" sz="2400" dirty="0">
                <a:latin typeface="Times New Roman" panose="02020603050405020304" pitchFamily="18" charset="0"/>
                <a:ea typeface="Times New Roman" panose="02020603050405020304" pitchFamily="18" charset="0"/>
              </a:rPr>
              <a:t>we inspects the equipment of a service by ensuring that it is there and comparing it to the inventory. </a:t>
            </a:r>
          </a:p>
          <a:p>
            <a:pPr>
              <a:buFont typeface="Wingdings" panose="05000000000000000000" pitchFamily="2" charset="2"/>
              <a:buChar char="§"/>
            </a:pPr>
            <a:r>
              <a:rPr lang="en-US" sz="2400" dirty="0">
                <a:latin typeface="Times New Roman" panose="02020603050405020304" pitchFamily="18" charset="0"/>
                <a:ea typeface="Times New Roman" panose="02020603050405020304" pitchFamily="18" charset="0"/>
              </a:rPr>
              <a:t>The frequency of this control depends on the nature of the items and varies according to their fragility, to how they are consumable or long lasting, Verify regularly consumable products to prevent waste and abuse. </a:t>
            </a:r>
          </a:p>
          <a:p>
            <a:pPr>
              <a:buFont typeface="Wingdings" panose="05000000000000000000" pitchFamily="2" charset="2"/>
              <a:buChar char="§"/>
            </a:pPr>
            <a:r>
              <a:rPr lang="en-US" sz="2400" dirty="0">
                <a:latin typeface="Times New Roman" panose="02020603050405020304" pitchFamily="18" charset="0"/>
                <a:ea typeface="Times New Roman" panose="02020603050405020304" pitchFamily="18" charset="0"/>
              </a:rPr>
              <a:t>Durable equipment such as beds, tables and chairs, are inspected once a year.</a:t>
            </a:r>
          </a:p>
          <a:p>
            <a:pPr>
              <a:buFont typeface="Wingdings" panose="05000000000000000000" pitchFamily="2" charset="2"/>
              <a:buChar char="§"/>
            </a:pPr>
            <a:r>
              <a:rPr lang="en-US" sz="2400" dirty="0">
                <a:latin typeface="Times New Roman" panose="02020603050405020304" pitchFamily="18" charset="0"/>
                <a:ea typeface="Times New Roman" panose="02020603050405020304" pitchFamily="18" charset="0"/>
              </a:rPr>
              <a:t> Equipment and machinery that may deteriorate should be inspected more frequently and more regularly. </a:t>
            </a:r>
          </a:p>
          <a:p>
            <a:pPr>
              <a:buFont typeface="Wingdings" panose="05000000000000000000" pitchFamily="2" charset="2"/>
              <a:buChar char="§"/>
            </a:pPr>
            <a:r>
              <a:rPr lang="en-US" sz="2400" dirty="0">
                <a:latin typeface="Times New Roman" panose="02020603050405020304" pitchFamily="18" charset="0"/>
                <a:ea typeface="Times New Roman" panose="02020603050405020304" pitchFamily="18" charset="0"/>
              </a:rPr>
              <a:t>The inspection is not an interesting job and sometimes we forget or neglect it.</a:t>
            </a:r>
          </a:p>
          <a:p>
            <a:pPr>
              <a:buFont typeface="Wingdings" panose="05000000000000000000" pitchFamily="2" charset="2"/>
              <a:buChar char="§"/>
            </a:pPr>
            <a:r>
              <a:rPr lang="en-US" sz="2400" dirty="0">
                <a:latin typeface="Times New Roman" panose="02020603050405020304" pitchFamily="18" charset="0"/>
                <a:ea typeface="Times New Roman" panose="02020603050405020304" pitchFamily="18" charset="0"/>
              </a:rPr>
              <a:t> It is good that the responsible to set a timetable of inspections that he have to do</a:t>
            </a:r>
            <a:endParaRPr lang="fr-FR" sz="24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52400"/>
            <a:ext cx="8382000" cy="6553200"/>
          </a:xfrm>
        </p:spPr>
        <p:txBody>
          <a:bodyPr>
            <a:noAutofit/>
          </a:bodyPr>
          <a:lstStyle/>
          <a:p>
            <a:pPr>
              <a:lnSpc>
                <a:spcPct val="150000"/>
              </a:lnSpc>
            </a:pPr>
            <a:r>
              <a:rPr lang="en-US" sz="2400" b="1" i="1" dirty="0">
                <a:latin typeface="Times New Roman" panose="02020603050405020304" pitchFamily="18" charset="0"/>
                <a:ea typeface="Times New Roman" panose="02020603050405020304" pitchFamily="18" charset="0"/>
              </a:rPr>
              <a:t>The detection and interpretation of gaps.</a:t>
            </a:r>
            <a:br>
              <a:rPr lang="en-US" sz="2400" b="1" i="1" dirty="0">
                <a:latin typeface="Times New Roman" panose="02020603050405020304" pitchFamily="18" charset="0"/>
                <a:ea typeface="Times New Roman" panose="02020603050405020304" pitchFamily="18" charset="0"/>
              </a:rPr>
            </a:br>
            <a:r>
              <a:rPr lang="en-US" sz="2400" dirty="0">
                <a:latin typeface="Times New Roman" panose="02020603050405020304" pitchFamily="18" charset="0"/>
                <a:ea typeface="Times New Roman" panose="02020603050405020304" pitchFamily="18" charset="0"/>
              </a:rPr>
              <a:t>A gap is the difference between what is reported and what we found, for example a difference between the actual used quantity and the expected quantity, or between the inventory and what actually are present.</a:t>
            </a:r>
            <a:br>
              <a:rPr lang="en-US" sz="2400" dirty="0">
                <a:latin typeface="Times New Roman" panose="02020603050405020304" pitchFamily="18" charset="0"/>
                <a:ea typeface="Times New Roman" panose="02020603050405020304" pitchFamily="18" charset="0"/>
              </a:rPr>
            </a:br>
            <a:r>
              <a:rPr lang="en-US" sz="2400" dirty="0">
                <a:latin typeface="Times New Roman" panose="02020603050405020304" pitchFamily="18" charset="0"/>
                <a:ea typeface="Times New Roman" panose="02020603050405020304" pitchFamily="18" charset="0"/>
              </a:rPr>
              <a:t>Example: there are now many </a:t>
            </a:r>
            <a:r>
              <a:rPr lang="en-US" sz="2400" dirty="0" err="1">
                <a:latin typeface="Times New Roman" panose="02020603050405020304" pitchFamily="18" charset="0"/>
                <a:ea typeface="Times New Roman" panose="02020603050405020304" pitchFamily="18" charset="0"/>
              </a:rPr>
              <a:t>carbol</a:t>
            </a:r>
            <a:r>
              <a:rPr lang="en-US" sz="2400" dirty="0">
                <a:latin typeface="Times New Roman" panose="02020603050405020304" pitchFamily="18" charset="0"/>
                <a:ea typeface="Times New Roman" panose="02020603050405020304" pitchFamily="18" charset="0"/>
              </a:rPr>
              <a:t> </a:t>
            </a:r>
            <a:r>
              <a:rPr lang="en-US" sz="2400" dirty="0" err="1">
                <a:latin typeface="Times New Roman" panose="02020603050405020304" pitchFamily="18" charset="0"/>
                <a:ea typeface="Times New Roman" panose="02020603050405020304" pitchFamily="18" charset="0"/>
              </a:rPr>
              <a:t>fuchsin</a:t>
            </a:r>
            <a:r>
              <a:rPr lang="en-US" sz="2400" dirty="0">
                <a:latin typeface="Times New Roman" panose="02020603050405020304" pitchFamily="18" charset="0"/>
                <a:ea typeface="Times New Roman" panose="02020603050405020304" pitchFamily="18" charset="0"/>
              </a:rPr>
              <a:t> in a laboratory that three months ago and there is no order of that product. </a:t>
            </a:r>
          </a:p>
          <a:p>
            <a:pPr>
              <a:lnSpc>
                <a:spcPct val="150000"/>
              </a:lnSpc>
            </a:pPr>
            <a:r>
              <a:rPr lang="en-US" sz="2400" dirty="0">
                <a:latin typeface="Times New Roman" panose="02020603050405020304" pitchFamily="18" charset="0"/>
                <a:ea typeface="Times New Roman" panose="02020603050405020304" pitchFamily="18" charset="0"/>
              </a:rPr>
              <a:t>This means that we did not use </a:t>
            </a:r>
            <a:r>
              <a:rPr lang="en-US" sz="2400" dirty="0" err="1">
                <a:latin typeface="Times New Roman" panose="02020603050405020304" pitchFamily="18" charset="0"/>
                <a:ea typeface="Times New Roman" panose="02020603050405020304" pitchFamily="18" charset="0"/>
              </a:rPr>
              <a:t>carbol</a:t>
            </a:r>
            <a:r>
              <a:rPr lang="en-US" sz="2400" dirty="0">
                <a:latin typeface="Times New Roman" panose="02020603050405020304" pitchFamily="18" charset="0"/>
                <a:ea typeface="Times New Roman" panose="02020603050405020304" pitchFamily="18" charset="0"/>
              </a:rPr>
              <a:t> </a:t>
            </a:r>
            <a:r>
              <a:rPr lang="en-US" sz="2400" dirty="0" err="1">
                <a:latin typeface="Times New Roman" panose="02020603050405020304" pitchFamily="18" charset="0"/>
                <a:ea typeface="Times New Roman" panose="02020603050405020304" pitchFamily="18" charset="0"/>
              </a:rPr>
              <a:t>fuchsin.We</a:t>
            </a:r>
            <a:r>
              <a:rPr lang="en-US" sz="2400" dirty="0">
                <a:latin typeface="Times New Roman" panose="02020603050405020304" pitchFamily="18" charset="0"/>
                <a:ea typeface="Times New Roman" panose="02020603050405020304" pitchFamily="18" charset="0"/>
              </a:rPr>
              <a:t> may normally think of as the laboratory of a health center would use the active </a:t>
            </a:r>
            <a:r>
              <a:rPr lang="en-US" sz="2400" dirty="0" err="1">
                <a:latin typeface="Times New Roman" panose="02020603050405020304" pitchFamily="18" charset="0"/>
                <a:ea typeface="Times New Roman" panose="02020603050405020304" pitchFamily="18" charset="0"/>
              </a:rPr>
              <a:t>carbol</a:t>
            </a:r>
            <a:r>
              <a:rPr lang="en-US" sz="2400" dirty="0">
                <a:latin typeface="Times New Roman" panose="02020603050405020304" pitchFamily="18" charset="0"/>
                <a:ea typeface="Times New Roman" panose="02020603050405020304" pitchFamily="18" charset="0"/>
              </a:rPr>
              <a:t> </a:t>
            </a:r>
            <a:r>
              <a:rPr lang="en-US" sz="2400" dirty="0" err="1">
                <a:latin typeface="Times New Roman" panose="02020603050405020304" pitchFamily="18" charset="0"/>
                <a:ea typeface="Times New Roman" panose="02020603050405020304" pitchFamily="18" charset="0"/>
              </a:rPr>
              <a:t>fuchsin</a:t>
            </a:r>
            <a:r>
              <a:rPr lang="en-US" sz="2400" dirty="0">
                <a:latin typeface="Times New Roman" panose="02020603050405020304" pitchFamily="18" charset="0"/>
                <a:ea typeface="Times New Roman" panose="02020603050405020304" pitchFamily="18" charset="0"/>
              </a:rPr>
              <a:t> to stain slides acid-fast bacilli-resistant. So there is a gap because the quantity used and what was expected to be used.</a:t>
            </a:r>
            <a:endParaRPr lang="fr-FR" sz="24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786384"/>
          </a:xfrm>
        </p:spPr>
        <p:txBody>
          <a:bodyPr/>
          <a:lstStyle/>
          <a:p>
            <a:r>
              <a:rPr lang="en-US" dirty="0"/>
              <a:t>      DRUG MANAGEMENT </a:t>
            </a:r>
            <a:endParaRPr lang="fr-FR" dirty="0"/>
          </a:p>
        </p:txBody>
      </p:sp>
      <p:sp>
        <p:nvSpPr>
          <p:cNvPr id="3" name="Content Placeholder 2"/>
          <p:cNvSpPr>
            <a:spLocks noGrp="1"/>
          </p:cNvSpPr>
          <p:nvPr>
            <p:ph idx="1"/>
          </p:nvPr>
        </p:nvSpPr>
        <p:spPr>
          <a:xfrm>
            <a:off x="609600" y="1295400"/>
            <a:ext cx="8229600" cy="5013960"/>
          </a:xfrm>
        </p:spPr>
        <p:txBody>
          <a:bodyPr>
            <a:normAutofit lnSpcReduction="10000"/>
          </a:bodyPr>
          <a:lstStyle/>
          <a:p>
            <a:pPr marL="0" marR="0">
              <a:lnSpc>
                <a:spcPct val="150000"/>
              </a:lnSpc>
              <a:spcBef>
                <a:spcPts val="0"/>
              </a:spcBef>
              <a:spcAft>
                <a:spcPts val="0"/>
              </a:spcAft>
            </a:pPr>
            <a:r>
              <a:rPr lang="en-US" dirty="0"/>
              <a:t> </a:t>
            </a:r>
            <a:r>
              <a:rPr lang="en-GB" b="1" dirty="0">
                <a:latin typeface="Times New Roman" panose="02020603050405020304" pitchFamily="18" charset="0"/>
                <a:ea typeface="Calibri" panose="020F0502020204030204" charset="0"/>
                <a:cs typeface="Times New Roman" panose="02020603050405020304" pitchFamily="18" charset="0"/>
              </a:rPr>
              <a:t>Drug management</a:t>
            </a:r>
            <a:endParaRPr lang="fr-FR" dirty="0">
              <a:latin typeface="Calibri" panose="020F0502020204030204" charset="0"/>
              <a:ea typeface="Calibri" panose="020F0502020204030204" charset="0"/>
              <a:cs typeface="Times New Roman" panose="02020603050405020304" pitchFamily="18" charset="0"/>
            </a:endParaRPr>
          </a:p>
          <a:p>
            <a:pPr>
              <a:lnSpc>
                <a:spcPct val="150000"/>
              </a:lnSpc>
              <a:spcBef>
                <a:spcPts val="0"/>
              </a:spcBef>
              <a:spcAft>
                <a:spcPts val="0"/>
              </a:spcAft>
              <a:buFont typeface="Wingdings" panose="05000000000000000000" pitchFamily="2" charset="2"/>
              <a:buChar char="§"/>
            </a:pPr>
            <a:r>
              <a:rPr lang="en-US" dirty="0">
                <a:latin typeface="Times New Roman" panose="02020603050405020304" pitchFamily="18" charset="0"/>
                <a:ea typeface="Calibri" panose="020F0502020204030204" charset="0"/>
                <a:cs typeface="Times New Roman" panose="02020603050405020304" pitchFamily="18" charset="0"/>
              </a:rPr>
              <a:t>Medicines play an important role in life-saving &amp; improvement of health.  </a:t>
            </a:r>
          </a:p>
          <a:p>
            <a:pPr>
              <a:lnSpc>
                <a:spcPct val="150000"/>
              </a:lnSpc>
              <a:spcBef>
                <a:spcPts val="0"/>
              </a:spcBef>
              <a:spcAft>
                <a:spcPts val="0"/>
              </a:spcAft>
              <a:buFont typeface="Wingdings" panose="05000000000000000000" pitchFamily="2" charset="2"/>
              <a:buChar char="§"/>
            </a:pPr>
            <a:r>
              <a:rPr lang="en-US" dirty="0">
                <a:latin typeface="Times New Roman" panose="02020603050405020304" pitchFamily="18" charset="0"/>
                <a:ea typeface="Calibri" panose="020F0502020204030204" charset="0"/>
                <a:cs typeface="Times New Roman" panose="02020603050405020304" pitchFamily="18" charset="0"/>
              </a:rPr>
              <a:t>  Poor management and irrational use of medicines leads to wastage of resources, prolonged suffering, death and loss of confidence in the healthcare system. </a:t>
            </a:r>
          </a:p>
          <a:p>
            <a:pPr>
              <a:lnSpc>
                <a:spcPct val="150000"/>
              </a:lnSpc>
              <a:spcBef>
                <a:spcPts val="0"/>
              </a:spcBef>
              <a:spcAft>
                <a:spcPts val="0"/>
              </a:spcAft>
              <a:buFont typeface="Wingdings" panose="05000000000000000000" pitchFamily="2" charset="2"/>
              <a:buChar char="§"/>
            </a:pPr>
            <a:r>
              <a:rPr lang="en-US" dirty="0">
                <a:latin typeface="Times New Roman" panose="02020603050405020304" pitchFamily="18" charset="0"/>
                <a:ea typeface="Calibri" panose="020F0502020204030204" charset="0"/>
                <a:cs typeface="Times New Roman" panose="02020603050405020304" pitchFamily="18" charset="0"/>
              </a:rPr>
              <a:t> On the other hand, proper management translates to a disease free and economically productive community.</a:t>
            </a:r>
            <a:endParaRPr lang="fr-FR" dirty="0">
              <a:latin typeface="Calibri" panose="020F0502020204030204" charset="0"/>
              <a:ea typeface="Calibri" panose="020F0502020204030204" charset="0"/>
              <a:cs typeface="Times New Roman" panose="02020603050405020304" pitchFamily="18" charset="0"/>
            </a:endParaRPr>
          </a:p>
          <a:p>
            <a:pPr marL="251460" marR="0" indent="-342900">
              <a:lnSpc>
                <a:spcPct val="150000"/>
              </a:lnSpc>
              <a:spcBef>
                <a:spcPts val="0"/>
              </a:spcBef>
              <a:spcAft>
                <a:spcPts val="0"/>
              </a:spcAft>
              <a:buFont typeface="Wingdings" panose="05000000000000000000" pitchFamily="2" charset="2"/>
              <a:buChar char="§"/>
            </a:pPr>
            <a:r>
              <a:rPr lang="en-US" dirty="0">
                <a:latin typeface="Times New Roman" panose="02020603050405020304" pitchFamily="18" charset="0"/>
                <a:ea typeface="Calibri" panose="020F0502020204030204" charset="0"/>
                <a:cs typeface="Times New Roman" panose="02020603050405020304" pitchFamily="18" charset="0"/>
              </a:rPr>
              <a:t>Both inpatients and outpatients need to receive safe, efficacious and affordable medicines. </a:t>
            </a:r>
          </a:p>
          <a:p>
            <a:pPr marL="251460" marR="0" indent="-342900">
              <a:lnSpc>
                <a:spcPct val="150000"/>
              </a:lnSpc>
              <a:spcBef>
                <a:spcPts val="0"/>
              </a:spcBef>
              <a:spcAft>
                <a:spcPts val="0"/>
              </a:spcAft>
              <a:buFont typeface="Wingdings" panose="05000000000000000000" pitchFamily="2" charset="2"/>
              <a:buChar char="§"/>
            </a:pPr>
            <a:r>
              <a:rPr lang="en-US" dirty="0">
                <a:latin typeface="Times New Roman" panose="02020603050405020304" pitchFamily="18" charset="0"/>
                <a:ea typeface="Calibri" panose="020F0502020204030204" charset="0"/>
                <a:cs typeface="Times New Roman" panose="02020603050405020304" pitchFamily="18" charset="0"/>
              </a:rPr>
              <a:t> Not only that. Moreover the </a:t>
            </a:r>
            <a:r>
              <a:rPr lang="en-GB" dirty="0">
                <a:latin typeface="Times New Roman" panose="02020603050405020304" pitchFamily="18" charset="0"/>
                <a:ea typeface="Calibri" panose="020F0502020204030204" charset="0"/>
                <a:cs typeface="Times New Roman" panose="02020603050405020304" pitchFamily="18" charset="0"/>
              </a:rPr>
              <a:t>Rational Use of Drugs is an important element to solve problems in drug management while prescribing, dispensing.</a:t>
            </a:r>
            <a:endParaRPr lang="fr-FR" dirty="0">
              <a:latin typeface="Calibri" panose="020F0502020204030204" charset="0"/>
              <a:ea typeface="Calibri" panose="020F0502020204030204" charset="0"/>
              <a:cs typeface="Times New Roman" panose="02020603050405020304" pitchFamily="18" charset="0"/>
            </a:endParaRPr>
          </a:p>
          <a:p>
            <a:endParaRPr lang="fr-FR"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8305800" cy="5715000"/>
          </a:xfrm>
        </p:spPr>
        <p:txBody>
          <a:bodyPr>
            <a:normAutofit/>
          </a:bodyPr>
          <a:lstStyle/>
          <a:p>
            <a:pPr marL="0" marR="0">
              <a:lnSpc>
                <a:spcPct val="150000"/>
              </a:lnSpc>
              <a:spcBef>
                <a:spcPts val="0"/>
              </a:spcBef>
              <a:spcAft>
                <a:spcPts val="0"/>
              </a:spcAft>
            </a:pPr>
            <a:r>
              <a:rPr lang="en-US" sz="2400" b="1" dirty="0">
                <a:latin typeface="Times New Roman" panose="02020603050405020304" pitchFamily="18" charset="0"/>
                <a:ea typeface="Calibri" panose="020F0502020204030204" charset="0"/>
                <a:cs typeface="Times New Roman" panose="02020603050405020304" pitchFamily="18" charset="0"/>
              </a:rPr>
              <a:t>Definition</a:t>
            </a:r>
            <a:endParaRPr lang="fr-FR" sz="2400" dirty="0">
              <a:latin typeface="Calibri" panose="020F0502020204030204" charset="0"/>
              <a:ea typeface="Calibri" panose="020F0502020204030204" charset="0"/>
              <a:cs typeface="Times New Roman" panose="02020603050405020304" pitchFamily="18" charset="0"/>
            </a:endParaRPr>
          </a:p>
          <a:p>
            <a:pPr marL="0" marR="0">
              <a:lnSpc>
                <a:spcPct val="150000"/>
              </a:lnSpc>
              <a:spcBef>
                <a:spcPts val="0"/>
              </a:spcBef>
              <a:spcAft>
                <a:spcPts val="0"/>
              </a:spcAft>
            </a:pPr>
            <a:r>
              <a:rPr lang="en-US" sz="2400" b="1" i="1" dirty="0">
                <a:latin typeface="Times New Roman" panose="02020603050405020304" pitchFamily="18" charset="0"/>
                <a:ea typeface="Calibri" panose="020F0502020204030204" charset="0"/>
                <a:cs typeface="Times New Roman" panose="02020603050405020304" pitchFamily="18" charset="0"/>
              </a:rPr>
              <a:t>Medicine (drug):</a:t>
            </a:r>
            <a:r>
              <a:rPr lang="en-US" sz="2400" dirty="0">
                <a:latin typeface="Times New Roman" panose="02020603050405020304" pitchFamily="18" charset="0"/>
                <a:ea typeface="Calibri" panose="020F0502020204030204" charset="0"/>
                <a:cs typeface="Times New Roman" panose="02020603050405020304" pitchFamily="18" charset="0"/>
              </a:rPr>
              <a:t> A chemical substance, especially one prescribed by a medical provider that is used in the diagnosis, treatment, or prevention of a condition or disease.                                       </a:t>
            </a:r>
          </a:p>
          <a:p>
            <a:pPr marL="0" marR="0">
              <a:lnSpc>
                <a:spcPct val="150000"/>
              </a:lnSpc>
              <a:spcBef>
                <a:spcPts val="0"/>
              </a:spcBef>
              <a:spcAft>
                <a:spcPts val="0"/>
              </a:spcAft>
            </a:pPr>
            <a:r>
              <a:rPr lang="en-US" sz="2400" dirty="0">
                <a:latin typeface="Times New Roman" panose="02020603050405020304" pitchFamily="18" charset="0"/>
                <a:ea typeface="Calibri" panose="020F0502020204030204" charset="0"/>
                <a:cs typeface="Times New Roman" panose="02020603050405020304" pitchFamily="18" charset="0"/>
              </a:rPr>
              <a:t>  </a:t>
            </a:r>
            <a:r>
              <a:rPr lang="en-US" sz="2400" b="1" i="1" dirty="0">
                <a:latin typeface="Times New Roman" panose="02020603050405020304" pitchFamily="18" charset="0"/>
                <a:ea typeface="Calibri" panose="020F0502020204030204" charset="0"/>
                <a:cs typeface="Times New Roman" panose="02020603050405020304" pitchFamily="18" charset="0"/>
              </a:rPr>
              <a:t>Pharmacy:</a:t>
            </a:r>
            <a:r>
              <a:rPr lang="en-US" sz="2400" b="1" dirty="0">
                <a:latin typeface="Times New Roman" panose="02020603050405020304" pitchFamily="18" charset="0"/>
                <a:ea typeface="Calibri" panose="020F0502020204030204" charset="0"/>
                <a:cs typeface="Times New Roman" panose="02020603050405020304" pitchFamily="18" charset="0"/>
              </a:rPr>
              <a:t> - </a:t>
            </a:r>
            <a:r>
              <a:rPr lang="en-US" sz="2400" dirty="0">
                <a:latin typeface="Times New Roman" panose="02020603050405020304" pitchFamily="18" charset="0"/>
                <a:ea typeface="Calibri" panose="020F0502020204030204" charset="0"/>
                <a:cs typeface="Times New Roman" panose="02020603050405020304" pitchFamily="18" charset="0"/>
              </a:rPr>
              <a:t>The art of preparing and dispensing drugs.</a:t>
            </a:r>
            <a:endParaRPr lang="fr-FR" sz="2400" dirty="0">
              <a:latin typeface="Calibri" panose="020F0502020204030204" charset="0"/>
              <a:ea typeface="Calibri" panose="020F0502020204030204" charset="0"/>
              <a:cs typeface="Times New Roman" panose="02020603050405020304" pitchFamily="18" charset="0"/>
            </a:endParaRPr>
          </a:p>
          <a:p>
            <a:pPr marL="0" marR="0">
              <a:lnSpc>
                <a:spcPct val="150000"/>
              </a:lnSpc>
              <a:spcBef>
                <a:spcPts val="0"/>
              </a:spcBef>
              <a:spcAft>
                <a:spcPts val="0"/>
              </a:spcAft>
            </a:pPr>
            <a:r>
              <a:rPr lang="en-US" sz="2400" dirty="0">
                <a:latin typeface="Times New Roman" panose="02020603050405020304" pitchFamily="18" charset="0"/>
                <a:ea typeface="Calibri" panose="020F0502020204030204" charset="0"/>
                <a:cs typeface="Times New Roman" panose="02020603050405020304" pitchFamily="18" charset="0"/>
              </a:rPr>
              <a:t>- A place where drugs are sold; a drugstore.                                                                   </a:t>
            </a:r>
            <a:r>
              <a:rPr lang="en-US" sz="2400" b="1" i="1" dirty="0">
                <a:latin typeface="Times New Roman" panose="02020603050405020304" pitchFamily="18" charset="0"/>
                <a:ea typeface="Calibri" panose="020F0502020204030204" charset="0"/>
                <a:cs typeface="Times New Roman" panose="02020603050405020304" pitchFamily="18" charset="0"/>
              </a:rPr>
              <a:t>Active principle:</a:t>
            </a:r>
            <a:r>
              <a:rPr lang="en-US" sz="2400" i="1" dirty="0">
                <a:latin typeface="Times New Roman" panose="02020603050405020304" pitchFamily="18" charset="0"/>
                <a:ea typeface="Calibri" panose="020F0502020204030204" charset="0"/>
                <a:cs typeface="Times New Roman" panose="02020603050405020304" pitchFamily="18" charset="0"/>
              </a:rPr>
              <a:t> A</a:t>
            </a:r>
            <a:r>
              <a:rPr lang="en-US" sz="2400" dirty="0">
                <a:latin typeface="Times New Roman" panose="02020603050405020304" pitchFamily="18" charset="0"/>
                <a:ea typeface="Calibri" panose="020F0502020204030204" charset="0"/>
                <a:cs typeface="Times New Roman" panose="02020603050405020304" pitchFamily="18" charset="0"/>
              </a:rPr>
              <a:t>n ingredient of a </a:t>
            </a:r>
            <a:r>
              <a:rPr lang="en-US" sz="2400" i="1" dirty="0">
                <a:latin typeface="Times New Roman" panose="02020603050405020304" pitchFamily="18" charset="0"/>
                <a:ea typeface="Calibri" panose="020F0502020204030204" charset="0"/>
                <a:cs typeface="Times New Roman" panose="02020603050405020304" pitchFamily="18" charset="0"/>
              </a:rPr>
              <a:t>drug</a:t>
            </a:r>
            <a:r>
              <a:rPr lang="en-US" sz="2400" dirty="0">
                <a:latin typeface="Times New Roman" panose="02020603050405020304" pitchFamily="18" charset="0"/>
                <a:ea typeface="Calibri" panose="020F0502020204030204" charset="0"/>
                <a:cs typeface="Times New Roman" panose="02020603050405020304" pitchFamily="18" charset="0"/>
              </a:rPr>
              <a:t> that is actively involved in its therapeutic             </a:t>
            </a:r>
          </a:p>
          <a:p>
            <a:pPr marL="0" marR="0">
              <a:lnSpc>
                <a:spcPct val="150000"/>
              </a:lnSpc>
              <a:spcBef>
                <a:spcPts val="0"/>
              </a:spcBef>
              <a:spcAft>
                <a:spcPts val="0"/>
              </a:spcAft>
            </a:pPr>
            <a:r>
              <a:rPr lang="en-US" sz="2400" dirty="0">
                <a:latin typeface="Times New Roman" panose="02020603050405020304" pitchFamily="18" charset="0"/>
                <a:ea typeface="Calibri" panose="020F0502020204030204" charset="0"/>
                <a:cs typeface="Times New Roman" panose="02020603050405020304" pitchFamily="18" charset="0"/>
              </a:rPr>
              <a:t>       </a:t>
            </a:r>
            <a:r>
              <a:rPr lang="en-US" sz="2400" b="1" i="1" dirty="0">
                <a:latin typeface="Times New Roman" panose="02020603050405020304" pitchFamily="18" charset="0"/>
                <a:ea typeface="Calibri" panose="020F0502020204030204" charset="0"/>
                <a:cs typeface="Times New Roman" panose="02020603050405020304" pitchFamily="18" charset="0"/>
              </a:rPr>
              <a:t>Excipient:</a:t>
            </a:r>
            <a:r>
              <a:rPr lang="en-US" sz="2400" b="1" dirty="0">
                <a:latin typeface="Times New Roman" panose="02020603050405020304" pitchFamily="18" charset="0"/>
                <a:ea typeface="Calibri" panose="020F0502020204030204" charset="0"/>
                <a:cs typeface="Times New Roman" panose="02020603050405020304" pitchFamily="18" charset="0"/>
              </a:rPr>
              <a:t> </a:t>
            </a:r>
            <a:r>
              <a:rPr lang="en-US" sz="2400" dirty="0">
                <a:latin typeface="Times New Roman" panose="02020603050405020304" pitchFamily="18" charset="0"/>
                <a:ea typeface="Calibri" panose="020F0502020204030204" charset="0"/>
                <a:cs typeface="Times New Roman" panose="02020603050405020304" pitchFamily="18" charset="0"/>
              </a:rPr>
              <a:t>An inert substance used as a diluent or vehicle for a drug.                                             </a:t>
            </a:r>
          </a:p>
          <a:p>
            <a:pPr marL="0" marR="0" indent="0">
              <a:spcBef>
                <a:spcPts val="0"/>
              </a:spcBef>
              <a:spcAft>
                <a:spcPts val="0"/>
              </a:spcAft>
              <a:buNone/>
            </a:pPr>
            <a:endParaRPr lang="fr-FR" dirty="0">
              <a:latin typeface="Calibri" panose="020F0502020204030204" charset="0"/>
              <a:ea typeface="Calibri" panose="020F0502020204030204" charset="0"/>
              <a:cs typeface="Times New Roman" panose="02020603050405020304" pitchFamily="18" charset="0"/>
            </a:endParaRPr>
          </a:p>
          <a:p>
            <a:endParaRPr lang="fr-FR"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8096" y="533400"/>
            <a:ext cx="7290055" cy="5775960"/>
          </a:xfrm>
        </p:spPr>
        <p:txBody>
          <a:bodyPr/>
          <a:lstStyle/>
          <a:p>
            <a:pPr marL="0" lvl="0">
              <a:lnSpc>
                <a:spcPct val="200000"/>
              </a:lnSpc>
              <a:spcBef>
                <a:spcPts val="0"/>
              </a:spcBef>
              <a:spcAft>
                <a:spcPts val="0"/>
              </a:spcAft>
              <a:buClr>
                <a:srgbClr val="1CADE4"/>
              </a:buClr>
            </a:pPr>
            <a:r>
              <a:rPr lang="en-US" b="1" i="1" dirty="0">
                <a:solidFill>
                  <a:prstClr val="black"/>
                </a:solidFill>
                <a:latin typeface="Times New Roman" panose="02020603050405020304" pitchFamily="18" charset="0"/>
                <a:ea typeface="Calibri" panose="020F0502020204030204" charset="0"/>
                <a:cs typeface="Times New Roman" panose="02020603050405020304" pitchFamily="18" charset="0"/>
              </a:rPr>
              <a:t>Dosage:</a:t>
            </a:r>
            <a:r>
              <a:rPr lang="en-US" b="1" dirty="0">
                <a:solidFill>
                  <a:prstClr val="black"/>
                </a:solidFill>
                <a:latin typeface="Times New Roman" panose="02020603050405020304" pitchFamily="18" charset="0"/>
                <a:ea typeface="Calibri" panose="020F0502020204030204" charset="0"/>
                <a:cs typeface="Times New Roman" panose="02020603050405020304" pitchFamily="18" charset="0"/>
              </a:rPr>
              <a:t> </a:t>
            </a:r>
            <a:r>
              <a:rPr lang="en-US" dirty="0">
                <a:solidFill>
                  <a:prstClr val="black"/>
                </a:solidFill>
                <a:latin typeface="Times New Roman" panose="02020603050405020304" pitchFamily="18" charset="0"/>
                <a:ea typeface="Calibri" panose="020F0502020204030204" charset="0"/>
                <a:cs typeface="Times New Roman" panose="02020603050405020304" pitchFamily="18" charset="0"/>
              </a:rPr>
              <a:t>The quantity of an active principle (substance or radiation) taken in or absorbed at any one time                                                                                                                                                    </a:t>
            </a:r>
            <a:r>
              <a:rPr lang="en-US" b="1" dirty="0">
                <a:solidFill>
                  <a:prstClr val="black"/>
                </a:solidFill>
                <a:latin typeface="Times New Roman" panose="02020603050405020304" pitchFamily="18" charset="0"/>
                <a:ea typeface="Calibri" panose="020F0502020204030204" charset="0"/>
                <a:cs typeface="Times New Roman" panose="02020603050405020304" pitchFamily="18" charset="0"/>
              </a:rPr>
              <a:t>Dose: </a:t>
            </a:r>
            <a:r>
              <a:rPr lang="en-US" dirty="0">
                <a:solidFill>
                  <a:prstClr val="black"/>
                </a:solidFill>
                <a:latin typeface="Times New Roman" panose="02020603050405020304" pitchFamily="18" charset="0"/>
                <a:ea typeface="Calibri" panose="020F0502020204030204" charset="0"/>
                <a:cs typeface="Times New Roman" panose="02020603050405020304" pitchFamily="18" charset="0"/>
              </a:rPr>
              <a:t>a quantity of medicine prescribed to be taken at one time</a:t>
            </a:r>
            <a:endParaRPr lang="fr-FR" dirty="0">
              <a:solidFill>
                <a:prstClr val="black"/>
              </a:solidFill>
              <a:latin typeface="Calibri" panose="020F0502020204030204" charset="0"/>
              <a:ea typeface="Calibri" panose="020F0502020204030204" charset="0"/>
              <a:cs typeface="Times New Roman" panose="02020603050405020304" pitchFamily="18" charset="0"/>
            </a:endParaRPr>
          </a:p>
          <a:p>
            <a:pPr marL="0" lvl="0" indent="0">
              <a:lnSpc>
                <a:spcPct val="200000"/>
              </a:lnSpc>
              <a:spcBef>
                <a:spcPts val="0"/>
              </a:spcBef>
              <a:spcAft>
                <a:spcPts val="0"/>
              </a:spcAft>
              <a:buClr>
                <a:srgbClr val="1CADE4"/>
              </a:buClr>
              <a:buNone/>
            </a:pPr>
            <a:r>
              <a:rPr lang="en-US" b="1" i="1" dirty="0">
                <a:solidFill>
                  <a:prstClr val="black"/>
                </a:solidFill>
                <a:latin typeface="Times New Roman" panose="02020603050405020304" pitchFamily="18" charset="0"/>
                <a:ea typeface="Calibri" panose="020F0502020204030204" charset="0"/>
                <a:cs typeface="Times New Roman" panose="02020603050405020304" pitchFamily="18" charset="0"/>
              </a:rPr>
              <a:t>Pharmaceutical form:</a:t>
            </a:r>
            <a:r>
              <a:rPr lang="en-US" dirty="0">
                <a:solidFill>
                  <a:prstClr val="black"/>
                </a:solidFill>
                <a:latin typeface="Times New Roman" panose="02020603050405020304" pitchFamily="18" charset="0"/>
                <a:ea typeface="Calibri" panose="020F0502020204030204" charset="0"/>
                <a:cs typeface="Times New Roman" panose="02020603050405020304" pitchFamily="18" charset="0"/>
              </a:rPr>
              <a:t> is the combination of the form in which a medicinal product is presented by the manufacturer (form of presentation)                                                                                        </a:t>
            </a:r>
            <a:r>
              <a:rPr lang="en-US" b="1" i="1" dirty="0">
                <a:solidFill>
                  <a:prstClr val="black"/>
                </a:solidFill>
                <a:latin typeface="Times New Roman" panose="02020603050405020304" pitchFamily="18" charset="0"/>
                <a:ea typeface="Calibri" panose="020F0502020204030204" charset="0"/>
                <a:cs typeface="Times New Roman" panose="02020603050405020304" pitchFamily="18" charset="0"/>
              </a:rPr>
              <a:t>concentrated solution:</a:t>
            </a:r>
            <a:r>
              <a:rPr lang="en-US" b="1" dirty="0">
                <a:solidFill>
                  <a:prstClr val="black"/>
                </a:solidFill>
                <a:latin typeface="Times New Roman" panose="02020603050405020304" pitchFamily="18" charset="0"/>
                <a:ea typeface="Calibri" panose="020F0502020204030204" charset="0"/>
                <a:cs typeface="Times New Roman" panose="02020603050405020304" pitchFamily="18" charset="0"/>
              </a:rPr>
              <a:t> </a:t>
            </a:r>
            <a:r>
              <a:rPr lang="en-US" dirty="0">
                <a:solidFill>
                  <a:prstClr val="black"/>
                </a:solidFill>
                <a:latin typeface="Times New Roman" panose="02020603050405020304" pitchFamily="18" charset="0"/>
                <a:ea typeface="Calibri" panose="020F0502020204030204" charset="0"/>
                <a:cs typeface="Times New Roman" panose="02020603050405020304" pitchFamily="18" charset="0"/>
              </a:rPr>
              <a:t>solution that contains a large amount of solute relative to the amount that could dissolve</a:t>
            </a:r>
            <a:endParaRPr lang="fr-FR"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38200"/>
            <a:ext cx="7677151" cy="5471160"/>
          </a:xfrm>
        </p:spPr>
        <p:txBody>
          <a:bodyPr>
            <a:normAutofit fontScale="92500" lnSpcReduction="10000"/>
          </a:bodyPr>
          <a:lstStyle/>
          <a:p>
            <a:pPr marL="0" marR="0">
              <a:lnSpc>
                <a:spcPct val="150000"/>
              </a:lnSpc>
              <a:spcBef>
                <a:spcPts val="0"/>
              </a:spcBef>
              <a:spcAft>
                <a:spcPts val="0"/>
              </a:spcAft>
            </a:pPr>
            <a:r>
              <a:rPr lang="en-GB" b="1" dirty="0">
                <a:latin typeface="Times New Roman" panose="02020603050405020304" pitchFamily="18" charset="0"/>
                <a:ea typeface="Calibri" panose="020F0502020204030204" charset="0"/>
                <a:cs typeface="Times New Roman" panose="02020603050405020304" pitchFamily="18" charset="0"/>
              </a:rPr>
              <a:t>Medicine Nomenclature:</a:t>
            </a:r>
            <a:endParaRPr lang="fr-FR" dirty="0">
              <a:latin typeface="Calibri" panose="020F0502020204030204" charset="0"/>
              <a:ea typeface="Calibri" panose="020F0502020204030204" charset="0"/>
              <a:cs typeface="Times New Roman" panose="02020603050405020304" pitchFamily="18" charset="0"/>
            </a:endParaRPr>
          </a:p>
          <a:p>
            <a:pPr>
              <a:lnSpc>
                <a:spcPct val="150000"/>
              </a:lnSpc>
              <a:spcBef>
                <a:spcPts val="0"/>
              </a:spcBef>
              <a:spcAft>
                <a:spcPts val="0"/>
              </a:spcAft>
              <a:buFont typeface="Arial" panose="020B0604020202020204" pitchFamily="34" charset="0"/>
              <a:buChar char="•"/>
            </a:pPr>
            <a:r>
              <a:rPr lang="en-GB" b="1" i="1" dirty="0">
                <a:latin typeface="Times New Roman" panose="02020603050405020304" pitchFamily="18" charset="0"/>
                <a:ea typeface="Calibri" panose="020F0502020204030204" charset="0"/>
                <a:cs typeface="Times New Roman" panose="02020603050405020304" pitchFamily="18" charset="0"/>
              </a:rPr>
              <a:t>Brand name:</a:t>
            </a:r>
            <a:r>
              <a:rPr lang="en-GB" dirty="0">
                <a:latin typeface="Times New Roman" panose="02020603050405020304" pitchFamily="18" charset="0"/>
                <a:ea typeface="Calibri" panose="020F0502020204030204" charset="0"/>
                <a:cs typeface="Times New Roman" panose="02020603050405020304" pitchFamily="18" charset="0"/>
              </a:rPr>
              <a:t>  given by the manufacturer: branded generics are generic pharmaceutical products marketed under brand names.</a:t>
            </a:r>
            <a:r>
              <a:rPr lang="en-US" dirty="0">
                <a:latin typeface="Times New Roman" panose="02020603050405020304" pitchFamily="18" charset="0"/>
                <a:ea typeface="Calibri" panose="020F0502020204030204" charset="0"/>
                <a:cs typeface="Times New Roman" panose="02020603050405020304" pitchFamily="18" charset="0"/>
              </a:rPr>
              <a:t>                                                                                                                   </a:t>
            </a:r>
            <a:r>
              <a:rPr lang="en-GB" b="1" i="1" dirty="0">
                <a:latin typeface="Times New Roman" panose="02020603050405020304" pitchFamily="18" charset="0"/>
                <a:ea typeface="Calibri" panose="020F0502020204030204" charset="0"/>
                <a:cs typeface="Times New Roman" panose="02020603050405020304" pitchFamily="18" charset="0"/>
              </a:rPr>
              <a:t>Generic name</a:t>
            </a:r>
            <a:r>
              <a:rPr lang="en-GB" dirty="0">
                <a:latin typeface="Times New Roman" panose="02020603050405020304" pitchFamily="18" charset="0"/>
                <a:ea typeface="Calibri" panose="020F0502020204030204" charset="0"/>
                <a:cs typeface="Times New Roman" panose="02020603050405020304" pitchFamily="18" charset="0"/>
              </a:rPr>
              <a:t> is the approved or non proprietary name of a drug. </a:t>
            </a:r>
          </a:p>
          <a:p>
            <a:pPr marL="0" marR="0" indent="0">
              <a:lnSpc>
                <a:spcPct val="150000"/>
              </a:lnSpc>
              <a:spcBef>
                <a:spcPts val="0"/>
              </a:spcBef>
              <a:spcAft>
                <a:spcPts val="0"/>
              </a:spcAft>
              <a:buNone/>
            </a:pPr>
            <a:r>
              <a:rPr lang="en-GB" dirty="0">
                <a:latin typeface="Times New Roman" panose="02020603050405020304" pitchFamily="18" charset="0"/>
                <a:ea typeface="Calibri" panose="020F0502020204030204" charset="0"/>
                <a:cs typeface="Times New Roman" panose="02020603050405020304" pitchFamily="18" charset="0"/>
              </a:rPr>
              <a:t>It is generally the international non proprietary name given by the WHO.  Generic pharmaceutical products are products marketed by any producer under non proprietary or approved names.</a:t>
            </a:r>
            <a:r>
              <a:rPr lang="en-US" b="1" dirty="0">
                <a:latin typeface="Times New Roman" panose="02020603050405020304" pitchFamily="18" charset="0"/>
                <a:cs typeface="Times New Roman" panose="02020603050405020304" pitchFamily="18" charset="0"/>
              </a:rPr>
              <a:t>              </a:t>
            </a:r>
          </a:p>
          <a:p>
            <a:pPr marR="0">
              <a:lnSpc>
                <a:spcPct val="150000"/>
              </a:lnSpc>
              <a:spcBef>
                <a:spcPts val="0"/>
              </a:spcBef>
              <a:spcAft>
                <a:spcPts val="0"/>
              </a:spcAft>
              <a:buFont typeface="Arial" panose="020B0604020202020204" pitchFamily="34" charset="0"/>
              <a:buChar char="•"/>
            </a:pPr>
            <a:r>
              <a:rPr lang="en-US" b="1" i="1" dirty="0">
                <a:latin typeface="Times New Roman" panose="02020603050405020304" pitchFamily="18" charset="0"/>
                <a:ea typeface="Calibri" panose="020F0502020204030204" charset="0"/>
                <a:cs typeface="Times New Roman" panose="02020603050405020304" pitchFamily="18" charset="0"/>
              </a:rPr>
              <a:t>The chemical name</a:t>
            </a:r>
            <a:r>
              <a:rPr lang="en-US" b="1" dirty="0">
                <a:latin typeface="Times New Roman" panose="02020603050405020304" pitchFamily="18" charset="0"/>
                <a:ea typeface="Calibri" panose="020F0502020204030204" charset="0"/>
                <a:cs typeface="Times New Roman" panose="02020603050405020304" pitchFamily="18" charset="0"/>
              </a:rPr>
              <a:t> </a:t>
            </a:r>
            <a:r>
              <a:rPr lang="en-US" dirty="0">
                <a:latin typeface="Times New Roman" panose="02020603050405020304" pitchFamily="18" charset="0"/>
                <a:ea typeface="Calibri" panose="020F0502020204030204" charset="0"/>
                <a:cs typeface="Times New Roman" panose="02020603050405020304" pitchFamily="18" charset="0"/>
              </a:rPr>
              <a:t>is assigned according to rules of nomenclature of chemical compounds     </a:t>
            </a:r>
          </a:p>
          <a:p>
            <a:pPr marR="0">
              <a:lnSpc>
                <a:spcPct val="150000"/>
              </a:lnSpc>
              <a:spcBef>
                <a:spcPts val="0"/>
              </a:spcBef>
              <a:spcAft>
                <a:spcPts val="0"/>
              </a:spcAft>
              <a:buFont typeface="Arial" panose="020B0604020202020204" pitchFamily="34" charset="0"/>
              <a:buChar char="•"/>
            </a:pPr>
            <a:r>
              <a:rPr lang="en-GB" b="1" dirty="0">
                <a:latin typeface="Times New Roman" panose="02020603050405020304" pitchFamily="18" charset="0"/>
                <a:ea typeface="Calibri" panose="020F0502020204030204" charset="0"/>
                <a:cs typeface="Times New Roman" panose="02020603050405020304" pitchFamily="18" charset="0"/>
              </a:rPr>
              <a:t>Essential drugs (</a:t>
            </a:r>
            <a:r>
              <a:rPr lang="en-GB" b="1" i="1" dirty="0">
                <a:latin typeface="Times New Roman" panose="02020603050405020304" pitchFamily="18" charset="0"/>
                <a:ea typeface="Calibri" panose="020F0502020204030204" charset="0"/>
                <a:cs typeface="Times New Roman" panose="02020603050405020304" pitchFamily="18" charset="0"/>
              </a:rPr>
              <a:t>formulary list</a:t>
            </a:r>
            <a:r>
              <a:rPr lang="en-GB" b="1" dirty="0">
                <a:latin typeface="Times New Roman" panose="02020603050405020304" pitchFamily="18" charset="0"/>
                <a:ea typeface="Calibri" panose="020F0502020204030204" charset="0"/>
                <a:cs typeface="Times New Roman" panose="02020603050405020304" pitchFamily="18" charset="0"/>
              </a:rPr>
              <a:t>): </a:t>
            </a:r>
            <a:r>
              <a:rPr lang="en-GB" dirty="0">
                <a:latin typeface="Times New Roman" panose="02020603050405020304" pitchFamily="18" charset="0"/>
                <a:ea typeface="Calibri" panose="020F0502020204030204" charset="0"/>
                <a:cs typeface="Times New Roman" panose="02020603050405020304" pitchFamily="18" charset="0"/>
              </a:rPr>
              <a:t>are those drugs that satisfy the priority health care needs of the population. In other words, they are those drugs that are relevant to the common diseases of the majority of the population in a country or community.</a:t>
            </a:r>
            <a:endParaRPr lang="fr-FR" dirty="0">
              <a:latin typeface="Calibri" panose="020F0502020204030204" charset="0"/>
              <a:ea typeface="Calibri" panose="020F0502020204030204" charset="0"/>
              <a:cs typeface="Times New Roman" panose="02020603050405020304" pitchFamily="18" charset="0"/>
            </a:endParaRPr>
          </a:p>
          <a:p>
            <a:endParaRPr lang="fr-FR"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8096" y="914400"/>
            <a:ext cx="7290055" cy="5394960"/>
          </a:xfrm>
        </p:spPr>
        <p:txBody>
          <a:bodyPr>
            <a:normAutofit/>
          </a:bodyPr>
          <a:lstStyle/>
          <a:p>
            <a:pPr marL="0" marR="0">
              <a:lnSpc>
                <a:spcPct val="150000"/>
              </a:lnSpc>
              <a:spcBef>
                <a:spcPts val="0"/>
              </a:spcBef>
              <a:spcAft>
                <a:spcPts val="0"/>
              </a:spcAft>
            </a:pPr>
            <a:r>
              <a:rPr lang="en-GB" b="1" dirty="0">
                <a:latin typeface="Times New Roman" panose="02020603050405020304" pitchFamily="18" charset="0"/>
                <a:ea typeface="Calibri" panose="020F0502020204030204" charset="0"/>
                <a:cs typeface="Times New Roman" panose="02020603050405020304" pitchFamily="18" charset="0"/>
              </a:rPr>
              <a:t>Qualities of essential drugs:</a:t>
            </a:r>
            <a:endParaRPr lang="fr-FR" dirty="0">
              <a:latin typeface="Calibri" panose="020F0502020204030204" charset="0"/>
              <a:ea typeface="Calibri" panose="020F0502020204030204" charset="0"/>
              <a:cs typeface="Times New Roman" panose="02020603050405020304" pitchFamily="18" charset="0"/>
            </a:endParaRPr>
          </a:p>
          <a:p>
            <a:pPr marL="342900" marR="0" lvl="0" indent="-342900">
              <a:lnSpc>
                <a:spcPct val="150000"/>
              </a:lnSpc>
              <a:spcBef>
                <a:spcPts val="0"/>
              </a:spcBef>
              <a:spcAft>
                <a:spcPts val="0"/>
              </a:spcAft>
              <a:buFont typeface="Wingdings" panose="05000000000000000000" pitchFamily="2" charset="2"/>
              <a:buChar char=""/>
            </a:pPr>
            <a:r>
              <a:rPr lang="en-GB" b="1" i="1" dirty="0">
                <a:latin typeface="Times New Roman" panose="02020603050405020304" pitchFamily="18" charset="0"/>
                <a:ea typeface="Calibri" panose="020F0502020204030204" charset="0"/>
                <a:cs typeface="Times New Roman" panose="02020603050405020304" pitchFamily="18" charset="0"/>
              </a:rPr>
              <a:t>Effectiveness: </a:t>
            </a:r>
            <a:r>
              <a:rPr lang="en-US" b="1" i="1" dirty="0">
                <a:latin typeface="Times New Roman" panose="02020603050405020304" pitchFamily="18" charset="0"/>
                <a:ea typeface="Calibri" panose="020F0502020204030204" charset="0"/>
                <a:cs typeface="Times New Roman" panose="02020603050405020304" pitchFamily="18" charset="0"/>
              </a:rPr>
              <a:t>                                                                                                                                        </a:t>
            </a:r>
            <a:r>
              <a:rPr lang="en-GB" dirty="0">
                <a:latin typeface="Times New Roman" panose="02020603050405020304" pitchFamily="18" charset="0"/>
                <a:ea typeface="Calibri" panose="020F0502020204030204" charset="0"/>
                <a:cs typeface="Times New Roman" panose="02020603050405020304" pitchFamily="18" charset="0"/>
              </a:rPr>
              <a:t>An effective drug is one that can cure the disease it’s prescribed for.  There are many drugs on the market, which are said to be effective and yet they are not.</a:t>
            </a:r>
            <a:endParaRPr lang="fr-FR" dirty="0">
              <a:latin typeface="Calibri" panose="020F0502020204030204" charset="0"/>
              <a:ea typeface="Calibri" panose="020F0502020204030204" charset="0"/>
              <a:cs typeface="Times New Roman" panose="02020603050405020304" pitchFamily="18" charset="0"/>
            </a:endParaRPr>
          </a:p>
          <a:p>
            <a:pPr marL="228600" marR="0">
              <a:lnSpc>
                <a:spcPct val="150000"/>
              </a:lnSpc>
              <a:spcBef>
                <a:spcPts val="0"/>
              </a:spcBef>
              <a:spcAft>
                <a:spcPts val="0"/>
              </a:spcAft>
            </a:pPr>
            <a:r>
              <a:rPr lang="en-GB" dirty="0">
                <a:latin typeface="Times New Roman" panose="02020603050405020304" pitchFamily="18" charset="0"/>
                <a:ea typeface="Calibri" panose="020F0502020204030204" charset="0"/>
                <a:cs typeface="Times New Roman" panose="02020603050405020304" pitchFamily="18" charset="0"/>
              </a:rPr>
              <a:t>For example.</a:t>
            </a:r>
            <a:r>
              <a:rPr lang="en-GB" b="1" dirty="0">
                <a:latin typeface="Times New Roman" panose="02020603050405020304" pitchFamily="18" charset="0"/>
                <a:ea typeface="Calibri" panose="020F0502020204030204" charset="0"/>
                <a:cs typeface="Times New Roman" panose="02020603050405020304" pitchFamily="18" charset="0"/>
              </a:rPr>
              <a:t> </a:t>
            </a:r>
            <a:r>
              <a:rPr lang="en-GB" dirty="0">
                <a:latin typeface="Times New Roman" panose="02020603050405020304" pitchFamily="18" charset="0"/>
                <a:ea typeface="Calibri" panose="020F0502020204030204" charset="0"/>
                <a:cs typeface="Times New Roman" panose="02020603050405020304" pitchFamily="18" charset="0"/>
              </a:rPr>
              <a:t>Ascorbic acid (vitamin C) tablets BP are said to be effective against the common cold.  However, scientific experience shows that this is not true.</a:t>
            </a:r>
            <a:endParaRPr lang="fr-FR" dirty="0">
              <a:latin typeface="Calibri" panose="020F0502020204030204" charset="0"/>
              <a:ea typeface="Calibri" panose="020F0502020204030204" charset="0"/>
              <a:cs typeface="Times New Roman" panose="02020603050405020304" pitchFamily="18" charset="0"/>
            </a:endParaRPr>
          </a:p>
          <a:p>
            <a:pPr marL="228600" marR="0">
              <a:lnSpc>
                <a:spcPct val="150000"/>
              </a:lnSpc>
              <a:spcBef>
                <a:spcPts val="0"/>
              </a:spcBef>
              <a:spcAft>
                <a:spcPts val="0"/>
              </a:spcAft>
            </a:pPr>
            <a:r>
              <a:rPr lang="en-GB" dirty="0">
                <a:latin typeface="Times New Roman" panose="02020603050405020304" pitchFamily="18" charset="0"/>
                <a:ea typeface="Calibri" panose="020F0502020204030204" charset="0"/>
                <a:cs typeface="Times New Roman" panose="02020603050405020304" pitchFamily="18" charset="0"/>
              </a:rPr>
              <a:t>On the other hand, drugs like quinine which treat malaria effectively qualify to be called Essential Drugs.</a:t>
            </a:r>
            <a:endParaRPr lang="fr-FR" dirty="0">
              <a:latin typeface="Calibri" panose="020F0502020204030204" charset="0"/>
              <a:ea typeface="Calibri" panose="020F0502020204030204" charset="0"/>
              <a:cs typeface="Times New Roman" panose="02020603050405020304" pitchFamily="18" charset="0"/>
            </a:endParaRPr>
          </a:p>
          <a:p>
            <a:endParaRPr lang="fr-FR"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457200"/>
            <a:ext cx="7448551" cy="6172200"/>
          </a:xfrm>
        </p:spPr>
        <p:txBody>
          <a:bodyPr>
            <a:normAutofit/>
          </a:bodyPr>
          <a:lstStyle/>
          <a:p>
            <a:pPr marL="342900" lvl="0" indent="-342900">
              <a:lnSpc>
                <a:spcPct val="150000"/>
              </a:lnSpc>
              <a:spcBef>
                <a:spcPts val="0"/>
              </a:spcBef>
              <a:spcAft>
                <a:spcPts val="1000"/>
              </a:spcAft>
              <a:buClr>
                <a:srgbClr val="1CADE4"/>
              </a:buClr>
              <a:buFont typeface="Wingdings" panose="05000000000000000000" pitchFamily="2" charset="2"/>
              <a:buChar char=""/>
            </a:pPr>
            <a:r>
              <a:rPr lang="en-GB" b="1" i="1" dirty="0">
                <a:solidFill>
                  <a:prstClr val="black"/>
                </a:solidFill>
                <a:latin typeface="Times New Roman" panose="02020603050405020304" pitchFamily="18" charset="0"/>
                <a:ea typeface="Calibri" panose="020F0502020204030204" charset="0"/>
                <a:cs typeface="Times New Roman" panose="02020603050405020304" pitchFamily="18" charset="0"/>
              </a:rPr>
              <a:t>Safety</a:t>
            </a:r>
            <a:r>
              <a:rPr lang="en-US" b="1" i="1" dirty="0">
                <a:solidFill>
                  <a:prstClr val="black"/>
                </a:solidFill>
                <a:latin typeface="Times New Roman" panose="02020603050405020304" pitchFamily="18" charset="0"/>
                <a:ea typeface="Calibri" panose="020F0502020204030204" charset="0"/>
                <a:cs typeface="Times New Roman" panose="02020603050405020304" pitchFamily="18" charset="0"/>
              </a:rPr>
              <a:t>:</a:t>
            </a:r>
            <a:r>
              <a:rPr lang="en-GB" dirty="0">
                <a:solidFill>
                  <a:prstClr val="black"/>
                </a:solidFill>
                <a:latin typeface="Times New Roman" panose="02020603050405020304" pitchFamily="18" charset="0"/>
                <a:ea typeface="Calibri" panose="020F0502020204030204" charset="0"/>
                <a:cs typeface="Times New Roman" panose="02020603050405020304" pitchFamily="18" charset="0"/>
              </a:rPr>
              <a:t>                                                                                                                                                                  An Essential Drug must be safe to be used by the majority of patients.  All drugs are toxic if the necessary care is not taken.  Some drugs that are effective may also be very unsafe for some patients.</a:t>
            </a:r>
            <a:endParaRPr lang="fr-FR" dirty="0">
              <a:solidFill>
                <a:prstClr val="black"/>
              </a:solidFill>
              <a:latin typeface="Calibri" panose="020F0502020204030204" charset="0"/>
              <a:ea typeface="Calibri" panose="020F0502020204030204" charset="0"/>
              <a:cs typeface="Times New Roman" panose="02020603050405020304" pitchFamily="18" charset="0"/>
            </a:endParaRPr>
          </a:p>
          <a:p>
            <a:pPr marL="342900" lvl="0" indent="-342900">
              <a:lnSpc>
                <a:spcPct val="150000"/>
              </a:lnSpc>
              <a:spcBef>
                <a:spcPts val="0"/>
              </a:spcBef>
              <a:spcAft>
                <a:spcPts val="1000"/>
              </a:spcAft>
              <a:buClr>
                <a:srgbClr val="1CADE4"/>
              </a:buClr>
              <a:buFont typeface="Wingdings" panose="05000000000000000000" pitchFamily="2" charset="2"/>
              <a:buChar char=""/>
            </a:pPr>
            <a:r>
              <a:rPr lang="en-GB" b="1" i="1" dirty="0">
                <a:solidFill>
                  <a:prstClr val="black"/>
                </a:solidFill>
                <a:latin typeface="Times New Roman" panose="02020603050405020304" pitchFamily="18" charset="0"/>
                <a:ea typeface="Calibri" panose="020F0502020204030204" charset="0"/>
                <a:cs typeface="Times New Roman" panose="02020603050405020304" pitchFamily="18" charset="0"/>
              </a:rPr>
              <a:t>Good quality</a:t>
            </a:r>
            <a:r>
              <a:rPr lang="en-US" b="1" i="1" dirty="0">
                <a:solidFill>
                  <a:prstClr val="black"/>
                </a:solidFill>
                <a:latin typeface="Times New Roman" panose="02020603050405020304" pitchFamily="18" charset="0"/>
                <a:ea typeface="Calibri" panose="020F0502020204030204" charset="0"/>
                <a:cs typeface="Times New Roman" panose="02020603050405020304" pitchFamily="18" charset="0"/>
              </a:rPr>
              <a:t>:                                                                                                                                                  </a:t>
            </a:r>
            <a:r>
              <a:rPr lang="en-US" b="1" dirty="0">
                <a:solidFill>
                  <a:prstClr val="black"/>
                </a:solidFill>
                <a:latin typeface="Times New Roman" panose="02020603050405020304" pitchFamily="18" charset="0"/>
                <a:ea typeface="Calibri" panose="020F0502020204030204" charset="0"/>
                <a:cs typeface="Times New Roman" panose="02020603050405020304" pitchFamily="18" charset="0"/>
              </a:rPr>
              <a:t> </a:t>
            </a:r>
            <a:r>
              <a:rPr lang="en-GB" dirty="0">
                <a:solidFill>
                  <a:prstClr val="black"/>
                </a:solidFill>
                <a:latin typeface="Times New Roman" panose="02020603050405020304" pitchFamily="18" charset="0"/>
                <a:ea typeface="Calibri" panose="020F0502020204030204" charset="0"/>
                <a:cs typeface="Times New Roman" panose="02020603050405020304" pitchFamily="18" charset="0"/>
              </a:rPr>
              <a:t>An essential drug must be of good quality.  A drug can be effective and safe but may be spoilt easily during handling or when improperly stored. Some Acetylsalicylic acid (Aspirin) tablets BP easily crumble into powder when exposed to a humid atmosphere.  Others are so hard that they pass through our digestive system intact! This implies no absorption took place.</a:t>
            </a:r>
            <a:endParaRPr lang="fr-FR" dirty="0">
              <a:solidFill>
                <a:prstClr val="black"/>
              </a:solidFill>
              <a:latin typeface="Calibri" panose="020F0502020204030204" charset="0"/>
              <a:ea typeface="Calibri" panose="020F0502020204030204" charset="0"/>
              <a:cs typeface="Times New Roman" panose="02020603050405020304" pitchFamily="18" charset="0"/>
            </a:endParaRPr>
          </a:p>
          <a:p>
            <a:endParaRPr lang="fr-FR"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8096" y="762000"/>
            <a:ext cx="7290055" cy="5547360"/>
          </a:xfrm>
        </p:spPr>
        <p:txBody>
          <a:bodyPr>
            <a:normAutofit/>
          </a:bodyPr>
          <a:lstStyle/>
          <a:p>
            <a:pPr marL="342900" lvl="0" indent="-342900">
              <a:spcBef>
                <a:spcPts val="0"/>
              </a:spcBef>
              <a:spcAft>
                <a:spcPts val="0"/>
              </a:spcAft>
              <a:buFont typeface="Wingdings" panose="05000000000000000000" pitchFamily="2" charset="2"/>
              <a:buChar char=""/>
            </a:pPr>
            <a:r>
              <a:rPr lang="en-GB" b="1" i="1" dirty="0">
                <a:latin typeface="Times New Roman" panose="02020603050405020304" pitchFamily="18" charset="0"/>
              </a:rPr>
              <a:t>Few side effects</a:t>
            </a:r>
            <a:r>
              <a:rPr lang="en-GB" b="1" i="1" dirty="0">
                <a:latin typeface="Times New Roman" panose="02020603050405020304" pitchFamily="18" charset="0"/>
                <a:ea typeface="Times New Roman" panose="02020603050405020304" pitchFamily="18" charset="0"/>
              </a:rPr>
              <a:t>:</a:t>
            </a:r>
            <a:endParaRPr lang="fr-FR" dirty="0">
              <a:latin typeface="Arial" panose="020B0604020202020204" pitchFamily="34" charset="0"/>
              <a:ea typeface="Times New Roman" panose="02020603050405020304" pitchFamily="18" charset="0"/>
            </a:endParaRPr>
          </a:p>
          <a:p>
            <a:pPr marL="228600">
              <a:spcBef>
                <a:spcPts val="0"/>
              </a:spcBef>
              <a:spcAft>
                <a:spcPts val="0"/>
              </a:spcAft>
            </a:pPr>
            <a:r>
              <a:rPr lang="en-GB" dirty="0">
                <a:latin typeface="Times New Roman" panose="02020603050405020304" pitchFamily="18" charset="0"/>
                <a:ea typeface="Times New Roman" panose="02020603050405020304" pitchFamily="18" charset="0"/>
              </a:rPr>
              <a:t>Essential drugs should have minimal side effects if they are given in the right dosage for the correct diagnosis.  Almost all drugs have side effects.  Some are severe, others are mild.  Severe side effects include bone narrow depression caused by </a:t>
            </a:r>
            <a:r>
              <a:rPr lang="en-GB" dirty="0" err="1">
                <a:latin typeface="Times New Roman" panose="02020603050405020304" pitchFamily="18" charset="0"/>
                <a:ea typeface="Times New Roman" panose="02020603050405020304" pitchFamily="18" charset="0"/>
              </a:rPr>
              <a:t>chloramphemicol</a:t>
            </a:r>
            <a:r>
              <a:rPr lang="en-GB" dirty="0">
                <a:latin typeface="Times New Roman" panose="02020603050405020304" pitchFamily="18" charset="0"/>
                <a:ea typeface="Times New Roman" panose="02020603050405020304" pitchFamily="18" charset="0"/>
              </a:rPr>
              <a:t>, which is the best drug for the treatment of typhoid.</a:t>
            </a:r>
          </a:p>
          <a:p>
            <a:pPr marL="228600">
              <a:spcBef>
                <a:spcPts val="0"/>
              </a:spcBef>
              <a:spcAft>
                <a:spcPts val="0"/>
              </a:spcAft>
            </a:pPr>
            <a:r>
              <a:rPr lang="en-GB" dirty="0">
                <a:latin typeface="Times New Roman" panose="02020603050405020304" pitchFamily="18" charset="0"/>
                <a:ea typeface="Times New Roman" panose="02020603050405020304" pitchFamily="18" charset="0"/>
              </a:rPr>
              <a:t>This drug should, therefore, only be used when it’s very necessary.  Furthermore, allergy to Penicillin can be mild to severe and yet Penicillin is also a very useful drug.</a:t>
            </a:r>
            <a:endParaRPr lang="fr-FR" dirty="0">
              <a:latin typeface="Arial" panose="020B0604020202020204" pitchFamily="34" charset="0"/>
              <a:ea typeface="Times New Roman" panose="02020603050405020304" pitchFamily="18" charset="0"/>
            </a:endParaRPr>
          </a:p>
          <a:p>
            <a:pPr marL="342900" marR="0" lvl="0" indent="-342900">
              <a:lnSpc>
                <a:spcPct val="115000"/>
              </a:lnSpc>
              <a:spcBef>
                <a:spcPts val="0"/>
              </a:spcBef>
              <a:spcAft>
                <a:spcPts val="1000"/>
              </a:spcAft>
              <a:buFont typeface="Wingdings" panose="05000000000000000000" pitchFamily="2" charset="2"/>
              <a:buChar char=""/>
            </a:pPr>
            <a:r>
              <a:rPr lang="en-GB" b="1" i="1" dirty="0">
                <a:latin typeface="Times New Roman" panose="02020603050405020304" pitchFamily="18" charset="0"/>
                <a:ea typeface="Calibri" panose="020F0502020204030204" charset="0"/>
                <a:cs typeface="Times New Roman" panose="02020603050405020304" pitchFamily="18" charset="0"/>
              </a:rPr>
              <a:t>Affordable</a:t>
            </a:r>
            <a:r>
              <a:rPr lang="en-US" b="1" i="1" dirty="0">
                <a:latin typeface="Times New Roman" panose="02020603050405020304" pitchFamily="18" charset="0"/>
                <a:ea typeface="Calibri" panose="020F0502020204030204" charset="0"/>
                <a:cs typeface="Times New Roman" panose="02020603050405020304" pitchFamily="18" charset="0"/>
              </a:rPr>
              <a:t>                                                                                                                                                          </a:t>
            </a:r>
            <a:r>
              <a:rPr lang="en-GB" dirty="0">
                <a:latin typeface="Times New Roman" panose="02020603050405020304" pitchFamily="18" charset="0"/>
                <a:ea typeface="Calibri" panose="020F0502020204030204" charset="0"/>
                <a:cs typeface="Times New Roman" panose="02020603050405020304" pitchFamily="18" charset="0"/>
              </a:rPr>
              <a:t>An Essential Drug must be cheap to enable both the poor and the rich to afford it.  After all, one of the major problems in developing countries is lack of financial resources.  This may appear to be a contradiction between cheapness and good quality since we normally think that cheap things are not of good quality.</a:t>
            </a:r>
            <a:endParaRPr lang="fr-FR" dirty="0">
              <a:latin typeface="Calibri" panose="020F0502020204030204" charset="0"/>
              <a:ea typeface="Calibri" panose="020F0502020204030204" charset="0"/>
              <a:cs typeface="Times New Roman" panose="02020603050405020304" pitchFamily="18" charset="0"/>
            </a:endParaRPr>
          </a:p>
          <a:p>
            <a:endParaRPr lang="fr-FR"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8096" y="1143000"/>
            <a:ext cx="7290055" cy="5166360"/>
          </a:xfrm>
        </p:spPr>
        <p:txBody>
          <a:bodyPr/>
          <a:lstStyle/>
          <a:p>
            <a:pPr marL="0" marR="0" algn="just">
              <a:spcBef>
                <a:spcPts val="0"/>
              </a:spcBef>
              <a:spcAft>
                <a:spcPts val="0"/>
              </a:spcAft>
              <a:tabLst>
                <a:tab pos="2139950" algn="l"/>
              </a:tabLst>
            </a:pPr>
            <a:r>
              <a:rPr lang="en-GB" b="1" dirty="0">
                <a:latin typeface="Times New Roman" panose="02020603050405020304" pitchFamily="18" charset="0"/>
                <a:ea typeface="Calibri" panose="020F0502020204030204" charset="0"/>
                <a:cs typeface="Times New Roman" panose="02020603050405020304" pitchFamily="18" charset="0"/>
              </a:rPr>
              <a:t>The choice of such drugs depends on many factors, such as:</a:t>
            </a:r>
            <a:endParaRPr lang="fr-FR" dirty="0">
              <a:latin typeface="Calibri" panose="020F0502020204030204" charset="0"/>
              <a:ea typeface="Calibri" panose="020F0502020204030204" charset="0"/>
              <a:cs typeface="Times New Roman" panose="02020603050405020304" pitchFamily="18" charset="0"/>
            </a:endParaRPr>
          </a:p>
          <a:p>
            <a:pPr marL="342900" marR="0" lvl="0" indent="-342900" algn="just">
              <a:lnSpc>
                <a:spcPct val="115000"/>
              </a:lnSpc>
              <a:spcBef>
                <a:spcPts val="0"/>
              </a:spcBef>
              <a:spcAft>
                <a:spcPts val="1000"/>
              </a:spcAft>
              <a:buFont typeface="Wingdings" panose="05000000000000000000" pitchFamily="2" charset="2"/>
              <a:buChar char=""/>
              <a:tabLst>
                <a:tab pos="2139950" algn="l"/>
              </a:tabLst>
            </a:pPr>
            <a:r>
              <a:rPr lang="en-GB" sz="2800" dirty="0">
                <a:latin typeface="Times New Roman" panose="02020603050405020304" pitchFamily="18" charset="0"/>
                <a:ea typeface="Calibri" panose="020F0502020204030204" charset="0"/>
                <a:cs typeface="Times New Roman" panose="02020603050405020304" pitchFamily="18" charset="0"/>
              </a:rPr>
              <a:t>The pattern of prevalent diseases</a:t>
            </a:r>
            <a:endParaRPr lang="fr-FR" sz="2800" dirty="0">
              <a:latin typeface="Calibri" panose="020F0502020204030204" charset="0"/>
              <a:ea typeface="Calibri" panose="020F0502020204030204" charset="0"/>
              <a:cs typeface="Times New Roman" panose="02020603050405020304" pitchFamily="18" charset="0"/>
            </a:endParaRPr>
          </a:p>
          <a:p>
            <a:pPr marL="342900" marR="0" lvl="0" indent="-342900" algn="just">
              <a:lnSpc>
                <a:spcPct val="115000"/>
              </a:lnSpc>
              <a:spcBef>
                <a:spcPts val="0"/>
              </a:spcBef>
              <a:spcAft>
                <a:spcPts val="1000"/>
              </a:spcAft>
              <a:buFont typeface="Wingdings" panose="05000000000000000000" pitchFamily="2" charset="2"/>
              <a:buChar char=""/>
              <a:tabLst>
                <a:tab pos="2139950" algn="l"/>
              </a:tabLst>
            </a:pPr>
            <a:r>
              <a:rPr lang="en-GB" sz="2800" dirty="0">
                <a:latin typeface="Times New Roman" panose="02020603050405020304" pitchFamily="18" charset="0"/>
                <a:ea typeface="Calibri" panose="020F0502020204030204" charset="0"/>
                <a:cs typeface="Times New Roman" panose="02020603050405020304" pitchFamily="18" charset="0"/>
              </a:rPr>
              <a:t>The treatment facilities;</a:t>
            </a:r>
            <a:endParaRPr lang="fr-FR" sz="2800" dirty="0">
              <a:latin typeface="Calibri" panose="020F0502020204030204" charset="0"/>
              <a:ea typeface="Calibri" panose="020F0502020204030204" charset="0"/>
              <a:cs typeface="Times New Roman" panose="02020603050405020304" pitchFamily="18" charset="0"/>
            </a:endParaRPr>
          </a:p>
          <a:p>
            <a:pPr marL="342900" marR="0" lvl="0" indent="-342900" algn="just">
              <a:lnSpc>
                <a:spcPct val="115000"/>
              </a:lnSpc>
              <a:spcBef>
                <a:spcPts val="0"/>
              </a:spcBef>
              <a:spcAft>
                <a:spcPts val="1000"/>
              </a:spcAft>
              <a:buFont typeface="Wingdings" panose="05000000000000000000" pitchFamily="2" charset="2"/>
              <a:buChar char=""/>
              <a:tabLst>
                <a:tab pos="2139950" algn="l"/>
              </a:tabLst>
            </a:pPr>
            <a:r>
              <a:rPr lang="en-GB" sz="2800" dirty="0">
                <a:latin typeface="Times New Roman" panose="02020603050405020304" pitchFamily="18" charset="0"/>
                <a:ea typeface="Calibri" panose="020F0502020204030204" charset="0"/>
                <a:cs typeface="Times New Roman" panose="02020603050405020304" pitchFamily="18" charset="0"/>
              </a:rPr>
              <a:t>The training and experience of the available personnel;</a:t>
            </a:r>
            <a:endParaRPr lang="fr-FR" sz="2800" dirty="0">
              <a:latin typeface="Calibri" panose="020F0502020204030204" charset="0"/>
              <a:ea typeface="Calibri" panose="020F0502020204030204" charset="0"/>
              <a:cs typeface="Times New Roman" panose="02020603050405020304" pitchFamily="18" charset="0"/>
            </a:endParaRPr>
          </a:p>
          <a:p>
            <a:pPr marL="342900" marR="0" lvl="0" indent="-342900" algn="just">
              <a:lnSpc>
                <a:spcPct val="115000"/>
              </a:lnSpc>
              <a:spcBef>
                <a:spcPts val="0"/>
              </a:spcBef>
              <a:spcAft>
                <a:spcPts val="1000"/>
              </a:spcAft>
              <a:buFont typeface="Wingdings" panose="05000000000000000000" pitchFamily="2" charset="2"/>
              <a:buChar char=""/>
              <a:tabLst>
                <a:tab pos="2139950" algn="l"/>
              </a:tabLst>
            </a:pPr>
            <a:r>
              <a:rPr lang="en-GB" sz="2800" dirty="0">
                <a:latin typeface="Times New Roman" panose="02020603050405020304" pitchFamily="18" charset="0"/>
                <a:ea typeface="Calibri" panose="020F0502020204030204" charset="0"/>
                <a:cs typeface="Times New Roman" panose="02020603050405020304" pitchFamily="18" charset="0"/>
              </a:rPr>
              <a:t>The financial resources;</a:t>
            </a:r>
            <a:endParaRPr lang="fr-FR" sz="2800" dirty="0">
              <a:latin typeface="Calibri" panose="020F0502020204030204" charset="0"/>
              <a:ea typeface="Calibri" panose="020F0502020204030204" charset="0"/>
              <a:cs typeface="Times New Roman" panose="02020603050405020304" pitchFamily="18" charset="0"/>
            </a:endParaRPr>
          </a:p>
          <a:p>
            <a:pPr marL="342900" marR="0" lvl="0" indent="-342900" algn="just">
              <a:lnSpc>
                <a:spcPct val="115000"/>
              </a:lnSpc>
              <a:spcBef>
                <a:spcPts val="0"/>
              </a:spcBef>
              <a:spcAft>
                <a:spcPts val="1000"/>
              </a:spcAft>
              <a:buFont typeface="Wingdings" panose="05000000000000000000" pitchFamily="2" charset="2"/>
              <a:buChar char=""/>
              <a:tabLst>
                <a:tab pos="2139950" algn="l"/>
              </a:tabLst>
            </a:pPr>
            <a:r>
              <a:rPr lang="en-GB" sz="2800" dirty="0">
                <a:latin typeface="Times New Roman" panose="02020603050405020304" pitchFamily="18" charset="0"/>
                <a:ea typeface="Calibri" panose="020F0502020204030204" charset="0"/>
                <a:cs typeface="Times New Roman" panose="02020603050405020304" pitchFamily="18" charset="0"/>
              </a:rPr>
              <a:t>The genetic, demographic,</a:t>
            </a:r>
            <a:r>
              <a:rPr lang="en-GB" sz="2800" dirty="0">
                <a:latin typeface="Times New Roman" panose="02020603050405020304" pitchFamily="18" charset="0"/>
                <a:cs typeface="Times New Roman" panose="02020603050405020304" pitchFamily="18" charset="0"/>
              </a:rPr>
              <a:t> </a:t>
            </a:r>
            <a:r>
              <a:rPr lang="en-GB" sz="2800" dirty="0">
                <a:latin typeface="Times New Roman" panose="02020603050405020304" pitchFamily="18" charset="0"/>
                <a:ea typeface="Calibri" panose="020F0502020204030204" charset="0"/>
                <a:cs typeface="Times New Roman" panose="02020603050405020304" pitchFamily="18" charset="0"/>
              </a:rPr>
              <a:t>and environmental factors.</a:t>
            </a:r>
            <a:endParaRPr lang="fr-FR" sz="2800" dirty="0">
              <a:latin typeface="Calibri" panose="020F0502020204030204" charset="0"/>
              <a:ea typeface="Calibri" panose="020F0502020204030204" charset="0"/>
              <a:cs typeface="Times New Roman" panose="02020603050405020304" pitchFamily="18" charset="0"/>
            </a:endParaRPr>
          </a:p>
          <a:p>
            <a:endParaRPr lang="fr-FR"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685800"/>
            <a:ext cx="8153400" cy="5623560"/>
          </a:xfrm>
        </p:spPr>
        <p:txBody>
          <a:bodyPr>
            <a:normAutofit/>
          </a:bodyPr>
          <a:lstStyle/>
          <a:p>
            <a:pPr marL="0" marR="0">
              <a:lnSpc>
                <a:spcPct val="150000"/>
              </a:lnSpc>
              <a:spcBef>
                <a:spcPts val="0"/>
              </a:spcBef>
              <a:spcAft>
                <a:spcPts val="0"/>
              </a:spcAft>
            </a:pPr>
            <a:r>
              <a:rPr lang="en-GB" b="1" dirty="0">
                <a:latin typeface="Times New Roman" panose="02020603050405020304" pitchFamily="18" charset="0"/>
                <a:ea typeface="Calibri" panose="020F0502020204030204" charset="0"/>
                <a:cs typeface="Times New Roman" panose="02020603050405020304" pitchFamily="18" charset="0"/>
              </a:rPr>
              <a:t>Principles of the Essential Drugs Concept</a:t>
            </a:r>
            <a:endParaRPr lang="fr-FR" dirty="0">
              <a:latin typeface="Calibri" panose="020F0502020204030204" charset="0"/>
              <a:ea typeface="Calibri" panose="020F0502020204030204" charset="0"/>
              <a:cs typeface="Times New Roman" panose="02020603050405020304" pitchFamily="18" charset="0"/>
            </a:endParaRPr>
          </a:p>
          <a:p>
            <a:pPr marL="0" marR="0">
              <a:lnSpc>
                <a:spcPct val="150000"/>
              </a:lnSpc>
              <a:spcBef>
                <a:spcPts val="0"/>
              </a:spcBef>
              <a:spcAft>
                <a:spcPts val="0"/>
              </a:spcAft>
            </a:pPr>
            <a:r>
              <a:rPr lang="en-GB" sz="2400" dirty="0">
                <a:latin typeface="Times New Roman" panose="02020603050405020304" pitchFamily="18" charset="0"/>
                <a:ea typeface="Calibri" panose="020F0502020204030204" charset="0"/>
                <a:cs typeface="Times New Roman" panose="02020603050405020304" pitchFamily="18" charset="0"/>
              </a:rPr>
              <a:t>The essential drugs concept is based on the following principles:</a:t>
            </a:r>
            <a:endParaRPr lang="fr-FR" sz="2400" dirty="0">
              <a:latin typeface="Calibri" panose="020F0502020204030204" charset="0"/>
              <a:ea typeface="Calibri" panose="020F0502020204030204" charset="0"/>
              <a:cs typeface="Times New Roman" panose="02020603050405020304" pitchFamily="18" charset="0"/>
            </a:endParaRPr>
          </a:p>
          <a:p>
            <a:pPr marL="342900" marR="0" lvl="0" indent="-342900">
              <a:lnSpc>
                <a:spcPct val="150000"/>
              </a:lnSpc>
              <a:spcBef>
                <a:spcPts val="0"/>
              </a:spcBef>
              <a:spcAft>
                <a:spcPts val="0"/>
              </a:spcAft>
              <a:buFont typeface="Wingdings" panose="05000000000000000000" pitchFamily="2" charset="2"/>
              <a:buChar char=""/>
              <a:tabLst>
                <a:tab pos="228600" algn="l"/>
              </a:tabLst>
            </a:pPr>
            <a:r>
              <a:rPr lang="en-GB" sz="2400" dirty="0">
                <a:latin typeface="Times New Roman" panose="02020603050405020304" pitchFamily="18" charset="0"/>
                <a:ea typeface="Calibri" panose="020F0502020204030204" charset="0"/>
                <a:cs typeface="Times New Roman" panose="02020603050405020304" pitchFamily="18" charset="0"/>
              </a:rPr>
              <a:t>Only a limited number of drugs are needed to meet the health needs of the majority of the population;</a:t>
            </a:r>
            <a:endParaRPr lang="fr-FR" sz="2400" dirty="0">
              <a:latin typeface="Calibri" panose="020F0502020204030204" charset="0"/>
              <a:ea typeface="Calibri" panose="020F0502020204030204" charset="0"/>
              <a:cs typeface="Times New Roman" panose="02020603050405020304" pitchFamily="18" charset="0"/>
            </a:endParaRPr>
          </a:p>
          <a:p>
            <a:pPr marL="342900" marR="0" lvl="0" indent="-342900">
              <a:lnSpc>
                <a:spcPct val="150000"/>
              </a:lnSpc>
              <a:spcBef>
                <a:spcPts val="0"/>
              </a:spcBef>
              <a:spcAft>
                <a:spcPts val="0"/>
              </a:spcAft>
              <a:buFont typeface="Wingdings" panose="05000000000000000000" pitchFamily="2" charset="2"/>
              <a:buChar char=""/>
              <a:tabLst>
                <a:tab pos="228600" algn="l"/>
              </a:tabLst>
            </a:pPr>
            <a:r>
              <a:rPr lang="en-GB" sz="2400" dirty="0">
                <a:latin typeface="Times New Roman" panose="02020603050405020304" pitchFamily="18" charset="0"/>
                <a:ea typeface="Calibri" panose="020F0502020204030204" charset="0"/>
                <a:cs typeface="Times New Roman" panose="02020603050405020304" pitchFamily="18" charset="0"/>
              </a:rPr>
              <a:t>The range of drugs needed should be determined by the patterns of disease, level of health care and training, and ability of the prescriber;</a:t>
            </a:r>
            <a:endParaRPr lang="fr-FR" sz="2400" dirty="0">
              <a:latin typeface="Calibri" panose="020F0502020204030204" charset="0"/>
              <a:ea typeface="Calibri" panose="020F0502020204030204" charset="0"/>
              <a:cs typeface="Times New Roman" panose="02020603050405020304" pitchFamily="18" charset="0"/>
            </a:endParaRPr>
          </a:p>
          <a:p>
            <a:pPr marL="342900" marR="0" lvl="0" indent="-342900">
              <a:lnSpc>
                <a:spcPct val="150000"/>
              </a:lnSpc>
              <a:spcBef>
                <a:spcPts val="0"/>
              </a:spcBef>
              <a:spcAft>
                <a:spcPts val="0"/>
              </a:spcAft>
              <a:buFont typeface="Wingdings" panose="05000000000000000000" pitchFamily="2" charset="2"/>
              <a:buChar char=""/>
              <a:tabLst>
                <a:tab pos="228600" algn="l"/>
              </a:tabLst>
            </a:pPr>
            <a:r>
              <a:rPr lang="en-GB" sz="2400" dirty="0">
                <a:latin typeface="Times New Roman" panose="02020603050405020304" pitchFamily="18" charset="0"/>
                <a:ea typeface="Calibri" panose="020F0502020204030204" charset="0"/>
                <a:cs typeface="Times New Roman" panose="02020603050405020304" pitchFamily="18" charset="0"/>
              </a:rPr>
              <a:t>If there is careful selection, wise procurement, effective distribution and rational use, all people would have access to essential drugs</a:t>
            </a:r>
            <a:endParaRPr lang="fr-FR" sz="2400" dirty="0">
              <a:latin typeface="Calibri" panose="020F0502020204030204" charset="0"/>
              <a:ea typeface="Calibri" panose="020F0502020204030204" charset="0"/>
              <a:cs typeface="Times New Roman" panose="02020603050405020304" pitchFamily="18" charset="0"/>
            </a:endParaRPr>
          </a:p>
          <a:p>
            <a:endParaRPr lang="fr-FR"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838200"/>
            <a:ext cx="8763000" cy="5471160"/>
          </a:xfrm>
        </p:spPr>
        <p:txBody>
          <a:bodyPr>
            <a:normAutofit fontScale="92500" lnSpcReduction="20000"/>
          </a:bodyPr>
          <a:lstStyle/>
          <a:p>
            <a:pPr marL="0" marR="0">
              <a:spcBef>
                <a:spcPts val="0"/>
              </a:spcBef>
              <a:spcAft>
                <a:spcPts val="0"/>
              </a:spcAft>
              <a:tabLst>
                <a:tab pos="2139950" algn="l"/>
                <a:tab pos="4980305" algn="l"/>
              </a:tabLst>
            </a:pPr>
            <a:r>
              <a:rPr lang="en-GB" sz="2200" b="1" dirty="0">
                <a:latin typeface="Times New Roman" panose="02020603050405020304" pitchFamily="18" charset="0"/>
                <a:ea typeface="Calibri" panose="020F0502020204030204" charset="0"/>
                <a:cs typeface="Times New Roman" panose="02020603050405020304" pitchFamily="18" charset="0"/>
              </a:rPr>
              <a:t>The management of drugs is important for following reasons:</a:t>
            </a:r>
            <a:endParaRPr lang="fr-FR" sz="2200" dirty="0">
              <a:latin typeface="Calibri" panose="020F0502020204030204" charset="0"/>
              <a:ea typeface="Calibri" panose="020F0502020204030204" charset="0"/>
              <a:cs typeface="Times New Roman" panose="02020603050405020304" pitchFamily="18" charset="0"/>
            </a:endParaRPr>
          </a:p>
          <a:p>
            <a:pPr marL="342900" marR="0" lvl="0" indent="-342900">
              <a:lnSpc>
                <a:spcPct val="115000"/>
              </a:lnSpc>
              <a:spcBef>
                <a:spcPts val="0"/>
              </a:spcBef>
              <a:spcAft>
                <a:spcPts val="1000"/>
              </a:spcAft>
              <a:buFont typeface="Wingdings" panose="05000000000000000000" pitchFamily="2" charset="2"/>
              <a:buChar char=""/>
            </a:pPr>
            <a:r>
              <a:rPr lang="en-GB" sz="2200" b="1" i="1" dirty="0">
                <a:latin typeface="Times New Roman" panose="02020603050405020304" pitchFamily="18" charset="0"/>
                <a:ea typeface="Calibri" panose="020F0502020204030204" charset="0"/>
                <a:cs typeface="Times New Roman" panose="02020603050405020304" pitchFamily="18" charset="0"/>
              </a:rPr>
              <a:t>Drugs save lives and improve health:</a:t>
            </a:r>
            <a:r>
              <a:rPr lang="en-GB" sz="2200" b="1" dirty="0">
                <a:latin typeface="Times New Roman" panose="02020603050405020304" pitchFamily="18" charset="0"/>
                <a:ea typeface="Calibri" panose="020F0502020204030204" charset="0"/>
                <a:cs typeface="Times New Roman" panose="02020603050405020304" pitchFamily="18" charset="0"/>
              </a:rPr>
              <a:t>                                                                                                              </a:t>
            </a:r>
            <a:r>
              <a:rPr lang="en-GB" sz="2200" dirty="0">
                <a:latin typeface="Times New Roman" panose="02020603050405020304" pitchFamily="18" charset="0"/>
                <a:ea typeface="Calibri" panose="020F0502020204030204" charset="0"/>
                <a:cs typeface="Times New Roman" panose="02020603050405020304" pitchFamily="18" charset="0"/>
              </a:rPr>
              <a:t>Most leading causes of discomfort, disability, and premature death can be prevented, treated, or at least alleviated with cost-effective drugs. Essential drugs are effective against common health problems and are also cost effective.</a:t>
            </a:r>
            <a:endParaRPr lang="fr-FR" sz="2200" dirty="0">
              <a:latin typeface="Calibri" panose="020F0502020204030204" charset="0"/>
              <a:ea typeface="Calibri" panose="020F0502020204030204" charset="0"/>
              <a:cs typeface="Times New Roman" panose="02020603050405020304" pitchFamily="18" charset="0"/>
            </a:endParaRPr>
          </a:p>
          <a:p>
            <a:pPr marL="228600" marR="0">
              <a:lnSpc>
                <a:spcPct val="115000"/>
              </a:lnSpc>
              <a:spcBef>
                <a:spcPts val="0"/>
              </a:spcBef>
              <a:spcAft>
                <a:spcPts val="1000"/>
              </a:spcAft>
              <a:tabLst>
                <a:tab pos="2139950" algn="l"/>
              </a:tabLst>
            </a:pPr>
            <a:r>
              <a:rPr lang="en-GB" sz="2200" b="1" i="1" dirty="0">
                <a:latin typeface="Times New Roman" panose="02020603050405020304" pitchFamily="18" charset="0"/>
                <a:ea typeface="Calibri" panose="020F0502020204030204" charset="0"/>
                <a:cs typeface="Times New Roman" panose="02020603050405020304" pitchFamily="18" charset="0"/>
              </a:rPr>
              <a:t>Drugs promote trust and participation in health services:</a:t>
            </a:r>
            <a:r>
              <a:rPr lang="en-GB" sz="2200" b="1" dirty="0">
                <a:latin typeface="Times New Roman" panose="02020603050405020304" pitchFamily="18" charset="0"/>
                <a:ea typeface="Calibri" panose="020F0502020204030204" charset="0"/>
                <a:cs typeface="Times New Roman" panose="02020603050405020304" pitchFamily="18" charset="0"/>
              </a:rPr>
              <a:t>                                                                             </a:t>
            </a:r>
            <a:r>
              <a:rPr lang="en-GB" sz="2200" dirty="0">
                <a:latin typeface="Times New Roman" panose="02020603050405020304" pitchFamily="18" charset="0"/>
                <a:ea typeface="Calibri" panose="020F0502020204030204" charset="0"/>
                <a:cs typeface="Times New Roman" panose="02020603050405020304" pitchFamily="18" charset="0"/>
              </a:rPr>
              <a:t>The credibility of health workers depends on their ability to save life and restore health using drugs. Aside from their direct health impact, however, the availability of essential drugs attracts patients, who can then also receive preventive and public health messages. Household and patient surveys find that drug availability is a major determinant of where patients go for health care and how satisfied they are with that care.  Availability of drugs and supplies also affects the productivity of health staff.</a:t>
            </a:r>
            <a:endParaRPr lang="fr-FR" sz="2200" dirty="0">
              <a:latin typeface="Calibri" panose="020F0502020204030204" charset="0"/>
              <a:ea typeface="Calibri" panose="020F0502020204030204" charset="0"/>
              <a:cs typeface="Times New Roman" panose="02020603050405020304" pitchFamily="18" charset="0"/>
            </a:endParaRPr>
          </a:p>
          <a:p>
            <a:pPr marL="342900" marR="0" lvl="0" indent="-342900">
              <a:lnSpc>
                <a:spcPct val="115000"/>
              </a:lnSpc>
              <a:spcBef>
                <a:spcPts val="0"/>
              </a:spcBef>
              <a:spcAft>
                <a:spcPts val="1000"/>
              </a:spcAft>
              <a:buFont typeface="Wingdings" panose="05000000000000000000" pitchFamily="2" charset="2"/>
              <a:buChar char=""/>
            </a:pPr>
            <a:r>
              <a:rPr lang="en-GB" sz="2200" b="1" i="1" dirty="0">
                <a:latin typeface="Times New Roman" panose="02020603050405020304" pitchFamily="18" charset="0"/>
                <a:ea typeface="Calibri" panose="020F0502020204030204" charset="0"/>
                <a:cs typeface="Times New Roman" panose="02020603050405020304" pitchFamily="18" charset="0"/>
              </a:rPr>
              <a:t>Drugs are costly:</a:t>
            </a:r>
            <a:r>
              <a:rPr lang="en-GB" sz="2200" b="1" dirty="0">
                <a:latin typeface="Times New Roman" panose="02020603050405020304" pitchFamily="18" charset="0"/>
                <a:ea typeface="Calibri" panose="020F0502020204030204" charset="0"/>
                <a:cs typeface="Times New Roman" panose="02020603050405020304" pitchFamily="18" charset="0"/>
              </a:rPr>
              <a:t>                                                                                                                                             </a:t>
            </a:r>
            <a:r>
              <a:rPr lang="en-GB" sz="2200" dirty="0">
                <a:latin typeface="Times New Roman" panose="02020603050405020304" pitchFamily="18" charset="0"/>
                <a:ea typeface="Calibri" panose="020F0502020204030204" charset="0"/>
                <a:cs typeface="Times New Roman" panose="02020603050405020304" pitchFamily="18" charset="0"/>
              </a:rPr>
              <a:t>Although drugs should be cost effective, they can still be quite costly for an individual, a household, a government health system, or a country.</a:t>
            </a:r>
            <a:endParaRPr lang="fr-FR" sz="2200" dirty="0">
              <a:latin typeface="Calibri" panose="020F0502020204030204" charset="0"/>
              <a:ea typeface="Calibri" panose="020F0502020204030204" charset="0"/>
              <a:cs typeface="Times New Roman" panose="02020603050405020304" pitchFamily="18" charset="0"/>
            </a:endParaRPr>
          </a:p>
          <a:p>
            <a:endParaRPr lang="fr-FR"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cstate="print"/>
          <a:srcRect/>
          <a:stretch>
            <a:fillRect/>
          </a:stretch>
        </p:blipFill>
        <p:spPr bwMode="auto">
          <a:xfrm>
            <a:off x="829502" y="304800"/>
            <a:ext cx="7484996" cy="5821363"/>
          </a:xfrm>
          <a:prstGeom prst="rect">
            <a:avLst/>
          </a:prstGeom>
          <a:noFill/>
          <a:ln w="9525">
            <a:noFill/>
            <a:miter lim="800000"/>
            <a:headEnd/>
            <a:tailEnd/>
          </a:ln>
        </p:spPr>
      </p:pic>
      <p:sp>
        <p:nvSpPr>
          <p:cNvPr id="2" name="Date Placeholder 1"/>
          <p:cNvSpPr>
            <a:spLocks noGrp="1"/>
          </p:cNvSpPr>
          <p:nvPr>
            <p:ph type="dt" sz="half" idx="10"/>
          </p:nvPr>
        </p:nvSpPr>
        <p:spPr/>
        <p:txBody>
          <a:bodyPr/>
          <a:lstStyle/>
          <a:p>
            <a:fld id="{6852E90B-D99C-404A-9EAE-A94DA14D82A1}" type="datetime1">
              <a:rPr lang="en-US" smtClean="0">
                <a:solidFill>
                  <a:prstClr val="black">
                    <a:tint val="75000"/>
                  </a:prstClr>
                </a:solidFill>
              </a:rPr>
              <a:t>1/31/2026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r>
              <a:rPr lang="en-US">
                <a:solidFill>
                  <a:prstClr val="black">
                    <a:tint val="75000"/>
                  </a:prstClr>
                </a:solidFill>
              </a:rPr>
              <a:t>Drug Supply Management</a:t>
            </a:r>
          </a:p>
        </p:txBody>
      </p:sp>
      <p:sp>
        <p:nvSpPr>
          <p:cNvPr id="5" name="Slide Number Placeholder 4"/>
          <p:cNvSpPr>
            <a:spLocks noGrp="1"/>
          </p:cNvSpPr>
          <p:nvPr>
            <p:ph type="sldNum" sz="quarter" idx="12"/>
          </p:nvPr>
        </p:nvSpPr>
        <p:spPr/>
        <p:txBody>
          <a:bodyPr/>
          <a:lstStyle/>
          <a:p>
            <a:fld id="{1CD2F681-1A86-4E8F-BCBD-B1ED175AC95E}" type="slidenum">
              <a:rPr lang="en-US" smtClean="0">
                <a:solidFill>
                  <a:prstClr val="black">
                    <a:tint val="75000"/>
                  </a:prstClr>
                </a:solidFill>
              </a:rPr>
              <a:t>132</a:t>
            </a:fld>
            <a:endParaRPr lang="en-US">
              <a:solidFill>
                <a:prstClr val="black">
                  <a:tint val="75000"/>
                </a:prstClr>
              </a:solidFill>
            </a:endParaRPr>
          </a:p>
        </p:txBody>
      </p:sp>
    </p:spTree>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457200"/>
            <a:ext cx="8077200" cy="6248400"/>
          </a:xfrm>
        </p:spPr>
        <p:txBody>
          <a:bodyPr>
            <a:normAutofit lnSpcReduction="10000"/>
          </a:bodyPr>
          <a:lstStyle/>
          <a:p>
            <a:pPr marL="0" marR="0">
              <a:spcBef>
                <a:spcPts val="0"/>
              </a:spcBef>
              <a:spcAft>
                <a:spcPts val="0"/>
              </a:spcAft>
              <a:tabLst>
                <a:tab pos="2139950" algn="l"/>
              </a:tabLst>
            </a:pPr>
            <a:r>
              <a:rPr lang="en-GB" b="1" dirty="0">
                <a:latin typeface="Times New Roman" panose="02020603050405020304" pitchFamily="18" charset="0"/>
                <a:ea typeface="Calibri" panose="020F0502020204030204" charset="0"/>
                <a:cs typeface="Times New Roman" panose="02020603050405020304" pitchFamily="18" charset="0"/>
              </a:rPr>
              <a:t>The Drug Management Cycle</a:t>
            </a:r>
            <a:endParaRPr lang="fr-FR" dirty="0">
              <a:latin typeface="Calibri" panose="020F0502020204030204" charset="0"/>
              <a:ea typeface="Calibri" panose="020F0502020204030204" charset="0"/>
              <a:cs typeface="Times New Roman" panose="02020603050405020304" pitchFamily="18" charset="0"/>
            </a:endParaRPr>
          </a:p>
          <a:p>
            <a:pPr marL="0" marR="0">
              <a:spcBef>
                <a:spcPts val="0"/>
              </a:spcBef>
              <a:spcAft>
                <a:spcPts val="0"/>
              </a:spcAft>
              <a:tabLst>
                <a:tab pos="2139950" algn="l"/>
              </a:tabLst>
            </a:pPr>
            <a:r>
              <a:rPr lang="en-GB" dirty="0">
                <a:latin typeface="Times New Roman" panose="02020603050405020304" pitchFamily="18" charset="0"/>
                <a:ea typeface="Calibri" panose="020F0502020204030204" charset="0"/>
                <a:cs typeface="Times New Roman" panose="02020603050405020304" pitchFamily="18" charset="0"/>
              </a:rPr>
              <a:t>The drug management cycle is made up of four basic functions:</a:t>
            </a:r>
            <a:endParaRPr lang="fr-FR" dirty="0">
              <a:latin typeface="Calibri" panose="020F0502020204030204" charset="0"/>
              <a:ea typeface="Calibri" panose="020F0502020204030204" charset="0"/>
              <a:cs typeface="Times New Roman" panose="02020603050405020304" pitchFamily="18" charset="0"/>
            </a:endParaRPr>
          </a:p>
          <a:p>
            <a:pPr marL="342900" marR="0" lvl="0" indent="-342900">
              <a:lnSpc>
                <a:spcPct val="115000"/>
              </a:lnSpc>
              <a:spcBef>
                <a:spcPts val="0"/>
              </a:spcBef>
              <a:spcAft>
                <a:spcPts val="1000"/>
              </a:spcAft>
              <a:buFont typeface="Wingdings" panose="05000000000000000000" pitchFamily="2" charset="2"/>
              <a:buChar char=""/>
              <a:tabLst>
                <a:tab pos="2139950" algn="l"/>
              </a:tabLst>
            </a:pPr>
            <a:r>
              <a:rPr lang="en-GB" b="1" i="1" dirty="0">
                <a:uFill>
                  <a:solidFill>
                    <a:srgbClr val="000000"/>
                  </a:solidFill>
                </a:uFill>
                <a:latin typeface="Times New Roman" panose="02020603050405020304" pitchFamily="18" charset="0"/>
                <a:ea typeface="Calibri" panose="020F0502020204030204" charset="0"/>
                <a:cs typeface="Times New Roman" panose="02020603050405020304" pitchFamily="18" charset="0"/>
              </a:rPr>
              <a:t>Selection</a:t>
            </a:r>
            <a:r>
              <a:rPr lang="en-GB" b="1" dirty="0">
                <a:uFill>
                  <a:solidFill>
                    <a:srgbClr val="000000"/>
                  </a:solidFill>
                </a:uFill>
                <a:latin typeface="Times New Roman" panose="02020603050405020304" pitchFamily="18" charset="0"/>
                <a:ea typeface="Calibri" panose="020F0502020204030204" charset="0"/>
                <a:cs typeface="Times New Roman" panose="02020603050405020304" pitchFamily="18" charset="0"/>
              </a:rPr>
              <a:t>                                                                                                                                                                   </a:t>
            </a:r>
            <a:r>
              <a:rPr lang="en-GB" dirty="0">
                <a:uFill>
                  <a:solidFill>
                    <a:srgbClr val="000000"/>
                  </a:solidFill>
                </a:uFill>
                <a:latin typeface="Times New Roman" panose="02020603050405020304" pitchFamily="18" charset="0"/>
                <a:ea typeface="Calibri" panose="020F0502020204030204" charset="0"/>
                <a:cs typeface="Times New Roman" panose="02020603050405020304" pitchFamily="18" charset="0"/>
              </a:rPr>
              <a:t>involves reviewing the prevalent health problems, identifying treatments of choice, choosing individual drugs and dosage forms, and deciding which drugs will be available at each level of health care.</a:t>
            </a:r>
            <a:endParaRPr lang="fr-FR" dirty="0">
              <a:uFill>
                <a:solidFill>
                  <a:srgbClr val="000000"/>
                </a:solidFill>
              </a:uFill>
              <a:latin typeface="Calibri" panose="020F0502020204030204" charset="0"/>
              <a:ea typeface="Calibri" panose="020F0502020204030204" charset="0"/>
              <a:cs typeface="Times New Roman" panose="02020603050405020304" pitchFamily="18" charset="0"/>
            </a:endParaRPr>
          </a:p>
          <a:p>
            <a:pPr marL="342900" marR="0" lvl="0" indent="-342900">
              <a:lnSpc>
                <a:spcPct val="115000"/>
              </a:lnSpc>
              <a:spcBef>
                <a:spcPts val="0"/>
              </a:spcBef>
              <a:spcAft>
                <a:spcPts val="1000"/>
              </a:spcAft>
              <a:buFont typeface="Wingdings" panose="05000000000000000000" pitchFamily="2" charset="2"/>
              <a:buChar char=""/>
            </a:pPr>
            <a:r>
              <a:rPr lang="en-GB" b="1" i="1" dirty="0">
                <a:latin typeface="Times New Roman" panose="02020603050405020304" pitchFamily="18" charset="0"/>
                <a:ea typeface="Calibri" panose="020F0502020204030204" charset="0"/>
                <a:cs typeface="Times New Roman" panose="02020603050405020304" pitchFamily="18" charset="0"/>
              </a:rPr>
              <a:t>Quantification &amp;Procurement:                                                                                                                                  </a:t>
            </a:r>
            <a:r>
              <a:rPr lang="en-GB" dirty="0">
                <a:latin typeface="Times New Roman" panose="02020603050405020304" pitchFamily="18" charset="0"/>
                <a:ea typeface="Calibri" panose="020F0502020204030204" charset="0"/>
                <a:cs typeface="Times New Roman" panose="02020603050405020304" pitchFamily="18" charset="0"/>
              </a:rPr>
              <a:t>involves quantifying drug requirements, selecting procurement methods, managing tenders, establishing contract terms, assuring drug quality, and ensuring adherence to contract terms.</a:t>
            </a:r>
            <a:endParaRPr lang="fr-FR" dirty="0">
              <a:latin typeface="Calibri" panose="020F0502020204030204" charset="0"/>
              <a:ea typeface="Calibri" panose="020F0502020204030204" charset="0"/>
              <a:cs typeface="Times New Roman" panose="02020603050405020304" pitchFamily="18" charset="0"/>
            </a:endParaRPr>
          </a:p>
          <a:p>
            <a:pPr marL="342900" marR="0" lvl="0" indent="-342900">
              <a:lnSpc>
                <a:spcPct val="115000"/>
              </a:lnSpc>
              <a:spcBef>
                <a:spcPts val="0"/>
              </a:spcBef>
              <a:spcAft>
                <a:spcPts val="1000"/>
              </a:spcAft>
              <a:buFont typeface="Wingdings" panose="05000000000000000000" pitchFamily="2" charset="2"/>
              <a:buChar char=""/>
            </a:pPr>
            <a:r>
              <a:rPr lang="en-GB" b="1" i="1" dirty="0">
                <a:latin typeface="Times New Roman" panose="02020603050405020304" pitchFamily="18" charset="0"/>
                <a:ea typeface="Calibri" panose="020F0502020204030204" charset="0"/>
                <a:cs typeface="Times New Roman" panose="02020603050405020304" pitchFamily="18" charset="0"/>
              </a:rPr>
              <a:t>Distribution:                                                                                                                                           </a:t>
            </a:r>
            <a:r>
              <a:rPr lang="en-GB" dirty="0">
                <a:latin typeface="Times New Roman" panose="02020603050405020304" pitchFamily="18" charset="0"/>
                <a:ea typeface="Calibri" panose="020F0502020204030204" charset="0"/>
                <a:cs typeface="Times New Roman" panose="02020603050405020304" pitchFamily="18" charset="0"/>
              </a:rPr>
              <a:t>involves clearing customs, stock control, stores management, and delivery to drug depots and health facilities</a:t>
            </a:r>
            <a:endParaRPr lang="fr-FR" dirty="0">
              <a:latin typeface="Calibri" panose="020F0502020204030204" charset="0"/>
              <a:ea typeface="Calibri" panose="020F0502020204030204" charset="0"/>
              <a:cs typeface="Times New Roman" panose="02020603050405020304" pitchFamily="18" charset="0"/>
            </a:endParaRPr>
          </a:p>
          <a:p>
            <a:pPr marL="342900" marR="0" lvl="0" indent="-342900">
              <a:lnSpc>
                <a:spcPct val="115000"/>
              </a:lnSpc>
              <a:spcBef>
                <a:spcPts val="0"/>
              </a:spcBef>
              <a:spcAft>
                <a:spcPts val="1000"/>
              </a:spcAft>
              <a:buFont typeface="Wingdings" panose="05000000000000000000" pitchFamily="2" charset="2"/>
              <a:buChar char=""/>
            </a:pPr>
            <a:r>
              <a:rPr lang="en-GB" b="1" i="1" dirty="0">
                <a:latin typeface="Times New Roman" panose="02020603050405020304" pitchFamily="18" charset="0"/>
                <a:ea typeface="Calibri" panose="020F0502020204030204" charset="0"/>
                <a:cs typeface="Times New Roman" panose="02020603050405020304" pitchFamily="18" charset="0"/>
              </a:rPr>
              <a:t>Use:                                                                                                                                                    </a:t>
            </a:r>
            <a:r>
              <a:rPr lang="en-GB" dirty="0">
                <a:latin typeface="Times New Roman" panose="02020603050405020304" pitchFamily="18" charset="0"/>
                <a:ea typeface="Calibri" panose="020F0502020204030204" charset="0"/>
                <a:cs typeface="Times New Roman" panose="02020603050405020304" pitchFamily="18" charset="0"/>
              </a:rPr>
              <a:t>includes diagnosing, prescribing, dispensing, and proper consumption by the patient.</a:t>
            </a:r>
            <a:endParaRPr lang="fr-FR" dirty="0">
              <a:latin typeface="Calibri" panose="020F0502020204030204" charset="0"/>
              <a:ea typeface="Calibri" panose="020F0502020204030204" charset="0"/>
              <a:cs typeface="Times New Roman" panose="02020603050405020304" pitchFamily="18" charset="0"/>
            </a:endParaRPr>
          </a:p>
          <a:p>
            <a:pPr marL="342900" marR="0" lvl="0" indent="-342900">
              <a:lnSpc>
                <a:spcPct val="115000"/>
              </a:lnSpc>
              <a:spcBef>
                <a:spcPts val="0"/>
              </a:spcBef>
              <a:spcAft>
                <a:spcPts val="1000"/>
              </a:spcAft>
              <a:buFont typeface="Arial" panose="020B0604020202020204" pitchFamily="34" charset="0"/>
              <a:buChar char="•"/>
              <a:tabLst>
                <a:tab pos="2139950" algn="l"/>
              </a:tabLst>
            </a:pPr>
            <a:r>
              <a:rPr lang="en-GB" dirty="0">
                <a:latin typeface="Times New Roman" panose="02020603050405020304" pitchFamily="18" charset="0"/>
                <a:ea typeface="Calibri" panose="020F0502020204030204" charset="0"/>
                <a:cs typeface="Times New Roman" panose="02020603050405020304" pitchFamily="18" charset="0"/>
              </a:rPr>
              <a:t>and environmental factors.</a:t>
            </a:r>
            <a:endParaRPr lang="fr-FR" dirty="0">
              <a:latin typeface="Calibri" panose="020F0502020204030204" charset="0"/>
              <a:ea typeface="Calibri" panose="020F0502020204030204" charset="0"/>
              <a:cs typeface="Times New Roman" panose="02020603050405020304" pitchFamily="18" charset="0"/>
            </a:endParaRPr>
          </a:p>
          <a:p>
            <a:endParaRPr lang="fr-FR"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Drug Selection</a:t>
            </a:r>
          </a:p>
        </p:txBody>
      </p:sp>
      <p:sp>
        <p:nvSpPr>
          <p:cNvPr id="3" name="Content Placeholder 2"/>
          <p:cNvSpPr>
            <a:spLocks noGrp="1"/>
          </p:cNvSpPr>
          <p:nvPr>
            <p:ph idx="1"/>
          </p:nvPr>
        </p:nvSpPr>
        <p:spPr/>
        <p:txBody>
          <a:bodyPr>
            <a:normAutofit lnSpcReduction="10000"/>
          </a:bodyPr>
          <a:lstStyle/>
          <a:p>
            <a:pPr lvl="0"/>
            <a:r>
              <a:rPr lang="en-US" dirty="0"/>
              <a:t>is a process of deciding the type of needed drug products. </a:t>
            </a:r>
          </a:p>
          <a:p>
            <a:r>
              <a:rPr lang="en-US" dirty="0"/>
              <a:t>Enforcing reasons for drug selection:</a:t>
            </a:r>
          </a:p>
          <a:p>
            <a:pPr lvl="1"/>
            <a:r>
              <a:rPr lang="en-US" dirty="0"/>
              <a:t>Up to 70% of pharmaceuticals in the world market are </a:t>
            </a:r>
            <a:r>
              <a:rPr lang="en-US" dirty="0">
                <a:solidFill>
                  <a:srgbClr val="00B0F0"/>
                </a:solidFill>
              </a:rPr>
              <a:t>duplicate and non-essential</a:t>
            </a:r>
          </a:p>
          <a:p>
            <a:pPr lvl="1"/>
            <a:r>
              <a:rPr lang="en-US" dirty="0"/>
              <a:t>Availability of so many drugs is </a:t>
            </a:r>
            <a:r>
              <a:rPr lang="en-US" dirty="0">
                <a:solidFill>
                  <a:srgbClr val="00B0F0"/>
                </a:solidFill>
              </a:rPr>
              <a:t>confusing</a:t>
            </a:r>
            <a:r>
              <a:rPr lang="en-US" dirty="0"/>
              <a:t> for professionals and leads to </a:t>
            </a:r>
            <a:r>
              <a:rPr lang="en-US" dirty="0">
                <a:solidFill>
                  <a:srgbClr val="00B0F0"/>
                </a:solidFill>
              </a:rPr>
              <a:t>inconsistency in practice</a:t>
            </a:r>
          </a:p>
          <a:p>
            <a:pPr lvl="1"/>
            <a:r>
              <a:rPr lang="en-US" dirty="0"/>
              <a:t>Large number of non-essential drugs decrease </a:t>
            </a:r>
            <a:r>
              <a:rPr lang="en-US" dirty="0">
                <a:solidFill>
                  <a:srgbClr val="00B0F0"/>
                </a:solidFill>
              </a:rPr>
              <a:t>purchasing power</a:t>
            </a:r>
          </a:p>
          <a:p>
            <a:pPr lvl="1"/>
            <a:endParaRPr lang="en-US" dirty="0"/>
          </a:p>
        </p:txBody>
      </p:sp>
      <p:sp>
        <p:nvSpPr>
          <p:cNvPr id="4" name="Date Placeholder 3"/>
          <p:cNvSpPr>
            <a:spLocks noGrp="1"/>
          </p:cNvSpPr>
          <p:nvPr>
            <p:ph type="dt" sz="half" idx="10"/>
          </p:nvPr>
        </p:nvSpPr>
        <p:spPr/>
        <p:txBody>
          <a:bodyPr/>
          <a:lstStyle/>
          <a:p>
            <a:fld id="{4B4CB2B7-E3F3-431A-B9B7-3EB16A914FC1}" type="datetime1">
              <a:rPr lang="en-US" smtClean="0">
                <a:solidFill>
                  <a:prstClr val="black">
                    <a:tint val="75000"/>
                  </a:prstClr>
                </a:solidFill>
              </a:rPr>
              <a:t>1/31/2026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Drug Supply Management</a:t>
            </a:r>
          </a:p>
        </p:txBody>
      </p:sp>
      <p:sp>
        <p:nvSpPr>
          <p:cNvPr id="6" name="Slide Number Placeholder 5"/>
          <p:cNvSpPr>
            <a:spLocks noGrp="1"/>
          </p:cNvSpPr>
          <p:nvPr>
            <p:ph type="sldNum" sz="quarter" idx="12"/>
          </p:nvPr>
        </p:nvSpPr>
        <p:spPr/>
        <p:txBody>
          <a:bodyPr/>
          <a:lstStyle/>
          <a:p>
            <a:fld id="{1CD2F681-1A86-4E8F-BCBD-B1ED175AC95E}" type="slidenum">
              <a:rPr lang="en-US" smtClean="0">
                <a:solidFill>
                  <a:prstClr val="black">
                    <a:tint val="75000"/>
                  </a:prstClr>
                </a:solidFill>
              </a:rPr>
              <a:t>134</a:t>
            </a:fld>
            <a:endParaRPr lang="en-US">
              <a:solidFill>
                <a:prstClr val="black">
                  <a:tint val="75000"/>
                </a:prstClr>
              </a:solidFill>
            </a:endParaRPr>
          </a:p>
        </p:txBody>
      </p:sp>
    </p:spTree>
  </p:cSld>
  <p:clrMapOvr>
    <a:masterClrMapping/>
  </p:clrMapOv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lnSpcReduction="10000"/>
          </a:bodyPr>
          <a:lstStyle/>
          <a:p>
            <a:pPr>
              <a:lnSpc>
                <a:spcPct val="150000"/>
              </a:lnSpc>
            </a:pPr>
            <a:r>
              <a:rPr lang="en-US" dirty="0"/>
              <a:t>Drug selection can lead to:</a:t>
            </a:r>
          </a:p>
          <a:p>
            <a:pPr lvl="1">
              <a:lnSpc>
                <a:spcPct val="150000"/>
              </a:lnSpc>
            </a:pPr>
            <a:r>
              <a:rPr lang="en-US" dirty="0"/>
              <a:t>Better supply</a:t>
            </a:r>
          </a:p>
          <a:p>
            <a:pPr lvl="1">
              <a:lnSpc>
                <a:spcPct val="150000"/>
              </a:lnSpc>
            </a:pPr>
            <a:r>
              <a:rPr lang="en-US" dirty="0"/>
              <a:t>More rational prescribing and dispensing</a:t>
            </a:r>
          </a:p>
          <a:p>
            <a:pPr lvl="1">
              <a:lnSpc>
                <a:spcPct val="150000"/>
              </a:lnSpc>
            </a:pPr>
            <a:r>
              <a:rPr lang="en-US" dirty="0"/>
              <a:t>Lower cost</a:t>
            </a:r>
          </a:p>
          <a:p>
            <a:pPr lvl="1">
              <a:lnSpc>
                <a:spcPct val="150000"/>
              </a:lnSpc>
            </a:pPr>
            <a:r>
              <a:rPr lang="en-US" dirty="0"/>
              <a:t>More rational patient use</a:t>
            </a:r>
          </a:p>
          <a:p>
            <a:pPr>
              <a:lnSpc>
                <a:spcPct val="150000"/>
              </a:lnSpc>
            </a:pPr>
            <a:r>
              <a:rPr lang="en-US" dirty="0"/>
              <a:t>So careful selection of drugs has:</a:t>
            </a:r>
          </a:p>
          <a:p>
            <a:pPr lvl="1">
              <a:lnSpc>
                <a:spcPct val="150000"/>
              </a:lnSpc>
            </a:pPr>
            <a:r>
              <a:rPr lang="en-US" dirty="0"/>
              <a:t>Cost implications</a:t>
            </a:r>
          </a:p>
          <a:p>
            <a:pPr lvl="1">
              <a:lnSpc>
                <a:spcPct val="150000"/>
              </a:lnSpc>
            </a:pPr>
            <a:r>
              <a:rPr lang="en-US" dirty="0"/>
              <a:t>Clinical implications</a:t>
            </a:r>
          </a:p>
        </p:txBody>
      </p:sp>
      <p:sp>
        <p:nvSpPr>
          <p:cNvPr id="2" name="Date Placeholder 1"/>
          <p:cNvSpPr>
            <a:spLocks noGrp="1"/>
          </p:cNvSpPr>
          <p:nvPr>
            <p:ph type="dt" sz="half" idx="10"/>
          </p:nvPr>
        </p:nvSpPr>
        <p:spPr/>
        <p:txBody>
          <a:bodyPr/>
          <a:lstStyle/>
          <a:p>
            <a:fld id="{C6B4B427-910D-4D0B-B8D1-F92D4C76CAF1}" type="datetime1">
              <a:rPr lang="en-US" smtClean="0">
                <a:solidFill>
                  <a:prstClr val="black">
                    <a:tint val="75000"/>
                  </a:prstClr>
                </a:solidFill>
              </a:rPr>
              <a:t>1/31/2026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r>
              <a:rPr lang="en-US">
                <a:solidFill>
                  <a:prstClr val="black">
                    <a:tint val="75000"/>
                  </a:prstClr>
                </a:solidFill>
              </a:rPr>
              <a:t>Drug Supply Management</a:t>
            </a:r>
          </a:p>
        </p:txBody>
      </p:sp>
      <p:sp>
        <p:nvSpPr>
          <p:cNvPr id="5" name="Slide Number Placeholder 4"/>
          <p:cNvSpPr>
            <a:spLocks noGrp="1"/>
          </p:cNvSpPr>
          <p:nvPr>
            <p:ph type="sldNum" sz="quarter" idx="12"/>
          </p:nvPr>
        </p:nvSpPr>
        <p:spPr/>
        <p:txBody>
          <a:bodyPr/>
          <a:lstStyle/>
          <a:p>
            <a:fld id="{1CD2F681-1A86-4E8F-BCBD-B1ED175AC95E}" type="slidenum">
              <a:rPr lang="en-US" smtClean="0">
                <a:solidFill>
                  <a:prstClr val="black">
                    <a:tint val="75000"/>
                  </a:prstClr>
                </a:solidFill>
              </a:rPr>
              <a:t>135</a:t>
            </a:fld>
            <a:endParaRPr lang="en-US">
              <a:solidFill>
                <a:prstClr val="black">
                  <a:tint val="75000"/>
                </a:prstClr>
              </a:solidFill>
            </a:endParaRPr>
          </a:p>
        </p:txBody>
      </p:sp>
    </p:spTree>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Criteria for drug selection</a:t>
            </a:r>
          </a:p>
        </p:txBody>
      </p:sp>
      <p:sp>
        <p:nvSpPr>
          <p:cNvPr id="3" name="Content Placeholder 2"/>
          <p:cNvSpPr>
            <a:spLocks noGrp="1"/>
          </p:cNvSpPr>
          <p:nvPr>
            <p:ph idx="1"/>
          </p:nvPr>
        </p:nvSpPr>
        <p:spPr/>
        <p:txBody>
          <a:bodyPr>
            <a:normAutofit/>
          </a:bodyPr>
          <a:lstStyle/>
          <a:p>
            <a:pPr lvl="1"/>
            <a:r>
              <a:rPr lang="en-US" dirty="0"/>
              <a:t>Relevance to the pattern of prevalent diseases</a:t>
            </a:r>
            <a:endParaRPr lang="en-US" sz="2400" dirty="0"/>
          </a:p>
          <a:p>
            <a:pPr lvl="1"/>
            <a:r>
              <a:rPr lang="en-US" dirty="0"/>
              <a:t>Facilities (diagnostic facilities, treatment facilities, physical facilities for distribution and facilities)</a:t>
            </a:r>
            <a:endParaRPr lang="en-US" sz="2400" dirty="0"/>
          </a:p>
          <a:p>
            <a:pPr lvl="1"/>
            <a:r>
              <a:rPr lang="en-US" dirty="0"/>
              <a:t>Training and experience of available personnel</a:t>
            </a:r>
            <a:endParaRPr lang="en-US" sz="2400" dirty="0"/>
          </a:p>
          <a:p>
            <a:pPr lvl="1"/>
            <a:r>
              <a:rPr lang="en-US" dirty="0"/>
              <a:t>Drug products only for which sound and adequate scientific data on efficacy, safety, quality, bioavailability and stability are available;</a:t>
            </a:r>
            <a:endParaRPr lang="en-US" sz="2400" dirty="0"/>
          </a:p>
          <a:p>
            <a:endParaRPr lang="en-US" dirty="0"/>
          </a:p>
        </p:txBody>
      </p:sp>
      <p:sp>
        <p:nvSpPr>
          <p:cNvPr id="4" name="Date Placeholder 3"/>
          <p:cNvSpPr>
            <a:spLocks noGrp="1"/>
          </p:cNvSpPr>
          <p:nvPr>
            <p:ph type="dt" sz="half" idx="10"/>
          </p:nvPr>
        </p:nvSpPr>
        <p:spPr/>
        <p:txBody>
          <a:bodyPr/>
          <a:lstStyle/>
          <a:p>
            <a:fld id="{0E21391E-638A-46B9-8570-856955D69DB1}" type="datetime1">
              <a:rPr lang="en-US" smtClean="0">
                <a:solidFill>
                  <a:prstClr val="black">
                    <a:tint val="75000"/>
                  </a:prstClr>
                </a:solidFill>
              </a:rPr>
              <a:t>1/31/2026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Drug Supply Management</a:t>
            </a:r>
          </a:p>
        </p:txBody>
      </p:sp>
      <p:sp>
        <p:nvSpPr>
          <p:cNvPr id="6" name="Slide Number Placeholder 5"/>
          <p:cNvSpPr>
            <a:spLocks noGrp="1"/>
          </p:cNvSpPr>
          <p:nvPr>
            <p:ph type="sldNum" sz="quarter" idx="12"/>
          </p:nvPr>
        </p:nvSpPr>
        <p:spPr/>
        <p:txBody>
          <a:bodyPr/>
          <a:lstStyle/>
          <a:p>
            <a:fld id="{1CD2F681-1A86-4E8F-BCBD-B1ED175AC95E}" type="slidenum">
              <a:rPr lang="en-US" smtClean="0">
                <a:solidFill>
                  <a:prstClr val="black">
                    <a:tint val="75000"/>
                  </a:prstClr>
                </a:solidFill>
              </a:rPr>
              <a:t>136</a:t>
            </a:fld>
            <a:endParaRPr lang="en-US">
              <a:solidFill>
                <a:prstClr val="black">
                  <a:tint val="75000"/>
                </a:prstClr>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lnSpcReduction="10000"/>
          </a:bodyPr>
          <a:lstStyle/>
          <a:p>
            <a:pPr lvl="1"/>
            <a:r>
              <a:rPr lang="en-US" dirty="0"/>
              <a:t>Possibilities of easy and prompt procurement and local manufacture</a:t>
            </a:r>
            <a:endParaRPr lang="en-US" sz="2400" dirty="0"/>
          </a:p>
          <a:p>
            <a:pPr lvl="1"/>
            <a:r>
              <a:rPr lang="en-US" dirty="0"/>
              <a:t>Drug products with widest possible coverage for the prevailing diseases</a:t>
            </a:r>
            <a:endParaRPr lang="en-US" sz="2400" dirty="0"/>
          </a:p>
          <a:p>
            <a:pPr lvl="1"/>
            <a:r>
              <a:rPr lang="en-US" dirty="0"/>
              <a:t>Drugs with affordable cost by considering total cost of treatment not only the unit cost of drug(s)</a:t>
            </a:r>
            <a:endParaRPr lang="en-US" sz="2400" dirty="0"/>
          </a:p>
          <a:p>
            <a:pPr lvl="1"/>
            <a:r>
              <a:rPr lang="en-US" dirty="0"/>
              <a:t>Single ingredient drug products</a:t>
            </a:r>
            <a:endParaRPr lang="en-US" sz="2400" dirty="0"/>
          </a:p>
          <a:p>
            <a:endParaRPr lang="en-US" dirty="0"/>
          </a:p>
          <a:p>
            <a:r>
              <a:rPr lang="en-US" dirty="0"/>
              <a:t>When two or more drugs seem similar in the above respects selection can be based on:</a:t>
            </a:r>
          </a:p>
          <a:p>
            <a:pPr lvl="1"/>
            <a:r>
              <a:rPr lang="en-US" dirty="0"/>
              <a:t>The most thoroughly investigated drug</a:t>
            </a:r>
          </a:p>
          <a:p>
            <a:pPr lvl="1"/>
            <a:r>
              <a:rPr lang="en-US" dirty="0"/>
              <a:t>Drug(s) which offers better patient compliance </a:t>
            </a:r>
          </a:p>
          <a:p>
            <a:pPr lvl="1"/>
            <a:r>
              <a:rPr lang="en-US" dirty="0"/>
              <a:t>Drug(s) which are locally available</a:t>
            </a:r>
          </a:p>
          <a:p>
            <a:endParaRPr lang="en-US" dirty="0"/>
          </a:p>
        </p:txBody>
      </p:sp>
      <p:sp>
        <p:nvSpPr>
          <p:cNvPr id="2" name="Date Placeholder 1"/>
          <p:cNvSpPr>
            <a:spLocks noGrp="1"/>
          </p:cNvSpPr>
          <p:nvPr>
            <p:ph type="dt" sz="half" idx="10"/>
          </p:nvPr>
        </p:nvSpPr>
        <p:spPr/>
        <p:txBody>
          <a:bodyPr/>
          <a:lstStyle/>
          <a:p>
            <a:fld id="{EA9287BB-1F49-4E8C-AAA6-4D45BF5249C4}" type="datetime1">
              <a:rPr lang="en-US" smtClean="0">
                <a:solidFill>
                  <a:prstClr val="black">
                    <a:tint val="75000"/>
                  </a:prstClr>
                </a:solidFill>
              </a:rPr>
              <a:t>1/31/2026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r>
              <a:rPr lang="en-US">
                <a:solidFill>
                  <a:prstClr val="black">
                    <a:tint val="75000"/>
                  </a:prstClr>
                </a:solidFill>
              </a:rPr>
              <a:t>Drug Supply Management</a:t>
            </a:r>
          </a:p>
        </p:txBody>
      </p:sp>
      <p:sp>
        <p:nvSpPr>
          <p:cNvPr id="5" name="Slide Number Placeholder 4"/>
          <p:cNvSpPr>
            <a:spLocks noGrp="1"/>
          </p:cNvSpPr>
          <p:nvPr>
            <p:ph type="sldNum" sz="quarter" idx="12"/>
          </p:nvPr>
        </p:nvSpPr>
        <p:spPr/>
        <p:txBody>
          <a:bodyPr/>
          <a:lstStyle/>
          <a:p>
            <a:fld id="{1CD2F681-1A86-4E8F-BCBD-B1ED175AC95E}" type="slidenum">
              <a:rPr lang="en-US" smtClean="0">
                <a:solidFill>
                  <a:prstClr val="black">
                    <a:tint val="75000"/>
                  </a:prstClr>
                </a:solidFill>
              </a:rPr>
              <a:t>137</a:t>
            </a:fld>
            <a:endParaRPr lang="en-US">
              <a:solidFill>
                <a:prstClr val="black">
                  <a:tint val="75000"/>
                </a:prstClr>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1000"/>
                                        <p:tgtEl>
                                          <p:spTgt spid="3">
                                            <p:txEl>
                                              <p:pRg st="5" end="5"/>
                                            </p:txEl>
                                          </p:spTgt>
                                        </p:tgtEl>
                                      </p:cBhvr>
                                    </p:animEffect>
                                    <p:anim calcmode="lin" valueType="num">
                                      <p:cBhvr>
                                        <p:cTn id="3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1000"/>
                                        <p:tgtEl>
                                          <p:spTgt spid="3">
                                            <p:txEl>
                                              <p:pRg st="6" end="6"/>
                                            </p:txEl>
                                          </p:spTgt>
                                        </p:tgtEl>
                                      </p:cBhvr>
                                    </p:animEffect>
                                    <p:anim calcmode="lin" valueType="num">
                                      <p:cBhvr>
                                        <p:cTn id="3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1000"/>
                                        <p:tgtEl>
                                          <p:spTgt spid="3">
                                            <p:txEl>
                                              <p:pRg st="7" end="7"/>
                                            </p:txEl>
                                          </p:spTgt>
                                        </p:tgtEl>
                                      </p:cBhvr>
                                    </p:animEffect>
                                    <p:anim calcmode="lin" valueType="num">
                                      <p:cBhvr>
                                        <p:cTn id="4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Effect transition="in" filter="fade">
                                      <p:cBhvr>
                                        <p:cTn id="44" dur="1000"/>
                                        <p:tgtEl>
                                          <p:spTgt spid="3">
                                            <p:txEl>
                                              <p:pRg st="8" end="8"/>
                                            </p:txEl>
                                          </p:spTgt>
                                        </p:tgtEl>
                                      </p:cBhvr>
                                    </p:animEffect>
                                    <p:anim calcmode="lin" valueType="num">
                                      <p:cBhvr>
                                        <p:cTn id="45"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Basic steps in drug selection</a:t>
            </a:r>
          </a:p>
        </p:txBody>
      </p:sp>
      <p:sp>
        <p:nvSpPr>
          <p:cNvPr id="3" name="Content Placeholder 2"/>
          <p:cNvSpPr>
            <a:spLocks noGrp="1"/>
          </p:cNvSpPr>
          <p:nvPr>
            <p:ph idx="1"/>
          </p:nvPr>
        </p:nvSpPr>
        <p:spPr/>
        <p:txBody>
          <a:bodyPr>
            <a:normAutofit fontScale="85000" lnSpcReduction="10000"/>
          </a:bodyPr>
          <a:lstStyle/>
          <a:p>
            <a:pPr lvl="0"/>
            <a:r>
              <a:rPr lang="en-US" dirty="0"/>
              <a:t>Establish Drug Selection Committee</a:t>
            </a:r>
          </a:p>
          <a:p>
            <a:pPr lvl="0"/>
            <a:r>
              <a:rPr lang="en-US" dirty="0"/>
              <a:t>Determine the prevalent health problems and patient characteristics</a:t>
            </a:r>
          </a:p>
          <a:p>
            <a:pPr lvl="0"/>
            <a:r>
              <a:rPr lang="en-US" dirty="0"/>
              <a:t>Decide which health problems may be treated at the level of drug selection</a:t>
            </a:r>
          </a:p>
          <a:p>
            <a:pPr lvl="0"/>
            <a:r>
              <a:rPr lang="en-US" dirty="0"/>
              <a:t>Choose the drugs to be used for the health problems</a:t>
            </a:r>
          </a:p>
          <a:p>
            <a:pPr lvl="0"/>
            <a:r>
              <a:rPr lang="en-US" dirty="0"/>
              <a:t>Structure the list</a:t>
            </a:r>
          </a:p>
          <a:p>
            <a:pPr lvl="0"/>
            <a:r>
              <a:rPr lang="en-US" dirty="0"/>
              <a:t>Introducing the list of drugs to health professionals of institution and other concerned bodies</a:t>
            </a:r>
          </a:p>
          <a:p>
            <a:pPr lvl="0"/>
            <a:r>
              <a:rPr lang="en-US" dirty="0"/>
              <a:t>Updating the list of drugs</a:t>
            </a:r>
          </a:p>
          <a:p>
            <a:endParaRPr lang="en-US" dirty="0"/>
          </a:p>
        </p:txBody>
      </p:sp>
      <p:sp>
        <p:nvSpPr>
          <p:cNvPr id="4" name="Date Placeholder 3"/>
          <p:cNvSpPr>
            <a:spLocks noGrp="1"/>
          </p:cNvSpPr>
          <p:nvPr>
            <p:ph type="dt" sz="half" idx="10"/>
          </p:nvPr>
        </p:nvSpPr>
        <p:spPr/>
        <p:txBody>
          <a:bodyPr/>
          <a:lstStyle/>
          <a:p>
            <a:fld id="{9C36763A-B041-4F33-9E87-18D037E82BE2}" type="datetime1">
              <a:rPr lang="en-US" smtClean="0">
                <a:solidFill>
                  <a:prstClr val="black">
                    <a:tint val="75000"/>
                  </a:prstClr>
                </a:solidFill>
              </a:rPr>
              <a:t>1/31/2026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Drug Supply Management</a:t>
            </a:r>
          </a:p>
        </p:txBody>
      </p:sp>
      <p:sp>
        <p:nvSpPr>
          <p:cNvPr id="6" name="Slide Number Placeholder 5"/>
          <p:cNvSpPr>
            <a:spLocks noGrp="1"/>
          </p:cNvSpPr>
          <p:nvPr>
            <p:ph type="sldNum" sz="quarter" idx="12"/>
          </p:nvPr>
        </p:nvSpPr>
        <p:spPr/>
        <p:txBody>
          <a:bodyPr/>
          <a:lstStyle/>
          <a:p>
            <a:fld id="{1CD2F681-1A86-4E8F-BCBD-B1ED175AC95E}" type="slidenum">
              <a:rPr lang="en-US" smtClean="0">
                <a:solidFill>
                  <a:prstClr val="black">
                    <a:tint val="75000"/>
                  </a:prstClr>
                </a:solidFill>
              </a:rPr>
              <a:t>138</a:t>
            </a:fld>
            <a:endParaRPr lang="en-US">
              <a:solidFill>
                <a:prstClr val="black">
                  <a:tint val="75000"/>
                </a:prstClr>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lstStyle/>
          <a:p>
            <a:r>
              <a:rPr lang="en-US" dirty="0"/>
              <a:t>Very important:</a:t>
            </a:r>
          </a:p>
          <a:p>
            <a:endParaRPr lang="en-US" dirty="0"/>
          </a:p>
          <a:p>
            <a:pPr algn="ctr">
              <a:buNone/>
            </a:pPr>
            <a:r>
              <a:rPr lang="en-US" b="1" dirty="0">
                <a:solidFill>
                  <a:srgbClr val="00B0F0"/>
                </a:solidFill>
              </a:rPr>
              <a:t>Paralleling preparation of drug list with development of formulary and standard treatment guideline</a:t>
            </a:r>
          </a:p>
        </p:txBody>
      </p:sp>
      <p:sp>
        <p:nvSpPr>
          <p:cNvPr id="2" name="Date Placeholder 1"/>
          <p:cNvSpPr>
            <a:spLocks noGrp="1"/>
          </p:cNvSpPr>
          <p:nvPr>
            <p:ph type="dt" sz="half" idx="10"/>
          </p:nvPr>
        </p:nvSpPr>
        <p:spPr/>
        <p:txBody>
          <a:bodyPr/>
          <a:lstStyle/>
          <a:p>
            <a:fld id="{D273DC87-1D42-46F5-9D69-14920F506E4C}" type="datetime1">
              <a:rPr lang="en-US" smtClean="0">
                <a:solidFill>
                  <a:prstClr val="black">
                    <a:tint val="75000"/>
                  </a:prstClr>
                </a:solidFill>
              </a:rPr>
              <a:t>1/31/2026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r>
              <a:rPr lang="en-US">
                <a:solidFill>
                  <a:prstClr val="black">
                    <a:tint val="75000"/>
                  </a:prstClr>
                </a:solidFill>
              </a:rPr>
              <a:t>Drug Supply Management</a:t>
            </a:r>
          </a:p>
        </p:txBody>
      </p:sp>
      <p:sp>
        <p:nvSpPr>
          <p:cNvPr id="5" name="Slide Number Placeholder 4"/>
          <p:cNvSpPr>
            <a:spLocks noGrp="1"/>
          </p:cNvSpPr>
          <p:nvPr>
            <p:ph type="sldNum" sz="quarter" idx="12"/>
          </p:nvPr>
        </p:nvSpPr>
        <p:spPr/>
        <p:txBody>
          <a:bodyPr/>
          <a:lstStyle/>
          <a:p>
            <a:fld id="{1CD2F681-1A86-4E8F-BCBD-B1ED175AC95E}" type="slidenum">
              <a:rPr lang="en-US" smtClean="0">
                <a:solidFill>
                  <a:prstClr val="black">
                    <a:tint val="75000"/>
                  </a:prstClr>
                </a:solidFill>
              </a:rPr>
              <a:t>139</a:t>
            </a:fld>
            <a:endParaRPr lang="en-US">
              <a:solidFill>
                <a:prstClr val="black">
                  <a:tint val="75000"/>
                </a:prstClr>
              </a:solidFill>
            </a:endParaRPr>
          </a:p>
        </p:txBody>
      </p:sp>
    </p:spTree>
  </p:cSld>
  <p:clrMapOvr>
    <a:masterClrMapping/>
  </p:clrMapOvr>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Source of drug information</a:t>
            </a:r>
          </a:p>
        </p:txBody>
      </p:sp>
      <p:sp>
        <p:nvSpPr>
          <p:cNvPr id="3" name="Content Placeholder 2"/>
          <p:cNvSpPr>
            <a:spLocks noGrp="1"/>
          </p:cNvSpPr>
          <p:nvPr>
            <p:ph idx="1"/>
          </p:nvPr>
        </p:nvSpPr>
        <p:spPr/>
        <p:txBody>
          <a:bodyPr/>
          <a:lstStyle/>
          <a:p>
            <a:r>
              <a:rPr lang="en-US" dirty="0"/>
              <a:t>Primary</a:t>
            </a:r>
          </a:p>
          <a:p>
            <a:endParaRPr lang="en-US" dirty="0"/>
          </a:p>
          <a:p>
            <a:r>
              <a:rPr lang="en-US" dirty="0"/>
              <a:t>Secondary</a:t>
            </a:r>
          </a:p>
          <a:p>
            <a:endParaRPr lang="en-US" dirty="0"/>
          </a:p>
          <a:p>
            <a:r>
              <a:rPr lang="en-US" dirty="0"/>
              <a:t>Tertiary </a:t>
            </a:r>
          </a:p>
        </p:txBody>
      </p:sp>
      <p:sp>
        <p:nvSpPr>
          <p:cNvPr id="4" name="Date Placeholder 3"/>
          <p:cNvSpPr>
            <a:spLocks noGrp="1"/>
          </p:cNvSpPr>
          <p:nvPr>
            <p:ph type="dt" sz="half" idx="10"/>
          </p:nvPr>
        </p:nvSpPr>
        <p:spPr/>
        <p:txBody>
          <a:bodyPr/>
          <a:lstStyle/>
          <a:p>
            <a:fld id="{C03B184B-4728-43E6-9E45-9AC71FDAA737}" type="datetime1">
              <a:rPr lang="en-US" smtClean="0">
                <a:solidFill>
                  <a:prstClr val="black">
                    <a:tint val="75000"/>
                  </a:prstClr>
                </a:solidFill>
              </a:rPr>
              <a:t>1/31/2026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Drug Supply Management</a:t>
            </a:r>
          </a:p>
        </p:txBody>
      </p:sp>
      <p:sp>
        <p:nvSpPr>
          <p:cNvPr id="6" name="Slide Number Placeholder 5"/>
          <p:cNvSpPr>
            <a:spLocks noGrp="1"/>
          </p:cNvSpPr>
          <p:nvPr>
            <p:ph type="sldNum" sz="quarter" idx="12"/>
          </p:nvPr>
        </p:nvSpPr>
        <p:spPr/>
        <p:txBody>
          <a:bodyPr/>
          <a:lstStyle/>
          <a:p>
            <a:fld id="{1CD2F681-1A86-4E8F-BCBD-B1ED175AC95E}" type="slidenum">
              <a:rPr lang="en-US" smtClean="0">
                <a:solidFill>
                  <a:prstClr val="black">
                    <a:tint val="75000"/>
                  </a:prstClr>
                </a:solidFill>
              </a:rPr>
              <a:t>140</a:t>
            </a:fld>
            <a:endParaRPr lang="en-US">
              <a:solidFill>
                <a:prstClr val="black">
                  <a:tint val="75000"/>
                </a:prstClr>
              </a:solidFill>
            </a:endParaRPr>
          </a:p>
        </p:txBody>
      </p:sp>
    </p:spTree>
  </p:cSld>
  <p:clrMapOvr>
    <a:masterClrMapping/>
  </p:clrMapOv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5897562"/>
          </a:xfrm>
        </p:spPr>
        <p:txBody>
          <a:bodyPr/>
          <a:lstStyle/>
          <a:p>
            <a:r>
              <a:rPr lang="en-US" dirty="0"/>
              <a:t>3.3. DRUG QUANTIFICATION</a:t>
            </a:r>
          </a:p>
        </p:txBody>
      </p:sp>
      <p:sp>
        <p:nvSpPr>
          <p:cNvPr id="5" name="Date Placeholder 4"/>
          <p:cNvSpPr>
            <a:spLocks noGrp="1"/>
          </p:cNvSpPr>
          <p:nvPr>
            <p:ph type="dt" sz="half" idx="10"/>
          </p:nvPr>
        </p:nvSpPr>
        <p:spPr/>
        <p:txBody>
          <a:bodyPr/>
          <a:lstStyle/>
          <a:p>
            <a:fld id="{99F432C2-46F5-444F-868A-238707A58BB3}" type="datetime1">
              <a:rPr lang="en-US" smtClean="0">
                <a:solidFill>
                  <a:prstClr val="black">
                    <a:tint val="75000"/>
                  </a:prstClr>
                </a:solidFill>
              </a:rPr>
              <a:t>1/31/2026</a:t>
            </a:fld>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4C07B8F-4B6E-44C2-9B43-6C0464F993AC}" type="slidenum">
              <a:rPr lang="en-US" smtClean="0">
                <a:solidFill>
                  <a:prstClr val="black">
                    <a:tint val="75000"/>
                  </a:prstClr>
                </a:solidFill>
              </a:rPr>
              <a:t>141</a:t>
            </a:fld>
            <a:endParaRPr lang="en-US">
              <a:solidFill>
                <a:prstClr val="black">
                  <a:tint val="75000"/>
                </a:prstClr>
              </a:solidFill>
            </a:endParaRPr>
          </a:p>
        </p:txBody>
      </p:sp>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r>
              <a:rPr lang="en-US" dirty="0"/>
              <a:t>It is the process of determining the amount of drug products needed for the purpose of procurement. </a:t>
            </a:r>
          </a:p>
          <a:p>
            <a:endParaRPr lang="en-US" dirty="0"/>
          </a:p>
          <a:p>
            <a:r>
              <a:rPr lang="en-US" dirty="0"/>
              <a:t>Appropriate drug quantification can avoid:</a:t>
            </a:r>
          </a:p>
          <a:p>
            <a:pPr lvl="1"/>
            <a:r>
              <a:rPr lang="en-US" dirty="0"/>
              <a:t> Shortage of (out of stock) of drugs as well as </a:t>
            </a:r>
          </a:p>
          <a:p>
            <a:pPr lvl="1"/>
            <a:r>
              <a:rPr lang="en-US" dirty="0"/>
              <a:t>Overstock of drugs.</a:t>
            </a:r>
          </a:p>
          <a:p>
            <a:endParaRPr lang="en-US" dirty="0"/>
          </a:p>
        </p:txBody>
      </p:sp>
      <p:sp>
        <p:nvSpPr>
          <p:cNvPr id="4" name="Date Placeholder 3"/>
          <p:cNvSpPr>
            <a:spLocks noGrp="1"/>
          </p:cNvSpPr>
          <p:nvPr>
            <p:ph type="dt" sz="half" idx="10"/>
          </p:nvPr>
        </p:nvSpPr>
        <p:spPr/>
        <p:txBody>
          <a:bodyPr/>
          <a:lstStyle/>
          <a:p>
            <a:fld id="{BDA9CB32-E7DD-4ACA-B44D-3D39224E1B65}"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142</a:t>
            </a:fld>
            <a:endParaRPr lang="en-US">
              <a:solidFill>
                <a:prstClr val="black">
                  <a:tint val="75000"/>
                </a:prstClr>
              </a:solidFill>
            </a:endParaRPr>
          </a:p>
        </p:txBody>
      </p:sp>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anim calcmode="lin" valueType="num">
                                      <p:cBhvr>
                                        <p:cTn id="2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1000"/>
                                        <p:tgtEl>
                                          <p:spTgt spid="3">
                                            <p:txEl>
                                              <p:pRg st="4" end="4"/>
                                            </p:txEl>
                                          </p:spTgt>
                                        </p:tgtEl>
                                      </p:cBhvr>
                                    </p:animEffect>
                                    <p:anim calcmode="lin" valueType="num">
                                      <p:cBhvr>
                                        <p:cTn id="2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lnSpcReduction="10000"/>
          </a:bodyPr>
          <a:lstStyle/>
          <a:p>
            <a:pPr>
              <a:buNone/>
            </a:pPr>
            <a:r>
              <a:rPr lang="en-US" b="1" dirty="0"/>
              <a:t>Indicators of poor quantification:</a:t>
            </a:r>
            <a:endParaRPr lang="en-US" dirty="0"/>
          </a:p>
          <a:p>
            <a:pPr lvl="0"/>
            <a:r>
              <a:rPr lang="en-US" dirty="0"/>
              <a:t>Shortage of drugs</a:t>
            </a:r>
          </a:p>
          <a:p>
            <a:pPr lvl="0"/>
            <a:endParaRPr lang="en-US" dirty="0"/>
          </a:p>
          <a:p>
            <a:pPr lvl="0"/>
            <a:r>
              <a:rPr lang="en-US" dirty="0"/>
              <a:t>Overstocking of drugs</a:t>
            </a:r>
          </a:p>
          <a:p>
            <a:pPr lvl="0"/>
            <a:endParaRPr lang="en-US" dirty="0"/>
          </a:p>
          <a:p>
            <a:pPr lvl="0"/>
            <a:r>
              <a:rPr lang="en-US" dirty="0"/>
              <a:t>Irrational prescribing</a:t>
            </a:r>
          </a:p>
          <a:p>
            <a:pPr lvl="0"/>
            <a:endParaRPr lang="en-US" dirty="0"/>
          </a:p>
          <a:p>
            <a:pPr lvl="0"/>
            <a:r>
              <a:rPr lang="en-US" dirty="0"/>
              <a:t>Inefficient budget use</a:t>
            </a:r>
          </a:p>
          <a:p>
            <a:pPr lvl="0"/>
            <a:endParaRPr lang="en-US" dirty="0"/>
          </a:p>
          <a:p>
            <a:pPr lvl="0"/>
            <a:r>
              <a:rPr lang="en-US" dirty="0"/>
              <a:t>Suppression or distortion of demand</a:t>
            </a:r>
          </a:p>
          <a:p>
            <a:endParaRPr lang="en-US" dirty="0"/>
          </a:p>
        </p:txBody>
      </p:sp>
      <p:sp>
        <p:nvSpPr>
          <p:cNvPr id="4" name="Date Placeholder 3"/>
          <p:cNvSpPr>
            <a:spLocks noGrp="1"/>
          </p:cNvSpPr>
          <p:nvPr>
            <p:ph type="dt" sz="half" idx="10"/>
          </p:nvPr>
        </p:nvSpPr>
        <p:spPr/>
        <p:txBody>
          <a:bodyPr/>
          <a:lstStyle/>
          <a:p>
            <a:fld id="{06F8396E-BC59-40E6-B4BC-378129AA8D3B}"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143</a:t>
            </a:fld>
            <a:endParaRPr lang="en-US">
              <a:solidFill>
                <a:prstClr val="black">
                  <a:tint val="75000"/>
                </a:prstClr>
              </a:solidFill>
            </a:endParaRPr>
          </a:p>
        </p:txBody>
      </p:sp>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1000"/>
                                        <p:tgtEl>
                                          <p:spTgt spid="3">
                                            <p:txEl>
                                              <p:pRg st="5" end="5"/>
                                            </p:txEl>
                                          </p:spTgt>
                                        </p:tgtEl>
                                      </p:cBhvr>
                                    </p:animEffect>
                                    <p:anim calcmode="lin" valueType="num">
                                      <p:cBhvr>
                                        <p:cTn id="2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1000"/>
                                        <p:tgtEl>
                                          <p:spTgt spid="3">
                                            <p:txEl>
                                              <p:pRg st="7" end="7"/>
                                            </p:txEl>
                                          </p:spTgt>
                                        </p:tgtEl>
                                      </p:cBhvr>
                                    </p:animEffect>
                                    <p:anim calcmode="lin" valueType="num">
                                      <p:cBhvr>
                                        <p:cTn id="36"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1000"/>
                                        <p:tgtEl>
                                          <p:spTgt spid="3">
                                            <p:txEl>
                                              <p:pRg st="9" end="9"/>
                                            </p:txEl>
                                          </p:spTgt>
                                        </p:tgtEl>
                                      </p:cBhvr>
                                    </p:animEffect>
                                    <p:anim calcmode="lin" valueType="num">
                                      <p:cBhvr>
                                        <p:cTn id="43"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Quantification Methods</a:t>
            </a:r>
          </a:p>
        </p:txBody>
      </p:sp>
      <p:sp>
        <p:nvSpPr>
          <p:cNvPr id="3" name="Content Placeholder 2"/>
          <p:cNvSpPr>
            <a:spLocks noGrp="1"/>
          </p:cNvSpPr>
          <p:nvPr>
            <p:ph idx="1"/>
          </p:nvPr>
        </p:nvSpPr>
        <p:spPr/>
        <p:txBody>
          <a:bodyPr/>
          <a:lstStyle/>
          <a:p>
            <a:pPr>
              <a:buNone/>
            </a:pPr>
            <a:r>
              <a:rPr lang="en-US" dirty="0"/>
              <a:t>The four general methods for quantification are:</a:t>
            </a:r>
          </a:p>
          <a:p>
            <a:pPr lvl="0"/>
            <a:r>
              <a:rPr lang="en-US" b="1" dirty="0">
                <a:solidFill>
                  <a:schemeClr val="tx2">
                    <a:lumMod val="60000"/>
                    <a:lumOff val="40000"/>
                  </a:schemeClr>
                </a:solidFill>
              </a:rPr>
              <a:t>Consumption method</a:t>
            </a:r>
          </a:p>
          <a:p>
            <a:pPr lvl="0"/>
            <a:r>
              <a:rPr lang="en-US" b="1" dirty="0">
                <a:solidFill>
                  <a:schemeClr val="tx2">
                    <a:lumMod val="60000"/>
                    <a:lumOff val="40000"/>
                  </a:schemeClr>
                </a:solidFill>
              </a:rPr>
              <a:t>Morbidity method</a:t>
            </a:r>
          </a:p>
          <a:p>
            <a:pPr lvl="0"/>
            <a:r>
              <a:rPr lang="en-US" b="1" dirty="0">
                <a:solidFill>
                  <a:schemeClr val="tx2">
                    <a:lumMod val="60000"/>
                    <a:lumOff val="40000"/>
                  </a:schemeClr>
                </a:solidFill>
              </a:rPr>
              <a:t>Proxy consumption/adjusted consumption method</a:t>
            </a:r>
          </a:p>
          <a:p>
            <a:pPr lvl="0"/>
            <a:r>
              <a:rPr lang="en-US" b="1" dirty="0">
                <a:solidFill>
                  <a:schemeClr val="tx2">
                    <a:lumMod val="60000"/>
                    <a:lumOff val="40000"/>
                  </a:schemeClr>
                </a:solidFill>
              </a:rPr>
              <a:t>Service level projection of budget requirements</a:t>
            </a:r>
          </a:p>
          <a:p>
            <a:endParaRPr lang="en-US" dirty="0"/>
          </a:p>
        </p:txBody>
      </p:sp>
      <p:sp>
        <p:nvSpPr>
          <p:cNvPr id="4" name="Date Placeholder 3"/>
          <p:cNvSpPr>
            <a:spLocks noGrp="1"/>
          </p:cNvSpPr>
          <p:nvPr>
            <p:ph type="dt" sz="half" idx="10"/>
          </p:nvPr>
        </p:nvSpPr>
        <p:spPr/>
        <p:txBody>
          <a:bodyPr/>
          <a:lstStyle/>
          <a:p>
            <a:fld id="{33921E2D-888F-49E9-883A-C50C6A344694}"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144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a:buNone/>
            </a:pPr>
            <a:r>
              <a:rPr lang="en-US" b="1" i="1" dirty="0"/>
              <a:t>Selection of the appropriate quantification method requires considering:</a:t>
            </a:r>
          </a:p>
          <a:p>
            <a:pPr lvl="0"/>
            <a:r>
              <a:rPr lang="en-US" dirty="0"/>
              <a:t>Advantages and disadvantages</a:t>
            </a:r>
          </a:p>
          <a:p>
            <a:pPr lvl="0"/>
            <a:r>
              <a:rPr lang="en-US" dirty="0"/>
              <a:t>The conditions under which each method can be applied</a:t>
            </a:r>
          </a:p>
          <a:p>
            <a:pPr lvl="0"/>
            <a:r>
              <a:rPr lang="en-US" dirty="0"/>
              <a:t>The sets of data required</a:t>
            </a:r>
          </a:p>
          <a:p>
            <a:pPr lvl="0"/>
            <a:r>
              <a:rPr lang="en-US" dirty="0"/>
              <a:t>The organization of the drug supply system</a:t>
            </a:r>
          </a:p>
          <a:p>
            <a:pPr lvl="0"/>
            <a:r>
              <a:rPr lang="en-US" dirty="0"/>
              <a:t>Additional purposes</a:t>
            </a:r>
          </a:p>
          <a:p>
            <a:pPr marL="0" indent="0">
              <a:buNone/>
            </a:pPr>
            <a:endParaRPr lang="en-US" dirty="0"/>
          </a:p>
        </p:txBody>
      </p:sp>
      <p:sp>
        <p:nvSpPr>
          <p:cNvPr id="4" name="Date Placeholder 3"/>
          <p:cNvSpPr>
            <a:spLocks noGrp="1"/>
          </p:cNvSpPr>
          <p:nvPr>
            <p:ph type="dt" sz="half" idx="10"/>
          </p:nvPr>
        </p:nvSpPr>
        <p:spPr/>
        <p:txBody>
          <a:bodyPr/>
          <a:lstStyle/>
          <a:p>
            <a:fld id="{A4EE3D18-F57C-4A91-8CF7-DBC76F2DE75C}"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145</a:t>
            </a:fld>
            <a:endParaRPr lang="en-US">
              <a:solidFill>
                <a:prstClr val="black">
                  <a:tint val="75000"/>
                </a:prstClr>
              </a:solidFill>
            </a:endParaRPr>
          </a:p>
        </p:txBody>
      </p:sp>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 Consumption method</a:t>
            </a:r>
          </a:p>
        </p:txBody>
      </p:sp>
      <p:sp>
        <p:nvSpPr>
          <p:cNvPr id="3" name="Content Placeholder 2"/>
          <p:cNvSpPr>
            <a:spLocks noGrp="1"/>
          </p:cNvSpPr>
          <p:nvPr>
            <p:ph idx="1"/>
          </p:nvPr>
        </p:nvSpPr>
        <p:spPr/>
        <p:txBody>
          <a:bodyPr>
            <a:normAutofit/>
          </a:bodyPr>
          <a:lstStyle/>
          <a:p>
            <a:pPr lvl="0"/>
            <a:r>
              <a:rPr lang="en-US" dirty="0"/>
              <a:t>Involves using records of past consumption on individual medicines</a:t>
            </a:r>
            <a:endParaRPr lang="en-US" sz="2800" dirty="0"/>
          </a:p>
          <a:p>
            <a:pPr lvl="0"/>
            <a:r>
              <a:rPr lang="en-US" dirty="0"/>
              <a:t>It can be used under the following conditions:</a:t>
            </a:r>
            <a:endParaRPr lang="en-US" sz="2800" dirty="0"/>
          </a:p>
          <a:p>
            <a:pPr lvl="1"/>
            <a:r>
              <a:rPr lang="en-US" dirty="0"/>
              <a:t>Adequate fund</a:t>
            </a:r>
            <a:endParaRPr lang="en-US" sz="2400" dirty="0"/>
          </a:p>
          <a:p>
            <a:pPr lvl="1"/>
            <a:r>
              <a:rPr lang="en-US" dirty="0"/>
              <a:t>Acceptable pattern of prescribing</a:t>
            </a:r>
            <a:endParaRPr lang="en-US" sz="2400" dirty="0"/>
          </a:p>
          <a:p>
            <a:pPr lvl="1"/>
            <a:r>
              <a:rPr lang="en-US" dirty="0"/>
              <a:t>Adequate and uninterrupted drug supply</a:t>
            </a:r>
            <a:endParaRPr lang="en-US" sz="2400" dirty="0"/>
          </a:p>
          <a:p>
            <a:pPr lvl="1"/>
            <a:r>
              <a:rPr lang="en-US" dirty="0"/>
              <a:t>Good stock management</a:t>
            </a:r>
            <a:endParaRPr lang="en-US" sz="2400" dirty="0"/>
          </a:p>
          <a:p>
            <a:pPr lvl="1"/>
            <a:r>
              <a:rPr lang="en-US" dirty="0"/>
              <a:t>Low level of wastages and loses</a:t>
            </a:r>
            <a:endParaRPr lang="en-US" sz="2400" dirty="0"/>
          </a:p>
          <a:p>
            <a:endParaRPr lang="en-US" dirty="0"/>
          </a:p>
        </p:txBody>
      </p:sp>
      <p:sp>
        <p:nvSpPr>
          <p:cNvPr id="4" name="Date Placeholder 3"/>
          <p:cNvSpPr>
            <a:spLocks noGrp="1"/>
          </p:cNvSpPr>
          <p:nvPr>
            <p:ph type="dt" sz="half" idx="10"/>
          </p:nvPr>
        </p:nvSpPr>
        <p:spPr/>
        <p:txBody>
          <a:bodyPr/>
          <a:lstStyle/>
          <a:p>
            <a:fld id="{E7F10BED-13B4-452F-A54A-FF896CDC13A5}"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146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Effect transition="in" filter="fade">
                                      <p:cBhvr>
                                        <p:cTn id="39" dur="1000"/>
                                        <p:tgtEl>
                                          <p:spTgt spid="3">
                                            <p:txEl>
                                              <p:pRg st="6" end="6"/>
                                            </p:txEl>
                                          </p:spTgt>
                                        </p:tgtEl>
                                      </p:cBhvr>
                                    </p:animEffect>
                                    <p:anim calcmode="lin" valueType="num">
                                      <p:cBhvr>
                                        <p:cTn id="4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lvl="0">
              <a:buNone/>
            </a:pPr>
            <a:endParaRPr lang="en-US" dirty="0"/>
          </a:p>
          <a:p>
            <a:pPr lvl="0">
              <a:buNone/>
            </a:pPr>
            <a:endParaRPr lang="en-US" dirty="0"/>
          </a:p>
          <a:p>
            <a:pPr lvl="0">
              <a:buNone/>
            </a:pPr>
            <a:r>
              <a:rPr lang="en-US" dirty="0"/>
              <a:t>Data sets needed:</a:t>
            </a:r>
            <a:endParaRPr lang="en-US" sz="2800" dirty="0"/>
          </a:p>
          <a:p>
            <a:pPr lvl="1"/>
            <a:r>
              <a:rPr lang="en-US" dirty="0"/>
              <a:t>Consumption data</a:t>
            </a:r>
            <a:endParaRPr lang="en-US" sz="2400" dirty="0"/>
          </a:p>
          <a:p>
            <a:pPr lvl="1"/>
            <a:r>
              <a:rPr lang="en-US" dirty="0"/>
              <a:t>Drug list</a:t>
            </a:r>
            <a:endParaRPr lang="en-US" sz="2400" dirty="0"/>
          </a:p>
          <a:p>
            <a:pPr lvl="1"/>
            <a:r>
              <a:rPr lang="en-US" dirty="0"/>
              <a:t>Pharmaceutical budget</a:t>
            </a:r>
          </a:p>
        </p:txBody>
      </p:sp>
      <p:sp>
        <p:nvSpPr>
          <p:cNvPr id="4" name="Date Placeholder 3"/>
          <p:cNvSpPr>
            <a:spLocks noGrp="1"/>
          </p:cNvSpPr>
          <p:nvPr>
            <p:ph type="dt" sz="half" idx="10"/>
          </p:nvPr>
        </p:nvSpPr>
        <p:spPr/>
        <p:txBody>
          <a:bodyPr/>
          <a:lstStyle/>
          <a:p>
            <a:fld id="{666B8098-B765-457E-A475-5E0AC149EE4B}"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147</a:t>
            </a:fld>
            <a:endParaRPr lang="en-US">
              <a:solidFill>
                <a:prstClr val="black">
                  <a:tint val="75000"/>
                </a:prstClr>
              </a:solidFill>
            </a:endParaRPr>
          </a:p>
        </p:txBody>
      </p:sp>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1000"/>
                                        <p:tgtEl>
                                          <p:spTgt spid="3">
                                            <p:txEl>
                                              <p:pRg st="5" end="5"/>
                                            </p:txEl>
                                          </p:spTgt>
                                        </p:tgtEl>
                                      </p:cBhvr>
                                    </p:animEffect>
                                    <p:anim calcmode="lin" valueType="num">
                                      <p:cBhvr>
                                        <p:cTn id="2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a:buNone/>
            </a:pPr>
            <a:r>
              <a:rPr lang="en-US" b="1" dirty="0"/>
              <a:t>Steps in quantification</a:t>
            </a:r>
            <a:r>
              <a:rPr lang="en-US" dirty="0"/>
              <a:t>:</a:t>
            </a:r>
          </a:p>
          <a:p>
            <a:pPr marL="514350" lvl="0" indent="-514350">
              <a:buAutoNum type="arabicPeriod"/>
            </a:pPr>
            <a:r>
              <a:rPr lang="en-US" dirty="0"/>
              <a:t>Prepare/review a list of drugs with order pack size and price data</a:t>
            </a:r>
          </a:p>
          <a:p>
            <a:pPr marL="514350" lvl="0" indent="-514350">
              <a:buAutoNum type="arabicPeriod"/>
            </a:pPr>
            <a:endParaRPr lang="en-US" sz="2800" dirty="0"/>
          </a:p>
          <a:p>
            <a:pPr lvl="0">
              <a:buNone/>
            </a:pPr>
            <a:r>
              <a:rPr lang="en-US" dirty="0"/>
              <a:t>2. Select the period</a:t>
            </a:r>
          </a:p>
          <a:p>
            <a:pPr lvl="0">
              <a:buNone/>
            </a:pPr>
            <a:endParaRPr lang="en-US" sz="2800" dirty="0"/>
          </a:p>
          <a:p>
            <a:pPr lvl="0">
              <a:buNone/>
            </a:pPr>
            <a:r>
              <a:rPr lang="en-US" dirty="0"/>
              <a:t>3. Determine consumption of each drugs</a:t>
            </a:r>
            <a:endParaRPr lang="en-US" sz="2800" dirty="0"/>
          </a:p>
          <a:p>
            <a:pPr>
              <a:buNone/>
            </a:pPr>
            <a:r>
              <a:rPr lang="en-US" dirty="0"/>
              <a:t>     Recorded consumption = (opening stock + drug received)- (closing stock)</a:t>
            </a:r>
            <a:endParaRPr lang="en-US" sz="2800" dirty="0"/>
          </a:p>
          <a:p>
            <a:pPr>
              <a:buNone/>
            </a:pPr>
            <a:endParaRPr lang="en-US" dirty="0"/>
          </a:p>
        </p:txBody>
      </p:sp>
      <p:sp>
        <p:nvSpPr>
          <p:cNvPr id="4" name="Date Placeholder 3"/>
          <p:cNvSpPr>
            <a:spLocks noGrp="1"/>
          </p:cNvSpPr>
          <p:nvPr>
            <p:ph type="dt" sz="half" idx="10"/>
          </p:nvPr>
        </p:nvSpPr>
        <p:spPr/>
        <p:txBody>
          <a:bodyPr/>
          <a:lstStyle/>
          <a:p>
            <a:fld id="{F0C4C707-7919-4C58-A491-5D427A296A1E}"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148</a:t>
            </a:fld>
            <a:endParaRPr lang="en-US">
              <a:solidFill>
                <a:prstClr val="black">
                  <a:tint val="75000"/>
                </a:prstClr>
              </a:solidFill>
            </a:endParaRPr>
          </a:p>
        </p:txBody>
      </p:sp>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1000"/>
                                        <p:tgtEl>
                                          <p:spTgt spid="3">
                                            <p:txEl>
                                              <p:pRg st="5" end="5"/>
                                            </p:txEl>
                                          </p:spTgt>
                                        </p:tgtEl>
                                      </p:cBhvr>
                                    </p:animEffect>
                                    <p:anim calcmode="lin" valueType="num">
                                      <p:cBhvr>
                                        <p:cTn id="2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1000"/>
                                        <p:tgtEl>
                                          <p:spTgt spid="3">
                                            <p:txEl>
                                              <p:pRg st="6" end="6"/>
                                            </p:txEl>
                                          </p:spTgt>
                                        </p:tgtEl>
                                      </p:cBhvr>
                                    </p:animEffect>
                                    <p:anim calcmode="lin" valueType="num">
                                      <p:cBhvr>
                                        <p:cTn id="3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lvl="0">
              <a:buNone/>
            </a:pPr>
            <a:r>
              <a:rPr lang="en-US" dirty="0"/>
              <a:t>4. Adjust consumption for different reasons</a:t>
            </a:r>
            <a:endParaRPr lang="en-US" sz="2800" dirty="0"/>
          </a:p>
          <a:p>
            <a:pPr lvl="1"/>
            <a:r>
              <a:rPr lang="en-US" dirty="0"/>
              <a:t>For stock out:</a:t>
            </a:r>
          </a:p>
          <a:p>
            <a:pPr lvl="1"/>
            <a:endParaRPr lang="en-US" dirty="0"/>
          </a:p>
          <a:p>
            <a:pPr lvl="1"/>
            <a:endParaRPr lang="en-US" sz="2400" dirty="0"/>
          </a:p>
          <a:p>
            <a:pPr lvl="1">
              <a:buNone/>
            </a:pPr>
            <a:endParaRPr lang="en-US" dirty="0"/>
          </a:p>
          <a:p>
            <a:pPr lvl="1"/>
            <a:r>
              <a:rPr lang="en-US" dirty="0"/>
              <a:t>Other reasons: wastages/losses, expected changes in consumption pattern, ….</a:t>
            </a:r>
            <a:endParaRPr lang="en-US" sz="2400" dirty="0"/>
          </a:p>
          <a:p>
            <a:pPr lvl="0">
              <a:buNone/>
            </a:pPr>
            <a:r>
              <a:rPr lang="en-US" dirty="0"/>
              <a:t>5. Compile decentralized quantification (if applicable)</a:t>
            </a:r>
            <a:endParaRPr lang="en-US" sz="2800" dirty="0"/>
          </a:p>
          <a:p>
            <a:pPr lvl="0">
              <a:buNone/>
            </a:pPr>
            <a:r>
              <a:rPr lang="en-US" dirty="0"/>
              <a:t>6. Convert the quantity obtained to the required pack size</a:t>
            </a:r>
            <a:endParaRPr lang="en-US" sz="2800" dirty="0"/>
          </a:p>
          <a:p>
            <a:endParaRPr lang="en-US" dirty="0"/>
          </a:p>
        </p:txBody>
      </p:sp>
      <p:sp>
        <p:nvSpPr>
          <p:cNvPr id="4" name="Date Placeholder 3"/>
          <p:cNvSpPr>
            <a:spLocks noGrp="1"/>
          </p:cNvSpPr>
          <p:nvPr>
            <p:ph type="dt" sz="half" idx="10"/>
          </p:nvPr>
        </p:nvSpPr>
        <p:spPr/>
        <p:txBody>
          <a:bodyPr/>
          <a:lstStyle/>
          <a:p>
            <a:fld id="{674FE8D5-0A79-4753-8DC8-16E8ECCE93E0}"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149</a:t>
            </a:fld>
            <a:endParaRPr lang="en-US">
              <a:solidFill>
                <a:prstClr val="black">
                  <a:tint val="75000"/>
                </a:prstClr>
              </a:solidFill>
            </a:endParaRPr>
          </a:p>
        </p:txBody>
      </p:sp>
      <p:sp>
        <p:nvSpPr>
          <p:cNvPr id="1026"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a:solidFill>
                <a:prstClr val="black"/>
              </a:solidFill>
            </a:endParaRPr>
          </a:p>
        </p:txBody>
      </p:sp>
      <p:pic>
        <p:nvPicPr>
          <p:cNvPr id="1025"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762000" y="1371600"/>
            <a:ext cx="6858000" cy="990600"/>
          </a:xfrm>
          <a:prstGeom prst="rect">
            <a:avLst/>
          </a:prstGeom>
          <a:noFill/>
        </p:spPr>
      </p:pic>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1000"/>
                                        <p:tgtEl>
                                          <p:spTgt spid="3">
                                            <p:txEl>
                                              <p:pRg st="5" end="5"/>
                                            </p:txEl>
                                          </p:spTgt>
                                        </p:tgtEl>
                                      </p:cBhvr>
                                    </p:animEffect>
                                    <p:anim calcmode="lin" valueType="num">
                                      <p:cBhvr>
                                        <p:cTn id="1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1000"/>
                                        <p:tgtEl>
                                          <p:spTgt spid="3">
                                            <p:txEl>
                                              <p:pRg st="6" end="6"/>
                                            </p:txEl>
                                          </p:spTgt>
                                        </p:tgtEl>
                                      </p:cBhvr>
                                    </p:animEffect>
                                    <p:anim calcmode="lin" valueType="num">
                                      <p:cBhvr>
                                        <p:cTn id="2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1000"/>
                                        <p:tgtEl>
                                          <p:spTgt spid="3">
                                            <p:txEl>
                                              <p:pRg st="7" end="7"/>
                                            </p:txEl>
                                          </p:spTgt>
                                        </p:tgtEl>
                                      </p:cBhvr>
                                    </p:animEffect>
                                    <p:anim calcmode="lin" valueType="num">
                                      <p:cBhvr>
                                        <p:cTn id="32"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lvl="0">
              <a:buNone/>
            </a:pPr>
            <a:r>
              <a:rPr lang="en-US" dirty="0"/>
              <a:t>7. Estimate the cost of drug quantities required</a:t>
            </a:r>
            <a:endParaRPr lang="en-US" sz="2800" dirty="0"/>
          </a:p>
          <a:p>
            <a:pPr lvl="0">
              <a:buNone/>
            </a:pPr>
            <a:r>
              <a:rPr lang="en-US" dirty="0"/>
              <a:t>8. Finalize cost needed</a:t>
            </a:r>
            <a:endParaRPr lang="en-US" sz="2800" dirty="0"/>
          </a:p>
          <a:p>
            <a:pPr lvl="0">
              <a:buNone/>
            </a:pPr>
            <a:r>
              <a:rPr lang="en-US" dirty="0"/>
              <a:t>9. Compare cost needed (demand) with budget allocated and make adjustment (reconciliation) </a:t>
            </a:r>
            <a:endParaRPr lang="en-US" sz="2800" dirty="0"/>
          </a:p>
          <a:p>
            <a:pPr lvl="0"/>
            <a:r>
              <a:rPr lang="en-US" dirty="0"/>
              <a:t>Approaches to make rational adjustment are:</a:t>
            </a:r>
            <a:endParaRPr lang="en-US" sz="2800" dirty="0"/>
          </a:p>
          <a:p>
            <a:pPr lvl="1"/>
            <a:r>
              <a:rPr lang="en-US" b="1" dirty="0"/>
              <a:t>VEN analysis</a:t>
            </a:r>
            <a:endParaRPr lang="en-US" sz="2400" b="1" dirty="0"/>
          </a:p>
          <a:p>
            <a:pPr lvl="1"/>
            <a:r>
              <a:rPr lang="en-US" b="1" dirty="0"/>
              <a:t>ABC analysis</a:t>
            </a:r>
            <a:endParaRPr lang="en-US" sz="2400" b="1" dirty="0"/>
          </a:p>
          <a:p>
            <a:pPr lvl="1"/>
            <a:r>
              <a:rPr lang="en-US" b="1" dirty="0"/>
              <a:t> Therapeutic category analysis</a:t>
            </a:r>
            <a:endParaRPr lang="en-US" sz="2400" b="1" dirty="0"/>
          </a:p>
          <a:p>
            <a:endParaRPr lang="en-US" dirty="0"/>
          </a:p>
        </p:txBody>
      </p:sp>
      <p:sp>
        <p:nvSpPr>
          <p:cNvPr id="4" name="Date Placeholder 3"/>
          <p:cNvSpPr>
            <a:spLocks noGrp="1"/>
          </p:cNvSpPr>
          <p:nvPr>
            <p:ph type="dt" sz="half" idx="10"/>
          </p:nvPr>
        </p:nvSpPr>
        <p:spPr/>
        <p:txBody>
          <a:bodyPr/>
          <a:lstStyle/>
          <a:p>
            <a:fld id="{82976C58-EC4D-473A-8127-97947F310980}"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150</a:t>
            </a:fld>
            <a:endParaRPr lang="en-US">
              <a:solidFill>
                <a:prstClr val="black">
                  <a:tint val="75000"/>
                </a:prstClr>
              </a:solidFill>
            </a:endParaRPr>
          </a:p>
        </p:txBody>
      </p:sp>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1000"/>
                                        <p:tgtEl>
                                          <p:spTgt spid="3">
                                            <p:txEl>
                                              <p:pRg st="4" end="4"/>
                                            </p:txEl>
                                          </p:spTgt>
                                        </p:tgtEl>
                                      </p:cBhvr>
                                    </p:animEffect>
                                    <p:anim calcmode="lin" valueType="num">
                                      <p:cBhvr>
                                        <p:cTn id="3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fade">
                                      <p:cBhvr>
                                        <p:cTn id="38" dur="1000"/>
                                        <p:tgtEl>
                                          <p:spTgt spid="3">
                                            <p:txEl>
                                              <p:pRg st="5" end="5"/>
                                            </p:txEl>
                                          </p:spTgt>
                                        </p:tgtEl>
                                      </p:cBhvr>
                                    </p:animEffect>
                                    <p:anim calcmode="lin" valueType="num">
                                      <p:cBhvr>
                                        <p:cTn id="3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5" end="5"/>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fade">
                                      <p:cBhvr>
                                        <p:cTn id="43" dur="1000"/>
                                        <p:tgtEl>
                                          <p:spTgt spid="3">
                                            <p:txEl>
                                              <p:pRg st="6" end="6"/>
                                            </p:txEl>
                                          </p:spTgt>
                                        </p:tgtEl>
                                      </p:cBhvr>
                                    </p:animEffect>
                                    <p:anim calcmode="lin" valueType="num">
                                      <p:cBhvr>
                                        <p:cTn id="4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Additional points</a:t>
            </a:r>
          </a:p>
        </p:txBody>
      </p:sp>
      <p:sp>
        <p:nvSpPr>
          <p:cNvPr id="3" name="Content Placeholder 2"/>
          <p:cNvSpPr>
            <a:spLocks noGrp="1"/>
          </p:cNvSpPr>
          <p:nvPr>
            <p:ph idx="1"/>
          </p:nvPr>
        </p:nvSpPr>
        <p:spPr/>
        <p:txBody>
          <a:bodyPr>
            <a:normAutofit fontScale="92500" lnSpcReduction="10000"/>
          </a:bodyPr>
          <a:lstStyle/>
          <a:p>
            <a:r>
              <a:rPr lang="en-US" dirty="0"/>
              <a:t>Consumption method</a:t>
            </a:r>
          </a:p>
          <a:p>
            <a:pPr lvl="1"/>
            <a:r>
              <a:rPr lang="en-US" dirty="0"/>
              <a:t>Alternatively drug quantity can be calculated by using average monthly consumption, lead time and safety stock</a:t>
            </a:r>
          </a:p>
          <a:p>
            <a:pPr lvl="2">
              <a:buNone/>
            </a:pPr>
            <a:r>
              <a:rPr lang="en-US" dirty="0">
                <a:solidFill>
                  <a:srgbClr val="00B0F0"/>
                </a:solidFill>
              </a:rPr>
              <a:t>Quantity to order= average monthly consumption x (lead time + procurement period) + safety stock </a:t>
            </a:r>
          </a:p>
          <a:p>
            <a:pPr lvl="2"/>
            <a:r>
              <a:rPr lang="en-US" dirty="0"/>
              <a:t>Considering  Stock on hand and  Stock on order </a:t>
            </a:r>
          </a:p>
          <a:p>
            <a:pPr lvl="2">
              <a:buNone/>
            </a:pPr>
            <a:r>
              <a:rPr lang="en-US" dirty="0">
                <a:solidFill>
                  <a:srgbClr val="00B0F0"/>
                </a:solidFill>
              </a:rPr>
              <a:t>Quantity to order= average monthly consumption x (lead time + procurement period) + safety stock – (stock on hand + stock on order) </a:t>
            </a:r>
          </a:p>
          <a:p>
            <a:pPr lvl="1"/>
            <a:r>
              <a:rPr lang="en-US" dirty="0"/>
              <a:t>Always consider adjustment for different reasons</a:t>
            </a:r>
          </a:p>
          <a:p>
            <a:pPr lvl="2"/>
            <a:r>
              <a:rPr lang="en-US" dirty="0"/>
              <a:t>Expected changes, losses……..</a:t>
            </a:r>
          </a:p>
          <a:p>
            <a:pPr lvl="2">
              <a:buNone/>
            </a:pPr>
            <a:endParaRPr lang="en-US" dirty="0"/>
          </a:p>
        </p:txBody>
      </p:sp>
      <p:sp>
        <p:nvSpPr>
          <p:cNvPr id="4" name="Date Placeholder 3"/>
          <p:cNvSpPr>
            <a:spLocks noGrp="1"/>
          </p:cNvSpPr>
          <p:nvPr>
            <p:ph type="dt" sz="half" idx="10"/>
          </p:nvPr>
        </p:nvSpPr>
        <p:spPr/>
        <p:txBody>
          <a:bodyPr/>
          <a:lstStyle/>
          <a:p>
            <a:fld id="{568AC78F-D7EE-4C75-92B8-95D6D4C5670E}"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151</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a:buNone/>
            </a:pPr>
            <a:r>
              <a:rPr lang="en-US" b="1" dirty="0"/>
              <a:t>Advantages:</a:t>
            </a:r>
          </a:p>
          <a:p>
            <a:pPr lvl="0"/>
            <a:r>
              <a:rPr lang="en-US" dirty="0"/>
              <a:t>First choice for quantification, given reliable data</a:t>
            </a:r>
          </a:p>
          <a:p>
            <a:pPr lvl="0"/>
            <a:r>
              <a:rPr lang="en-US" dirty="0"/>
              <a:t>Requires less detailed calculation</a:t>
            </a:r>
          </a:p>
          <a:p>
            <a:pPr lvl="0"/>
            <a:r>
              <a:rPr lang="en-US" dirty="0"/>
              <a:t>Useful for facilities where </a:t>
            </a:r>
            <a:r>
              <a:rPr lang="en-US" dirty="0">
                <a:solidFill>
                  <a:srgbClr val="0070C0"/>
                </a:solidFill>
              </a:rPr>
              <a:t>health problems are numerous and drug treatment is complex</a:t>
            </a:r>
          </a:p>
          <a:p>
            <a:pPr lvl="0"/>
            <a:r>
              <a:rPr lang="en-US" dirty="0"/>
              <a:t>Identifies </a:t>
            </a:r>
            <a:r>
              <a:rPr lang="en-US" dirty="0">
                <a:solidFill>
                  <a:srgbClr val="FF0000"/>
                </a:solidFill>
              </a:rPr>
              <a:t>stock management problems </a:t>
            </a:r>
            <a:r>
              <a:rPr lang="en-US" dirty="0"/>
              <a:t>and encourages improvement</a:t>
            </a:r>
          </a:p>
          <a:p>
            <a:r>
              <a:rPr lang="en-US" dirty="0"/>
              <a:t>No morbidity data and treatment schedule needed</a:t>
            </a:r>
          </a:p>
        </p:txBody>
      </p:sp>
      <p:sp>
        <p:nvSpPr>
          <p:cNvPr id="4" name="Date Placeholder 3"/>
          <p:cNvSpPr>
            <a:spLocks noGrp="1"/>
          </p:cNvSpPr>
          <p:nvPr>
            <p:ph type="dt" sz="half" idx="10"/>
          </p:nvPr>
        </p:nvSpPr>
        <p:spPr/>
        <p:txBody>
          <a:bodyPr/>
          <a:lstStyle/>
          <a:p>
            <a:fld id="{88E63C4E-F406-4BA0-9CCD-7E0016024048}"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152</a:t>
            </a:fld>
            <a:endParaRPr lang="en-US">
              <a:solidFill>
                <a:prstClr val="black">
                  <a:tint val="75000"/>
                </a:prstClr>
              </a:solidFill>
            </a:endParaRPr>
          </a:p>
        </p:txBody>
      </p:sp>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a:buNone/>
            </a:pPr>
            <a:r>
              <a:rPr lang="en-US" b="1" dirty="0"/>
              <a:t>Disadvantages:</a:t>
            </a:r>
            <a:endParaRPr lang="en-US" dirty="0"/>
          </a:p>
          <a:p>
            <a:pPr lvl="0"/>
            <a:r>
              <a:rPr lang="en-US" dirty="0"/>
              <a:t>Reliable consumption data may not be found</a:t>
            </a:r>
          </a:p>
          <a:p>
            <a:pPr lvl="0"/>
            <a:r>
              <a:rPr lang="en-US" dirty="0"/>
              <a:t>Can perpetuate irrational use</a:t>
            </a:r>
          </a:p>
          <a:p>
            <a:pPr lvl="0"/>
            <a:r>
              <a:rPr lang="en-US" dirty="0"/>
              <a:t>May not be helpful for reviewing prescribing/drug use</a:t>
            </a:r>
          </a:p>
          <a:p>
            <a:pPr lvl="0"/>
            <a:r>
              <a:rPr lang="en-US" dirty="0"/>
              <a:t>Less appropriate if there have been </a:t>
            </a:r>
            <a:r>
              <a:rPr lang="en-US" dirty="0">
                <a:solidFill>
                  <a:schemeClr val="accent1"/>
                </a:solidFill>
              </a:rPr>
              <a:t>long </a:t>
            </a:r>
            <a:r>
              <a:rPr lang="en-US" dirty="0" err="1">
                <a:solidFill>
                  <a:schemeClr val="accent1"/>
                </a:solidFill>
              </a:rPr>
              <a:t>stockouts</a:t>
            </a:r>
            <a:r>
              <a:rPr lang="en-US" dirty="0">
                <a:solidFill>
                  <a:schemeClr val="accent1"/>
                </a:solidFill>
              </a:rPr>
              <a:t>/ high drug wastages or loses</a:t>
            </a:r>
          </a:p>
          <a:p>
            <a:pPr lvl="0"/>
            <a:r>
              <a:rPr lang="en-US" dirty="0"/>
              <a:t>Doesn’t encourage good morbidity recording </a:t>
            </a:r>
          </a:p>
          <a:p>
            <a:endParaRPr lang="en-US" dirty="0"/>
          </a:p>
        </p:txBody>
      </p:sp>
      <p:sp>
        <p:nvSpPr>
          <p:cNvPr id="4" name="Date Placeholder 3"/>
          <p:cNvSpPr>
            <a:spLocks noGrp="1"/>
          </p:cNvSpPr>
          <p:nvPr>
            <p:ph type="dt" sz="half" idx="10"/>
          </p:nvPr>
        </p:nvSpPr>
        <p:spPr/>
        <p:txBody>
          <a:bodyPr/>
          <a:lstStyle/>
          <a:p>
            <a:fld id="{3F47446C-4298-4B67-9C1D-AF2C9F2CFA5B}"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153</a:t>
            </a:fld>
            <a:endParaRPr lang="en-US">
              <a:solidFill>
                <a:prstClr val="black">
                  <a:tint val="75000"/>
                </a:prstClr>
              </a:solidFill>
            </a:endParaRPr>
          </a:p>
        </p:txBody>
      </p:sp>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B. Morbidity method</a:t>
            </a:r>
            <a:endParaRPr lang="en-US" b="1" dirty="0"/>
          </a:p>
        </p:txBody>
      </p:sp>
      <p:sp>
        <p:nvSpPr>
          <p:cNvPr id="3" name="Content Placeholder 2"/>
          <p:cNvSpPr>
            <a:spLocks noGrp="1"/>
          </p:cNvSpPr>
          <p:nvPr>
            <p:ph idx="1"/>
          </p:nvPr>
        </p:nvSpPr>
        <p:spPr/>
        <p:txBody>
          <a:bodyPr/>
          <a:lstStyle/>
          <a:p>
            <a:pPr lvl="0"/>
            <a:r>
              <a:rPr lang="en-US" dirty="0"/>
              <a:t>Estimates the need for specific medicines based on: </a:t>
            </a:r>
          </a:p>
          <a:p>
            <a:pPr lvl="1"/>
            <a:r>
              <a:rPr lang="en-US" dirty="0"/>
              <a:t>expected number of attendances, </a:t>
            </a:r>
          </a:p>
          <a:p>
            <a:pPr lvl="1"/>
            <a:r>
              <a:rPr lang="en-US" dirty="0"/>
              <a:t>the incidence of common diseases and </a:t>
            </a:r>
          </a:p>
          <a:p>
            <a:pPr lvl="1"/>
            <a:r>
              <a:rPr lang="en-US" dirty="0"/>
              <a:t>standard treatment patterns for the diseases considered.</a:t>
            </a:r>
          </a:p>
          <a:p>
            <a:pPr lvl="0"/>
            <a:r>
              <a:rPr lang="en-US" b="1" dirty="0"/>
              <a:t>Assumption</a:t>
            </a:r>
            <a:r>
              <a:rPr lang="en-US" dirty="0"/>
              <a:t>: service providers will adhere to established treatment guidelines.</a:t>
            </a:r>
          </a:p>
          <a:p>
            <a:endParaRPr lang="en-US" dirty="0"/>
          </a:p>
        </p:txBody>
      </p:sp>
      <p:sp>
        <p:nvSpPr>
          <p:cNvPr id="4" name="Date Placeholder 3"/>
          <p:cNvSpPr>
            <a:spLocks noGrp="1"/>
          </p:cNvSpPr>
          <p:nvPr>
            <p:ph type="dt" sz="half" idx="10"/>
          </p:nvPr>
        </p:nvSpPr>
        <p:spPr/>
        <p:txBody>
          <a:bodyPr/>
          <a:lstStyle/>
          <a:p>
            <a:fld id="{3ADFCC13-783C-488A-A195-C4B7ED704F16}"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154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lvl="0"/>
            <a:r>
              <a:rPr lang="en-US" dirty="0"/>
              <a:t>Conditions:</a:t>
            </a:r>
            <a:endParaRPr lang="en-US" sz="2800" dirty="0"/>
          </a:p>
          <a:p>
            <a:pPr lvl="1"/>
            <a:r>
              <a:rPr lang="en-US" dirty="0"/>
              <a:t>Available consumption data are incomplete or unreliable</a:t>
            </a:r>
            <a:endParaRPr lang="en-US" sz="2400" dirty="0"/>
          </a:p>
          <a:p>
            <a:pPr lvl="1"/>
            <a:r>
              <a:rPr lang="en-US" dirty="0"/>
              <a:t>Prescribing patterns are inappropriate</a:t>
            </a:r>
            <a:endParaRPr lang="en-US" sz="2400" dirty="0"/>
          </a:p>
          <a:p>
            <a:pPr lvl="1"/>
            <a:r>
              <a:rPr lang="en-US" dirty="0"/>
              <a:t>The budget is insufficient</a:t>
            </a:r>
            <a:endParaRPr lang="en-US" sz="2400" dirty="0"/>
          </a:p>
          <a:p>
            <a:pPr lvl="1"/>
            <a:r>
              <a:rPr lang="en-US" dirty="0"/>
              <a:t>The health facilities or services concerned are new, or expanding or contracting rapidly.</a:t>
            </a:r>
            <a:endParaRPr lang="en-US" sz="2400" dirty="0"/>
          </a:p>
          <a:p>
            <a:endParaRPr lang="en-US" dirty="0"/>
          </a:p>
        </p:txBody>
      </p:sp>
      <p:sp>
        <p:nvSpPr>
          <p:cNvPr id="4" name="Date Placeholder 3"/>
          <p:cNvSpPr>
            <a:spLocks noGrp="1"/>
          </p:cNvSpPr>
          <p:nvPr>
            <p:ph type="dt" sz="half" idx="10"/>
          </p:nvPr>
        </p:nvSpPr>
        <p:spPr/>
        <p:txBody>
          <a:bodyPr/>
          <a:lstStyle/>
          <a:p>
            <a:fld id="{025D8E15-0F42-4F11-A841-B74F864C3403}"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155</a:t>
            </a:fld>
            <a:endParaRPr lang="en-US">
              <a:solidFill>
                <a:prstClr val="black">
                  <a:tint val="75000"/>
                </a:prstClr>
              </a:solidFill>
            </a:endParaRPr>
          </a:p>
        </p:txBody>
      </p:sp>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pPr lvl="0"/>
            <a:r>
              <a:rPr lang="en-US" dirty="0"/>
              <a:t>Data sets needed:</a:t>
            </a:r>
            <a:endParaRPr lang="en-US" sz="2800" dirty="0"/>
          </a:p>
          <a:p>
            <a:pPr lvl="1"/>
            <a:r>
              <a:rPr lang="en-US" dirty="0"/>
              <a:t>Drug list with pack size and price data</a:t>
            </a:r>
          </a:p>
          <a:p>
            <a:pPr lvl="1"/>
            <a:endParaRPr lang="en-US" sz="2400" dirty="0"/>
          </a:p>
          <a:p>
            <a:pPr lvl="1"/>
            <a:r>
              <a:rPr lang="en-US" dirty="0"/>
              <a:t>Complete patient morbidity profile</a:t>
            </a:r>
          </a:p>
          <a:p>
            <a:pPr lvl="1"/>
            <a:endParaRPr lang="en-US" sz="2400" dirty="0"/>
          </a:p>
          <a:p>
            <a:pPr lvl="1"/>
            <a:r>
              <a:rPr lang="en-US" dirty="0"/>
              <a:t>Standard drug treatment schedules</a:t>
            </a:r>
          </a:p>
          <a:p>
            <a:pPr lvl="1"/>
            <a:endParaRPr lang="en-US" sz="2400" dirty="0"/>
          </a:p>
          <a:p>
            <a:pPr lvl="1"/>
            <a:r>
              <a:rPr lang="en-US" dirty="0"/>
              <a:t>Pharmaceutical budget</a:t>
            </a:r>
            <a:endParaRPr lang="en-US" sz="2400" dirty="0"/>
          </a:p>
          <a:p>
            <a:endParaRPr lang="en-US" dirty="0"/>
          </a:p>
        </p:txBody>
      </p:sp>
      <p:sp>
        <p:nvSpPr>
          <p:cNvPr id="4" name="Date Placeholder 3"/>
          <p:cNvSpPr>
            <a:spLocks noGrp="1"/>
          </p:cNvSpPr>
          <p:nvPr>
            <p:ph type="dt" sz="half" idx="10"/>
          </p:nvPr>
        </p:nvSpPr>
        <p:spPr/>
        <p:txBody>
          <a:bodyPr/>
          <a:lstStyle/>
          <a:p>
            <a:fld id="{8768174F-3B04-4FE5-8381-448D2B1331C8}"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156</a:t>
            </a:fld>
            <a:endParaRPr lang="en-US">
              <a:solidFill>
                <a:prstClr val="black">
                  <a:tint val="75000"/>
                </a:prstClr>
              </a:solidFill>
            </a:endParaRPr>
          </a:p>
        </p:txBody>
      </p:sp>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1000"/>
                                        <p:tgtEl>
                                          <p:spTgt spid="3">
                                            <p:txEl>
                                              <p:pRg st="5" end="5"/>
                                            </p:txEl>
                                          </p:spTgt>
                                        </p:tgtEl>
                                      </p:cBhvr>
                                    </p:animEffect>
                                    <p:anim calcmode="lin" valueType="num">
                                      <p:cBhvr>
                                        <p:cTn id="2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1000"/>
                                        <p:tgtEl>
                                          <p:spTgt spid="3">
                                            <p:txEl>
                                              <p:pRg st="7" end="7"/>
                                            </p:txEl>
                                          </p:spTgt>
                                        </p:tgtEl>
                                      </p:cBhvr>
                                    </p:animEffect>
                                    <p:anim calcmode="lin" valueType="num">
                                      <p:cBhvr>
                                        <p:cTn id="2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pPr>
              <a:buNone/>
            </a:pPr>
            <a:r>
              <a:rPr lang="en-US" b="1" dirty="0"/>
              <a:t>Steps for quantification:</a:t>
            </a:r>
            <a:endParaRPr lang="en-US" sz="2800" dirty="0"/>
          </a:p>
          <a:p>
            <a:pPr marL="514350" lvl="0" indent="-514350">
              <a:buAutoNum type="arabicPeriod"/>
            </a:pPr>
            <a:r>
              <a:rPr lang="en-US" dirty="0"/>
              <a:t>Specify the list of health problems</a:t>
            </a:r>
          </a:p>
          <a:p>
            <a:pPr marL="514350" lvl="0" indent="-514350">
              <a:buAutoNum type="arabicPeriod"/>
            </a:pPr>
            <a:endParaRPr lang="en-US" sz="2800" dirty="0"/>
          </a:p>
          <a:p>
            <a:pPr lvl="0">
              <a:buNone/>
            </a:pPr>
            <a:r>
              <a:rPr lang="en-US" dirty="0"/>
              <a:t>2. Establish the list of drugs to be quantified with pack size and price data</a:t>
            </a:r>
          </a:p>
          <a:p>
            <a:pPr lvl="0">
              <a:buNone/>
            </a:pPr>
            <a:endParaRPr lang="en-US" sz="2800" dirty="0"/>
          </a:p>
          <a:p>
            <a:pPr lvl="0">
              <a:buNone/>
            </a:pPr>
            <a:r>
              <a:rPr lang="en-US" dirty="0"/>
              <a:t>3. Establish standard or average drug treatment schedule for each health problems</a:t>
            </a:r>
          </a:p>
          <a:p>
            <a:pPr lvl="0">
              <a:buNone/>
            </a:pPr>
            <a:endParaRPr lang="en-US" sz="2800" dirty="0"/>
          </a:p>
          <a:p>
            <a:pPr lvl="0">
              <a:buNone/>
            </a:pPr>
            <a:r>
              <a:rPr lang="en-US" dirty="0"/>
              <a:t>4. Select the period to review morbidity data</a:t>
            </a:r>
            <a:endParaRPr lang="en-US" sz="2800" dirty="0"/>
          </a:p>
          <a:p>
            <a:endParaRPr lang="en-US" dirty="0"/>
          </a:p>
        </p:txBody>
      </p:sp>
      <p:sp>
        <p:nvSpPr>
          <p:cNvPr id="4" name="Date Placeholder 3"/>
          <p:cNvSpPr>
            <a:spLocks noGrp="1"/>
          </p:cNvSpPr>
          <p:nvPr>
            <p:ph type="dt" sz="half" idx="10"/>
          </p:nvPr>
        </p:nvSpPr>
        <p:spPr/>
        <p:txBody>
          <a:bodyPr/>
          <a:lstStyle/>
          <a:p>
            <a:fld id="{1422867C-81DB-46BF-BC25-75E2766F6B2E}"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157</a:t>
            </a:fld>
            <a:endParaRPr lang="en-US">
              <a:solidFill>
                <a:prstClr val="black">
                  <a:tint val="75000"/>
                </a:prstClr>
              </a:solidFill>
            </a:endParaRPr>
          </a:p>
        </p:txBody>
      </p:sp>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lnSpcReduction="20000"/>
          </a:bodyPr>
          <a:lstStyle/>
          <a:p>
            <a:pPr lvl="0">
              <a:buNone/>
            </a:pPr>
            <a:r>
              <a:rPr lang="en-US" dirty="0"/>
              <a:t>5. Determine the number of treatment episodes for each health problems</a:t>
            </a:r>
            <a:endParaRPr lang="en-US" sz="2800" dirty="0"/>
          </a:p>
          <a:p>
            <a:pPr lvl="0"/>
            <a:r>
              <a:rPr lang="en-US" dirty="0"/>
              <a:t>Treatment episode is a patient contact which a standard contact for which a </a:t>
            </a:r>
            <a:r>
              <a:rPr lang="en-US" dirty="0">
                <a:solidFill>
                  <a:srgbClr val="FF0000"/>
                </a:solidFill>
              </a:rPr>
              <a:t>standard course of drug treatment</a:t>
            </a:r>
            <a:r>
              <a:rPr lang="en-US" dirty="0"/>
              <a:t> is required.</a:t>
            </a:r>
            <a:endParaRPr lang="en-US" sz="2800" dirty="0"/>
          </a:p>
          <a:p>
            <a:pPr lvl="0"/>
            <a:r>
              <a:rPr lang="en-US" dirty="0"/>
              <a:t>Steps:</a:t>
            </a:r>
            <a:endParaRPr lang="en-US" sz="2800" dirty="0"/>
          </a:p>
          <a:p>
            <a:pPr lvl="1"/>
            <a:r>
              <a:rPr lang="en-US" dirty="0"/>
              <a:t>Obtain the total number of patient contact by the health problems defined in the average treatment schedule</a:t>
            </a:r>
            <a:endParaRPr lang="en-US" sz="2400" dirty="0"/>
          </a:p>
          <a:p>
            <a:pPr lvl="1"/>
            <a:r>
              <a:rPr lang="en-US" dirty="0"/>
              <a:t>Within the health problems, breakdown the number of patient contacts by </a:t>
            </a:r>
            <a:r>
              <a:rPr lang="en-US" dirty="0">
                <a:solidFill>
                  <a:srgbClr val="FF0000"/>
                </a:solidFill>
              </a:rPr>
              <a:t>age, sex, weight and severity </a:t>
            </a:r>
            <a:r>
              <a:rPr lang="en-US" dirty="0"/>
              <a:t>if treatment varies with this variables</a:t>
            </a:r>
            <a:endParaRPr lang="en-US" sz="2400" dirty="0"/>
          </a:p>
          <a:p>
            <a:pPr lvl="1"/>
            <a:r>
              <a:rPr lang="en-US" dirty="0"/>
              <a:t>Determine contacts for which a standard treatment schedule is required</a:t>
            </a:r>
            <a:endParaRPr lang="en-US" sz="2400" dirty="0"/>
          </a:p>
          <a:p>
            <a:endParaRPr lang="en-US" dirty="0"/>
          </a:p>
        </p:txBody>
      </p:sp>
      <p:sp>
        <p:nvSpPr>
          <p:cNvPr id="4" name="Date Placeholder 3"/>
          <p:cNvSpPr>
            <a:spLocks noGrp="1"/>
          </p:cNvSpPr>
          <p:nvPr>
            <p:ph type="dt" sz="half" idx="10"/>
          </p:nvPr>
        </p:nvSpPr>
        <p:spPr/>
        <p:txBody>
          <a:bodyPr/>
          <a:lstStyle/>
          <a:p>
            <a:fld id="{318FB9FB-C33E-4D9E-8E80-FA08982AAB07}"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158</a:t>
            </a:fld>
            <a:endParaRPr lang="en-US">
              <a:solidFill>
                <a:prstClr val="black">
                  <a:tint val="75000"/>
                </a:prstClr>
              </a:solidFill>
            </a:endParaRPr>
          </a:p>
        </p:txBody>
      </p:sp>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lvl="0">
              <a:buNone/>
            </a:pPr>
            <a:r>
              <a:rPr lang="en-US" dirty="0"/>
              <a:t>6. Calculate the quantity of drugs needed for each health problem</a:t>
            </a:r>
          </a:p>
          <a:p>
            <a:pPr lvl="0">
              <a:buNone/>
            </a:pPr>
            <a:endParaRPr lang="en-US" sz="2800" dirty="0"/>
          </a:p>
          <a:p>
            <a:pPr lvl="0">
              <a:buNone/>
            </a:pPr>
            <a:r>
              <a:rPr lang="en-US" dirty="0"/>
              <a:t>7. Combine the estimates </a:t>
            </a:r>
            <a:r>
              <a:rPr lang="en-US" dirty="0">
                <a:solidFill>
                  <a:schemeClr val="accent1"/>
                </a:solidFill>
              </a:rPr>
              <a:t>for each drug for various health problems</a:t>
            </a:r>
            <a:r>
              <a:rPr lang="en-US" dirty="0"/>
              <a:t> into a master procurement list</a:t>
            </a:r>
          </a:p>
          <a:p>
            <a:pPr lvl="0">
              <a:buNone/>
            </a:pPr>
            <a:endParaRPr lang="en-US" dirty="0"/>
          </a:p>
          <a:p>
            <a:pPr lvl="0">
              <a:buNone/>
            </a:pPr>
            <a:r>
              <a:rPr lang="en-US" dirty="0"/>
              <a:t>8. Adjust quantities to cover for other health problems, for wastages/loses, filling the pipeline, stock order….</a:t>
            </a:r>
          </a:p>
          <a:p>
            <a:endParaRPr lang="en-US" dirty="0"/>
          </a:p>
        </p:txBody>
      </p:sp>
      <p:sp>
        <p:nvSpPr>
          <p:cNvPr id="4" name="Date Placeholder 3"/>
          <p:cNvSpPr>
            <a:spLocks noGrp="1"/>
          </p:cNvSpPr>
          <p:nvPr>
            <p:ph type="dt" sz="half" idx="10"/>
          </p:nvPr>
        </p:nvSpPr>
        <p:spPr/>
        <p:txBody>
          <a:bodyPr/>
          <a:lstStyle/>
          <a:p>
            <a:fld id="{6369506D-8CF8-4658-B244-DF1215AF6B17}"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159</a:t>
            </a:fld>
            <a:endParaRPr lang="en-US">
              <a:solidFill>
                <a:prstClr val="black">
                  <a:tint val="75000"/>
                </a:prstClr>
              </a:solidFill>
            </a:endParaRPr>
          </a:p>
        </p:txBody>
      </p:sp>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lvl="0">
              <a:buNone/>
            </a:pPr>
            <a:r>
              <a:rPr lang="en-US" dirty="0"/>
              <a:t>9. Convert quantities in to order pack size</a:t>
            </a:r>
          </a:p>
          <a:p>
            <a:pPr lvl="0">
              <a:buNone/>
            </a:pPr>
            <a:endParaRPr lang="en-US" dirty="0"/>
          </a:p>
          <a:p>
            <a:pPr lvl="0">
              <a:buNone/>
            </a:pPr>
            <a:r>
              <a:rPr lang="en-US" dirty="0"/>
              <a:t>10. Estimate cost of the drug quantities required</a:t>
            </a:r>
          </a:p>
          <a:p>
            <a:pPr lvl="0">
              <a:buNone/>
            </a:pPr>
            <a:endParaRPr lang="en-US" dirty="0"/>
          </a:p>
          <a:p>
            <a:pPr lvl="0">
              <a:buNone/>
            </a:pPr>
            <a:r>
              <a:rPr lang="en-US" dirty="0"/>
              <a:t>11. Finalize the cost</a:t>
            </a:r>
          </a:p>
          <a:p>
            <a:pPr lvl="0">
              <a:buNone/>
            </a:pPr>
            <a:endParaRPr lang="en-US" dirty="0"/>
          </a:p>
          <a:p>
            <a:pPr lvl="0">
              <a:buNone/>
            </a:pPr>
            <a:r>
              <a:rPr lang="en-US" dirty="0"/>
              <a:t>12. Reconcile need with budget </a:t>
            </a:r>
          </a:p>
          <a:p>
            <a:endParaRPr lang="en-US" dirty="0"/>
          </a:p>
        </p:txBody>
      </p:sp>
      <p:sp>
        <p:nvSpPr>
          <p:cNvPr id="4" name="Date Placeholder 3"/>
          <p:cNvSpPr>
            <a:spLocks noGrp="1"/>
          </p:cNvSpPr>
          <p:nvPr>
            <p:ph type="dt" sz="half" idx="10"/>
          </p:nvPr>
        </p:nvSpPr>
        <p:spPr/>
        <p:txBody>
          <a:bodyPr/>
          <a:lstStyle/>
          <a:p>
            <a:fld id="{8EACD41A-B594-494A-848A-899962AB53AE}"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160</a:t>
            </a:fld>
            <a:endParaRPr lang="en-US">
              <a:solidFill>
                <a:prstClr val="black">
                  <a:tint val="75000"/>
                </a:prstClr>
              </a:solidFill>
            </a:endParaRPr>
          </a:p>
        </p:txBody>
      </p:sp>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pPr algn="l"/>
            <a:br>
              <a:rPr lang="en-US" dirty="0"/>
            </a:br>
            <a:br>
              <a:rPr lang="en-US" dirty="0"/>
            </a:br>
            <a:r>
              <a:rPr lang="en-US" dirty="0"/>
              <a:t>Morbidity method- additional tip </a:t>
            </a:r>
            <a:br>
              <a:rPr lang="en-US" dirty="0"/>
            </a:br>
            <a:r>
              <a:rPr lang="en-US" dirty="0"/>
              <a:t>Always make adjustment for different reasons</a:t>
            </a:r>
          </a:p>
        </p:txBody>
      </p:sp>
      <p:graphicFrame>
        <p:nvGraphicFramePr>
          <p:cNvPr id="6" name="Content Placeholder 5"/>
          <p:cNvGraphicFramePr>
            <a:graphicFrameLocks noGrp="1"/>
          </p:cNvGraphicFramePr>
          <p:nvPr>
            <p:ph idx="1"/>
          </p:nvPr>
        </p:nvGraphicFramePr>
        <p:xfrm>
          <a:off x="457200" y="2332037"/>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9E03E1A8-1FF1-454C-B123-9639FE15D734}"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161</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a:buNone/>
            </a:pPr>
            <a:r>
              <a:rPr lang="en-US" b="1" dirty="0"/>
              <a:t>Advantages:</a:t>
            </a:r>
            <a:endParaRPr lang="en-US" dirty="0"/>
          </a:p>
          <a:p>
            <a:pPr lvl="0"/>
            <a:r>
              <a:rPr lang="en-US" dirty="0"/>
              <a:t>Does not require consumption data</a:t>
            </a:r>
          </a:p>
          <a:p>
            <a:pPr lvl="0"/>
            <a:endParaRPr lang="en-US" dirty="0"/>
          </a:p>
          <a:p>
            <a:pPr lvl="0"/>
            <a:r>
              <a:rPr lang="en-US" dirty="0"/>
              <a:t>Can be used for review of drug use and prescribing</a:t>
            </a:r>
          </a:p>
          <a:p>
            <a:pPr lvl="0"/>
            <a:endParaRPr lang="en-US" dirty="0"/>
          </a:p>
          <a:p>
            <a:pPr lvl="0"/>
            <a:r>
              <a:rPr lang="en-US" dirty="0"/>
              <a:t>Can be used for estimating need in new and scaling-up programs or disaster assistance</a:t>
            </a:r>
          </a:p>
          <a:p>
            <a:pPr lvl="0"/>
            <a:endParaRPr lang="en-US" dirty="0"/>
          </a:p>
          <a:p>
            <a:pPr lvl="0"/>
            <a:r>
              <a:rPr lang="en-US" dirty="0"/>
              <a:t>Motivates reliable morbidity recording</a:t>
            </a:r>
          </a:p>
          <a:p>
            <a:endParaRPr lang="en-US" dirty="0"/>
          </a:p>
        </p:txBody>
      </p:sp>
      <p:sp>
        <p:nvSpPr>
          <p:cNvPr id="4" name="Date Placeholder 3"/>
          <p:cNvSpPr>
            <a:spLocks noGrp="1"/>
          </p:cNvSpPr>
          <p:nvPr>
            <p:ph type="dt" sz="half" idx="10"/>
          </p:nvPr>
        </p:nvSpPr>
        <p:spPr/>
        <p:txBody>
          <a:bodyPr/>
          <a:lstStyle/>
          <a:p>
            <a:fld id="{8A3F6CEC-5007-4D65-AA44-35C328228C5A}"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162</a:t>
            </a:fld>
            <a:endParaRPr lang="en-US">
              <a:solidFill>
                <a:prstClr val="black">
                  <a:tint val="75000"/>
                </a:prstClr>
              </a:solidFill>
            </a:endParaRPr>
          </a:p>
        </p:txBody>
      </p:sp>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a:buNone/>
            </a:pPr>
            <a:r>
              <a:rPr lang="en-US" b="1" dirty="0"/>
              <a:t>Disadvantages:</a:t>
            </a:r>
            <a:endParaRPr lang="en-US" dirty="0"/>
          </a:p>
          <a:p>
            <a:pPr lvl="0"/>
            <a:r>
              <a:rPr lang="en-US" dirty="0"/>
              <a:t>Detailed morbidity data and standard treatment schedule may both present difficulty</a:t>
            </a:r>
          </a:p>
          <a:p>
            <a:pPr lvl="0"/>
            <a:endParaRPr lang="en-US" dirty="0"/>
          </a:p>
          <a:p>
            <a:pPr lvl="0"/>
            <a:r>
              <a:rPr lang="en-US" dirty="0"/>
              <a:t>Require detailed calculation</a:t>
            </a:r>
          </a:p>
          <a:p>
            <a:pPr lvl="0"/>
            <a:endParaRPr lang="en-US" dirty="0"/>
          </a:p>
          <a:p>
            <a:pPr lvl="0"/>
            <a:r>
              <a:rPr lang="en-US" dirty="0"/>
              <a:t>Standard treatment may not really be used</a:t>
            </a:r>
          </a:p>
          <a:p>
            <a:endParaRPr lang="en-US" dirty="0"/>
          </a:p>
        </p:txBody>
      </p:sp>
      <p:sp>
        <p:nvSpPr>
          <p:cNvPr id="4" name="Date Placeholder 3"/>
          <p:cNvSpPr>
            <a:spLocks noGrp="1"/>
          </p:cNvSpPr>
          <p:nvPr>
            <p:ph type="dt" sz="half" idx="10"/>
          </p:nvPr>
        </p:nvSpPr>
        <p:spPr/>
        <p:txBody>
          <a:bodyPr/>
          <a:lstStyle/>
          <a:p>
            <a:fld id="{BFC08002-41B9-460D-B836-0B5C1023C94F}"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163</a:t>
            </a:fld>
            <a:endParaRPr lang="en-US">
              <a:solidFill>
                <a:prstClr val="black">
                  <a:tint val="75000"/>
                </a:prstClr>
              </a:solidFill>
            </a:endParaRPr>
          </a:p>
        </p:txBody>
      </p:sp>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 Proxy/adjusted consumption method</a:t>
            </a:r>
          </a:p>
        </p:txBody>
      </p:sp>
      <p:sp>
        <p:nvSpPr>
          <p:cNvPr id="3" name="Content Placeholder 2"/>
          <p:cNvSpPr>
            <a:spLocks noGrp="1"/>
          </p:cNvSpPr>
          <p:nvPr>
            <p:ph idx="1"/>
          </p:nvPr>
        </p:nvSpPr>
        <p:spPr/>
        <p:txBody>
          <a:bodyPr>
            <a:normAutofit fontScale="92500" lnSpcReduction="10000"/>
          </a:bodyPr>
          <a:lstStyle/>
          <a:p>
            <a:pPr lvl="0"/>
            <a:r>
              <a:rPr lang="en-US" dirty="0"/>
              <a:t>It uses known consumption data from one system called the </a:t>
            </a:r>
            <a:r>
              <a:rPr lang="en-US" dirty="0">
                <a:solidFill>
                  <a:srgbClr val="FF0000"/>
                </a:solidFill>
              </a:rPr>
              <a:t>standard</a:t>
            </a:r>
            <a:r>
              <a:rPr lang="en-US" dirty="0"/>
              <a:t>, to estimate the drug needs in a similar or expanded system known as the </a:t>
            </a:r>
            <a:r>
              <a:rPr lang="en-US" dirty="0">
                <a:solidFill>
                  <a:srgbClr val="FF0000"/>
                </a:solidFill>
              </a:rPr>
              <a:t>target</a:t>
            </a:r>
            <a:r>
              <a:rPr lang="en-US" dirty="0"/>
              <a:t>.</a:t>
            </a:r>
            <a:endParaRPr lang="en-US" sz="2800" dirty="0"/>
          </a:p>
          <a:p>
            <a:pPr lvl="0"/>
            <a:r>
              <a:rPr lang="en-US" dirty="0"/>
              <a:t>It can be used when neither consumption method nor morbidity method are feasible.</a:t>
            </a:r>
            <a:endParaRPr lang="en-US" sz="2800" dirty="0"/>
          </a:p>
          <a:p>
            <a:pPr lvl="0"/>
            <a:r>
              <a:rPr lang="en-US" dirty="0"/>
              <a:t>The adjustment can be based on:</a:t>
            </a:r>
            <a:endParaRPr lang="en-US" sz="2800" dirty="0"/>
          </a:p>
          <a:p>
            <a:pPr lvl="1"/>
            <a:r>
              <a:rPr lang="en-US" b="1" dirty="0"/>
              <a:t>Population coverage</a:t>
            </a:r>
            <a:r>
              <a:rPr lang="en-US" dirty="0"/>
              <a:t>- drug use per 1000 population</a:t>
            </a:r>
            <a:endParaRPr lang="en-US" sz="2400" dirty="0"/>
          </a:p>
          <a:p>
            <a:pPr lvl="1"/>
            <a:r>
              <a:rPr lang="en-US" b="1" dirty="0"/>
              <a:t>Service-level to be provided</a:t>
            </a:r>
            <a:r>
              <a:rPr lang="en-US" dirty="0"/>
              <a:t>- drug use per specified patient case or inpatient admission.</a:t>
            </a:r>
            <a:endParaRPr lang="en-US" sz="2400" dirty="0"/>
          </a:p>
          <a:p>
            <a:endParaRPr lang="en-US" dirty="0"/>
          </a:p>
        </p:txBody>
      </p:sp>
      <p:sp>
        <p:nvSpPr>
          <p:cNvPr id="4" name="Date Placeholder 3"/>
          <p:cNvSpPr>
            <a:spLocks noGrp="1"/>
          </p:cNvSpPr>
          <p:nvPr>
            <p:ph type="dt" sz="half" idx="10"/>
          </p:nvPr>
        </p:nvSpPr>
        <p:spPr/>
        <p:txBody>
          <a:bodyPr/>
          <a:lstStyle/>
          <a:p>
            <a:fld id="{44466E0E-E7B5-4B37-8B33-41998099572A}"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164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a:buNone/>
            </a:pPr>
            <a:r>
              <a:rPr lang="en-US" b="1" dirty="0"/>
              <a:t>Steps in quantification:</a:t>
            </a:r>
            <a:endParaRPr lang="en-US" dirty="0"/>
          </a:p>
          <a:p>
            <a:pPr lvl="0">
              <a:buNone/>
            </a:pPr>
            <a:r>
              <a:rPr lang="en-US" dirty="0"/>
              <a:t>1. Select the standard system for comparison and extrapolation</a:t>
            </a:r>
          </a:p>
          <a:p>
            <a:pPr lvl="0">
              <a:buNone/>
            </a:pPr>
            <a:r>
              <a:rPr lang="en-US" dirty="0"/>
              <a:t>2. Develop the drug list</a:t>
            </a:r>
          </a:p>
          <a:p>
            <a:pPr lvl="0">
              <a:buNone/>
            </a:pPr>
            <a:r>
              <a:rPr lang="en-US" dirty="0"/>
              <a:t>3. Establish the time period to be covered in review</a:t>
            </a:r>
          </a:p>
          <a:p>
            <a:pPr lvl="0">
              <a:buNone/>
            </a:pPr>
            <a:r>
              <a:rPr lang="en-US" dirty="0"/>
              <a:t>4. Review records from the standard system to compile contact or population data</a:t>
            </a:r>
          </a:p>
          <a:p>
            <a:pPr lvl="0">
              <a:buNone/>
            </a:pPr>
            <a:r>
              <a:rPr lang="en-US" dirty="0"/>
              <a:t>5. Establish the denominator for extrapolation</a:t>
            </a:r>
          </a:p>
          <a:p>
            <a:endParaRPr lang="en-US" dirty="0"/>
          </a:p>
        </p:txBody>
      </p:sp>
      <p:sp>
        <p:nvSpPr>
          <p:cNvPr id="4" name="Date Placeholder 3"/>
          <p:cNvSpPr>
            <a:spLocks noGrp="1"/>
          </p:cNvSpPr>
          <p:nvPr>
            <p:ph type="dt" sz="half" idx="10"/>
          </p:nvPr>
        </p:nvSpPr>
        <p:spPr/>
        <p:txBody>
          <a:bodyPr/>
          <a:lstStyle/>
          <a:p>
            <a:fld id="{A99E4A0B-3FA3-41A5-BB3B-3182657E17C1}"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165</a:t>
            </a:fld>
            <a:endParaRPr lang="en-US">
              <a:solidFill>
                <a:prstClr val="black">
                  <a:tint val="75000"/>
                </a:prstClr>
              </a:solidFill>
            </a:endParaRPr>
          </a:p>
        </p:txBody>
      </p:sp>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lvl="0">
              <a:buNone/>
            </a:pPr>
            <a:r>
              <a:rPr lang="en-US" dirty="0"/>
              <a:t>6. Determine the consumption rate in the standard system</a:t>
            </a:r>
          </a:p>
          <a:p>
            <a:pPr lvl="0"/>
            <a:endParaRPr lang="en-US" dirty="0"/>
          </a:p>
          <a:p>
            <a:pPr lvl="0"/>
            <a:endParaRPr lang="en-US" dirty="0"/>
          </a:p>
          <a:p>
            <a:pPr lvl="0">
              <a:buNone/>
            </a:pPr>
            <a:r>
              <a:rPr lang="en-US" dirty="0"/>
              <a:t>7. Extrapolate the standard system’s consumption rate to the target system</a:t>
            </a:r>
          </a:p>
          <a:p>
            <a:pPr>
              <a:buNone/>
            </a:pPr>
            <a:r>
              <a:rPr lang="en-US" dirty="0"/>
              <a:t> </a:t>
            </a:r>
          </a:p>
          <a:p>
            <a:pPr>
              <a:buNone/>
            </a:pPr>
            <a:r>
              <a:rPr lang="en-US" sz="2800" dirty="0"/>
              <a:t>Target consumption  = (Standard consumption rate) x (Number of thousands of contact or inhabitants)</a:t>
            </a:r>
          </a:p>
          <a:p>
            <a:endParaRPr lang="en-US" dirty="0"/>
          </a:p>
        </p:txBody>
      </p:sp>
      <p:sp>
        <p:nvSpPr>
          <p:cNvPr id="4" name="Date Placeholder 3"/>
          <p:cNvSpPr>
            <a:spLocks noGrp="1"/>
          </p:cNvSpPr>
          <p:nvPr>
            <p:ph type="dt" sz="half" idx="10"/>
          </p:nvPr>
        </p:nvSpPr>
        <p:spPr/>
        <p:txBody>
          <a:bodyPr/>
          <a:lstStyle/>
          <a:p>
            <a:fld id="{F033BE3A-0AA7-44E5-BDB1-7F4AEAE8708E}"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166</a:t>
            </a:fld>
            <a:endParaRPr lang="en-US">
              <a:solidFill>
                <a:prstClr val="black">
                  <a:tint val="75000"/>
                </a:prstClr>
              </a:solidFill>
            </a:endParaRPr>
          </a:p>
        </p:txBody>
      </p:sp>
      <p:sp>
        <p:nvSpPr>
          <p:cNvPr id="23554"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a:solidFill>
                <a:prstClr val="black"/>
              </a:solidFill>
            </a:endParaRPr>
          </a:p>
        </p:txBody>
      </p:sp>
      <p:pic>
        <p:nvPicPr>
          <p:cNvPr id="23553"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371600" y="1371600"/>
            <a:ext cx="5943600" cy="990600"/>
          </a:xfrm>
          <a:prstGeom prst="rect">
            <a:avLst/>
          </a:prstGeom>
          <a:noFill/>
        </p:spPr>
      </p:pic>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buNone/>
            </a:pPr>
            <a:r>
              <a:rPr lang="en-US" dirty="0"/>
              <a:t>8. Adjust for expected losses</a:t>
            </a:r>
          </a:p>
          <a:p>
            <a:pPr lvl="0">
              <a:buNone/>
            </a:pPr>
            <a:r>
              <a:rPr lang="en-US" dirty="0"/>
              <a:t>9. Estimate costs for each drug and total costs and make adjustments</a:t>
            </a:r>
          </a:p>
          <a:p>
            <a:endParaRPr lang="en-US" dirty="0"/>
          </a:p>
        </p:txBody>
      </p:sp>
      <p:sp>
        <p:nvSpPr>
          <p:cNvPr id="4" name="Date Placeholder 3"/>
          <p:cNvSpPr>
            <a:spLocks noGrp="1"/>
          </p:cNvSpPr>
          <p:nvPr>
            <p:ph type="dt" sz="half" idx="10"/>
          </p:nvPr>
        </p:nvSpPr>
        <p:spPr/>
        <p:txBody>
          <a:bodyPr/>
          <a:lstStyle/>
          <a:p>
            <a:fld id="{58391FEE-FA96-48B1-B272-5F07F22CAA6C}"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167</a:t>
            </a:fld>
            <a:endParaRPr lang="en-US">
              <a:solidFill>
                <a:prstClr val="black">
                  <a:tint val="75000"/>
                </a:prstClr>
              </a:solidFill>
            </a:endParaRPr>
          </a:p>
        </p:txBody>
      </p:sp>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 Service-level projection of budget requirements</a:t>
            </a:r>
          </a:p>
        </p:txBody>
      </p:sp>
      <p:sp>
        <p:nvSpPr>
          <p:cNvPr id="3" name="Content Placeholder 2"/>
          <p:cNvSpPr>
            <a:spLocks noGrp="1"/>
          </p:cNvSpPr>
          <p:nvPr>
            <p:ph idx="1"/>
          </p:nvPr>
        </p:nvSpPr>
        <p:spPr/>
        <p:txBody>
          <a:bodyPr/>
          <a:lstStyle/>
          <a:p>
            <a:pPr lvl="0"/>
            <a:r>
              <a:rPr lang="en-US" dirty="0"/>
              <a:t>It uses the </a:t>
            </a:r>
            <a:r>
              <a:rPr lang="en-US" dirty="0">
                <a:solidFill>
                  <a:schemeClr val="accent1"/>
                </a:solidFill>
              </a:rPr>
              <a:t>average drug procurement cost per attendance or bed-day </a:t>
            </a:r>
            <a:r>
              <a:rPr lang="en-US" dirty="0"/>
              <a:t>in different types of health facilities in a </a:t>
            </a:r>
            <a:r>
              <a:rPr lang="en-US" dirty="0">
                <a:solidFill>
                  <a:srgbClr val="00B0F0"/>
                </a:solidFill>
              </a:rPr>
              <a:t>standard system </a:t>
            </a:r>
            <a:r>
              <a:rPr lang="en-US" dirty="0"/>
              <a:t>to project drug costs in similar types of facilities in the </a:t>
            </a:r>
            <a:r>
              <a:rPr lang="en-US" dirty="0">
                <a:solidFill>
                  <a:srgbClr val="00B0F0"/>
                </a:solidFill>
              </a:rPr>
              <a:t>target system</a:t>
            </a:r>
            <a:r>
              <a:rPr lang="en-US" dirty="0"/>
              <a:t>.</a:t>
            </a:r>
          </a:p>
          <a:p>
            <a:pPr lvl="0"/>
            <a:r>
              <a:rPr lang="en-US" dirty="0"/>
              <a:t>This method does not estimate quantities of individual medicines rather </a:t>
            </a:r>
            <a:r>
              <a:rPr lang="en-US" dirty="0">
                <a:solidFill>
                  <a:srgbClr val="00B0F0"/>
                </a:solidFill>
              </a:rPr>
              <a:t>it is used to estimate financial requirements</a:t>
            </a:r>
            <a:r>
              <a:rPr lang="en-US" dirty="0"/>
              <a:t>.</a:t>
            </a:r>
          </a:p>
          <a:p>
            <a:endParaRPr lang="en-US" dirty="0"/>
          </a:p>
        </p:txBody>
      </p:sp>
      <p:sp>
        <p:nvSpPr>
          <p:cNvPr id="4" name="Date Placeholder 3"/>
          <p:cNvSpPr>
            <a:spLocks noGrp="1"/>
          </p:cNvSpPr>
          <p:nvPr>
            <p:ph type="dt" sz="half" idx="10"/>
          </p:nvPr>
        </p:nvSpPr>
        <p:spPr/>
        <p:txBody>
          <a:bodyPr/>
          <a:lstStyle/>
          <a:p>
            <a:fld id="{00DF825F-DE1F-458E-B2E0-AEC90A6F7A4F}"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168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a:buNone/>
            </a:pPr>
            <a:r>
              <a:rPr lang="en-US" b="1" dirty="0"/>
              <a:t>Steps in quantification</a:t>
            </a:r>
            <a:endParaRPr lang="en-US" dirty="0"/>
          </a:p>
          <a:p>
            <a:pPr lvl="0"/>
            <a:r>
              <a:rPr lang="en-US" dirty="0"/>
              <a:t>Establish the categories of facilities and determine the number in each category</a:t>
            </a:r>
          </a:p>
          <a:p>
            <a:pPr lvl="0"/>
            <a:endParaRPr lang="en-US" dirty="0"/>
          </a:p>
          <a:p>
            <a:pPr lvl="0"/>
            <a:r>
              <a:rPr lang="en-US" dirty="0"/>
              <a:t>Determine the patient contact denominators for each type of facility and compile or estimate the average number of patient contacts of each type at each category of facility</a:t>
            </a:r>
          </a:p>
          <a:p>
            <a:endParaRPr lang="en-US" dirty="0"/>
          </a:p>
        </p:txBody>
      </p:sp>
      <p:sp>
        <p:nvSpPr>
          <p:cNvPr id="4" name="Date Placeholder 3"/>
          <p:cNvSpPr>
            <a:spLocks noGrp="1"/>
          </p:cNvSpPr>
          <p:nvPr>
            <p:ph type="dt" sz="half" idx="10"/>
          </p:nvPr>
        </p:nvSpPr>
        <p:spPr/>
        <p:txBody>
          <a:bodyPr/>
          <a:lstStyle/>
          <a:p>
            <a:fld id="{A17FE80E-9883-49A3-B052-9170D5C226DB}"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169</a:t>
            </a:fld>
            <a:endParaRPr lang="en-US">
              <a:solidFill>
                <a:prstClr val="black">
                  <a:tint val="75000"/>
                </a:prstClr>
              </a:solidFill>
            </a:endParaRPr>
          </a:p>
        </p:txBody>
      </p:sp>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lvl="0"/>
            <a:r>
              <a:rPr lang="en-US" dirty="0"/>
              <a:t>Calculate the average cost per contact</a:t>
            </a:r>
          </a:p>
          <a:p>
            <a:pPr lvl="0"/>
            <a:endParaRPr lang="en-US" dirty="0"/>
          </a:p>
          <a:p>
            <a:pPr lvl="0"/>
            <a:endParaRPr lang="en-US" dirty="0"/>
          </a:p>
          <a:p>
            <a:pPr lvl="0"/>
            <a:endParaRPr lang="en-US" dirty="0"/>
          </a:p>
          <a:p>
            <a:pPr lvl="0"/>
            <a:r>
              <a:rPr lang="en-US" dirty="0"/>
              <a:t>Calculate the total projected drug costs</a:t>
            </a:r>
          </a:p>
          <a:p>
            <a:pPr lvl="1"/>
            <a:r>
              <a:rPr lang="en-US" dirty="0"/>
              <a:t>Multiply the average number of patient contact for each facility by the number of facility and average drug cost.</a:t>
            </a:r>
          </a:p>
          <a:p>
            <a:endParaRPr lang="en-US" dirty="0"/>
          </a:p>
        </p:txBody>
      </p:sp>
      <p:sp>
        <p:nvSpPr>
          <p:cNvPr id="4" name="Date Placeholder 3"/>
          <p:cNvSpPr>
            <a:spLocks noGrp="1"/>
          </p:cNvSpPr>
          <p:nvPr>
            <p:ph type="dt" sz="half" idx="10"/>
          </p:nvPr>
        </p:nvSpPr>
        <p:spPr/>
        <p:txBody>
          <a:bodyPr/>
          <a:lstStyle/>
          <a:p>
            <a:fld id="{8EEF84F9-E85D-44FE-B7C0-BB224E56CF7B}"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170</a:t>
            </a:fld>
            <a:endParaRPr lang="en-US">
              <a:solidFill>
                <a:prstClr val="black">
                  <a:tint val="75000"/>
                </a:prstClr>
              </a:solidFill>
            </a:endParaRPr>
          </a:p>
        </p:txBody>
      </p:sp>
      <p:sp>
        <p:nvSpPr>
          <p:cNvPr id="38914"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a:solidFill>
                <a:prstClr val="black"/>
              </a:solidFill>
            </a:endParaRPr>
          </a:p>
        </p:txBody>
      </p:sp>
      <p:pic>
        <p:nvPicPr>
          <p:cNvPr id="38913"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066800" y="1066800"/>
            <a:ext cx="6324600" cy="1524000"/>
          </a:xfrm>
          <a:prstGeom prst="rect">
            <a:avLst/>
          </a:prstGeom>
          <a:noFill/>
        </p:spPr>
      </p:pic>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 calcmode="lin" valueType="num">
                                      <p:cBhvr additive="base">
                                        <p:cTn id="1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Methods of reconciliation of demand with budget</a:t>
            </a:r>
          </a:p>
        </p:txBody>
      </p:sp>
      <p:sp>
        <p:nvSpPr>
          <p:cNvPr id="3" name="Content Placeholder 2"/>
          <p:cNvSpPr>
            <a:spLocks noGrp="1"/>
          </p:cNvSpPr>
          <p:nvPr>
            <p:ph idx="1"/>
          </p:nvPr>
        </p:nvSpPr>
        <p:spPr/>
        <p:txBody>
          <a:bodyPr/>
          <a:lstStyle/>
          <a:p>
            <a:pPr marL="514350" indent="-514350">
              <a:buAutoNum type="alphaLcPeriod"/>
            </a:pPr>
            <a:r>
              <a:rPr lang="en-US" b="1" dirty="0"/>
              <a:t>VEN analysis</a:t>
            </a:r>
          </a:p>
          <a:p>
            <a:pPr marL="514350" indent="-514350"/>
            <a:r>
              <a:rPr lang="en-US" dirty="0"/>
              <a:t>It is an approach in which drugs are divided according to their health impact in to: </a:t>
            </a:r>
          </a:p>
          <a:p>
            <a:pPr marL="914400" lvl="1" indent="-514350"/>
            <a:r>
              <a:rPr lang="en-US" i="1" dirty="0"/>
              <a:t>Vital, </a:t>
            </a:r>
          </a:p>
          <a:p>
            <a:pPr marL="914400" lvl="1" indent="-514350"/>
            <a:r>
              <a:rPr lang="en-US" i="1" dirty="0"/>
              <a:t>Essential and </a:t>
            </a:r>
          </a:p>
          <a:p>
            <a:pPr marL="914400" lvl="1" indent="-514350"/>
            <a:r>
              <a:rPr lang="en-US" i="1" dirty="0"/>
              <a:t>Non-essential/normal-use categories</a:t>
            </a:r>
            <a:endParaRPr lang="en-US" b="1" dirty="0"/>
          </a:p>
        </p:txBody>
      </p:sp>
      <p:sp>
        <p:nvSpPr>
          <p:cNvPr id="4" name="Date Placeholder 3"/>
          <p:cNvSpPr>
            <a:spLocks noGrp="1"/>
          </p:cNvSpPr>
          <p:nvPr>
            <p:ph type="dt" sz="half" idx="10"/>
          </p:nvPr>
        </p:nvSpPr>
        <p:spPr/>
        <p:txBody>
          <a:bodyPr/>
          <a:lstStyle/>
          <a:p>
            <a:fld id="{55AF4D13-046D-4B18-AB6A-7D5F2551492D}"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171</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lstStyle/>
          <a:p>
            <a:pPr lvl="1"/>
            <a:r>
              <a:rPr lang="en-US" dirty="0"/>
              <a:t>V (Vital drugs):</a:t>
            </a:r>
          </a:p>
          <a:p>
            <a:pPr lvl="2"/>
            <a:r>
              <a:rPr lang="en-US" dirty="0"/>
              <a:t>Potentially lifesaving</a:t>
            </a:r>
          </a:p>
          <a:p>
            <a:pPr lvl="2"/>
            <a:r>
              <a:rPr lang="en-US" dirty="0"/>
              <a:t>have significant withdrawal effect</a:t>
            </a:r>
          </a:p>
          <a:p>
            <a:pPr lvl="2"/>
            <a:r>
              <a:rPr lang="en-US" dirty="0"/>
              <a:t>Crucial to providing basic health services</a:t>
            </a:r>
            <a:endParaRPr lang="en-US" sz="2000" dirty="0"/>
          </a:p>
          <a:p>
            <a:pPr lvl="1"/>
            <a:r>
              <a:rPr lang="en-US" dirty="0"/>
              <a:t>E (Essential drugs): </a:t>
            </a:r>
          </a:p>
          <a:p>
            <a:pPr lvl="2"/>
            <a:r>
              <a:rPr lang="en-US" dirty="0"/>
              <a:t>Effective against less severe but nevertheless significant forms of illness</a:t>
            </a:r>
          </a:p>
          <a:p>
            <a:pPr lvl="2"/>
            <a:r>
              <a:rPr lang="en-US" dirty="0"/>
              <a:t>Not absolutely vital to providing basic health services</a:t>
            </a:r>
            <a:endParaRPr lang="en-US" sz="2000" dirty="0"/>
          </a:p>
          <a:p>
            <a:pPr lvl="1"/>
            <a:r>
              <a:rPr lang="en-US" dirty="0"/>
              <a:t>N (Nonessential drugs):</a:t>
            </a:r>
          </a:p>
          <a:p>
            <a:pPr lvl="2"/>
            <a:r>
              <a:rPr lang="en-US" dirty="0"/>
              <a:t>Used for minor or self-limiting illnesses</a:t>
            </a:r>
            <a:endParaRPr lang="en-US" sz="2000" dirty="0"/>
          </a:p>
          <a:p>
            <a:endParaRPr lang="en-US" dirty="0"/>
          </a:p>
        </p:txBody>
      </p:sp>
      <p:sp>
        <p:nvSpPr>
          <p:cNvPr id="4" name="Date Placeholder 3"/>
          <p:cNvSpPr>
            <a:spLocks noGrp="1"/>
          </p:cNvSpPr>
          <p:nvPr>
            <p:ph type="dt" sz="half" idx="10"/>
          </p:nvPr>
        </p:nvSpPr>
        <p:spPr/>
        <p:txBody>
          <a:bodyPr/>
          <a:lstStyle/>
          <a:p>
            <a:fld id="{F74E83BC-A51C-414C-B692-3354AF40A176}"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172</a:t>
            </a:fld>
            <a:endParaRPr lang="en-US">
              <a:solidFill>
                <a:prstClr val="black">
                  <a:tint val="75000"/>
                </a:prstClr>
              </a:solidFill>
            </a:endParaRPr>
          </a:p>
        </p:txBody>
      </p:sp>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wd">
                                    <p:tmPct val="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iterate type="wd">
                                    <p:tmPct val="0"/>
                                  </p:iterate>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grpId="0" nodeType="withEffect">
                                  <p:stCondLst>
                                    <p:cond delay="0"/>
                                  </p:stCondLst>
                                  <p:iterate type="wd">
                                    <p:tmPct val="0"/>
                                  </p:iterate>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par>
                                <p:cTn id="14" presetID="10" presetClass="entr" presetSubtype="0" fill="hold" grpId="0" nodeType="withEffect">
                                  <p:stCondLst>
                                    <p:cond delay="0"/>
                                  </p:stCondLst>
                                  <p:iterate type="wd">
                                    <p:tmPct val="0"/>
                                  </p:iterate>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2000"/>
                                        <p:tgtEl>
                                          <p:spTgt spid="3">
                                            <p:txEl>
                                              <p:pRg st="3" end="3"/>
                                            </p:txEl>
                                          </p:spTgt>
                                        </p:tgtEl>
                                      </p:cBhvr>
                                    </p:animEffect>
                                  </p:childTnLst>
                                </p:cTn>
                              </p:par>
                              <p:par>
                                <p:cTn id="17" presetID="10" presetClass="entr" presetSubtype="0" fill="hold" grpId="0" nodeType="withEffect">
                                  <p:stCondLst>
                                    <p:cond delay="0"/>
                                  </p:stCondLst>
                                  <p:iterate type="wd">
                                    <p:tmPct val="0"/>
                                  </p:iterate>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2000"/>
                                        <p:tgtEl>
                                          <p:spTgt spid="3">
                                            <p:txEl>
                                              <p:pRg st="4" end="4"/>
                                            </p:txEl>
                                          </p:spTgt>
                                        </p:tgtEl>
                                      </p:cBhvr>
                                    </p:animEffect>
                                  </p:childTnLst>
                                </p:cTn>
                              </p:par>
                              <p:par>
                                <p:cTn id="20" presetID="10" presetClass="entr" presetSubtype="0" fill="hold" grpId="0" nodeType="withEffect">
                                  <p:stCondLst>
                                    <p:cond delay="0"/>
                                  </p:stCondLst>
                                  <p:iterate type="wd">
                                    <p:tmPct val="0"/>
                                  </p:iterate>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2000"/>
                                        <p:tgtEl>
                                          <p:spTgt spid="3">
                                            <p:txEl>
                                              <p:pRg st="5" end="5"/>
                                            </p:txEl>
                                          </p:spTgt>
                                        </p:tgtEl>
                                      </p:cBhvr>
                                    </p:animEffect>
                                  </p:childTnLst>
                                </p:cTn>
                              </p:par>
                              <p:par>
                                <p:cTn id="23" presetID="10" presetClass="entr" presetSubtype="0" fill="hold" grpId="0" nodeType="withEffect">
                                  <p:stCondLst>
                                    <p:cond delay="0"/>
                                  </p:stCondLst>
                                  <p:iterate type="wd">
                                    <p:tmPct val="0"/>
                                  </p:iterate>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2000"/>
                                        <p:tgtEl>
                                          <p:spTgt spid="3">
                                            <p:txEl>
                                              <p:pRg st="6" end="6"/>
                                            </p:txEl>
                                          </p:spTgt>
                                        </p:tgtEl>
                                      </p:cBhvr>
                                    </p:animEffect>
                                  </p:childTnLst>
                                </p:cTn>
                              </p:par>
                              <p:par>
                                <p:cTn id="26" presetID="10" presetClass="entr" presetSubtype="0" fill="hold" grpId="0" nodeType="withEffect">
                                  <p:stCondLst>
                                    <p:cond delay="0"/>
                                  </p:stCondLst>
                                  <p:iterate type="wd">
                                    <p:tmPct val="0"/>
                                  </p:iterate>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2000"/>
                                        <p:tgtEl>
                                          <p:spTgt spid="3">
                                            <p:txEl>
                                              <p:pRg st="7" end="7"/>
                                            </p:txEl>
                                          </p:spTgt>
                                        </p:tgtEl>
                                      </p:cBhvr>
                                    </p:animEffect>
                                  </p:childTnLst>
                                </p:cTn>
                              </p:par>
                              <p:par>
                                <p:cTn id="29" presetID="10" presetClass="entr" presetSubtype="0" fill="hold" grpId="0" nodeType="withEffect">
                                  <p:stCondLst>
                                    <p:cond delay="0"/>
                                  </p:stCondLst>
                                  <p:iterate type="wd">
                                    <p:tmPct val="0"/>
                                  </p:iterate>
                                  <p:childTnLst>
                                    <p:set>
                                      <p:cBhvr>
                                        <p:cTn id="30" dur="1" fill="hold">
                                          <p:stCondLst>
                                            <p:cond delay="0"/>
                                          </p:stCondLst>
                                        </p:cTn>
                                        <p:tgtEl>
                                          <p:spTgt spid="3">
                                            <p:txEl>
                                              <p:pRg st="8" end="8"/>
                                            </p:txEl>
                                          </p:spTgt>
                                        </p:tgtEl>
                                        <p:attrNameLst>
                                          <p:attrName>style.visibility</p:attrName>
                                        </p:attrNameLst>
                                      </p:cBhvr>
                                      <p:to>
                                        <p:strVal val="visible"/>
                                      </p:to>
                                    </p:set>
                                    <p:animEffect transition="in" filter="fade">
                                      <p:cBhvr>
                                        <p:cTn id="31"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lvl="0"/>
            <a:r>
              <a:rPr lang="en-US" i="1" dirty="0"/>
              <a:t>Steps in conducting VEN analysis:</a:t>
            </a:r>
            <a:endParaRPr lang="en-US" sz="2800" dirty="0"/>
          </a:p>
          <a:p>
            <a:pPr lvl="1"/>
            <a:r>
              <a:rPr lang="en-US" dirty="0"/>
              <a:t>Classify all drugs on the list as V, E, or N</a:t>
            </a:r>
          </a:p>
          <a:p>
            <a:pPr lvl="1"/>
            <a:endParaRPr lang="en-US" sz="2400" dirty="0"/>
          </a:p>
          <a:p>
            <a:pPr lvl="1"/>
            <a:r>
              <a:rPr lang="en-US" dirty="0"/>
              <a:t>Analyze N items. Where possible, reduce quantities to purchase or eliminate purchases entirely.</a:t>
            </a:r>
          </a:p>
          <a:p>
            <a:pPr marL="457200" lvl="1" indent="0">
              <a:buNone/>
            </a:pPr>
            <a:endParaRPr lang="en-US" sz="2400" dirty="0"/>
          </a:p>
          <a:p>
            <a:pPr lvl="1"/>
            <a:r>
              <a:rPr lang="en-US" dirty="0"/>
              <a:t>Identify and limit therapeutic duplications, if any</a:t>
            </a:r>
          </a:p>
          <a:p>
            <a:pPr marL="457200" lvl="1" indent="0">
              <a:buNone/>
            </a:pPr>
            <a:endParaRPr lang="en-US" sz="2400" dirty="0"/>
          </a:p>
          <a:p>
            <a:pPr lvl="1"/>
            <a:r>
              <a:rPr lang="en-US" dirty="0"/>
              <a:t>Reconsider proposed purchased quantities</a:t>
            </a:r>
          </a:p>
          <a:p>
            <a:pPr lvl="1"/>
            <a:endParaRPr lang="en-US" sz="2400" dirty="0"/>
          </a:p>
          <a:p>
            <a:pPr lvl="1"/>
            <a:r>
              <a:rPr lang="en-US" dirty="0"/>
              <a:t>Find additional funds if needed or possible</a:t>
            </a:r>
            <a:endParaRPr lang="en-US" sz="2400" dirty="0"/>
          </a:p>
          <a:p>
            <a:endParaRPr lang="en-US" dirty="0"/>
          </a:p>
        </p:txBody>
      </p:sp>
      <p:sp>
        <p:nvSpPr>
          <p:cNvPr id="4" name="Date Placeholder 3"/>
          <p:cNvSpPr>
            <a:spLocks noGrp="1"/>
          </p:cNvSpPr>
          <p:nvPr>
            <p:ph type="dt" sz="half" idx="10"/>
          </p:nvPr>
        </p:nvSpPr>
        <p:spPr/>
        <p:txBody>
          <a:bodyPr/>
          <a:lstStyle/>
          <a:p>
            <a:fld id="{051FDFDC-F57D-4B55-8FA7-7901386D65D5}"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173</a:t>
            </a:fld>
            <a:endParaRPr lang="en-US">
              <a:solidFill>
                <a:prstClr val="black">
                  <a:tint val="75000"/>
                </a:prstClr>
              </a:solidFill>
            </a:endParaRPr>
          </a:p>
        </p:txBody>
      </p:sp>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1000"/>
                                        <p:tgtEl>
                                          <p:spTgt spid="3">
                                            <p:txEl>
                                              <p:pRg st="5" end="5"/>
                                            </p:txEl>
                                          </p:spTgt>
                                        </p:tgtEl>
                                      </p:cBhvr>
                                    </p:animEffect>
                                    <p:anim calcmode="lin" valueType="num">
                                      <p:cBhvr>
                                        <p:cTn id="2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1000"/>
                                        <p:tgtEl>
                                          <p:spTgt spid="3">
                                            <p:txEl>
                                              <p:pRg st="7" end="7"/>
                                            </p:txEl>
                                          </p:spTgt>
                                        </p:tgtEl>
                                      </p:cBhvr>
                                    </p:animEffect>
                                    <p:anim calcmode="lin" valueType="num">
                                      <p:cBhvr>
                                        <p:cTn id="2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7" end="7"/>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1000"/>
                                        <p:tgtEl>
                                          <p:spTgt spid="3">
                                            <p:txEl>
                                              <p:pRg st="9" end="9"/>
                                            </p:txEl>
                                          </p:spTgt>
                                        </p:tgtEl>
                                      </p:cBhvr>
                                    </p:animEffect>
                                    <p:anim calcmode="lin" valueType="num">
                                      <p:cBhvr>
                                        <p:cTn id="33"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a:buNone/>
            </a:pPr>
            <a:r>
              <a:rPr lang="en-US" b="1" dirty="0"/>
              <a:t>b. ABC analysis</a:t>
            </a:r>
          </a:p>
          <a:p>
            <a:pPr lvl="0"/>
            <a:r>
              <a:rPr lang="en-US" dirty="0"/>
              <a:t>ABC analysis is the method for determining and comparing drug cost.</a:t>
            </a:r>
          </a:p>
          <a:p>
            <a:pPr lvl="0"/>
            <a:endParaRPr lang="en-US" sz="2800" dirty="0"/>
          </a:p>
          <a:p>
            <a:pPr lvl="0"/>
            <a:r>
              <a:rPr lang="en-US" dirty="0"/>
              <a:t>It identifies three useful tiers for analysis:</a:t>
            </a:r>
            <a:endParaRPr lang="en-US" sz="2800" dirty="0"/>
          </a:p>
          <a:p>
            <a:pPr lvl="1"/>
            <a:r>
              <a:rPr lang="en-US" dirty="0"/>
              <a:t>Class A items: highest annual usage ( high volume or high cost)</a:t>
            </a:r>
            <a:endParaRPr lang="en-US" sz="2400" dirty="0"/>
          </a:p>
          <a:p>
            <a:pPr lvl="2"/>
            <a:r>
              <a:rPr lang="en-US" dirty="0"/>
              <a:t>Usually accounts for 10-20 percent of items ordered and 70 to 80 percent of funds.</a:t>
            </a:r>
            <a:endParaRPr lang="en-US" sz="2000" dirty="0"/>
          </a:p>
          <a:p>
            <a:pPr>
              <a:buNone/>
            </a:pPr>
            <a:endParaRPr lang="en-US" b="1" dirty="0"/>
          </a:p>
        </p:txBody>
      </p:sp>
      <p:sp>
        <p:nvSpPr>
          <p:cNvPr id="4" name="Date Placeholder 3"/>
          <p:cNvSpPr>
            <a:spLocks noGrp="1"/>
          </p:cNvSpPr>
          <p:nvPr>
            <p:ph type="dt" sz="half" idx="10"/>
          </p:nvPr>
        </p:nvSpPr>
        <p:spPr/>
        <p:txBody>
          <a:bodyPr/>
          <a:lstStyle/>
          <a:p>
            <a:fld id="{97B74FDC-DEE5-47E3-A633-0729672F5A76}"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174</a:t>
            </a:fld>
            <a:endParaRPr lang="en-US">
              <a:solidFill>
                <a:prstClr val="black">
                  <a:tint val="75000"/>
                </a:prstClr>
              </a:solidFill>
            </a:endParaRPr>
          </a:p>
        </p:txBody>
      </p:sp>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pPr lvl="1"/>
            <a:r>
              <a:rPr lang="en-US" dirty="0"/>
              <a:t>Class B items: moderate annual usage</a:t>
            </a:r>
            <a:endParaRPr lang="en-US" sz="2400" dirty="0"/>
          </a:p>
          <a:p>
            <a:pPr lvl="2"/>
            <a:r>
              <a:rPr lang="en-US" dirty="0"/>
              <a:t>Accounts 10 to 20 percent of items ordered and 15 to 20 percent of funds.</a:t>
            </a:r>
          </a:p>
          <a:p>
            <a:pPr lvl="2"/>
            <a:endParaRPr lang="en-US" sz="2000" dirty="0"/>
          </a:p>
          <a:p>
            <a:pPr lvl="1"/>
            <a:r>
              <a:rPr lang="en-US" dirty="0"/>
              <a:t>Class C items: Lowest annual usage</a:t>
            </a:r>
            <a:endParaRPr lang="en-US" sz="2400" dirty="0"/>
          </a:p>
          <a:p>
            <a:pPr lvl="2"/>
            <a:r>
              <a:rPr lang="en-US" dirty="0"/>
              <a:t>Accounts for 60-80 percent of items ordered and 5-10 percent of funds.</a:t>
            </a:r>
            <a:endParaRPr lang="en-US" sz="2000" dirty="0"/>
          </a:p>
          <a:p>
            <a:endParaRPr lang="en-US" dirty="0"/>
          </a:p>
        </p:txBody>
      </p:sp>
      <p:sp>
        <p:nvSpPr>
          <p:cNvPr id="4" name="Date Placeholder 3"/>
          <p:cNvSpPr>
            <a:spLocks noGrp="1"/>
          </p:cNvSpPr>
          <p:nvPr>
            <p:ph type="dt" sz="half" idx="10"/>
          </p:nvPr>
        </p:nvSpPr>
        <p:spPr/>
        <p:txBody>
          <a:bodyPr/>
          <a:lstStyle/>
          <a:p>
            <a:fld id="{59222184-25AB-49D4-81E5-1E5598FD8F58}"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175</a:t>
            </a:fld>
            <a:endParaRPr lang="en-US">
              <a:solidFill>
                <a:prstClr val="black">
                  <a:tint val="75000"/>
                </a:prstClr>
              </a:solidFill>
            </a:endParaRPr>
          </a:p>
        </p:txBody>
      </p:sp>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pPr lvl="0"/>
            <a:r>
              <a:rPr lang="en-US" i="1" dirty="0"/>
              <a:t>Steps to perform ABC analysis:</a:t>
            </a:r>
            <a:endParaRPr lang="en-US" sz="2800" dirty="0"/>
          </a:p>
          <a:p>
            <a:pPr lvl="1"/>
            <a:r>
              <a:rPr lang="en-US" dirty="0"/>
              <a:t>List all items purchased or consumed and enter the unit cost</a:t>
            </a:r>
          </a:p>
          <a:p>
            <a:pPr lvl="1"/>
            <a:endParaRPr lang="en-US" sz="2400" dirty="0"/>
          </a:p>
          <a:p>
            <a:pPr lvl="1"/>
            <a:r>
              <a:rPr lang="en-US" dirty="0"/>
              <a:t>Enter consumption quantities over a defined period of time</a:t>
            </a:r>
          </a:p>
          <a:p>
            <a:pPr lvl="1"/>
            <a:endParaRPr lang="en-US" sz="2400" dirty="0"/>
          </a:p>
          <a:p>
            <a:pPr lvl="1"/>
            <a:r>
              <a:rPr lang="en-US" dirty="0"/>
              <a:t>Calculate the value of consumption (utilize acquisition cost)</a:t>
            </a:r>
          </a:p>
          <a:p>
            <a:pPr lvl="1"/>
            <a:endParaRPr lang="en-US" sz="2400" dirty="0"/>
          </a:p>
          <a:p>
            <a:pPr lvl="1"/>
            <a:r>
              <a:rPr lang="en-US" dirty="0"/>
              <a:t>Calculate the percentage of total value represented by each item.</a:t>
            </a:r>
            <a:endParaRPr lang="en-US" sz="2400" dirty="0"/>
          </a:p>
          <a:p>
            <a:endParaRPr lang="en-US" dirty="0"/>
          </a:p>
        </p:txBody>
      </p:sp>
      <p:sp>
        <p:nvSpPr>
          <p:cNvPr id="4" name="Date Placeholder 3"/>
          <p:cNvSpPr>
            <a:spLocks noGrp="1"/>
          </p:cNvSpPr>
          <p:nvPr>
            <p:ph type="dt" sz="half" idx="10"/>
          </p:nvPr>
        </p:nvSpPr>
        <p:spPr/>
        <p:txBody>
          <a:bodyPr/>
          <a:lstStyle/>
          <a:p>
            <a:fld id="{86F8AEED-4CB7-4325-9FCF-AA2CD0046C94}"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176</a:t>
            </a:fld>
            <a:endParaRPr lang="en-US">
              <a:solidFill>
                <a:prstClr val="black">
                  <a:tint val="75000"/>
                </a:prstClr>
              </a:solidFill>
            </a:endParaRPr>
          </a:p>
        </p:txBody>
      </p:sp>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lvl="1"/>
            <a:r>
              <a:rPr lang="en-US" dirty="0"/>
              <a:t>Rearrange the list. Rank items with descending order by total value, staring at the top with the highest value.</a:t>
            </a:r>
          </a:p>
          <a:p>
            <a:pPr lvl="1"/>
            <a:endParaRPr lang="en-US" sz="2400" dirty="0"/>
          </a:p>
          <a:p>
            <a:pPr lvl="1"/>
            <a:r>
              <a:rPr lang="en-US" dirty="0"/>
              <a:t>Calculate the cumulative percentage of the total value for each item</a:t>
            </a:r>
          </a:p>
          <a:p>
            <a:pPr lvl="1"/>
            <a:endParaRPr lang="en-US" sz="2400" dirty="0"/>
          </a:p>
          <a:p>
            <a:pPr lvl="1"/>
            <a:r>
              <a:rPr lang="en-US" dirty="0"/>
              <a:t>Choose cutoff points or boundaries for A, B, and C drugs</a:t>
            </a:r>
            <a:endParaRPr lang="en-US" sz="2400" dirty="0"/>
          </a:p>
          <a:p>
            <a:endParaRPr lang="en-US" dirty="0"/>
          </a:p>
        </p:txBody>
      </p:sp>
      <p:sp>
        <p:nvSpPr>
          <p:cNvPr id="4" name="Date Placeholder 3"/>
          <p:cNvSpPr>
            <a:spLocks noGrp="1"/>
          </p:cNvSpPr>
          <p:nvPr>
            <p:ph type="dt" sz="half" idx="10"/>
          </p:nvPr>
        </p:nvSpPr>
        <p:spPr/>
        <p:txBody>
          <a:bodyPr/>
          <a:lstStyle/>
          <a:p>
            <a:fld id="{3C21C922-545E-4640-A8F9-5BE3B42611F2}"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177</a:t>
            </a:fld>
            <a:endParaRPr lang="en-US">
              <a:solidFill>
                <a:prstClr val="black">
                  <a:tint val="75000"/>
                </a:prstClr>
              </a:solidFill>
            </a:endParaRPr>
          </a:p>
        </p:txBody>
      </p:sp>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lvl="0">
              <a:buNone/>
            </a:pPr>
            <a:r>
              <a:rPr lang="en-US" b="1" dirty="0"/>
              <a:t>C. Therapeutic category analysis</a:t>
            </a:r>
            <a:endParaRPr lang="en-US" dirty="0"/>
          </a:p>
          <a:p>
            <a:pPr lvl="0"/>
            <a:r>
              <a:rPr lang="en-US" dirty="0"/>
              <a:t>Its applications are the same as those of ABC analysis.</a:t>
            </a:r>
          </a:p>
          <a:p>
            <a:pPr lvl="0"/>
            <a:r>
              <a:rPr lang="en-US" dirty="0"/>
              <a:t>The focus is on cost-control efforts on the </a:t>
            </a:r>
            <a:r>
              <a:rPr lang="en-US" dirty="0">
                <a:solidFill>
                  <a:srgbClr val="00B0F0"/>
                </a:solidFill>
              </a:rPr>
              <a:t>therapeutic categories</a:t>
            </a:r>
            <a:r>
              <a:rPr lang="en-US" dirty="0"/>
              <a:t> that show the highest consumption and greatest expenditures. </a:t>
            </a:r>
          </a:p>
          <a:p>
            <a:pPr lvl="0"/>
            <a:r>
              <a:rPr lang="en-US" dirty="0"/>
              <a:t>In this approach, therapeutic categories having the consecutive highest expenditures will be looked for possible interventions.  </a:t>
            </a:r>
          </a:p>
          <a:p>
            <a:endParaRPr lang="en-US" dirty="0"/>
          </a:p>
        </p:txBody>
      </p:sp>
      <p:sp>
        <p:nvSpPr>
          <p:cNvPr id="4" name="Date Placeholder 3"/>
          <p:cNvSpPr>
            <a:spLocks noGrp="1"/>
          </p:cNvSpPr>
          <p:nvPr>
            <p:ph type="dt" sz="half" idx="10"/>
          </p:nvPr>
        </p:nvSpPr>
        <p:spPr/>
        <p:txBody>
          <a:bodyPr/>
          <a:lstStyle/>
          <a:p>
            <a:fld id="{E67D33C8-0772-4BAA-BD43-ED5799BF22BB}" type="datetime1">
              <a:rPr lang="en-US" smtClean="0">
                <a:solidFill>
                  <a:prstClr val="black">
                    <a:tint val="75000"/>
                  </a:prstClr>
                </a:solidFill>
              </a:rPr>
              <a:t>1/31/2026</a:t>
            </a:fld>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C07B8F-4B6E-44C2-9B43-6C0464F993AC}" type="slidenum">
              <a:rPr lang="en-US" smtClean="0">
                <a:solidFill>
                  <a:prstClr val="black">
                    <a:tint val="75000"/>
                  </a:prstClr>
                </a:solidFill>
              </a:rPr>
              <a:t>178</a:t>
            </a:fld>
            <a:endParaRPr lang="en-US">
              <a:solidFill>
                <a:prstClr val="black">
                  <a:tint val="75000"/>
                </a:prstClr>
              </a:solidFill>
            </a:endParaRPr>
          </a:p>
        </p:txBody>
      </p:sp>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76200" y="792162"/>
            <a:ext cx="5562600" cy="4983163"/>
          </a:xfrm>
        </p:spPr>
        <p:txBody>
          <a:bodyPr lIns="50800" tIns="50800" bIns="50800"/>
          <a:lstStyle/>
          <a:p>
            <a:pPr marL="382905"/>
            <a:r>
              <a:rPr lang="en-US" sz="3000" dirty="0">
                <a:solidFill>
                  <a:schemeClr val="bg1"/>
                </a:solidFill>
                <a:latin typeface="Calibri" panose="020F0502020204030204" charset="0"/>
              </a:rPr>
              <a:t>Maximum level</a:t>
            </a:r>
          </a:p>
          <a:p>
            <a:pPr marL="382905"/>
            <a:endParaRPr lang="en-US" sz="1000" dirty="0">
              <a:solidFill>
                <a:schemeClr val="bg1"/>
              </a:solidFill>
              <a:latin typeface="Calibri" panose="020F0502020204030204" charset="0"/>
            </a:endParaRPr>
          </a:p>
          <a:p>
            <a:pPr marL="382905"/>
            <a:endParaRPr lang="en-US" sz="1000" dirty="0">
              <a:solidFill>
                <a:schemeClr val="bg1"/>
              </a:solidFill>
              <a:latin typeface="Calibri" panose="020F0502020204030204" charset="0"/>
            </a:endParaRPr>
          </a:p>
          <a:p>
            <a:pPr marL="382905"/>
            <a:r>
              <a:rPr lang="en-US" sz="3000" dirty="0">
                <a:solidFill>
                  <a:schemeClr val="bg1"/>
                </a:solidFill>
                <a:latin typeface="Calibri" panose="020F0502020204030204" charset="0"/>
              </a:rPr>
              <a:t>Minimum level</a:t>
            </a:r>
          </a:p>
          <a:p>
            <a:pPr marL="382905"/>
            <a:endParaRPr lang="en-US" sz="1000" dirty="0">
              <a:solidFill>
                <a:schemeClr val="bg1"/>
              </a:solidFill>
              <a:latin typeface="Calibri" panose="020F0502020204030204" charset="0"/>
            </a:endParaRPr>
          </a:p>
          <a:p>
            <a:pPr marL="382905"/>
            <a:endParaRPr lang="en-US" sz="1000" dirty="0">
              <a:solidFill>
                <a:schemeClr val="bg1"/>
              </a:solidFill>
              <a:latin typeface="Calibri" panose="020F0502020204030204" charset="0"/>
            </a:endParaRPr>
          </a:p>
          <a:p>
            <a:pPr marL="382905"/>
            <a:r>
              <a:rPr lang="en-US" sz="3000" dirty="0">
                <a:solidFill>
                  <a:schemeClr val="bg1"/>
                </a:solidFill>
                <a:latin typeface="Calibri" panose="020F0502020204030204" charset="0"/>
              </a:rPr>
              <a:t>Review period stock level</a:t>
            </a:r>
          </a:p>
          <a:p>
            <a:pPr marL="382905"/>
            <a:endParaRPr lang="en-US" sz="2000" dirty="0">
              <a:solidFill>
                <a:schemeClr val="bg1"/>
              </a:solidFill>
              <a:latin typeface="Calibri" panose="020F0502020204030204" charset="0"/>
            </a:endParaRPr>
          </a:p>
          <a:p>
            <a:pPr marL="382905"/>
            <a:r>
              <a:rPr lang="en-US" sz="3000" dirty="0">
                <a:solidFill>
                  <a:schemeClr val="bg1"/>
                </a:solidFill>
                <a:latin typeface="Calibri" panose="020F0502020204030204" charset="0"/>
              </a:rPr>
              <a:t>Safety stock level</a:t>
            </a:r>
          </a:p>
          <a:p>
            <a:pPr marL="382905"/>
            <a:endParaRPr lang="en-US" sz="2000" dirty="0">
              <a:solidFill>
                <a:schemeClr val="bg1"/>
              </a:solidFill>
              <a:latin typeface="Calibri" panose="020F0502020204030204" charset="0"/>
            </a:endParaRPr>
          </a:p>
          <a:p>
            <a:pPr marL="382905"/>
            <a:r>
              <a:rPr lang="en-US" sz="3000" dirty="0">
                <a:solidFill>
                  <a:schemeClr val="bg1"/>
                </a:solidFill>
                <a:latin typeface="Calibri" panose="020F0502020204030204" charset="0"/>
              </a:rPr>
              <a:t>Lead time stock level</a:t>
            </a:r>
          </a:p>
          <a:p>
            <a:pPr marL="382905"/>
            <a:endParaRPr lang="en-US" sz="2000" dirty="0">
              <a:solidFill>
                <a:schemeClr val="bg1"/>
              </a:solidFill>
              <a:latin typeface="Calibri" panose="020F0502020204030204" charset="0"/>
            </a:endParaRPr>
          </a:p>
          <a:p>
            <a:pPr marL="382905"/>
            <a:r>
              <a:rPr lang="en-US" sz="3000" dirty="0">
                <a:solidFill>
                  <a:schemeClr val="bg1"/>
                </a:solidFill>
                <a:latin typeface="Calibri" panose="020F0502020204030204" charset="0"/>
              </a:rPr>
              <a:t>Emergency stock level</a:t>
            </a:r>
          </a:p>
        </p:txBody>
      </p:sp>
      <p:sp>
        <p:nvSpPr>
          <p:cNvPr id="4" name="Rectangle 5"/>
          <p:cNvSpPr txBox="1">
            <a:spLocks noChangeArrowheads="1"/>
          </p:cNvSpPr>
          <p:nvPr/>
        </p:nvSpPr>
        <p:spPr bwMode="auto">
          <a:xfrm>
            <a:off x="457200" y="1249362"/>
            <a:ext cx="8321040" cy="457200"/>
          </a:xfrm>
          <a:prstGeom prst="rect">
            <a:avLst/>
          </a:prstGeom>
          <a:solidFill>
            <a:schemeClr val="bg1"/>
          </a:solidFill>
          <a:ln w="9525">
            <a:noFill/>
            <a:miter lim="800000"/>
          </a:ln>
        </p:spPr>
        <p:txBody>
          <a:bodyPr/>
          <a:lstStyle/>
          <a:p>
            <a:pPr marL="342900" indent="-342900">
              <a:spcBef>
                <a:spcPct val="20000"/>
              </a:spcBef>
              <a:buClr>
                <a:srgbClr val="800080"/>
              </a:buClr>
              <a:buSzPct val="60000"/>
              <a:defRPr/>
            </a:pPr>
            <a:r>
              <a:rPr lang="en-GB" sz="2500" dirty="0">
                <a:solidFill>
                  <a:prstClr val="white"/>
                </a:solidFill>
                <a:latin typeface="Calibri" panose="020F0502020204030204" charset="0"/>
                <a:sym typeface="Arial" panose="020B0604020202020204" pitchFamily="34" charset="0"/>
              </a:rPr>
              <a:t>The maximum level of stock you can hold</a:t>
            </a:r>
          </a:p>
        </p:txBody>
      </p:sp>
      <p:sp>
        <p:nvSpPr>
          <p:cNvPr id="5" name="Rectangle 3"/>
          <p:cNvSpPr txBox="1">
            <a:spLocks noChangeArrowheads="1"/>
          </p:cNvSpPr>
          <p:nvPr/>
        </p:nvSpPr>
        <p:spPr bwMode="auto">
          <a:xfrm>
            <a:off x="457200" y="2239962"/>
            <a:ext cx="8321040" cy="457200"/>
          </a:xfrm>
          <a:prstGeom prst="rect">
            <a:avLst/>
          </a:prstGeom>
          <a:solidFill>
            <a:schemeClr val="bg1"/>
          </a:solidFill>
          <a:ln w="9525">
            <a:noFill/>
            <a:miter lim="800000"/>
          </a:ln>
        </p:spPr>
        <p:txBody>
          <a:bodyPr/>
          <a:lstStyle/>
          <a:p>
            <a:pPr marL="342900" indent="-342900">
              <a:spcBef>
                <a:spcPct val="20000"/>
              </a:spcBef>
              <a:buClr>
                <a:srgbClr val="800080"/>
              </a:buClr>
              <a:buSzPct val="60000"/>
              <a:defRPr/>
            </a:pPr>
            <a:r>
              <a:rPr lang="en-GB" sz="2500" dirty="0">
                <a:solidFill>
                  <a:prstClr val="white"/>
                </a:solidFill>
                <a:latin typeface="Calibri" panose="020F0502020204030204" charset="0"/>
                <a:sym typeface="Arial" panose="020B0604020202020204" pitchFamily="34" charset="0"/>
              </a:rPr>
              <a:t>To trigger reorder of item </a:t>
            </a:r>
          </a:p>
        </p:txBody>
      </p:sp>
      <p:sp>
        <p:nvSpPr>
          <p:cNvPr id="6" name="Rectangle 5"/>
          <p:cNvSpPr txBox="1">
            <a:spLocks noChangeArrowheads="1"/>
          </p:cNvSpPr>
          <p:nvPr/>
        </p:nvSpPr>
        <p:spPr bwMode="auto">
          <a:xfrm>
            <a:off x="457200" y="3154362"/>
            <a:ext cx="8321040" cy="457200"/>
          </a:xfrm>
          <a:prstGeom prst="rect">
            <a:avLst/>
          </a:prstGeom>
          <a:solidFill>
            <a:schemeClr val="bg1"/>
          </a:solidFill>
          <a:ln w="9525">
            <a:noFill/>
            <a:miter lim="800000"/>
          </a:ln>
        </p:spPr>
        <p:txBody>
          <a:bodyPr/>
          <a:lstStyle/>
          <a:p>
            <a:pPr marL="342900" indent="-342900">
              <a:lnSpc>
                <a:spcPct val="90000"/>
              </a:lnSpc>
              <a:spcBef>
                <a:spcPct val="20000"/>
              </a:spcBef>
              <a:buClr>
                <a:srgbClr val="800080"/>
              </a:buClr>
              <a:buSzPct val="60000"/>
              <a:defRPr/>
            </a:pPr>
            <a:r>
              <a:rPr lang="en-GB" sz="2500" dirty="0">
                <a:solidFill>
                  <a:prstClr val="white"/>
                </a:solidFill>
                <a:latin typeface="Calibri" panose="020F0502020204030204" charset="0"/>
                <a:sym typeface="Arial" panose="020B0604020202020204" pitchFamily="34" charset="0"/>
              </a:rPr>
              <a:t> </a:t>
            </a:r>
            <a:r>
              <a:rPr lang="en-GB" sz="2400" dirty="0">
                <a:solidFill>
                  <a:prstClr val="white"/>
                </a:solidFill>
                <a:latin typeface="Calibri" panose="020F0502020204030204" charset="0"/>
                <a:sym typeface="Arial" panose="020B0604020202020204" pitchFamily="34" charset="0"/>
              </a:rPr>
              <a:t>The amount of stock needed between reordering</a:t>
            </a:r>
            <a:endParaRPr lang="en-US" sz="2400" dirty="0">
              <a:solidFill>
                <a:prstClr val="white"/>
              </a:solidFill>
              <a:latin typeface="Calibri" panose="020F0502020204030204" charset="0"/>
              <a:sym typeface="Arial" panose="020B0604020202020204" pitchFamily="34" charset="0"/>
            </a:endParaRPr>
          </a:p>
        </p:txBody>
      </p:sp>
      <p:sp>
        <p:nvSpPr>
          <p:cNvPr id="7" name="Rectangle 5"/>
          <p:cNvSpPr txBox="1">
            <a:spLocks noChangeArrowheads="1"/>
          </p:cNvSpPr>
          <p:nvPr/>
        </p:nvSpPr>
        <p:spPr bwMode="auto">
          <a:xfrm>
            <a:off x="457200" y="4068762"/>
            <a:ext cx="8321040" cy="457200"/>
          </a:xfrm>
          <a:prstGeom prst="rect">
            <a:avLst/>
          </a:prstGeom>
          <a:solidFill>
            <a:schemeClr val="bg1"/>
          </a:solidFill>
          <a:ln w="9525">
            <a:noFill/>
            <a:miter lim="800000"/>
          </a:ln>
        </p:spPr>
        <p:txBody>
          <a:bodyPr/>
          <a:lstStyle/>
          <a:p>
            <a:pPr marL="342900" indent="-342900">
              <a:spcBef>
                <a:spcPct val="20000"/>
              </a:spcBef>
              <a:buClr>
                <a:srgbClr val="800080"/>
              </a:buClr>
              <a:buSzPct val="60000"/>
              <a:defRPr/>
            </a:pPr>
            <a:r>
              <a:rPr lang="en-GB" sz="2500" dirty="0">
                <a:solidFill>
                  <a:prstClr val="white"/>
                </a:solidFill>
                <a:latin typeface="Calibri" panose="020F0502020204030204" charset="0"/>
                <a:sym typeface="Arial" panose="020B0604020202020204" pitchFamily="34" charset="0"/>
              </a:rPr>
              <a:t>The buffer stock kept on hand to protect against stock outs</a:t>
            </a:r>
            <a:endParaRPr lang="en-US" sz="2500" dirty="0">
              <a:solidFill>
                <a:prstClr val="white"/>
              </a:solidFill>
              <a:latin typeface="Calibri" panose="020F0502020204030204" charset="0"/>
              <a:sym typeface="Arial" panose="020B0604020202020204" pitchFamily="34" charset="0"/>
            </a:endParaRPr>
          </a:p>
        </p:txBody>
      </p:sp>
      <p:sp>
        <p:nvSpPr>
          <p:cNvPr id="8" name="Rectangle 5"/>
          <p:cNvSpPr txBox="1">
            <a:spLocks noChangeArrowheads="1"/>
          </p:cNvSpPr>
          <p:nvPr/>
        </p:nvSpPr>
        <p:spPr bwMode="auto">
          <a:xfrm>
            <a:off x="457200" y="4983162"/>
            <a:ext cx="8321040" cy="457200"/>
          </a:xfrm>
          <a:prstGeom prst="rect">
            <a:avLst/>
          </a:prstGeom>
          <a:solidFill>
            <a:schemeClr val="bg1"/>
          </a:solidFill>
          <a:ln w="9525">
            <a:noFill/>
            <a:miter lim="800000"/>
          </a:ln>
        </p:spPr>
        <p:txBody>
          <a:bodyPr/>
          <a:lstStyle/>
          <a:p>
            <a:pPr marL="342900" indent="-342900">
              <a:spcBef>
                <a:spcPct val="20000"/>
              </a:spcBef>
              <a:buClr>
                <a:srgbClr val="800080"/>
              </a:buClr>
              <a:buSzPct val="60000"/>
              <a:defRPr/>
            </a:pPr>
            <a:r>
              <a:rPr lang="en-GB" sz="2500" dirty="0">
                <a:solidFill>
                  <a:prstClr val="white"/>
                </a:solidFill>
                <a:latin typeface="Calibri" panose="020F0502020204030204" charset="0"/>
                <a:sym typeface="Arial" panose="020B0604020202020204" pitchFamily="34" charset="0"/>
              </a:rPr>
              <a:t>Level of stock used between the time ordering and receiving</a:t>
            </a:r>
          </a:p>
          <a:p>
            <a:pPr marL="342900" indent="-342900">
              <a:spcBef>
                <a:spcPct val="20000"/>
              </a:spcBef>
              <a:buClr>
                <a:srgbClr val="800080"/>
              </a:buClr>
              <a:buSzPct val="60000"/>
              <a:defRPr/>
            </a:pPr>
            <a:endParaRPr lang="en-US" sz="2500" dirty="0">
              <a:solidFill>
                <a:prstClr val="white"/>
              </a:solidFill>
              <a:latin typeface="Calibri" panose="020F0502020204030204" charset="0"/>
              <a:sym typeface="Arial" panose="020B0604020202020204" pitchFamily="34" charset="0"/>
            </a:endParaRPr>
          </a:p>
        </p:txBody>
      </p:sp>
      <p:sp>
        <p:nvSpPr>
          <p:cNvPr id="9" name="Rectangle 5"/>
          <p:cNvSpPr txBox="1">
            <a:spLocks noChangeArrowheads="1"/>
          </p:cNvSpPr>
          <p:nvPr/>
        </p:nvSpPr>
        <p:spPr bwMode="auto">
          <a:xfrm>
            <a:off x="457200" y="5897562"/>
            <a:ext cx="8321040" cy="457200"/>
          </a:xfrm>
          <a:prstGeom prst="rect">
            <a:avLst/>
          </a:prstGeom>
          <a:solidFill>
            <a:schemeClr val="bg1"/>
          </a:solidFill>
          <a:ln w="9525">
            <a:noFill/>
            <a:miter lim="800000"/>
          </a:ln>
        </p:spPr>
        <p:txBody>
          <a:bodyPr/>
          <a:lstStyle/>
          <a:p>
            <a:pPr marL="342900" indent="-342900">
              <a:spcBef>
                <a:spcPct val="20000"/>
              </a:spcBef>
              <a:buClr>
                <a:srgbClr val="800080"/>
              </a:buClr>
              <a:buSzPct val="60000"/>
              <a:defRPr/>
            </a:pPr>
            <a:r>
              <a:rPr lang="en-GB" sz="2500" dirty="0">
                <a:solidFill>
                  <a:prstClr val="white"/>
                </a:solidFill>
                <a:latin typeface="Calibri" panose="020F0502020204030204" charset="0"/>
                <a:sym typeface="Arial" panose="020B0604020202020204" pitchFamily="34" charset="0"/>
              </a:rPr>
              <a:t>Level of stock that triggers an emergency order</a:t>
            </a:r>
          </a:p>
        </p:txBody>
      </p:sp>
      <p:sp>
        <p:nvSpPr>
          <p:cNvPr id="10" name="Title 1"/>
          <p:cNvSpPr txBox="1"/>
          <p:nvPr/>
        </p:nvSpPr>
        <p:spPr>
          <a:xfrm>
            <a:off x="914" y="-304800"/>
            <a:ext cx="9143086" cy="1143000"/>
          </a:xfrm>
          <a:prstGeom prst="rect">
            <a:avLst/>
          </a:prstGeom>
          <a:solidFill>
            <a:srgbClr val="1F497D">
              <a:lumMod val="50000"/>
            </a:srgb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solidFill>
                  <a:prstClr val="white"/>
                </a:solidFill>
                <a:latin typeface="Calibri" panose="020F0502020204030204" charset="0"/>
              </a:rPr>
              <a:t>Terminology</a:t>
            </a:r>
            <a:endParaRPr lang="en-US" dirty="0">
              <a:solidFill>
                <a:prstClr val="white"/>
              </a:solidFill>
              <a:latin typeface="Calibri" panose="020F0502020204030204"/>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1+#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1+#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1+#ppt_w/2"/>
                                          </p:val>
                                        </p:tav>
                                        <p:tav tm="100000">
                                          <p:val>
                                            <p:strVal val="#ppt_x"/>
                                          </p:val>
                                        </p:tav>
                                      </p:tavLst>
                                    </p:anim>
                                    <p:anim calcmode="lin" valueType="num">
                                      <p:cBhvr additive="base">
                                        <p:cTn id="26"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1+#ppt_w/2"/>
                                          </p:val>
                                        </p:tav>
                                        <p:tav tm="100000">
                                          <p:val>
                                            <p:strVal val="#ppt_x"/>
                                          </p:val>
                                        </p:tav>
                                      </p:tavLst>
                                    </p:anim>
                                    <p:anim calcmode="lin" valueType="num">
                                      <p:cBhvr additive="base">
                                        <p:cTn id="32"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1+#ppt_w/2"/>
                                          </p:val>
                                        </p:tav>
                                        <p:tav tm="100000">
                                          <p:val>
                                            <p:strVal val="#ppt_x"/>
                                          </p:val>
                                        </p:tav>
                                      </p:tavLst>
                                    </p:anim>
                                    <p:anim calcmode="lin" valueType="num">
                                      <p:cBhvr additive="base">
                                        <p:cTn id="3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pPr>
              <a:buNone/>
            </a:pPr>
            <a:r>
              <a:rPr lang="en-US" b="1" dirty="0"/>
              <a:t>Procurement cycle:</a:t>
            </a:r>
          </a:p>
          <a:p>
            <a:pPr>
              <a:buNone/>
            </a:pPr>
            <a:endParaRPr lang="en-US" b="1" dirty="0"/>
          </a:p>
        </p:txBody>
      </p:sp>
      <p:pic>
        <p:nvPicPr>
          <p:cNvPr id="5" name="Picture 4"/>
          <p:cNvPicPr/>
          <p:nvPr/>
        </p:nvPicPr>
        <p:blipFill>
          <a:blip r:embed="rId2" cstate="print"/>
          <a:srcRect/>
          <a:stretch>
            <a:fillRect/>
          </a:stretch>
        </p:blipFill>
        <p:spPr bwMode="auto">
          <a:xfrm>
            <a:off x="1143000" y="1479039"/>
            <a:ext cx="6858000" cy="4464561"/>
          </a:xfrm>
          <a:prstGeom prst="rect">
            <a:avLst/>
          </a:prstGeom>
          <a:noFill/>
          <a:ln w="9525">
            <a:noFill/>
            <a:miter lim="800000"/>
            <a:headEnd/>
            <a:tailEnd/>
          </a:ln>
        </p:spPr>
      </p:pic>
      <p:sp>
        <p:nvSpPr>
          <p:cNvPr id="4" name="Date Placeholder 3"/>
          <p:cNvSpPr>
            <a:spLocks noGrp="1"/>
          </p:cNvSpPr>
          <p:nvPr>
            <p:ph type="dt" sz="half" idx="10"/>
          </p:nvPr>
        </p:nvSpPr>
        <p:spPr/>
        <p:txBody>
          <a:bodyPr/>
          <a:lstStyle/>
          <a:p>
            <a:fld id="{FE26C5E8-1876-4D75-8210-7513DDF3061E}" type="datetime1">
              <a:rPr lang="en-US" smtClean="0">
                <a:solidFill>
                  <a:prstClr val="black">
                    <a:tint val="75000"/>
                  </a:prstClr>
                </a:solidFill>
              </a:rPr>
              <a:t>1/31/2026</a:t>
            </a:fld>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DEA6140-AA30-4772-8612-C58B27E9DB7D}" type="slidenum">
              <a:rPr lang="en-US" smtClean="0">
                <a:solidFill>
                  <a:prstClr val="black">
                    <a:tint val="75000"/>
                  </a:prstClr>
                </a:solidFill>
              </a:rPr>
              <a:t>180</a:t>
            </a:fld>
            <a:endParaRPr lang="en-US">
              <a:solidFill>
                <a:prstClr val="black">
                  <a:tint val="75000"/>
                </a:prstClr>
              </a:solidFill>
            </a:endParaRPr>
          </a:p>
        </p:txBody>
      </p:sp>
      <p:sp>
        <p:nvSpPr>
          <p:cNvPr id="2" name="Footer Placeholder 1"/>
          <p:cNvSpPr>
            <a:spLocks noGrp="1"/>
          </p:cNvSpPr>
          <p:nvPr>
            <p:ph type="ftr" sz="quarter" idx="11"/>
          </p:nvPr>
        </p:nvSpPr>
        <p:spPr/>
        <p:txBody>
          <a:bodyPr/>
          <a:lstStyle/>
          <a:p>
            <a:r>
              <a:rPr lang="en-US">
                <a:solidFill>
                  <a:prstClr val="black">
                    <a:tint val="75000"/>
                  </a:prstClr>
                </a:solidFill>
              </a:rPr>
              <a:t>Drug Supply Management</a:t>
            </a:r>
          </a:p>
        </p:txBody>
      </p:sp>
    </p:spTree>
  </p:cSld>
  <p:clrMapOvr>
    <a:masterClrMapping/>
  </p:clrMapOvr>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533400"/>
            <a:ext cx="8229600" cy="6019800"/>
          </a:xfrm>
          <a:solidFill>
            <a:schemeClr val="accent1"/>
          </a:solidFill>
        </p:spPr>
        <p:txBody>
          <a:bodyPr/>
          <a:lstStyle/>
          <a:p>
            <a:endParaRPr lang="en-US" dirty="0"/>
          </a:p>
          <a:p>
            <a:endParaRPr lang="en-US" dirty="0"/>
          </a:p>
          <a:p>
            <a:pPr algn="ctr">
              <a:buNone/>
            </a:pPr>
            <a:r>
              <a:rPr lang="en-US" dirty="0"/>
              <a:t>               </a:t>
            </a:r>
          </a:p>
          <a:p>
            <a:pPr algn="ctr">
              <a:buNone/>
            </a:pPr>
            <a:r>
              <a:rPr lang="en-US" sz="4000" b="1" i="1" dirty="0">
                <a:latin typeface="Arial" panose="020B0604020202020204" pitchFamily="34" charset="0"/>
                <a:cs typeface="Arial" panose="020B0604020202020204" pitchFamily="34" charset="0"/>
              </a:rP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IVDR SI EXTEN">
  <a:themeElements>
    <a:clrScheme name="HIVDR SI EXTE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HIVDR SI EXTEN">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HIVDR SI EXTE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HIVDR SI EXTE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HIVDR SI EXTE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HIVDR SI EXTE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HIVDR SI EXTE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HIVDR SI EXTE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HIVDR SI EXTE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GHLI Branded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HLI Branded">
      <a:majorFont>
        <a:latin typeface="YaleDesign-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89</TotalTime>
  <Words>15178</Words>
  <Application>Microsoft Office PowerPoint</Application>
  <PresentationFormat>On-screen Show (4:3)</PresentationFormat>
  <Paragraphs>1997</Paragraphs>
  <Slides>181</Slides>
  <Notes>81</Notes>
  <HiddenSlides>0</HiddenSlides>
  <MMClips>0</MMClips>
  <ScaleCrop>false</ScaleCrop>
  <HeadingPairs>
    <vt:vector size="6" baseType="variant">
      <vt:variant>
        <vt:lpstr>Fonts Used</vt:lpstr>
      </vt:variant>
      <vt:variant>
        <vt:i4>11</vt:i4>
      </vt:variant>
      <vt:variant>
        <vt:lpstr>Theme</vt:lpstr>
      </vt:variant>
      <vt:variant>
        <vt:i4>7</vt:i4>
      </vt:variant>
      <vt:variant>
        <vt:lpstr>Slide Titles</vt:lpstr>
      </vt:variant>
      <vt:variant>
        <vt:i4>181</vt:i4>
      </vt:variant>
    </vt:vector>
  </HeadingPairs>
  <TitlesOfParts>
    <vt:vector size="199" baseType="lpstr">
      <vt:lpstr>Arial</vt:lpstr>
      <vt:lpstr>Barlow</vt:lpstr>
      <vt:lpstr>Calibri</vt:lpstr>
      <vt:lpstr>Tahoma</vt:lpstr>
      <vt:lpstr>Times New Roman</vt:lpstr>
      <vt:lpstr>Tw Cen MT</vt:lpstr>
      <vt:lpstr>Tw Cen MT Condensed</vt:lpstr>
      <vt:lpstr>Wingdings</vt:lpstr>
      <vt:lpstr>Wingdings 2</vt:lpstr>
      <vt:lpstr>Wingdings 3</vt:lpstr>
      <vt:lpstr>YaleDesign-BoldRoman</vt:lpstr>
      <vt:lpstr>Integral</vt:lpstr>
      <vt:lpstr>HIVDR SI EXTEN</vt:lpstr>
      <vt:lpstr>Office Theme</vt:lpstr>
      <vt:lpstr>1_Office Theme</vt:lpstr>
      <vt:lpstr>2_Office Theme</vt:lpstr>
      <vt:lpstr>GHLI Branded Theme</vt:lpstr>
      <vt:lpstr>4_Office Theme</vt:lpstr>
      <vt:lpstr>PowerPoint Presentation</vt:lpstr>
      <vt:lpstr>content</vt:lpstr>
      <vt:lpstr>Human Resource Management</vt:lpstr>
      <vt:lpstr>Basic Functions of HRM</vt:lpstr>
      <vt:lpstr>1. Staff (Workforce) Planning</vt:lpstr>
      <vt:lpstr>1. Staff (Workforce) Planning</vt:lpstr>
      <vt:lpstr>1. Staff (Workforce) Planning</vt:lpstr>
      <vt:lpstr>1. Staff (Workforce) Planning</vt:lpstr>
      <vt:lpstr>Exercise 1: Skill Mix</vt:lpstr>
      <vt:lpstr>1. Staff (Workforce) Planning</vt:lpstr>
      <vt:lpstr>1. Staff (Workforce) Planning</vt:lpstr>
      <vt:lpstr>Exercise 2: Staffing to Demand</vt:lpstr>
      <vt:lpstr>2. Recruitment</vt:lpstr>
      <vt:lpstr>2. Recruitment</vt:lpstr>
      <vt:lpstr>2. Recruitment</vt:lpstr>
      <vt:lpstr>2. Recruitment</vt:lpstr>
      <vt:lpstr>2. Recruitment</vt:lpstr>
      <vt:lpstr>2. Recruitment</vt:lpstr>
      <vt:lpstr>2. Recruitment</vt:lpstr>
      <vt:lpstr>2. Recruitment</vt:lpstr>
      <vt:lpstr>2. Recruitment</vt:lpstr>
      <vt:lpstr>2. Recruitment</vt:lpstr>
      <vt:lpstr>2. Recruitment</vt:lpstr>
      <vt:lpstr>3. orientation</vt:lpstr>
      <vt:lpstr>3. Orientation</vt:lpstr>
      <vt:lpstr>PowerPoint Presentation</vt:lpstr>
      <vt:lpstr>PowerPoint Presentation</vt:lpstr>
      <vt:lpstr>PowerPoint Presentation</vt:lpstr>
      <vt:lpstr>PowerPoint Presentation</vt:lpstr>
      <vt:lpstr>4. Training, education &amp; staff development</vt:lpstr>
      <vt:lpstr>4. Training, Education &amp; Staff Development</vt:lpstr>
      <vt:lpstr>4. Training, Education &amp; Staff Development</vt:lpstr>
      <vt:lpstr>4. Training, Education &amp; Staff Development</vt:lpstr>
      <vt:lpstr>PowerPoint Presentation</vt:lpstr>
      <vt:lpstr>PowerPoint Presentation</vt:lpstr>
      <vt:lpstr>5. Employee relations</vt:lpstr>
      <vt:lpstr>5. Employee Relations</vt:lpstr>
      <vt:lpstr>5. Employee Relations</vt:lpstr>
      <vt:lpstr>Exercise 11: Conflict Resolution</vt:lpstr>
      <vt:lpstr>5. Employee Relations</vt:lpstr>
      <vt:lpstr>PowerPoint Presentation</vt:lpstr>
      <vt:lpstr>5. Employee Relations</vt:lpstr>
      <vt:lpstr> Define the disagreement (Why are people in conflict?) </vt:lpstr>
      <vt:lpstr>PowerPoint Presentation</vt:lpstr>
      <vt:lpstr>PowerPoint Presentation</vt:lpstr>
      <vt:lpstr>PowerPoint Presentation</vt:lpstr>
      <vt:lpstr>PowerPoint Presentation</vt:lpstr>
      <vt:lpstr>PowerPoint Presentation</vt:lpstr>
      <vt:lpstr>Styles of Conflicts management </vt:lpstr>
      <vt:lpstr>PowerPoint Presentation</vt:lpstr>
      <vt:lpstr>Accommodating cont’d</vt:lpstr>
      <vt:lpstr> Compromising </vt:lpstr>
      <vt:lpstr>Compromising cont’d</vt:lpstr>
      <vt:lpstr> Collaborating </vt:lpstr>
      <vt:lpstr>Collaborating cont’d</vt:lpstr>
      <vt:lpstr> Competing </vt:lpstr>
      <vt:lpstr>Competing cont’d </vt:lpstr>
      <vt:lpstr>Avoiding </vt:lpstr>
      <vt:lpstr> 6. Performance management</vt:lpstr>
      <vt:lpstr>6. Performance Management</vt:lpstr>
      <vt:lpstr>6. Performance Management</vt:lpstr>
      <vt:lpstr>6. Performance Management</vt:lpstr>
      <vt:lpstr>6. Performance Management</vt:lpstr>
      <vt:lpstr>6. Performance Management</vt:lpstr>
      <vt:lpstr>6. Performance Management</vt:lpstr>
      <vt:lpstr>6. Performance Management</vt:lpstr>
      <vt:lpstr>6. Performance Management</vt:lpstr>
      <vt:lpstr>6. Performance Management</vt:lpstr>
      <vt:lpstr>6. Performance Management</vt:lpstr>
      <vt:lpstr>6. Performance Management</vt:lpstr>
      <vt:lpstr>Motivation – basic needs</vt:lpstr>
      <vt:lpstr>Motivation – Internal motivators</vt:lpstr>
      <vt:lpstr>6. Performance Management</vt:lpstr>
      <vt:lpstr>PowerPoint Presentation</vt:lpstr>
      <vt:lpstr>6. Performance Management</vt:lpstr>
      <vt:lpstr>6. Performance Management</vt:lpstr>
      <vt:lpstr>6. Performance Management</vt:lpstr>
      <vt:lpstr>6. Performance Management</vt:lpstr>
      <vt:lpstr>6. Performance Management</vt:lpstr>
      <vt:lpstr>6. Performance Management</vt:lpstr>
      <vt:lpstr>PowerPoint Presentation</vt:lpstr>
      <vt:lpstr>PowerPoint Presentation</vt:lpstr>
      <vt:lpstr>6. Performance Management</vt:lpstr>
      <vt:lpstr>6. Performance Management</vt:lpstr>
      <vt:lpstr>6. Performance Management</vt:lpstr>
      <vt:lpstr>6. Performance Management</vt:lpstr>
      <vt:lpstr>6. Performance Management</vt:lpstr>
      <vt:lpstr>6. Performance Management</vt:lpstr>
      <vt:lpstr>PowerPoint Presentation</vt:lpstr>
      <vt:lpstr>PowerPoint Presentation</vt:lpstr>
      <vt:lpstr>PowerPoint Presentation</vt:lpstr>
      <vt:lpstr>6. Performance Management</vt:lpstr>
      <vt:lpstr>PowerPoint Presentation</vt:lpstr>
      <vt:lpstr>PowerPoint Presentation</vt:lpstr>
      <vt:lpstr>7. Policies &amp; procedures</vt:lpstr>
      <vt:lpstr>7. Policies &amp; Procedures</vt:lpstr>
      <vt:lpstr>7. Policies &amp; Procedures</vt:lpstr>
      <vt:lpstr>7. Policies &amp; Procedures</vt:lpstr>
      <vt:lpstr>7. Policies</vt:lpstr>
      <vt:lpstr>7. Procedures</vt:lpstr>
      <vt:lpstr>7. Policies &amp; Procedures</vt:lpstr>
      <vt:lpstr>7. Policies &amp; Procedures</vt:lpstr>
      <vt:lpstr>Hospital material/EQUIPMENT management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Maintain Proper Inventory Records</vt:lpstr>
      <vt:lpstr>Stock Card: An Example</vt:lpstr>
      <vt:lpstr>Stock Book: An Example</vt:lpstr>
      <vt:lpstr>PowerPoint Presentation</vt:lpstr>
      <vt:lpstr>PowerPoint Presentation</vt:lpstr>
      <vt:lpstr>PowerPoint Presentation</vt:lpstr>
      <vt:lpstr>PowerPoint Presentation</vt:lpstr>
      <vt:lpstr>      DRUG MANAGEMENT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Drug Selection</vt:lpstr>
      <vt:lpstr>PowerPoint Presentation</vt:lpstr>
      <vt:lpstr>Criteria for drug selection</vt:lpstr>
      <vt:lpstr>PowerPoint Presentation</vt:lpstr>
      <vt:lpstr>Basic steps in drug selection</vt:lpstr>
      <vt:lpstr>PowerPoint Presentation</vt:lpstr>
      <vt:lpstr>Source of drug information</vt:lpstr>
      <vt:lpstr>3.3. DRUG QUANTIFICATION</vt:lpstr>
      <vt:lpstr>PowerPoint Presentation</vt:lpstr>
      <vt:lpstr>PowerPoint Presentation</vt:lpstr>
      <vt:lpstr>Quantification Methods</vt:lpstr>
      <vt:lpstr>PowerPoint Presentation</vt:lpstr>
      <vt:lpstr>A. Consumption method</vt:lpstr>
      <vt:lpstr>PowerPoint Presentation</vt:lpstr>
      <vt:lpstr>PowerPoint Presentation</vt:lpstr>
      <vt:lpstr>PowerPoint Presentation</vt:lpstr>
      <vt:lpstr>PowerPoint Presentation</vt:lpstr>
      <vt:lpstr>Additional points</vt:lpstr>
      <vt:lpstr>PowerPoint Presentation</vt:lpstr>
      <vt:lpstr>PowerPoint Presentation</vt:lpstr>
      <vt:lpstr>B. Morbidity method</vt:lpstr>
      <vt:lpstr>PowerPoint Presentation</vt:lpstr>
      <vt:lpstr>PowerPoint Presentation</vt:lpstr>
      <vt:lpstr>PowerPoint Presentation</vt:lpstr>
      <vt:lpstr>PowerPoint Presentation</vt:lpstr>
      <vt:lpstr>PowerPoint Presentation</vt:lpstr>
      <vt:lpstr>PowerPoint Presentation</vt:lpstr>
      <vt:lpstr>  Morbidity method- additional tip  Always make adjustment for different reasons</vt:lpstr>
      <vt:lpstr>PowerPoint Presentation</vt:lpstr>
      <vt:lpstr>PowerPoint Presentation</vt:lpstr>
      <vt:lpstr>C. Proxy/adjusted consumption method</vt:lpstr>
      <vt:lpstr>PowerPoint Presentation</vt:lpstr>
      <vt:lpstr>PowerPoint Presentation</vt:lpstr>
      <vt:lpstr>PowerPoint Presentation</vt:lpstr>
      <vt:lpstr>D. Service-level projection of budget requirements</vt:lpstr>
      <vt:lpstr>PowerPoint Presentation</vt:lpstr>
      <vt:lpstr>PowerPoint Presentation</vt:lpstr>
      <vt:lpstr>Methods of reconciliation of demand with budget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x</dc:creator>
  <cp:lastModifiedBy>Evergiste Bisanukuri</cp:lastModifiedBy>
  <cp:revision>216</cp:revision>
  <dcterms:created xsi:type="dcterms:W3CDTF">2019-05-09T15:54:00Z</dcterms:created>
  <dcterms:modified xsi:type="dcterms:W3CDTF">2026-01-31T07:50:17Z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1033-12.2.0.13431</vt:lpwstr>
  </property>
  <property fmtid="{D5CDD505-2E9C-101B-9397-08002B2CF9AE}" pid="3" name="ICV">
    <vt:lpwstr>8B90405DCEC14839B12D723EFD72C9EB_12</vt:lpwstr>
  </property>
</Properties>
</file>